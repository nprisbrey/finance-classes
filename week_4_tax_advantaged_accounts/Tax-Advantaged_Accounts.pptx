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Welcome back — Week 3 was the order ticket (how to buy). Tonight is the box you put it in.
• Core promise of the night: same VOO, same purchase — four different lifetime tax bills depending on the wrapper.
• Three levels tonight, increasing depth: the three moments, then every account, then the arrows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Keep this to ~10 min — go around the room, everyone shares.
• The show-of-hands questions are a live inventory, not a 'someday' survey — they tell me which table rows to slow down on later.
• Listen for anyone who worked a job/gig this year — that's earned income, the key to a Roth IRA (Level 1 action item).
• Note anyone with a leftover 529 or a sibling born since 2025 — both come back later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~10 minutes. This is the foundation the whole night rests on.
• One idea to land: the account is a wrapper, and the wrapper decides the tax — not what's inside it.
• By the end of Level 1 everyone should be able to open a Roth IRA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Make it concrete: same S&amp;P 500 index fund held in five boxes = five different tax outcomes.
• 'Tax-advantaged' sounds mysterious; it just means one or more taxes get switched off.
• Everything else tonight decodes against this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one dollar through its life: taxed IN (paycheck), taxed on GROWTH (dividends/gains each year), taxed OUT (when you sell and spend).
• A plain taxable brokerage pays at all three — that's the baseline, not a scandal.
• Traditional and Roth are a mirror: Traditional skips IN and pays OUT; Roth pays IN and skips OUT.
• The HSA is the only box that switches off all three — closest thing to a free lunch in the code. Hold that for Level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menu looks huge but every name is two decisions: a purpose (the noun) plus a tax deal (Traditional vs Roth).
• That's why 'Roth 401(k)' and 'Traditional IRA' are both sensible — you pick a purpose and a deal.
• HSA and 529 don't split into Traditional/Roth — they're single-deal boxes tied to a purpose.
• Once you see two axes, the wall of acronyms collapses into a small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entire decision is one question: is your tax rate higher now or later?
• Students are at or near their lifetime-low rate — 10 to 12%. Paying that now to never be taxed again is buying an exemption at a clearance price.
• Traditional is the bet that your rate falls in retirement — true for high earners in peak years, not for this room.
• Don't overthink it: for almost everyone here the answer is Roth, and it isn't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Numbers make it land: $7,000 at 20, ~40 years at 7%, grows to about $105,000.
• In a Roth every dollar of that comes out tax-free; in a Traditional the whole $105,000 is ordinary income on the way out.
• You paid ~$840 (12% of $7,000) to make the other ~$98,000 of growth permanently untaxable.
• Caveat honestly: 7% is illustrative, not promised — but the structural point holds at any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Reassure them: opening a Roth IRA is Week 3's exact process — same brokerage, same funding, same order ticket.
• The only change is one dropdown at signup: account type = Roth IRA instead of 'Individual.'
• Earned income is the key that unlocks it — a summer job, internship, or gig this year.
• Surprise fact worth mentioning: a taxable grad-school stipend now counts as earned income (SECURE Act, 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strong take-home slide — fill boxes in order of what each returns, not what feels productive.
• The match is a coin flip you win 100% of the time — that's why it outranks everything.
• HSA sits above the Roth IRA for a low earner (Level 2 explains why — the FICA break).
• A taxable brokerage is the consolation prize: it's where money goes once the advantaged boxes are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~16 minutes — the long level by design.
• The frame from Level 1 makes this fast: every account is a row with the same three columns.
• Only new info per row: who can open it, the 2026 limit, and the catch.
• Don't narrate every row — put the table up, teach the starred ones, let the rest be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four are 90% of what this room will ever use. Teach the three stars.
• Roth IRA: tax-free forever, but there's an income cap far above student income.
• 401(k): the Roth 401(k) has NO income cap — the back door for high earners the Roth IRA shuts out.
• HSA: the triple-tax-free box — but you must be on an HDHP and not claimable as a dependent.
• MAGI = Modified Adjusted Gross Income; HDHP = High-Deductible Health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Fast band — most rows are a 15-second glance.
• 457(b) stacks on a 403(b): a public-university worker can defer $24,500 into each = $49,000.
• SEP-IRA's '25% of pay' is really 20% effective for the self-employed — usually the weaker option.
• Solo 401(k) is the answer for gig income: you're employer and employee, so you get both buckets — ~5x the room of a SEP.
• SEP = Simplified Employee Pension.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529 is the star here — leftover money now has a Roth exit (Level 3), so it's no longer 'trapped.'
• Coverdell ESA is a trap: a 529 with a $2,000 cap and a forced payout at 30. Roll it into a 529.
• UTMA/UGMA is not a shelter — it's a titling convention, hit by the kiddie tax and costly for financial aid.
• The 'education I-Bond' pitch doesn't work for a 20-year-old — the owner must be 24+ at issuance.
• Trump Account is here as a teaser — it's tonight's market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Point out the pattern that's easy to miss: the code keeps writing full-time students out of its savings incentives.
• Ask the room to keep count tonight — it's a design choice, not a coincidence.
• The local note is genuinely useful here: a campus job at UVU/BYU won't get you into the 403(b), but that's fine.
• The upside: student wages are FICA-exempt at 6+ credit hours (an extra 7.65%/check) and still count as earned income for your own Roth 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'The match' is not one number — read YOUR plan's formula and the exact deferral % that unlocks 100% of it.
• On a $60k salary, '100%/3% + 50%/2%' means deferring $3,000 earns a $2,400 match — 80% before the market does anything.
• No investment on Earth guarantees this — that's why 'always get the full match' outranks everything in the waterfall.
• Keep this slide next to the vesting slide — the return is only real once vested.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Your own contributions are always 100% yours immediately — the match may vest over time.
• ERISA caps the pace: 3-year cliff, or 2-to-6 graded. Leave before you vest and the unvested match is forfeited — job-hoppers walk away from thousands.
• The true-up trap catches eager savers: front-loading to the cap by August can forfeit match if the plan matches per paycheck with no year-end true-up.
• Fix: spread contributions across all 12 months, unless your plan has a true-up.
• ERISA = the federal law governing employer retirement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dependent gate is the one that catches this room — it's whether you CAN be claimed, not whether your parents do.
• The fourth advantage nobody names: contribute via employer payroll (a §125 cafeteria plan) and the money also escapes FICA — another 7.65%.
• Contribute from your bank account instead and you get the income-tax deduction but NOT the FICA break — same dollars, ~7.65% apart, purely on the plumbing.
• FICA = the Social Security + Medicare payroll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punchline that reframes the HSA for this room.
• A student earning $12,000 owes $0 income tax (under the $16,100 standard deduction) — so the famous HSA deduction is worth nothing to them.
• But they still owe ~$918 of FICA on those wages — and the payroll HSA is the only way to dodge it.
• For a low earner, the FICA advantage is the only HSA tax benefit that exists — and it's the one nobody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different calendars — and mixing them up costs money.
• IRA contributions run to next tax day: you can fund a 2026 Roth IRA until April 15, 2027 — a late-discovered low-income year is still salvageable.
• 401(k) deferrals die December 31 — they come out of payroll, so once your last check is cut, that money is 'available' and can't be deferred. No April grace.
• The calendar itself is a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Key mental model: owner controls the money forever; beneficiary never does.
• The owner can change the beneficiary to another family member — this is the opposite of a UTMA, where the kid takes it outright at majority.
• Qualified = tuition, fees, room/board, and now K-12 up to $20,000 and credentialing costs (new for 2026).
• Non-qualified = 10% penalty on EARNINGS only — never your principal.
• Many states give an income-tax deduction for their own plan — a ~5% kicker in ~30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Start with the star: Roth IRA contributions come out first, tax- and penalty-free, any age, any reason — the only retirement account that doubles as an emergency fund.
• Counterweight in the same breath: withdrawn contribution room never comes back.
• Two outliers to say out loud: the governmental 457(b) has NO early penalty ever; the HSA's non-medical penalty is 20% — the harshest on the board.
• Everywhere else the default is ordinary income + 10%.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Everyone gets this wrong: the exception list splits by account type.
• IRA only: higher education, first home, health insurance while unemployed. There is NO college exception for a 401(k).
• Employer plan only: the Rule of 55 — leave your job at 55+ and that plan's money is penalty-free. IRAs don't get this.
• Two practical takeaways: keep grad-school money in an IRA, not a 401(k); and if you leave a job at 55+, don't roll that 401(k) to an IRA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Leaving a job? Always do a direct (trustee-to-trustee) rollover — nothing is withheld.
• Take the check yourself and the plan MUST withhold 20% — even though you meant to roll it. You then have 60 days to redeposit the full amount, making up the 20% from your own pocket.
• It's a self-inflicted wound with zero upside.
• Watch small balances: under $1,000 can be mailed to you; $1,000–$7,000 gets auto-rolled into a low-yield default IRA. Move them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~14 minutes — the payoff. You know the boxes; now the arrows between them.
• Every arrow is a legal, specific move — and every move is a tax decision.
• 'Ways to move your money around to avoid taxes' is literally this level.
• If we're short on time, the payoff grid at the end is the take-home.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Read the map top to bottom as 'live for me now' to 'live for me later.'
• The first two arrows are things a student can do this year; the last two unlock as income rises.
• The HSA is the box with no arrow out — and that turns out to be its superpower.
• We'll take each arrow one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move: in a low-income year, convert Traditional money to Roth; the standard deduction absorbs income first, so the bill can round to nothing.
• Free room = $16,100 minus your ordinary income. A student with $8,000 of wages has $8,100 of room.
• The trap that guts the naive version: the kiddie tax reaches full-time students 19–23 whose earned income is under half their support — a conversion is unearned income, taxed at the parents' rate.
• Real escape hatch is the support test, not age — scholarships don't count as support, so a working, scholarshipped student can clear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New from SECURE 2.0: leftover 529 money can roll into the beneficiary's Roth IRA, tax- and penalty-free.
• Four gates: $35,000 lifetime cap, 529 at least 15 years old, last-5-years contributions ineligible, each year capped at the IRA limit and needs earned income.
• Honest open question: whether changing the beneficiary resets the 15-year clock is unsettled — IRS has issued no guidance. Don't build a plan on beneficiary-swapping.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Why it exists: the Roth IRA has an income cap, but Roth conversions have no income limit — so high earners contribute to a non-deductible Traditional IRA and immediately convert.
• Legal, common, unthreatened in 2026.
• The pro-rata trap: the conversion is taxed across ALL your traditional IRA money, not just the new dollars. Fix: roll existing pre-tax IRA money into a 401(k) first.
• Flag it now as a 'you in five years' move so the mechanism is familiar when the income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Some 401(k) plans allow after-tax contributions beyond the $24,500 deferral, up to the $72,000 total limit — then convert to Roth in-plan.
• Can move tens of thousands into Roth per year, far above the $7,500 IRA cap.
• Entirely plan-dependent: needs both after-tax contributions and in-plan conversion.
• A 'you in ten years, at a good employer' move — worth recognizing the term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HSA has no exit arrow — and that's the feature. There's no deadline to reimburse yourself for a medical expense incurred after the account opened.
• So: pay small bills out of pocket, save the receipts, let the HSA compound tax-free for decades, then reimburse yourself tax-free whenever.
• The one-dollar move: the clock starts when the account is funded — open and fund an HSA with even $1 the day you're first eligible. Highest-ROI action of the night.
• At 65 the 20% penalty vanishes; it becomes a Traditional IRA — but keeps the tax-free-for-medical option forever. Strictly better than an 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honest take-home: which arrow is live for the row you're in.
• Students: Roth IRA and the HSA $1 clock are live now; the Roth conversion only if you clear the kiddie tax.
• The backdoor and mega backdoor don't unlock until you're a high earner — no 'someday' hand-waving.
• Tell them to find their column and do the checked moves this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~10 minutes. The newest box in the tax code — fundable since July 4, 2026, twelve days ago.
• Run of show: what launched, run it through Level 1's grid, the three debates, then discussion.
• The whole point of the segment: 'tax-advantaged' is a claim on a label, not a fact — and you now own the tool to 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Trump Accounts (§530A, from the July 2025 OBBBA) became fundable July 4, 2026 — you couldn't contribute a dollar before that date.
• Mechanics: $1,000 federal seed for kids born 2025–2028 (a pilot, not permanent); $5,000/yr cap, of which $2,500 can come from an employer tax-free.
• Investments must track a US index, fees capped at 0.1%, no leverage.
• At 18 it converts to a Traditional IRA — which is itself a money-map arrow, not just a launch fact.
• OBBBA = the One Big Beautiful Bill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Why a 20-year-old should care: employers — Goldman, JPMorgan, BlackRock, Schwab, Chipotle, Robinhood — now match the $1,000 for employees' kids.
• That makes it a compensation line item to ask about in a job interview, like a 401(k) match.
• Fun tie-back: Robinhood — Week 3's meme-stock app — is the federal government's initial trustee for these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Let the room fill in the three cells before revealing: it's a Traditional IRA under the hood, but with no deduction going IN.
• So it switches off the growth-stage tax but upgrades the exit rate from capital-gains to ordinary income — for a long-term index holding, that trade can lose.
• Cato's numbers: same $5,000, 7% for 30 years — the Trump Account ends ~$2,451 BEHIND a plain taxable account.
• Honest caveat: this ignores the free $1,000 seed and employer money, and flips positive for a saver who ends in a low bracket. It's the pessimistic case, not the only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At 18 the account becomes a plain Traditional IRA; every dollar is one of two kinds.
• Basis (family contributions) comes out tax-free; the seed, employer money, and all growth come out as ordinary income.
• Withdrawals are pro-rata, not basis-first — you can't cherry-pick the tax-free dollars.
• The sting: the 'free money' the account is sold on is exactly the part taxed at ordinary rates. Before 59½, add a 10% penalty on the taxable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Projections: the app shows $13M by 55 assuming &gt;10% every year for 55 years; independent estimates run 3–7%. Compounding assumptions are a choice, and someone chose a flattering one.
• Who shows up: 86% of accounts are from families under $200k — but ~95% of all households with kids are under that line, so higher-income families are over-represented.
• The cross-cut: a right-leaning think tank attacks it; a left-leaning economist defends it — on access, not returns. It doesn't sort the way anyone expects.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it up — ~2 minutes, let the room argue.
• Push on the label-vs-seed tension: is 'tax-advantaged' dishonest, or does the free $1,000 redeem it?
• Make it personal: would you open one for a sibling born since 2025? Is a '$1,000 match' worth anything in a job offer?
• Land the meta-question: whose job is it to make the 10%-forever assumption honest?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figure tonight was researched against primary sources — IRS notices, revenue procedures, the US Code.
• Reminder: these are 2026 figures — re-pull the limits card each January when the new inflation-adjustment notice lands.
• Point them to Cato PA 1019 and the CNBC/Fortune/Forbes pieces for the market-moment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5325" y="790575"/>
            <a:ext cx="38100" cy="66675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752475"/>
            <a:ext cx="38100" cy="10477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8675" y="704850"/>
            <a:ext cx="381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633413"/>
            <a:ext cx="2317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spc="-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Money Talk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40277" y="685006"/>
            <a:ext cx="191633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spc="2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IRAs · 401(k)s · HSAs · 529s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4248626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4592955"/>
            <a:ext cx="1207008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Tax-Advantaged Accounts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09600" y="5305425"/>
            <a:ext cx="51987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is a wrapper — and the wrapper decides the tax, not what's inside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6200775"/>
            <a:ext cx="914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C7D2FE">
                  <a:alpha val="10000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139630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OPENER · 10 MIN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Wins, lessons &amp; this week's watchlist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84997"/>
            <a:ext cx="3556000" cy="2954179"/>
          </a:xfrm>
          <a:prstGeom prst="roundRect">
            <a:avLst>
              <a:gd name="adj" fmla="val 3869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067" y="2876233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635" y="2882900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1067" y="3371533"/>
            <a:ext cx="302105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new you did with money this week?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18000" y="1884997"/>
            <a:ext cx="3556000" cy="2954179"/>
          </a:xfrm>
          <a:prstGeom prst="roundRect">
            <a:avLst>
              <a:gd name="adj" fmla="val 3869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9467" y="2757170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8035" y="2763838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467" y="3252470"/>
            <a:ext cx="302105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interesting you learned about money or finance?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26400" y="1884997"/>
            <a:ext cx="3556000" cy="2954179"/>
          </a:xfrm>
          <a:prstGeom prst="roundRect">
            <a:avLst>
              <a:gd name="adj" fmla="val 3869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7868" y="2876233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6435" y="2882900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7868" y="3371533"/>
            <a:ext cx="302105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investment you're looking at or like right now?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600" y="5067776"/>
            <a:ext cx="10972800" cy="836295"/>
          </a:xfrm>
          <a:custGeom>
            <a:avLst/>
            <a:gdLst/>
            <a:ahLst/>
            <a:cxnLst/>
            <a:rect l="l" t="t" r="r" b="b"/>
            <a:pathLst>
              <a:path w="10972800" h="836295">
                <a:moveTo>
                  <a:pt x="0" y="0"/>
                </a:moveTo>
                <a:lnTo>
                  <a:pt x="10896600" y="0"/>
                </a:lnTo>
                <a:arcTo hR="76200" wR="76200" stAng="16200000" swAng="5400000"/>
                <a:lnTo>
                  <a:pt x="10972800" y="760095"/>
                </a:lnTo>
                <a:arcTo hR="76200" wR="76200" stAng="0" swAng="5400000"/>
                <a:lnTo>
                  <a:pt x="0" y="836295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5067776"/>
            <a:ext cx="26670" cy="83629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64870" y="5220176"/>
            <a:ext cx="10818114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3730A3"/>
                </a:solidFill>
                <a:highlight>
                  <a:srgbClr val="EE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show of hands — who has a Roth IRA, a 401(k) match, or an HSA? And did anyone work a job, internship, or gig this year?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2187416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715101"/>
            <a:ext cx="730805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moments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3503771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dollar, up to three taxes — and what a "tax-advantaged" account actually switches off.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413409"/>
            <a:ext cx="672465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4470559"/>
            <a:ext cx="52006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913255"/>
            <a:ext cx="120700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3432"/>
              </a:lnSpc>
              <a:buNone/>
            </a:pPr>
            <a:r>
              <a:rPr lang="en-US" sz="10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609600" y="2675255"/>
            <a:ext cx="6212167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is a wrapper, and the wrapper decides the tax — not what's inside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600" y="4408805"/>
            <a:ext cx="12070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night in one 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4723130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S&amp;P 500 index fund, held in five different boxes, can owe five different lifetime tax bills.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64434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THE THREE MOMENTS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dollar gets taxed at up to three moments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3730625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3537744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340225" y="2071211"/>
            <a:ext cx="235585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454525" y="1808797"/>
            <a:ext cx="2127250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696075" y="2071211"/>
            <a:ext cx="2530634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810375" y="1808797"/>
            <a:ext cx="2302034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226709" y="2071211"/>
            <a:ext cx="2355691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9341009" y="1808797"/>
            <a:ext cx="2127091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09600" y="249507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198846"/>
            <a:ext cx="3537744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Taxable brokerage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340225" y="2084546"/>
            <a:ext cx="2355850" cy="417195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54525" y="2198846"/>
            <a:ext cx="2127250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696075" y="2084546"/>
            <a:ext cx="2530634" cy="417195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10375" y="2198846"/>
            <a:ext cx="2302034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226709" y="2084546"/>
            <a:ext cx="2355691" cy="417195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341009" y="2198846"/>
            <a:ext cx="2127091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09600" y="290893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2616041"/>
            <a:ext cx="353774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/ pre-tax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4340225" y="2501741"/>
            <a:ext cx="2355850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54525" y="2616041"/>
            <a:ext cx="212725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6696075" y="2501741"/>
            <a:ext cx="2530634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810375" y="2616041"/>
            <a:ext cx="230203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9226709" y="2501741"/>
            <a:ext cx="2355691" cy="413861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341009" y="2616041"/>
            <a:ext cx="21270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609600" y="332279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3029903"/>
            <a:ext cx="353774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4340225" y="2915603"/>
            <a:ext cx="2355850" cy="413861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454525" y="3029903"/>
            <a:ext cx="212725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6696075" y="2915603"/>
            <a:ext cx="2530634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810375" y="3029903"/>
            <a:ext cx="230203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9226709" y="2915603"/>
            <a:ext cx="2355691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41009" y="3029903"/>
            <a:ext cx="21270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609600" y="3329464"/>
            <a:ext cx="10972800" cy="413861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" y="3736657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762000" y="3443764"/>
            <a:ext cx="353774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(medical)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4340225" y="3329464"/>
            <a:ext cx="2355850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454525" y="3443764"/>
            <a:ext cx="212725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6696075" y="3329464"/>
            <a:ext cx="2530634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810375" y="3443764"/>
            <a:ext cx="2302034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9226709" y="3329464"/>
            <a:ext cx="2355691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341009" y="3443764"/>
            <a:ext cx="21270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"tax-advantaged" account is just a box that switches off at least one switch. The HSA — Health Savings Account — is the only one that switches off all three.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7246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DECODING THE NAMES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 name is two decisions stapled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3730784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3537907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(THE NOUN)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4340384" y="2071211"/>
            <a:ext cx="3621088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492784" y="1808797"/>
            <a:ext cx="3424920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— PAY TAX LATER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961471" y="2071211"/>
            <a:ext cx="362092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113871" y="1808797"/>
            <a:ext cx="3424757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— PAY TAX NOW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09600" y="249507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198846"/>
            <a:ext cx="353790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· on your own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92784" y="2198846"/>
            <a:ext cx="3424920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IRA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961471" y="2084546"/>
            <a:ext cx="3620929" cy="417195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113871" y="2198846"/>
            <a:ext cx="342475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290893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2616041"/>
            <a:ext cx="353790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· through work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492784" y="2616041"/>
            <a:ext cx="342492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401(k), 403(b)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961471" y="2501741"/>
            <a:ext cx="3620929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113871" y="2616041"/>
            <a:ext cx="342475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401(k)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09600" y="332279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3029903"/>
            <a:ext cx="353790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4340384" y="2915603"/>
            <a:ext cx="3621088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92784" y="3029903"/>
            <a:ext cx="342492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— its own deal (all three off)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8113871" y="3029903"/>
            <a:ext cx="342475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609600" y="3736657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3443764"/>
            <a:ext cx="353790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492784" y="3443764"/>
            <a:ext cx="342492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529, Coverdell ESA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8113871" y="3443764"/>
            <a:ext cx="342475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609600" y="4150519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3857625"/>
            <a:ext cx="353790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4492784" y="3857625"/>
            <a:ext cx="3424920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Taxable brokerage — no deal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8113871" y="3857625"/>
            <a:ext cx="342475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09600" y="5461159"/>
            <a:ext cx="113019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 = Individual Retirement Account · 401(k) = employer plan · HSA = Health Savings Account · 529 = education plan. The noun names the purpose; "Traditional" vs. "Roth" names the tax deal.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40388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THE ONE DECISION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vs. Roth is a single question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18784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higher LATER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pay tax now → Roth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everyone in this room is here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10–12% bracket is your lifetime-low rate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12% now to never be taxed again — including 40 years of growth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17507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higher NOW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defer to later → Traditional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earners in their peak-income years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 now, pay ordinary income on the way out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bet: your rate falls by retirement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almost everyone in this room, the answer is Roth — and it isn't close.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29063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ROTH WINS WHEN YOU'RE YOUNG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67810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 at age 20, ~40 years at 7%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84997"/>
            <a:ext cx="3505200" cy="401907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1067" y="3362008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~$105,000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21067" y="3895408"/>
            <a:ext cx="2968733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$7,000 contribution grows to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1884997"/>
            <a:ext cx="3505200" cy="401907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868" y="3362008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4868" y="3895408"/>
            <a:ext cx="2968733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on every dollar coming out — in a Roth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77200" y="1884997"/>
            <a:ext cx="3505200" cy="4019074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8668" y="3037999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~$840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88668" y="3571399"/>
            <a:ext cx="2968733" cy="835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paid in (12% of $7,000) to make ~$98,000 of growth untaxable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8668" y="4559141"/>
            <a:ext cx="3170492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· 7% assumed, not promised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43968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TONIGHT'S ACTION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Roth IRA is Week 3 with one dropdown changed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brokerage, same funding, same order ticket to buy the same index fund — account type = Roth IRA instead of "Individual."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08419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989897"/>
            <a:ext cx="7426801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that unlocks it: earned income — a summer job, internship, or gig this year.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50234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408045"/>
            <a:ext cx="7480237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up to the lesser of $7,500 (the 2026 limit) or what you earned from work.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92049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826193"/>
            <a:ext cx="9612408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Surprise: a taxable grad-school stipend now counts as earned income too — since the SECURE Act of 2019.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15714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THE FILL ORDER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dollar: fill the boxes by what each returns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7402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rung is justified by its return, not by vibes.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278892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694622"/>
            <a:ext cx="8297133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401(k) up to the full employer match — an instant 50–100% return. Nothing else competes.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20706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112770"/>
            <a:ext cx="8260286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HSA (if you're on an HDHP, a High-Deductible Health Plan) — the only triple-tax-free box.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62521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530918"/>
            <a:ext cx="6422533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Roth IRA — up to $7,500, tax-free forever at your cheapest-ever rate.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404336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5" y="3949065"/>
            <a:ext cx="744863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Max the 401(k) — up to $24,500, once the free money and the Roth are handled.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600" y="446151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4367213"/>
            <a:ext cx="693139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Taxable brokerage — unlimited, no rules, no breaks. The consolation prize.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759744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287429"/>
            <a:ext cx="6842998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account, rule by rule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3636169"/>
            <a:ext cx="643650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 sweep. Every box is a row with the same three columns — the only new information is who can open it, the 2026 limit, and the catch.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841081"/>
            <a:ext cx="669608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4898231"/>
            <a:ext cx="517208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min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25239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MASTER TABLE · BAND 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four — one row each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164592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1417320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2255520" y="2071211"/>
            <a:ext cx="2413953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407920" y="1808797"/>
            <a:ext cx="218535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OPEN IT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669473" y="2071211"/>
            <a:ext cx="164592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21873" y="1808797"/>
            <a:ext cx="1417320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LIMIT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315392" y="2071211"/>
            <a:ext cx="885984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29692" y="1808797"/>
            <a:ext cx="657384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7201376" y="2071211"/>
            <a:ext cx="916781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676" y="1808797"/>
            <a:ext cx="688181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118157" y="2071211"/>
            <a:ext cx="830898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232457" y="1808797"/>
            <a:ext cx="602298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8949055" y="2071211"/>
            <a:ext cx="2633345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9101455" y="1808797"/>
            <a:ext cx="2407545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09600" y="2084546"/>
            <a:ext cx="10972800" cy="4719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2549842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2160746"/>
            <a:ext cx="1417320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 ★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407920" y="2160746"/>
            <a:ext cx="2185353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with earned income under the MAGI cap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21873" y="2160746"/>
            <a:ext cx="1417320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315392" y="2084546"/>
            <a:ext cx="885984" cy="471964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9692" y="2160746"/>
            <a:ext cx="657384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7201376" y="2084546"/>
            <a:ext cx="916781" cy="4719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676" y="2160746"/>
            <a:ext cx="688181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8118157" y="2084546"/>
            <a:ext cx="830898" cy="471964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232457" y="2160746"/>
            <a:ext cx="602298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101455" y="2160746"/>
            <a:ext cx="240754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out $153k–$168k single, $242k–$252k joint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09600" y="301847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263271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IRA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2407920" y="2632710"/>
            <a:ext cx="218535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with earned income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821873" y="263271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315392" y="2556510"/>
            <a:ext cx="885984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29692" y="2632710"/>
            <a:ext cx="657384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deduct*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7201376" y="2556510"/>
            <a:ext cx="916781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315676" y="2632710"/>
            <a:ext cx="688181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8118157" y="2556510"/>
            <a:ext cx="830898" cy="468630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32457" y="2632710"/>
            <a:ext cx="602298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9101455" y="2632710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*Deduction phases out $81k–$91k if covered at work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609600" y="348710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762000" y="310134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401(k) ★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2407920" y="3101340"/>
            <a:ext cx="218535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whose employer offers one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4821873" y="310134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6315392" y="3025140"/>
            <a:ext cx="885984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29692" y="3101340"/>
            <a:ext cx="657384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pre-tax / Roth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7201376" y="3025140"/>
            <a:ext cx="916781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315676" y="3101340"/>
            <a:ext cx="688181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8118157" y="3025140"/>
            <a:ext cx="830898" cy="46863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232457" y="3101340"/>
            <a:ext cx="602298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926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ord. / free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9101455" y="3101340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Roth 401(k) has NO income cap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609600" y="3955732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762000" y="356997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★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2407920" y="3569970"/>
            <a:ext cx="218535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 HDHP, not on Medicare, not a dependent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4821873" y="3569970"/>
            <a:ext cx="1417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$4,400 / $8,750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6315392" y="3493770"/>
            <a:ext cx="885984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29692" y="3569970"/>
            <a:ext cx="657384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pre-tax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7201376" y="3493770"/>
            <a:ext cx="916781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315676" y="3569970"/>
            <a:ext cx="688181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75" dirty="0"/>
          </a:p>
        </p:txBody>
      </p:sp>
      <p:sp>
        <p:nvSpPr>
          <p:cNvPr id="65" name="Shape 63"/>
          <p:cNvSpPr/>
          <p:nvPr/>
        </p:nvSpPr>
        <p:spPr>
          <a:xfrm>
            <a:off x="8118157" y="3493770"/>
            <a:ext cx="830898" cy="46863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232457" y="3569970"/>
            <a:ext cx="602298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free†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9101455" y="3569970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†Tax-free out only for medical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609600" y="5461159"/>
            <a:ext cx="113019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 = Modified Adjusted Gross Income · HDHP = High-Deductible Health Plan. Figures: IRS Notice 2025-67 &amp; Rev. Proc. 2025-19. Add +$1,100 (IRA) or +$8,000 (401k) if 50+.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27963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MASTER TABLE · BAND 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&amp; self-employment plans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1755616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1527016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2365216" y="2071211"/>
            <a:ext cx="2852896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7616" y="1808797"/>
            <a:ext cx="263368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OPEN IT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218112" y="2071211"/>
            <a:ext cx="197500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70512" y="1808797"/>
            <a:ext cx="1746409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LIMIT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7193121" y="2071211"/>
            <a:ext cx="438927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45521" y="1808797"/>
            <a:ext cx="4216157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TO KNOW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09600" y="2549842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160746"/>
            <a:ext cx="1527016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403(b)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517616" y="2160746"/>
            <a:ext cx="2633683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of schools, hospitals, 501(c)(3)s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70512" y="2160746"/>
            <a:ext cx="1746409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 deferral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345521" y="2160746"/>
            <a:ext cx="4216157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student-shaped hole: schools may exclude students &amp; under-20-hr staff. TAs/RAs — read your plan doc.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09600" y="301847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2632710"/>
            <a:ext cx="152701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457(b)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517616" y="2632710"/>
            <a:ext cx="263368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State/local govt &amp; nonprofit employees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70512" y="263271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 — a SEPARATE limit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7345521" y="2632710"/>
            <a:ext cx="421615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on a 403(b) → defer $49,000 total. Governmental version has no 10% early penalty.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09600" y="348710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3101340"/>
            <a:ext cx="152701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SEP-IRA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2517616" y="3101340"/>
            <a:ext cx="263368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with self-employment income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370512" y="310134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net, up to $72,000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345521" y="3101340"/>
            <a:ext cx="421615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"25% of pay" is really 20% effective — usually the weaker self-employment option.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609600" y="3493770"/>
            <a:ext cx="10972800" cy="46863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600" y="3955732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3569970"/>
            <a:ext cx="1527016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401(k) ★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2517616" y="3569970"/>
            <a:ext cx="2633683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Self-employed, no employees (spouse OK)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370512" y="356997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 + ~20%, up to $72,000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7345521" y="3569970"/>
            <a:ext cx="4216157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answer for gig income: you're employer AND employee → ~5× the room of a SEP. Take deferrals as Roth.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= Simplified Employee Pension. A campus job usually can't get you into a 403(b) — but your student wages still fund your own Roth IRA.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28137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MASTER TABLE · BAND 3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disability &amp; everything else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197500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1746409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2584609" y="2071211"/>
            <a:ext cx="2633345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2737009" y="1808797"/>
            <a:ext cx="2407545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OPEN IT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217954" y="2071211"/>
            <a:ext cx="197500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70354" y="1808797"/>
            <a:ext cx="1746409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LIMIT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7192963" y="2071211"/>
            <a:ext cx="4389437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45363" y="1808797"/>
            <a:ext cx="4216320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TO KNOW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09600" y="2084546"/>
            <a:ext cx="10972800" cy="471964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2549842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2160746"/>
            <a:ext cx="1746409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 ★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737009" y="2160746"/>
            <a:ext cx="2407545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(owner keeps control); any beneficiary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70354" y="2160746"/>
            <a:ext cx="1746409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$19,000/yr, or $95,000 superfunded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345363" y="2160746"/>
            <a:ext cx="4216320" cy="357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Tax-free for education. Leftover money now has a Roth exit (Level 3).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09600" y="301847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263271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 (529A)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737009" y="2632710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Disability onset before age 46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70354" y="263271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$20,000/yr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345363" y="2632710"/>
            <a:ext cx="4216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benefits play, not a tax play — shields $100k from SSI's asset test. Highest-value account for the few it fits.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09600" y="348710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310134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Coverdell ESA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2737009" y="3101340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 under $110k / $220k joint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370354" y="3101340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$2,000/yr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345363" y="3101340"/>
            <a:ext cx="4216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trap: a 529 with a $2,000 cap, an income test, and a forced payout at 30. Roll it into a 529.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609600" y="411051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3569970"/>
            <a:ext cx="1746409" cy="50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UTMA / UGMA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2737009" y="3569970"/>
            <a:ext cx="2407545" cy="50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adult, for a minor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370354" y="3569970"/>
            <a:ext cx="1746409" cy="50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(it's a gift)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7345363" y="3569970"/>
            <a:ext cx="4216320" cy="509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shelter — a titling convention. Hit by the kiddie tax (a child's unearned income taxed at the parents' rate); costs ~20¢ of aid per dollar vs. a 529's ~5¢.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609600" y="457914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4193381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I-Bonds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737009" y="4193381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5370354" y="4193381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$10,000/yr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7345363" y="4193381"/>
            <a:ext cx="4216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cash sleeve (4.26%, state-tax-free). But "tax-free for college" fails for you — owner must be 24+ at issuance.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609600" y="504777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62000" y="4662011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 Account (§530A)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2737009" y="4662011"/>
            <a:ext cx="2407545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under 18 with an SSN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5370354" y="4662011"/>
            <a:ext cx="1746409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$5,000/yr + $1,000 seed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7345363" y="4662011"/>
            <a:ext cx="4216320" cy="35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this month. Marketed as tax-advantaged — run it through the grid and it fails. Tonight's market moment.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= Education Savings Account · UTMA/UGMA = custodial accounts · SSI = Supplemental Security Income.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888298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PATTERN IN BAND 3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tax code keeps writing full-time students out of its incentives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570797"/>
            <a:ext cx="7402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count tonight — it's a real design choice, not a coincidence.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26517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3170872"/>
            <a:ext cx="8290496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Saver's Credit excludes full-time students; the coming Saver's Match excludes them too.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68331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589020"/>
            <a:ext cx="9376664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kiddie tax reaches you until 24; the education I-Bond rule locks you out by age (owner must be 24+).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410146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4036695"/>
            <a:ext cx="9191387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note — a campus job at UVU or BYU can't get you into the 403(b): both exclude student workers.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025" y="4349115"/>
            <a:ext cx="10950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your student wages are FICA-exempt at 6+ credit hours — an extra 7.65% per check — and still count as earned income for your own Roth IRA. (FICA = the Social Security + Medicare payroll tax.)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53124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ONLY GUARANTEED RETURN YOU'LL BE OFFERED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match: what common formulas actually pay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4827905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4667942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FORMULA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5437505" y="2071211"/>
            <a:ext cx="2287588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551805" y="1808797"/>
            <a:ext cx="2058988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THIS TO MAX IT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725092" y="2071211"/>
            <a:ext cx="3857308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7819633" y="1808797"/>
            <a:ext cx="3668227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RETURN ON MATCHED DOLLARS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09600" y="249507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2198846"/>
            <a:ext cx="4667942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up to 6%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551805" y="2198846"/>
            <a:ext cx="2058988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725092" y="2084546"/>
            <a:ext cx="3857308" cy="417195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819633" y="2198846"/>
            <a:ext cx="366822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290893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2616041"/>
            <a:ext cx="4667942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first 3% + 50% of next 2%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551805" y="2616041"/>
            <a:ext cx="2058988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725092" y="2501741"/>
            <a:ext cx="3857308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819633" y="2616041"/>
            <a:ext cx="366822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blended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09600" y="2915603"/>
            <a:ext cx="10972800" cy="413861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600" y="332279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3029903"/>
            <a:ext cx="4667942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up to 6%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551805" y="3029903"/>
            <a:ext cx="2058988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725092" y="2915603"/>
            <a:ext cx="3857308" cy="413861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819633" y="3029903"/>
            <a:ext cx="3668227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09600" y="5461159"/>
            <a:ext cx="113019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$60,000 salary, "100%/3% + 50%/2%" means deferring $3,000 earns a $2,400 match — an 80% return before the market does anything. "The match" is not one number — read your plan's formula.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41776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VESTING &amp; THE TRUE-UP TRAP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money vests instantly; the match may not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3412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2246947"/>
            <a:ext cx="8142589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contributions are always 100% yours, immediately. The match can vest over time.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600" y="275939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665095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ERISA caps the pace: a 3-year cliff (0% then 100%) or 2-to-6 graded (20%/yr). Leave before you vest and the unvested match is forfeited.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44328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3378518"/>
            <a:ext cx="11704415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true-up trap: if the plan matches per paycheck with no year-end true-up, front-loading to $24,500 by August can forfeit match.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025" y="3690937"/>
            <a:ext cx="10950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 a $120k salary → hit the cap in ~10 checks → the last 14 earn $0 match. You collect ~$2,000 instead of $4,800 — forfeiting ~$2,800 by being too eager. Fix: spread across 12 months.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21703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HSA'S GATE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gates — and a fourth advantage nobody names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3412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2246947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gate: covered by an HDHP, not enrolled in Medicare, and — the one that catches this room — not claimable as a dependent. It turns on whether you can be claimed.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600" y="302514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930843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fourth advantage: contribute through employer payroll (a §125 cafeteria plan) and the money also escapes FICA — another 7.65% — because it never counts as wages.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70903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3614738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from your bank account instead and you get the income-tax deduction but NOT the FICA break. Same dollars, ~7.65% apart, purely on the plumbing.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44430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STUDENT-SPECIFIC TWIST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6349518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low earner, the FICA break is the only HSA benefit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475547"/>
            <a:ext cx="3505200" cy="3428524"/>
          </a:xfrm>
          <a:prstGeom prst="roundRect">
            <a:avLst>
              <a:gd name="adj" fmla="val 333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1067" y="3524409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21067" y="4057809"/>
            <a:ext cx="2968733" cy="835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 a student earning $12,000 owes (under the $16,100 standard deduction)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2475547"/>
            <a:ext cx="3505200" cy="3428524"/>
          </a:xfrm>
          <a:prstGeom prst="roundRect">
            <a:avLst>
              <a:gd name="adj" fmla="val 333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868" y="3657283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54868" y="4190683"/>
            <a:ext cx="2968733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the HSA's famous income-tax deduction to them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77200" y="2475547"/>
            <a:ext cx="3505200" cy="3428524"/>
          </a:xfrm>
          <a:prstGeom prst="roundRect">
            <a:avLst>
              <a:gd name="adj" fmla="val 333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8668" y="3524409"/>
            <a:ext cx="31704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3600" b="1" spc="-7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~$918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88668" y="4057809"/>
            <a:ext cx="2968733" cy="835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still owed on those wages — and the payroll HSA is the only way to dodge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74528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DEADLINES ARE RULES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IRA calendar runs long; the 401(k) hard-stops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397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to next tax day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 2026 Roth IRA until April 15, 2027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extensions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late-discovered low-income year is still salvageable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6732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401(k)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December 31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Deferrals come out of payroll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your last check is cut, the money is "available"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April grace period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calendar itself is a rule.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16630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HOW A 529 IS CONTROLLED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529: the owner keeps control; the beneficiary never does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6946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 parent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control forever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change the beneficiary to another family member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opposite of a UTMA, where the kid takes it at majority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1146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is for them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controls the account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= tuition, fees, room/board, K-12 up to $20,000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Non-qualified = 10% penalty on earnings only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Leftover money isn't stranded — it now has a Roth exit (Level 3). Many states also give a ~5% income-tax deduction for their own plan.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446760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GETTING MONEY OUT EARLY (BEFORE 59½)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early-withdrawal penalty map, box by box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2852896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263368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462496" y="2071211"/>
            <a:ext cx="2413953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4896" y="1808797"/>
            <a:ext cx="218535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876449" y="2071211"/>
            <a:ext cx="1316673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990749" y="1808797"/>
            <a:ext cx="108807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7193121" y="2071211"/>
            <a:ext cx="4389279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7345521" y="1808797"/>
            <a:ext cx="4216157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THING TO KNOW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09600" y="2084546"/>
            <a:ext cx="10972800" cy="31718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2395061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2160746"/>
            <a:ext cx="2633683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 — contributions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614896" y="2160746"/>
            <a:ext cx="2185353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5876449" y="2084546"/>
            <a:ext cx="1316673" cy="317182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90749" y="2160746"/>
            <a:ext cx="1088073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345521" y="2160746"/>
            <a:ext cx="4216157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anytime, any reason — the escape hatch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609600" y="2708910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2477929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 — earnings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614896" y="2477929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income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5876449" y="2401729"/>
            <a:ext cx="1316673" cy="313849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90749" y="2477929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345521" y="2477929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only once you're 59½ and past the 5-year clock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609600" y="3022759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2791778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IRA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3614896" y="2791778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income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5876449" y="2715578"/>
            <a:ext cx="1316673" cy="313849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990749" y="2791778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7345521" y="2791778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owns the best exceptions (next slide)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609600" y="3336607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3105626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Pre-tax 401(k) / 403(b)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3614896" y="3105626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income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876449" y="3029426"/>
            <a:ext cx="1316673" cy="313849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90749" y="3105626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7345521" y="3105626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college or first-home exception — those are IRA-only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609600" y="365045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762000" y="3419475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Governmental 457(b)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3614896" y="3419475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income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5876449" y="3343275"/>
            <a:ext cx="1316673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990749" y="3419475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7345521" y="3419475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plan with no early penalty — ever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609600" y="396430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762000" y="3733324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— non-medical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3614896" y="3733324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income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5876449" y="3657124"/>
            <a:ext cx="1316673" cy="313849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990749" y="3733324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7345521" y="3733324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the usual penalty — but gone at 65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609600" y="427815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62000" y="4047172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 — non-qualified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3614896" y="4047172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earnings only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5876449" y="3970972"/>
            <a:ext cx="1316673" cy="313849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990749" y="4047172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926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7345521" y="4047172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hits earnings only — never your principal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609600" y="4592003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61" name="Text 59"/>
          <p:cNvSpPr/>
          <p:nvPr/>
        </p:nvSpPr>
        <p:spPr>
          <a:xfrm>
            <a:off x="762000" y="4361021"/>
            <a:ext cx="263368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Taxable brokerage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3614896" y="4361021"/>
            <a:ext cx="218535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capital-gains on gains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5876449" y="4284821"/>
            <a:ext cx="1316673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990749" y="4361021"/>
            <a:ext cx="1088073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7345521" y="4361021"/>
            <a:ext cx="421615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locked — the freedom you pay for with no tax break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outliers: the governmental 457(b) has no early penalty ever; the HSA's non-medical penalty is 20% — the harshest on the board.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97167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THE EXCEPTIONS SPLIT BY ACCOUNT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early-withdrawal exceptions apply where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7402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gets this wrong — the list is not the same for every box.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278892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694622"/>
            <a:ext cx="9554607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 only: qualified higher education, first-time home ($10,000 lifetime), health insurance while unemployed.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20706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112770"/>
            <a:ext cx="10452878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plan only: the Rule of 55 — leave your job at 55+ and that plan's money is penalty-free (IRAs don't get this).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62521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530918"/>
            <a:ext cx="9518285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disability, death, birth/adoption ($5,000), a $1,000/yr emergency, terminal illness, disaster ($22,000).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404336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5" y="3978593"/>
            <a:ext cx="2252488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practical takeaways: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8025" y="4291013"/>
            <a:ext cx="7680007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you might need for grad school belongs in an IRA, not a 401(k) — the education exception is IRA-only.</a:t>
            </a:r>
            <a:endParaRPr lang="en-US" sz="1125" dirty="0"/>
          </a:p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a job at 55+? Don't roll that 401(k) to an IRA first — you'd forfeit the Rule of 55 on it.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18136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ROLLOVERS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a job? Move money account-to-account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1480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transfer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trustee-to-trustee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802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moves account-to-account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withheld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 this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23993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— check to you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20% trap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employer plan must withhold 20%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 to redeposit the full amount — making up the 20% from your own pocket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it → the 20% is taxed and penalized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balances get force-out: under $1,000 can be mailed to you; $1,000–$7,000 is auto-rolled into a plan's low-yield default IRA. Move them yourself.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2187416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715101"/>
            <a:ext cx="730805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map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3503771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boxes — now the arrows between them. Every arrow is a legal move, and every move is a tax decision.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413409"/>
            <a:ext cx="673259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4470559"/>
            <a:ext cx="520859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min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25825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THE MONEY MAP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money between the boxes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599089"/>
            <a:ext cx="3539649" cy="691039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667" y="1720056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667" y="1977231"/>
            <a:ext cx="354366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pre-tax dollars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57519" y="1819593"/>
            <a:ext cx="14768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/ backdoor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301649" y="2050574"/>
            <a:ext cx="3588702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6534" y="2013426"/>
            <a:ext cx="73343" cy="9334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2751" y="1704499"/>
            <a:ext cx="3539649" cy="480060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01819" y="1825466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2442528"/>
            <a:ext cx="3539649" cy="691039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667" y="2563495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After-tax 401(k)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667" y="2820670"/>
            <a:ext cx="354366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$24,500 deferral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591969" y="2663031"/>
            <a:ext cx="10079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backdoor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4301649" y="2894012"/>
            <a:ext cx="3588702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826534" y="2856865"/>
            <a:ext cx="73343" cy="9334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2751" y="2547938"/>
            <a:ext cx="3539649" cy="480060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01819" y="2668905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9600" y="3285966"/>
            <a:ext cx="3539649" cy="691039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8667" y="3406934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401(k)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667" y="3664109"/>
            <a:ext cx="354366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job you left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545773" y="3506470"/>
            <a:ext cx="110045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rollover — direct!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4301649" y="3737451"/>
            <a:ext cx="3588702" cy="190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26534" y="3700304"/>
            <a:ext cx="73343" cy="9334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2751" y="3391376"/>
            <a:ext cx="3539649" cy="480060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01819" y="3512344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09600" y="4129405"/>
            <a:ext cx="3539649" cy="691039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667" y="4250373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8667" y="4507548"/>
            <a:ext cx="354366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leftover college money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336730" y="4349909"/>
            <a:ext cx="151853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2.0 · $35k cap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4301649" y="4580890"/>
            <a:ext cx="3588702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8" name="Shape 36"/>
          <p:cNvSpPr/>
          <p:nvPr/>
        </p:nvSpPr>
        <p:spPr>
          <a:xfrm>
            <a:off x="7826534" y="4543742"/>
            <a:ext cx="73343" cy="9334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2751" y="4234815"/>
            <a:ext cx="3539649" cy="480060"/>
          </a:xfrm>
          <a:prstGeom prst="roundRect">
            <a:avLst>
              <a:gd name="adj" fmla="val 23810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01819" y="4355782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09600" y="4972844"/>
            <a:ext cx="3539649" cy="691039"/>
          </a:xfrm>
          <a:prstGeom prst="roundRect">
            <a:avLst>
              <a:gd name="adj" fmla="val 16540"/>
            </a:avLst>
          </a:prstGeom>
          <a:solidFill>
            <a:srgbClr val="FFFFFF">
              <a:alpha val="72000"/>
            </a:srgbClr>
          </a:solidFill>
          <a:ln w="6667">
            <a:solidFill>
              <a:srgbClr val="E5E8F0">
                <a:alpha val="72000"/>
              </a:srgbClr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432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8667" y="5093811"/>
            <a:ext cx="3543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b="1" dirty="0">
                <a:solidFill>
                  <a:srgbClr val="0B1220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68667" y="5350986"/>
            <a:ext cx="354366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shoebox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433481" y="5193348"/>
            <a:ext cx="132488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4F46E5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arrow out — ever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4301649" y="5424329"/>
            <a:ext cx="3588702" cy="19050"/>
          </a:xfrm>
          <a:prstGeom prst="roundRect">
            <a:avLst>
              <a:gd name="adj" fmla="val 50000"/>
            </a:avLst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46" name="Shape 44"/>
          <p:cNvSpPr/>
          <p:nvPr/>
        </p:nvSpPr>
        <p:spPr>
          <a:xfrm>
            <a:off x="8042751" y="5063966"/>
            <a:ext cx="3539649" cy="508635"/>
          </a:xfrm>
          <a:prstGeom prst="roundRect">
            <a:avLst>
              <a:gd name="adj" fmla="val 22472"/>
            </a:avLst>
          </a:prstGeom>
          <a:solidFill>
            <a:srgbClr val="F6F7FB">
              <a:alpha val="72000"/>
            </a:srgbClr>
          </a:solidFill>
          <a:ln w="6667">
            <a:solidFill>
              <a:srgbClr val="E5E8F0">
                <a:alpha val="72000"/>
              </a:srgbClr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8201819" y="5184934"/>
            <a:ext cx="3417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100" dirty="0">
                <a:solidFill>
                  <a:srgbClr val="94A3B8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⊘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8543608" y="5222240"/>
            <a:ext cx="465931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exit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top to bottom as "live for me now" → "live for me later." The HSA has no exit — and that's its superpower.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36904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ARROW 1 · ROTH CONVERSION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low-income year, convert Traditional → Roth for near-$0 tax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57079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conversion room = the $16,100 standard deduction − your ordinary income.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5604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3466147"/>
            <a:ext cx="8696674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with $8,000 of summer wages has $8,100 of room left — convert up to that and pay $0.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97859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913822"/>
            <a:ext cx="4736354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The trap that guts the naive version: the kiddie tax.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8025" y="4226243"/>
            <a:ext cx="10950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about whether your parents claim you. It reaches any full-time student aged 19–23 whose earned income is under half their support — and a conversion counts as unearned income, taxed at your parents' rate.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09600" y="4915852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4821555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escape hatch is the support test, not age: a heavily-scholarshipped student with a real job can earn more than half their own support and step out of the kiddie tax.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600" y="559974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5505450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gotcha: conversion income pushes long-term gains out of the 0% bracket — a student doing both in one year can hit a true 27% marginal rate.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150060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ARROW 2 · 529 → ROTH IRA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leftover college money into retirement money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from SECURE 2.0: unused 529 money can roll into the beneficiary's Roth IRA, tax- and penalty-free — through four gates.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08419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989897"/>
            <a:ext cx="3123168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$35,000 lifetime cap (not indexed).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50234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408045"/>
            <a:ext cx="3375676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529 must be at least 15 years old.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92049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826193"/>
            <a:ext cx="6122352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from the last 5 years (and their earnings) are ineligible.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600" y="433863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5" y="4244340"/>
            <a:ext cx="8625951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year's rollover is capped at the IRA limit ($7,500) and the beneficiary needs earned income.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600" y="475678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09625" y="4662488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open question: whether changing the beneficiary resets the 15-year clock is unsettled — don't build a plan on beneficiary-swapping.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22305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ARROW 3 · BACKDOOR ROTH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backdoor Roth — and the pro-rata trap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Roth IRA has an income cap (~$168k single), but Roth conversions have no income limit — so high earners contribute to a non-deductible Traditional IRA and immediately convert.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37947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3285172"/>
            <a:ext cx="3826558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common, and unthreatened in 2026.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79761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732847"/>
            <a:ext cx="10656665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pro-rata trap: the conversion is taxed proportionally across ALL your traditional IRA money, not just the new dollars.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8025" y="4045268"/>
            <a:ext cx="986567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roll existing pre-tax IRA money into a 401(k) first, emptying the bucket so the backdoor converts clean.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09600" y="4513421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4419124"/>
            <a:ext cx="8464597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"you in five years" move — flag it now so the mechanism is familiar when the income arrives.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76229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ARROW 4 · MEGA BACKDOOR ROTH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After-tax dollars, all the way up to the $72,000 limit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401(k) plans allow after-tax contributions beyond the $24,500 deferral, up to the §415(c) total of $72,000 — which you then convert to Roth in-plan.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37947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3285172"/>
            <a:ext cx="7107237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move tens of thousands into Roth per year — far above the $7,500 IRA cap.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79761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703320"/>
            <a:ext cx="9801003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plan-dependent: it only works if your plan permits both after-tax contributions and in-plan conversion.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421576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4121468"/>
            <a:ext cx="4195715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"you in ten years, at a good employer" move.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47189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THE BOX WITH NO EXIT ARROW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HSA shoebox: no deadline to reimburse yourself — ever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74027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HSA's lack of an exit arrow is the feature, not a flaw.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278892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694622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small medical bills out of pocket, save the receipts, and let the HSA compound tax-free for decades — then reimburse yourself, tax-free, whenever you want.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47281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408045"/>
            <a:ext cx="793984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one-dollar move: the clock starts when the account is funded, not when you sign up.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8025" y="3720465"/>
            <a:ext cx="1052560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 fund an HSA with even $1 the day you're first eligible — every receipt after that date is eligible forever. Highest-ROI action in tonight's lesson.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09600" y="4188619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4094321"/>
            <a:ext cx="11095958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65 the 20% non-medical penalty vanishes and it becomes a Traditional IRA — but the tax-free-for-medical option never goes away. Strictly better than an IRA.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186307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THE PAYOFF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arrow is live for you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329184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3085795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901440" y="2071211"/>
            <a:ext cx="2499836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015740" y="1808797"/>
            <a:ext cx="2271236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· ~$0–15K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401276" y="2071211"/>
            <a:ext cx="2568416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50" y="1808797"/>
            <a:ext cx="2340669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JOB · ~$40–70K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8969693" y="2071211"/>
            <a:ext cx="2612707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9082902" y="1808797"/>
            <a:ext cx="2386289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EARNER · $150K+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609600" y="2084546"/>
            <a:ext cx="10972800" cy="31718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2395061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2160746"/>
            <a:ext cx="3085795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IRA (just contribute)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901440" y="2084546"/>
            <a:ext cx="2499836" cy="317182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015740" y="2160746"/>
            <a:ext cx="2271236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your #1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401276" y="2084546"/>
            <a:ext cx="2568416" cy="317182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15150" y="2160746"/>
            <a:ext cx="2340669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8969693" y="2084546"/>
            <a:ext cx="2612707" cy="317182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082902" y="2160746"/>
            <a:ext cx="2386289" cy="202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capped → backdoor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09600" y="2708910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2477929"/>
            <a:ext cx="3085795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Roth conversion (low-income yr)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3901440" y="2401729"/>
            <a:ext cx="2499836" cy="313849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015740" y="2477929"/>
            <a:ext cx="2271236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926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if you clear kiddie tax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515150" y="2477929"/>
            <a:ext cx="234066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8969693" y="2401729"/>
            <a:ext cx="2612707" cy="313849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082902" y="2477929"/>
            <a:ext cx="238628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too expensive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609600" y="3022759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762000" y="2791778"/>
            <a:ext cx="3085795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529 → Roth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901440" y="2715578"/>
            <a:ext cx="2499836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015740" y="2791778"/>
            <a:ext cx="2271236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if leftover 529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6401276" y="2715578"/>
            <a:ext cx="2568416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15150" y="2791778"/>
            <a:ext cx="234066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8969693" y="2715578"/>
            <a:ext cx="2612707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082902" y="2791778"/>
            <a:ext cx="238628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609600" y="3336607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3105626"/>
            <a:ext cx="3085795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Roth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015740" y="3105626"/>
            <a:ext cx="2271236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6515150" y="3105626"/>
            <a:ext cx="234066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8969693" y="3029426"/>
            <a:ext cx="2612707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082902" y="3105626"/>
            <a:ext cx="238628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move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609600" y="365045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762000" y="3419475"/>
            <a:ext cx="3085795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backdoor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4015740" y="3419475"/>
            <a:ext cx="2271236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6515150" y="3419475"/>
            <a:ext cx="234066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8969693" y="3343275"/>
            <a:ext cx="2612707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082902" y="3419475"/>
            <a:ext cx="238628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if your plan allows</a:t>
            </a:r>
            <a:endParaRPr lang="en-US" sz="975" dirty="0"/>
          </a:p>
        </p:txBody>
      </p:sp>
      <p:sp>
        <p:nvSpPr>
          <p:cNvPr id="53" name="Shape 51"/>
          <p:cNvSpPr/>
          <p:nvPr/>
        </p:nvSpPr>
        <p:spPr>
          <a:xfrm>
            <a:off x="609600" y="396430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54" name="Text 52"/>
          <p:cNvSpPr/>
          <p:nvPr/>
        </p:nvSpPr>
        <p:spPr>
          <a:xfrm>
            <a:off x="762000" y="3733324"/>
            <a:ext cx="3085795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 shoebox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3901440" y="3657124"/>
            <a:ext cx="2499836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015740" y="3733324"/>
            <a:ext cx="2271236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start the $1 clock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6401276" y="3657124"/>
            <a:ext cx="2568416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515150" y="3733324"/>
            <a:ext cx="234066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8969693" y="3657124"/>
            <a:ext cx="2612707" cy="313849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082902" y="3733324"/>
            <a:ext cx="2386289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544"/>
              </a:lnSpc>
              <a:buNone/>
            </a:pPr>
            <a:r>
              <a:rPr lang="en-US" sz="975" b="1" dirty="0">
                <a:solidFill>
                  <a:srgbClr val="0A7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arrows are for a $40k earner, some only unlock at $150k+. No "someday" — find your column and do the checked moves this year.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2187416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715101"/>
            <a:ext cx="7308056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 Accounts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3503771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newest box in the tax code — live since July 4, 2026 — and whether it's any good.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413409"/>
            <a:ext cx="672465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4470559"/>
            <a:ext cx="520065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31455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THE NEWEST BOX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621564" y="609600"/>
            <a:ext cx="227693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July 4, 2026 · twelve days ago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609600" y="953929"/>
            <a:ext cx="10972800" cy="4950143"/>
          </a:xfrm>
          <a:prstGeom prst="roundRect">
            <a:avLst>
              <a:gd name="adj" fmla="val 2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600" y="589740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953929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953929"/>
            <a:ext cx="46673" cy="495014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75732" y="953929"/>
            <a:ext cx="9525" cy="4950143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13472" y="1626394"/>
            <a:ext cx="6878644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 Accounts (§530A) become fundable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3472" y="2731294"/>
            <a:ext cx="742673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$1,000 federal seed for kids born 2025–2028; a $5,000/yr cap — of which $2,500 can come from an employer, tax-free. Investments must track a US index. At 18 it converts to a Traditional IRA.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13472" y="3921919"/>
            <a:ext cx="1000506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3472" y="4157186"/>
            <a:ext cx="237717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13472" y="4589621"/>
            <a:ext cx="237717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seed · 2025–2028 births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579336" y="4157186"/>
            <a:ext cx="2612215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$5,000/yr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579336" y="4589621"/>
            <a:ext cx="26122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cap · $2,500 employer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58877" y="4157186"/>
            <a:ext cx="173978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258877" y="4589621"/>
            <a:ext cx="173978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cap · US-index only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113472" y="5039677"/>
            <a:ext cx="1100556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 Notice 2025-68 · OBBBA (One Big Beautiful Bill Act)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70292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WHY YOU SHOULD CARE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now match it — a job-interview line item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3412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2246947"/>
            <a:ext cx="10474008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Goldman, JPMorgan, BlackRock, Schwab, Chipotle, Robinhood and others now match the $1,000 for employees' kids.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600" y="275939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665095"/>
            <a:ext cx="815848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makes it a compensation line item to ask about in an interview, just like a 401(k) match.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17754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809625" y="3083243"/>
            <a:ext cx="10244725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Tie-back: Robinhood — Week 3's meme-stock app — is the federal government's initial trustee for these accounts.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443390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RUN IT THROUGH LEVEL 1'S GRID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$5,000, 7% for 30 years — after-tax value at the end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071211"/>
            <a:ext cx="603504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808797"/>
            <a:ext cx="5911291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l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644640" y="2071211"/>
            <a:ext cx="4937760" cy="1333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648907" y="1808797"/>
            <a:ext cx="4781093" cy="18621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b">
            <a:normAutofit/>
          </a:bodyPr>
          <a:lstStyle/>
          <a:p>
            <a:pPr algn="r" indent="0" marL="0">
              <a:lnSpc>
                <a:spcPct val="110544"/>
              </a:lnSpc>
              <a:buNone/>
            </a:pPr>
            <a:r>
              <a:rPr lang="en-US" sz="975" b="1" spc="59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AFTER-TAX VALUE AT YEAR 30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9600" y="2084546"/>
            <a:ext cx="10972800" cy="417195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249507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2198846"/>
            <a:ext cx="5911291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644640" y="2084546"/>
            <a:ext cx="4937760" cy="417195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48907" y="2198846"/>
            <a:ext cx="4781093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$40,831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609600" y="2908935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2616041"/>
            <a:ext cx="59112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IRA / Roth IRA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48907" y="2616041"/>
            <a:ext cx="4781093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$31,031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09600" y="3322796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029903"/>
            <a:ext cx="59112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taxable brokerage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648907" y="3029903"/>
            <a:ext cx="4781093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$26,947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609600" y="3736657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3443764"/>
            <a:ext cx="5911291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Trump Account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6644640" y="3329464"/>
            <a:ext cx="4937760" cy="413861"/>
          </a:xfrm>
          <a:prstGeom prst="rect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48907" y="3443764"/>
            <a:ext cx="4781093" cy="223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7143"/>
              </a:lnSpc>
              <a:buNone/>
            </a:pPr>
            <a:r>
              <a:rPr lang="en-US" sz="1125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$24,496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09600" y="5461159"/>
            <a:ext cx="113019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Trump Account ends ~$2,451 BEHIND a plain taxable account — it converts capital gains into ordinary income. Marketed as tax-advantaged; for a buy-and-hold saver it trails the un-advantaged option. (Ignores the free seed &amp; employer money.) Source: Cato PA 1019.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43724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AFTER 18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slices: tax-free basis vs. taxable seed + growth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18 it becomes a plain Traditional IRA; withdrawals are pro-rata, not basis-first.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08419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989897"/>
            <a:ext cx="7974250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(comes out tax-free): the money your family contributed — it was after-tax going 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50234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408045"/>
            <a:ext cx="8350568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basis (ordinary income): the $1,000 seed, any employer money, and all investment growth.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92049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855720"/>
            <a:ext cx="1098526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$50,000 at 18 = $20,000 basis + $30,000 non-basis → basis fraction 40%. Withdraw $10,000 → $4,000 tax-free, $6,000 ordinary income.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025" y="4433888"/>
            <a:ext cx="109505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59½, add a 10% penalty on the taxable slice — $600 — unless a Traditional-IRA exception applies. Honest headline: "ordinary income, and often + 10%."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09600" y="5123498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5029200"/>
            <a:ext cx="8224488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sting: the "free money" the account is sold on is exactly the part taxed at ordinary rates.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01088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THREE DEBATES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account, three unresolved tensions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23412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2276475"/>
            <a:ext cx="1078839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projections hold up? The app shows $13M by 55 — assuming &gt;10% every year for 55 years; independent estimates run 3–7%.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8025" y="2854643"/>
            <a:ext cx="1095057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realistic 6–7% the real number is a fifth to a seventh of the headline — and that's pre-tax, before the ordinary-income exit.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322796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258026"/>
            <a:ext cx="1068717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actually shows up? Treasury touts 86% of accounts from families under $200k — but ~95% of all households with kids are under that line.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8025" y="3836194"/>
            <a:ext cx="1095057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higher-income families are over-represented among sign-ups. Opt-in programs favor whoever can navigate them.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09600" y="4304347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09625" y="4239578"/>
            <a:ext cx="11060313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cross-cutting defense: a right-leaning think tank (Cato) attacks it; a left-leaning economist (Ghilarducci) defends it — on access, not returns.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8025" y="4817745"/>
            <a:ext cx="1095057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than 3% of families use a 529, and owners hold ~25× the assets of non-owners. It doesn't sort the way anyone expects.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85800"/>
            <a:ext cx="270371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DISCUSSION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close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88499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8168" y="189166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88499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"tax-advantaged" label dishonest, or is the free $1,000 seed enough to redeem it?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09600" y="285654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8168" y="286321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285654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open one for a younger sibling born since 2025 — or tell your parents to use a 529 instead?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9600" y="382809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168" y="383476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382809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Interviewing next year: is a "$1,000 Trump Account match" worth anything? How does it compare to a 401(k) match?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9600" y="479964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168" y="480631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4799647"/>
            <a:ext cx="8153387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projects $13M by assuming 10% forever. Whose job is it to make that assumption honest — the government's, the app's, or yours?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162488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18587" y="7334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04312" y="914400"/>
            <a:ext cx="38100" cy="66675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70987" y="876300"/>
            <a:ext cx="38100" cy="10477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7662" y="828675"/>
            <a:ext cx="381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475787" y="757238"/>
            <a:ext cx="2317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spc="-13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Money Talk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1504950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&amp; FIGURES (2026)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08000" y="1773079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 Notice 2025-67 — retirement limits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Rev. Proc. 2025-19 — HSA limits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Rev. Proc. 2025-32 — standard deduction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 Notice 2025-68 — Trump Accounts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944654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08000" y="3212782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IRC §223 (HSA), §72(t) (early withdrawals), §415(c)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590-A / 590-B — IRA contributions &amp; distributions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 970 — education benefits · Form 8606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2.0 §304 — force-out ceiling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324600" y="1504950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MOMENT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23000" y="1773079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Cato PA 1019 — Improving Trump Accounts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 — employer matches &amp; sign-ups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Fortune, Forbes — projections &amp; debate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Vanguard, Fidelity — match &amp; Roth trends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455468" y="6056471"/>
            <a:ext cx="233962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Tax-Advantaged Accounts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2026-07-21T02:38:19Z</dcterms:created>
  <dcterms:modified xsi:type="dcterms:W3CDTF">2026-07-21T02:38:19Z</dcterms:modified>
</cp:coreProperties>
</file>