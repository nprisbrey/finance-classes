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while they read the subtitle: 'Everyone in this room can look up a stock price in two seconds. Almost no one can tell you whether it's the right price — that gap is the whole class.' Set the stakes: by the end you'll be able to open a real filing and form your own opinion, not borrow someone else's. Flag that we're using NVIDIA as the running example not because it's a recommendation, but because it's the most argued-about stock on earth right now — perfect for pressure-testing every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job here is to listen for a 'reason' you can call back to later — someone will say 'I bought because it kept going up' (momentum) or 'my buddy said' (a tip). Note it; you'll reference it by name in M1 and M7. Timebox hard — ~90 sec each, don't let one person eat the clock. If the room is quiet, share your own recent trade first to model the honesty. The point isn't the trades, it's surfacing that most buy/sell reasons aren't about value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we cannot do all eight well in the time we have — that's by design, you're choosing. Give them the one-sentence pitch for the fork: 'Do you want to think like an investor, or actually value a company with me?' Read the room — a hands-on group loves Route B (we pull NVIDIA's real filing up and compute together); a broader group gets more from A. Take the vote on the next slide, not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honest tradeoff: Route B is more satisfying but we might only get through two companies' worth of math; Route A covers more ground but stays higher-altitude. Warn them B runs long — if we pick it, we're skipping M6 and M7 entirely, and that's fine. Take the actual show-of-hands now. Whichever wins, promise the other route's slides stay in the deck so they can read them later. Then jump straight to M1 — it's the shared foundation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'Before we value anything, we have to separate two words everyone uses interchangeably — price and value.' Tell them M1 is the load-bearing wall; if it lands, the rest of the day is just applying it. Keep this section conversational, not mathy — the equation on the next slides is there to make an intuition precise, not to scare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the 'loose leash': picture a man walking an excitable dog across a field — the dog (price) darts far ahead and behind, but ends up where the man (value) walks. Over years, price tracks value; over days, it's all leash. Push the room: when someone says 'the market got it wrong,' ask them 'wrong about what — growth? margins? the discount rate?' If they can't name the input, they don't have a thesis, they have a feeling. That distinction is the seed of everything in M3 and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while they read the bars: two of these three drivers are things the business does (grow earnings, pay dividends); the third is just other people's willingness to pay more for the same dollar — that's the fragile one. Analogy: earnings growth is the engine, re-rating is a tailwind. That decade had a huge tailwind and people mistook it for engine power. Ask: 'If multiples just hold flat from here — no re-rating at all — what return are you actually signing up for?' That reframes today's high market. Bridges directly to the next slide: NVIDIA is the live case of a business whose engine is roaring but whose stock still fell.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breaks people's intuition, so let it sit. The mental model: you don't get paid for being good, you get paid for being better than expected — and the expectation was already sky-high. Analogy: the straight-A student who comes home with an A- gets a worse reaction than the C student who brings home a B. Ask the room to guess the reaction before you reveal the −2%; the surprise is the teaching moment. Tie back to the opener: whoever said 'I bought because it kept going up' just met the risk in that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Fed' shows up in every market headline even though the Fed never mentions a single stock. The intuition: a higher required return is like a stronger current — it drags all future dollars further from you, and the dollars furthest out (growth stocks) get dragged the most. Concrete callback for later: this same sensitivity is exactly why a DCF is so twitchy in M4 — small change in r, big change in value. If the room is advanced, mention 'long duration' is the same word bond people use, and it's the same math. Keep the equation light; the takeaway is directional, not numeric.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Route B: actually put the 10-Q on screen now — nothing builds credibility like scrolling a real SEC filing. Reassure them it looks intimidating but we only need four or five numbers off it. Framing: the three statements answer three different questions — is it profitable, is it solvent, is it actually generating cash — and a healthy company needs a yes on all three. Tell them the punchline early so they watch for it: this quarter, NVIDIA's statements disagree with each other, and learning to read the disagreement is the whole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that makes it stick: the income statement is your paystub (what you earned), the balance sheet is your net-worth statement on one day (what you own vs. owe), and the cash flow statement is your actual bank-account activity. You can look profitable on paper and still bounce a check — that gap is where frauds and blowups hide. Emphasize why cash flow is the 'truth-teller': accrual profit involves judgment calls, cash in the bank doesn't. Point ahead: on the NVIDIA slide we'll see net income exceed operating cash flow, and that's the tell we'll unpack.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Blunt framing: GAAP is the number the referee (the SEC) makes them report; non-GAAP is the number management wishes you'd look at. Neither is automatically honest — the skill is knowing what got added back and asking 'is that really non-recurring?' On stock comp specifically, make it concrete: paying employees in shares is absolutely a cost — it dilutes you, the shareholder — so adding it back to look more profitable is the accounting equivalent of not counting calories you drank. The genuinely interesting news is NVIDIA quietly stopping that add-back this quarter — a rare case of a company making its own numbers look worse, which tells you the standard is tightening across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 this is the payoff slide of the module. Do the arithmetic live on the whiteboard if Route B: gross margin is literally $61.1B ÷ $81.6B, and watching a scary metric become one division problem is the confidence unlock for the whole room. The twist is genuinely counterintuitive and worth dwelling on: usually non-GAAP flatters the numbers, but here GAAP is higher because a $15.9B paper gain on their investment stakes — money they didn't earn selling chips — inflated it. That same paper gain is why net income tops operating cash flow, closing the loop from the three-statements slide. Lesson to say aloud: always ask 'where did the profit come from,' not just 'how big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habit, not the verdict: a single number is never a red flag — a number moving out of line with a related number is. Rising receivables alongside flat sales can mean you're 'selling' to people who won't pay; here DSO is flat, so that fear is off the table. The inventory jump is the one to chew on — invite the room to argue both sides: bearish read is 'demand is softening and product is piling up'; bullish read is 'they're pre-building for the Blackwell/Rubin ramp because they can't make them fast enough.' The point is that the same fact supports two stories, and your job as an analyst is to decide which — the filing gives you the clue,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now know how to read the business — next question is what it's worth, and there are two ways to answer that.' Relative value (this module) asks 'what are similar companies going for?'; intrinsic value (M4) asks 'what are the cash flows actually worth?' Analogy: multiples are like pricing a house by comparable sales on the street — fast, market-grounded, but only as good as your comps. Set expectation that this is the method professionals actually reach for first because it's quick and hard to fudge.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to land: there is no universal 'right' multiple — you match the tool to the business, the way you'd never measure your height in pounds. A P/E is useless on a company with no E (no earnings), which is exactly why loss-making growth names get valued on sales. Every multiple deliberately ignores something — P/E ignores debt, P/S ignores whether sales are even profitable — so knowing what each one is blind to is the actual skill. The two-ways-to-read point is the practical habit: a 30x P/E means nothing until you know it used to be 20x, and peers trade at 25x.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analogy for EV: you're buying a house, not just the equity — if you buy a $500k house with a $400k mortgage, your real cost is the whole $500k, and you inherit the debt. Market cap is the equity check; enterprise value is the true all-in price. That's why a cash-rich company is 'cheaper than it looks' (you get the cash back) and a debt-heavy one is 'more expensive than it looks.' Ford is the showstopper here — its enterprise value is 3.4x its market cap because Ford is really a bank (Ford Credit) with a car company attached. Use it to warn: never compare a Ford P/E to an NVIDIA P/E without looking at the balance sheet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table aloud — they can read. Instead pick two cells and tell the story between them. The one to feature: NVIDIA's forward P/E (~19) is actually below the S&amp;P average (~20), which lands as a genuine shock after a year of 'NVIDIA is in a bubble' headlines — because forward earnings are still nearly doubling. Contrast Ford's 'N/M' trailing P/E: not a typo, its earnings are negative, so the ratio is meaningless — a preview of the value trap two slides on. Push the room: 'every one of these numbers is different for a reason — pick a column and tell me why.' Housekeeping: these are live and drift daily, so you re-pulled them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'un-learn what you think you know' slide. Everyone arrives believing low P/E = cheap = good; the whole point is that it's often a trap — the market prices a stock low because the business is genuinely deteriorating (Ford), not because it's a bargain nobody noticed. Flip side, a high P/E can be the cheap one if growth is fast enough. The line to leave them with: 'a multiple is a question, not an answer — it tells you what the crowd expects, and your job is to decide whether the crowd is right.' PEG feels like it fixes this but quietly assumes growth is certain and risk-free, which it never is — good setup for why we still need a DCF.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honestly up front: a DCF is the most theoretically correct way to value anything and also the easiest to fool yourself with. Analogy: it's a very precise-looking machine with garbage-sensitive inputs — like a scale that reads to four decimals but only if you don't breathe on it. Promise them the goal isn't a magic 'fair value' number; it's understanding what has to be true for today's price to make sense. That reframing (which becomes the reverse-DCF) is the part they'll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march through all seven steps like a recipe — narrate the logic: a dollar in ten years is worth less than a dollar today, so we 'discount' each future year back, add them up, and that sum is the business. The uncomfortable truth to emphasize: the majority of the answer lives in the 'terminal value' — everything past the years you can actually forecast — which means most of a DCF is an educated guess about the far future. That's not a reason to skip it; it's the reason you never trust a single number and always run a range. Bridge: next slide we build the discount rate from scratch and then look at just how much of NVIDIA's value is that guessy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CAPM in one sentence: it just says 'start with what a safe Treasury pays, then demand extra for taking stock risk, and demand more still for a stock that swings harder than the market.' NVIDIA swings ~2.2x the market (that's beta), so investors rationally demand ~13.7%. Don't let the formula intimidate — it's risk-free plus a risk premium, full stop. The bar chart is the real lesson: ~62% of the value is terminal value, the part we admitted we can't forecast. Say it plainly: 'most of what you'd be paying for is a story about the 2030s.' If that share ever climbs past ~85%, that's your signal the model is doing the believing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idea in the whole DCF module, so give it room. Instead of arguing over the 'right' inputs, flip the machine around: hold today's price fixed and solve for the growth the market is already assuming. The answer — ~26% a year for a decade — is something the room can actually judge: 'has any company that size ever done that?' That's a far better question than 'is $192 right.' Use the sensitivity grid to make them humble, not to pick a cell: nudge two reasonable assumptions a hair and the value swings from $106 to $181 — so anyone quoting a DCF target to the penny is selling false precision. Leave them with the reframe: valuation isn't a number, it's a bet on a growth story, stated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this is the module they'll use most, even if they never build a DCF again. Transition: 'We've valued the business — now, would we even want to own it at any price?' The through-line of M5 is quality: great businesses are rare, they compound quietly, and the hard part is having the discipline to wait for one at a fair price. End of module has a checklist they can literally screenshot and reuse — flag that now so they pay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Buffett's framing is the hook: he looks for 'economic castles protected by unbreachable moats.' A moat isn't being good today — lots of companies are good today — it's what stops competitors from copying you tomorrow. Make each source concrete with a name in the room's world: switching costs = the pain of leaving your bank; network effects = why you're still on the group chat everyone else is on; intangibles = why people pay triple for the branded soda. Then the gut-punch: Ford has essentially none — anyone can build a competent car, which is exactly why the whole industry earns thin returns. Preview that 'width equals durability' becomes literal math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'moat' stops being a vibe and becomes arithmetic. The one-liner: a business creates value only when it earns more on a dollar than that dollar costs to raise — ROIC above WACC. If it's below, growth actively destroys value, which is the counterintuitive bit worth stressing: 'growing a business that earns 6% on 9% money just digs the hole faster.' Analogy: borrowing at 9% to earn 6% — you'd never do that personally, yet companies do it constantly to chase headline growth. NVIDIA and Apple earn ~100+ points above their cost of capital, which is almost absurd and explains the valuations; Ford is underwater. Land it: this single comparison is the closest thing to a 'is this a good business' litmus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with a little humility — you just spent an hour teaching them to pick stocks, and now the data says most pros can't beat a cheap index fund. Own the tension; don't hide it. The killer stat to dwell on is persistence: zero of 2021's top-quartile funds stayed top-quartile through 2025 — meaning last year's winner tells you almost nothing about next year's, so 'I'll just buy the funds that have been beating the market' doesn't work either. The practical reconciliation — say it clearly — is core-and-satellite: index for the bulk so you capture the market cheaply, and only pick individual stocks with money you can afford to be wrong on, using everything we learned today. That's the honest place to leave stock-picking.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artifact — tell them to screenshot it. Walk it as two gates, not one list: is it a great business (moat, ROIC, balance sheet), AND is the price reasonable (what's priced in). A yes on quality and a no on price is still a pass — the most common way smart people lose money is overpaying for a genuinely great company. The step everyone skips is the last one: pre-commit, in writing, what would make you sell before you ever buy. It's the only defense against talking yourself out of bad news later. If Route A, this is roughly where you're landing the plane — make it feel like a tool they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field-guide, not a how-to — the goal is that when they hear 'long/short' or 'merger arb' on a podcast, it's not a foreign language. Nobody's leaving here running a hedge fund. Frame the meta-point you'll return to on the Buffett slide: most of these strategies exist as much to justify a fee as to beat the market. If Route A time is short, this is the module to compress — hit the vocabulary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vivid image per strategy rather than a definition. Short-selling: you're selling something you borrowed and hoping to buy it back cheaper — and if it rises instead, your loss has no ceiling, which is why shorts can get 'squeezed' (foreshadow GameStop). Leverage is the one to warn hardest about: it doesn't just amplify gains and losses, it takes away your choice of when to sell — the lender forces you out at the exact bottom. LTCM is the cautionary tale: Nobel laureates, a brilliant model, and leverage that blew up the whole fund in weeks in 1998. The lesson that outlives the jargon: the strategies that end careers are almost always the leveraged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don't just show the numbers: in 2008 Buffett bet a million dollars that a plain S&amp;P 500 index fund would beat a hand-picked basket of elite hedge funds over ten years. He won in a landslide, and donated the winnings. The lesson isn't 'hedge funds are dumb' — some are brilliant — it's that fees are a near-certain drag while outperformance is not, so the math is stacked against you before anyone picks a single stock. Drop the line: 'hedge fund is a fee structure, not an asset class.' Then the GameStop stat as the counterpoint — markets aren't perfectly rational either, so the answer isn't 'markets are efficient, give up,' it's 'the crowd is hard to beat and occasionally insane.' Good tee-up for the technical-analysis debate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your own bias honestly — this topic gets religious, and you're going to try to be fair to both sides. The framing that keeps it civil: fundamentals answer WHAT to own, technicals claim to answer WHEN — so even a die-hard fundamentalist can ask whether timing tools add anything on top. Tell them you'll show the one place the evidence actually holds up, so it doesn't feel like a hit piece. Optional module — skip cleanly if you're over time; nothing later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strongest version of the TA claim fairly before you challenge it: prices reflect everything including crowd psychology, and psychology leaves footprints in the chart. Then the challenge, in plain terms: the Efficient Market Hypothesis says if a chart pattern reliably predicted the future, someone would already have traded it away — so any edge you can see on a chart should self-destruct. The subtle rescue is Grossman-Stiglitz: markets can't be perfectly efficient, because then no one would bother doing research, so a sliver of edge must survive to pay the researchers. That's the honest middle ground — 'mostly efficient, with exploitable frictions.' Where you land: the burden of proof sits with the chartist, and extraordinary claims need real evidence, which is exactly what we check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promise you made two slides ago to be fair. The honest verdict: most chart-reading doesn't survive careful testing once you account for trading costs and the fact that people try thousands of patterns and report only the ones that worked (data-mining). But there's one real exception — momentum — winners tend to keep winning for 3–12 months, and it's held up across decades and countries. Crucial distinction to hammer: that's systematic, ranking hundreds of stocks by past return, NOT squinting at one stock's chart — it's a world apart from 'the head-and-shoulders says sell.' And even momentum periodically detonates: in spring 2009 the beaten-down losers roared +163% while the winners barely moved. Takeaway: timing tools are a possible overlay on a thesis you already hold, never the reason to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altitude: 'We've spent the day valuing a single company — now zoom out to the whole portfolio and, honestly, the decisions here matter more for most people's outcomes than any stock pick.' This is the shared closing module both routes converge on, so it's the one everyone needs to hear. The theme: the boring stuff — which account, holding period, when to sell — quietly compounds into more money than being right about NVIDIA ever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one question that drives everything: 'when do you need this money?' Money you need in two years and money you need in thirty are almost different asset classes, and mixing them up is the most common real-world mistake — people keep the house down-payment in stocks and their 30-year retirement in cash, exactly backwards. Make the short-term point concrete: T-bills paying ~3.7% risk-free is real money now, so there's no excuse for a cash emergency fund earning nothing. 'Glide path' just means you dial down risk as the goal approaches, like descending an airplane gradually instead of nose-diving. The '110 minus age' rule is a starting sanity check, not gospel — say that so no one treats it as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through the jargon: the entire Roth-vs-traditional decision is one question — do you want to pay tax now or later? Roth is 'pay the tax today, never again'; traditional is 'skip the tax today, pay it in retirement.' Rule of thumb to offer: if you expect to be in a higher bracket later (most young people), lean Roth. Then the genuinely underused hero — the HSA — is the only account that's tax-free on all three legs: going in, growing, and coming out for medical. Frame it as a stealth retirement account, not just a medical one. Mention the backdoor Roth exists for high earners so they know the door isn't locked, but don't rabbit-hole into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recite the table — spotlight the one number that changes behavior: the difference between selling at 364 days and 366 days. The long-term rate (0/15/20%) versus your ordinary income rate can be a ~$1,800 swing on a $20k gain for doing literally nothing but waiting a week. That's the single most actionable tax fact in the deck. Frame the limits as 'free money you're leaving on the table' — especially any employer 401(k) match, which is an instant 100% return. Keep NIIT and RMD light — name them so they recognize the acronyms, but the headline is: hold past a year, and use the tax-advantaged accounts before the taxable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Selling is the decision people are worst at, so make this stick. The one test that cuts through everything: 'knowing what I know today, would I buy this at this price?' — if no, holding is just inertia. The powerful move in that question is that it deletes your purchase price, which your brain refuses to do on its own. Name the trap out loud: the disposition effect — we sell winners too early to 'lock in a win' and ride losers down hoping to 'get back to even.' It feels like discipline and it's exactly backwards, and it's the opposite of what's tax-smart too. Close with the caution: taxes should inform selling, never drive it — don't let the tax tail wag the investment dog.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victory lap — everything from today converges on one real, current situation, so tell them to watch for the callbacks. Hook: 'The safest, most boring thing you can supposedly do — buy the whole S&amp;P 500 index — is quietly the most concentrated bet the market has offered in over 50 years.' That tension (boring vehicle, spicy exposure) is the whole segment. Keep energy up; this is the part they'll actually repeat to a friend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bar chart do the work, then add the punchline it can't say: we've beaten the dot-com peak, the previous all-time record for concentration, by about 50% — and that peak was followed by a lost decade for the index. Not a prediction, but worth sitting with. Make it personal so it isn't abstract: 'if you own an S&amp;P 500 fund in your 401(k), roughly a third of your money is in seven companies that mostly rise and fall together on the same AI story.' That's the opposite of the diversification people think they're buying. Callback: every one of these seven is priced on the expectations logic from M1 — which is why one disappointing print can move the whole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segment, so slow down on the 41-vs-32 gap. Translate it: these ten companies command 41% of the market's value but produce only 32% of its actual profits — investors are paying today for growth they expect tomorrow. That gap isn't automatically wrong (they may well grow into it), but it's the exact thing that snaps back in a 'multiple compression' year, when prices fall even as earnings rise. Connect it straight to the beat-and-fall from M1: NVIDIA down ~18% this year while earnings grew 85% is that snap-back happening in miniature, on the biggest name. The $725B capex number is the stakes — that's the bet the whole market is underwriting.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every thread together out loud — this is the 'so what' of the entire day. Say the through-line: a high multiple is a promise (M1), the promise is measured against expectations not last year (beat-and-fall), you can reverse-engineer what's promised (M4 reverse-DCF), and right now the whole index is riding on one promise — that ~$725B of AI spending pays off. If it does, great; if it disappoints, the concentration that powered the index up runs in reverse, because the same seven names fall together. Make the diversification point visceral: a $10k index buy quietly puts ~$740 into NVIDIA alone, whether you meant to or not. Land the class thesis: you don't have to predict the outcome — you just have to know what you actually own and what has to be true for the price to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lecture here — draw them out. Best move is to make people take a side: ask for a show of hands on 'is the top-10 concentration justified or dangerous' before anyone talks, then have both camps defend it. For Q1, resist the urge to answer — the goal is that they articulate what 'priced in' means in their own words, using the beat-and-fall. If it goes quiet, drop a concrete prompt: 'you have $10k — all S&amp;P 500 index, or would you deliberately underweight the Mag 7, and how?' Watch the clock; better to go deep on one question than shallow on three. Close by connecting whatever they say back to the pre-buy checklist from 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housekeeping slide — don't dwell. The one thing to say aloud: every number today came from primary sources — NVIDIA's actual SEC filing, IRS 2026 figures, SPIVA — not from a pundit, and you can go verify any of it yourself, which is the whole ethos of the class. Remind them the live prices and multiples were pulled the morning of class and will already be stale by next week, so the method matters more than the specific figures. Offer to share the deck so the acronym boxes double as a reference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Shape 1"/>
          <p:cNvSpPr/>
          <p:nvPr/>
        </p:nvSpPr>
        <p:spPr>
          <a:xfrm>
            <a:off x="609600" y="609600"/>
            <a:ext cx="342900" cy="34290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695325" y="790575"/>
            <a:ext cx="38100" cy="66675"/>
          </a:xfrm>
          <a:prstGeom prst="roundRect">
            <a:avLst>
              <a:gd name="adj" fmla="val 50000"/>
            </a:avLst>
          </a:prstGeom>
          <a:solidFill>
            <a:srgbClr val="FFFFFF">
              <a:alpha val="65000"/>
            </a:srgbClr>
          </a:solidFill>
          <a:ln/>
        </p:spPr>
      </p:sp>
      <p:sp>
        <p:nvSpPr>
          <p:cNvPr id="5" name="Shape 3"/>
          <p:cNvSpPr/>
          <p:nvPr/>
        </p:nvSpPr>
        <p:spPr>
          <a:xfrm>
            <a:off x="762000" y="752475"/>
            <a:ext cx="38100" cy="104775"/>
          </a:xfrm>
          <a:prstGeom prst="roundRect">
            <a:avLst>
              <a:gd name="adj" fmla="val 50000"/>
            </a:avLst>
          </a:prstGeom>
          <a:solidFill>
            <a:srgbClr val="FFFFFF">
              <a:alpha val="85000"/>
            </a:srgbClr>
          </a:solidFill>
          <a:ln/>
        </p:spPr>
      </p:sp>
      <p:sp>
        <p:nvSpPr>
          <p:cNvPr id="6" name="Shape 4"/>
          <p:cNvSpPr/>
          <p:nvPr/>
        </p:nvSpPr>
        <p:spPr>
          <a:xfrm>
            <a:off x="828675" y="704850"/>
            <a:ext cx="38100" cy="152400"/>
          </a:xfrm>
          <a:prstGeom prst="roundRect">
            <a:avLst>
              <a:gd name="adj" fmla="val 50000"/>
            </a:avLst>
          </a:prstGeom>
          <a:solidFill>
            <a:srgbClr val="FFFFFF"/>
          </a:solidFill>
          <a:ln/>
        </p:spPr>
      </p:sp>
      <p:sp>
        <p:nvSpPr>
          <p:cNvPr id="7" name="Text 5"/>
          <p:cNvSpPr/>
          <p:nvPr/>
        </p:nvSpPr>
        <p:spPr>
          <a:xfrm>
            <a:off x="1066800" y="633413"/>
            <a:ext cx="231727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spc="-13" kern="0" dirty="0">
                <a:solidFill>
                  <a:srgbClr val="FFFFFF"/>
                </a:solidFill>
                <a:latin typeface="Arial" pitchFamily="34" charset="0"/>
                <a:ea typeface="Arial" pitchFamily="34" charset="-122"/>
                <a:cs typeface="Arial" pitchFamily="34" charset="-120"/>
              </a:rPr>
              <a:t>Compound Money Talk</a:t>
            </a:r>
            <a:endParaRPr lang="en-US" sz="1500" dirty="0"/>
          </a:p>
        </p:txBody>
      </p:sp>
      <p:sp>
        <p:nvSpPr>
          <p:cNvPr id="8" name="Text 6"/>
          <p:cNvSpPr/>
          <p:nvPr/>
        </p:nvSpPr>
        <p:spPr>
          <a:xfrm>
            <a:off x="10406697" y="685006"/>
            <a:ext cx="1251903"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spc="20" kern="0" dirty="0">
                <a:solidFill>
                  <a:srgbClr val="FFFFFF">
                    <a:alpha val="55000"/>
                  </a:srgbClr>
                </a:solidFill>
                <a:latin typeface="Arial" pitchFamily="34" charset="0"/>
                <a:ea typeface="Arial" pitchFamily="34" charset="-122"/>
                <a:cs typeface="Arial" pitchFamily="34" charset="-120"/>
              </a:rPr>
              <a:t>Weekly Money Talk</a:t>
            </a:r>
            <a:endParaRPr lang="en-US" sz="975" dirty="0"/>
          </a:p>
        </p:txBody>
      </p:sp>
      <p:sp>
        <p:nvSpPr>
          <p:cNvPr id="9" name="Text 7"/>
          <p:cNvSpPr/>
          <p:nvPr/>
        </p:nvSpPr>
        <p:spPr>
          <a:xfrm>
            <a:off x="609600" y="3953351"/>
            <a:ext cx="120700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C7D2FE"/>
                </a:solidFill>
                <a:latin typeface="Arial" pitchFamily="34" charset="0"/>
                <a:ea typeface="Arial" pitchFamily="34" charset="-122"/>
                <a:cs typeface="Arial" pitchFamily="34" charset="-120"/>
              </a:rPr>
              <a:t>WEEK 2</a:t>
            </a:r>
            <a:endParaRPr lang="en-US" sz="975" dirty="0"/>
          </a:p>
        </p:txBody>
      </p:sp>
      <p:sp>
        <p:nvSpPr>
          <p:cNvPr id="10" name="Text 8"/>
          <p:cNvSpPr/>
          <p:nvPr/>
        </p:nvSpPr>
        <p:spPr>
          <a:xfrm>
            <a:off x="609600" y="4297680"/>
            <a:ext cx="1207008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Company Valuation</a:t>
            </a:r>
            <a:endParaRPr lang="en-US" sz="4200" dirty="0"/>
          </a:p>
        </p:txBody>
      </p:sp>
      <p:sp>
        <p:nvSpPr>
          <p:cNvPr id="11" name="Text 9"/>
          <p:cNvSpPr/>
          <p:nvPr/>
        </p:nvSpPr>
        <p:spPr>
          <a:xfrm>
            <a:off x="609600" y="5010150"/>
            <a:ext cx="5198717"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2000"/>
                  </a:srgbClr>
                </a:solidFill>
                <a:latin typeface="Arial" pitchFamily="34" charset="0"/>
                <a:ea typeface="Arial" pitchFamily="34" charset="-122"/>
                <a:cs typeface="Arial" pitchFamily="34" charset="-120"/>
              </a:rPr>
              <a:t>How a stock's price is actually built, how to judge a business before you buy it, and how to manage what you own toward a goal.</a:t>
            </a:r>
            <a:endParaRPr lang="en-US" sz="1500" dirty="0"/>
          </a:p>
        </p:txBody>
      </p:sp>
      <p:sp>
        <p:nvSpPr>
          <p:cNvPr id="12" name="Shape 10"/>
          <p:cNvSpPr/>
          <p:nvPr/>
        </p:nvSpPr>
        <p:spPr>
          <a:xfrm>
            <a:off x="609600" y="6200775"/>
            <a:ext cx="914400" cy="47625"/>
          </a:xfrm>
          <a:prstGeom prst="roundRect">
            <a:avLst>
              <a:gd name="adj" fmla="val 50000"/>
            </a:avLst>
          </a:prstGeom>
          <a:gradFill rotWithShape="1">
            <a:gsLst>
              <a:gs pos="0">
                <a:srgbClr val="4F46E5">
                  <a:alpha val="100000"/>
                </a:srgbClr>
              </a:gs>
              <a:gs pos="100000">
                <a:srgbClr val="C7D2FE">
                  <a:alpha val="100000"/>
                </a:srgbClr>
              </a:gs>
            </a:gsLst>
            <a:lin ang="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396301"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OPENER · 10 MIN</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Round the table</a:t>
            </a:r>
            <a:endParaRPr lang="en-US" sz="3000" dirty="0"/>
          </a:p>
        </p:txBody>
      </p:sp>
      <p:sp>
        <p:nvSpPr>
          <p:cNvPr id="9" name="Shape 7"/>
          <p:cNvSpPr/>
          <p:nvPr/>
        </p:nvSpPr>
        <p:spPr>
          <a:xfrm>
            <a:off x="609600" y="1884997"/>
            <a:ext cx="3556000" cy="3564255"/>
          </a:xfrm>
          <a:prstGeom prst="roundRect">
            <a:avLst>
              <a:gd name="adj" fmla="val 3214"/>
            </a:avLst>
          </a:prstGeom>
          <a:solidFill>
            <a:srgbClr val="F6F7FB"/>
          </a:solidFill>
          <a:ln w="6667">
            <a:solidFill>
              <a:srgbClr val="E5E8F0"/>
            </a:solidFill>
            <a:prstDash val="solid"/>
          </a:ln>
        </p:spPr>
      </p:sp>
      <p:sp>
        <p:nvSpPr>
          <p:cNvPr id="10" name="Shape 8"/>
          <p:cNvSpPr/>
          <p:nvPr/>
        </p:nvSpPr>
        <p:spPr>
          <a:xfrm>
            <a:off x="921067" y="2943225"/>
            <a:ext cx="342900" cy="342900"/>
          </a:xfrm>
          <a:prstGeom prst="ellipse">
            <a:avLst/>
          </a:prstGeom>
          <a:solidFill>
            <a:srgbClr val="FFFFFF"/>
          </a:solidFill>
          <a:ln w="6667">
            <a:solidFill>
              <a:srgbClr val="E5E8F0"/>
            </a:solidFill>
            <a:prstDash val="solid"/>
          </a:ln>
        </p:spPr>
      </p:sp>
      <p:sp>
        <p:nvSpPr>
          <p:cNvPr id="11" name="Text 9"/>
          <p:cNvSpPr/>
          <p:nvPr/>
        </p:nvSpPr>
        <p:spPr>
          <a:xfrm>
            <a:off x="889635" y="2949893"/>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1</a:t>
            </a:r>
            <a:endParaRPr lang="en-US" sz="1350" dirty="0"/>
          </a:p>
        </p:txBody>
      </p:sp>
      <p:sp>
        <p:nvSpPr>
          <p:cNvPr id="12" name="Text 10"/>
          <p:cNvSpPr/>
          <p:nvPr/>
        </p:nvSpPr>
        <p:spPr>
          <a:xfrm>
            <a:off x="921067" y="3438525"/>
            <a:ext cx="3021057" cy="990600"/>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Anything new you did with money this week — an account, a payment, a purchase decision?</a:t>
            </a:r>
            <a:endParaRPr lang="en-US" sz="1500" dirty="0"/>
          </a:p>
        </p:txBody>
      </p:sp>
      <p:sp>
        <p:nvSpPr>
          <p:cNvPr id="13" name="Shape 11"/>
          <p:cNvSpPr/>
          <p:nvPr/>
        </p:nvSpPr>
        <p:spPr>
          <a:xfrm>
            <a:off x="4318000" y="1884997"/>
            <a:ext cx="3556000" cy="3564255"/>
          </a:xfrm>
          <a:prstGeom prst="roundRect">
            <a:avLst>
              <a:gd name="adj" fmla="val 3214"/>
            </a:avLst>
          </a:prstGeom>
          <a:solidFill>
            <a:srgbClr val="F6F7FB"/>
          </a:solidFill>
          <a:ln w="6667">
            <a:solidFill>
              <a:srgbClr val="E5E8F0"/>
            </a:solidFill>
            <a:prstDash val="solid"/>
          </a:ln>
        </p:spPr>
      </p:sp>
      <p:sp>
        <p:nvSpPr>
          <p:cNvPr id="14" name="Shape 12"/>
          <p:cNvSpPr/>
          <p:nvPr/>
        </p:nvSpPr>
        <p:spPr>
          <a:xfrm>
            <a:off x="4629467" y="3062288"/>
            <a:ext cx="342900" cy="342900"/>
          </a:xfrm>
          <a:prstGeom prst="ellipse">
            <a:avLst/>
          </a:prstGeom>
          <a:solidFill>
            <a:srgbClr val="FFFFFF"/>
          </a:solidFill>
          <a:ln w="6667">
            <a:solidFill>
              <a:srgbClr val="E5E8F0"/>
            </a:solidFill>
            <a:prstDash val="solid"/>
          </a:ln>
        </p:spPr>
      </p:sp>
      <p:sp>
        <p:nvSpPr>
          <p:cNvPr id="15" name="Text 13"/>
          <p:cNvSpPr/>
          <p:nvPr/>
        </p:nvSpPr>
        <p:spPr>
          <a:xfrm>
            <a:off x="4598035" y="3068955"/>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2</a:t>
            </a:r>
            <a:endParaRPr lang="en-US" sz="1350" dirty="0"/>
          </a:p>
        </p:txBody>
      </p:sp>
      <p:sp>
        <p:nvSpPr>
          <p:cNvPr id="16" name="Text 14"/>
          <p:cNvSpPr/>
          <p:nvPr/>
        </p:nvSpPr>
        <p:spPr>
          <a:xfrm>
            <a:off x="4629467" y="3557588"/>
            <a:ext cx="3021057" cy="752475"/>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Something interesting you learned about money or finance?</a:t>
            </a:r>
            <a:endParaRPr lang="en-US" sz="1500" dirty="0"/>
          </a:p>
        </p:txBody>
      </p:sp>
      <p:sp>
        <p:nvSpPr>
          <p:cNvPr id="17" name="Shape 15"/>
          <p:cNvSpPr/>
          <p:nvPr/>
        </p:nvSpPr>
        <p:spPr>
          <a:xfrm>
            <a:off x="8026400" y="1884997"/>
            <a:ext cx="3556000" cy="3564255"/>
          </a:xfrm>
          <a:prstGeom prst="roundRect">
            <a:avLst>
              <a:gd name="adj" fmla="val 3214"/>
            </a:avLst>
          </a:prstGeom>
          <a:solidFill>
            <a:srgbClr val="F6F7FB"/>
          </a:solidFill>
          <a:ln w="6667">
            <a:solidFill>
              <a:srgbClr val="E5E8F0"/>
            </a:solidFill>
            <a:prstDash val="solid"/>
          </a:ln>
        </p:spPr>
      </p:sp>
      <p:sp>
        <p:nvSpPr>
          <p:cNvPr id="18" name="Shape 16"/>
          <p:cNvSpPr/>
          <p:nvPr/>
        </p:nvSpPr>
        <p:spPr>
          <a:xfrm>
            <a:off x="8337868" y="3181350"/>
            <a:ext cx="342900" cy="342900"/>
          </a:xfrm>
          <a:prstGeom prst="ellipse">
            <a:avLst/>
          </a:prstGeom>
          <a:solidFill>
            <a:srgbClr val="FFFFFF"/>
          </a:solidFill>
          <a:ln w="6667">
            <a:solidFill>
              <a:srgbClr val="E5E8F0"/>
            </a:solidFill>
            <a:prstDash val="solid"/>
          </a:ln>
        </p:spPr>
      </p:sp>
      <p:sp>
        <p:nvSpPr>
          <p:cNvPr id="19" name="Text 17"/>
          <p:cNvSpPr/>
          <p:nvPr/>
        </p:nvSpPr>
        <p:spPr>
          <a:xfrm>
            <a:off x="8306435" y="3188018"/>
            <a:ext cx="405765" cy="3676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4F46E5"/>
                </a:solidFill>
                <a:latin typeface="Arial" pitchFamily="34" charset="0"/>
                <a:ea typeface="Arial" pitchFamily="34" charset="-122"/>
                <a:cs typeface="Arial" pitchFamily="34" charset="-120"/>
              </a:rPr>
              <a:t>3</a:t>
            </a:r>
            <a:endParaRPr lang="en-US" sz="1350" dirty="0"/>
          </a:p>
        </p:txBody>
      </p:sp>
      <p:sp>
        <p:nvSpPr>
          <p:cNvPr id="20" name="Text 18"/>
          <p:cNvSpPr/>
          <p:nvPr/>
        </p:nvSpPr>
        <p:spPr>
          <a:xfrm>
            <a:off x="8337868" y="3676650"/>
            <a:ext cx="3021057" cy="514350"/>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1E293B"/>
                </a:solidFill>
                <a:latin typeface="Arial" pitchFamily="34" charset="0"/>
                <a:ea typeface="Arial" pitchFamily="34" charset="-122"/>
                <a:cs typeface="Arial" pitchFamily="34" charset="-120"/>
              </a:rPr>
              <a:t>A new investment you’re looking at or like right now?</a:t>
            </a:r>
            <a:endParaRPr lang="en-US" sz="1500" dirty="0"/>
          </a:p>
        </p:txBody>
      </p:sp>
      <p:sp>
        <p:nvSpPr>
          <p:cNvPr id="21" name="Shape 19"/>
          <p:cNvSpPr/>
          <p:nvPr/>
        </p:nvSpPr>
        <p:spPr>
          <a:xfrm>
            <a:off x="609600" y="5677852"/>
            <a:ext cx="10972800" cy="570547"/>
          </a:xfrm>
          <a:prstGeom prst="rect">
            <a:avLst/>
          </a:prstGeom>
          <a:solidFill>
            <a:srgbClr val="EEF2FF"/>
          </a:solidFill>
          <a:ln/>
        </p:spPr>
      </p:sp>
      <p:sp>
        <p:nvSpPr>
          <p:cNvPr id="22" name="Shape 20"/>
          <p:cNvSpPr/>
          <p:nvPr/>
        </p:nvSpPr>
        <p:spPr>
          <a:xfrm>
            <a:off x="609600" y="5677852"/>
            <a:ext cx="26670" cy="570547"/>
          </a:xfrm>
          <a:prstGeom prst="rect">
            <a:avLst/>
          </a:prstGeom>
          <a:solidFill>
            <a:srgbClr val="4F46E5"/>
          </a:solidFill>
          <a:ln/>
        </p:spPr>
      </p:sp>
      <p:sp>
        <p:nvSpPr>
          <p:cNvPr id="23" name="Text 21"/>
          <p:cNvSpPr/>
          <p:nvPr/>
        </p:nvSpPr>
        <p:spPr>
          <a:xfrm>
            <a:off x="864870" y="5830252"/>
            <a:ext cx="1081811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3730A3"/>
                </a:solidFill>
                <a:latin typeface="Arial" pitchFamily="34" charset="0"/>
                <a:ea typeface="Arial" pitchFamily="34" charset="-122"/>
                <a:cs typeface="Arial" pitchFamily="34" charset="-120"/>
              </a:rPr>
              <a:t>This week: </a:t>
            </a:r>
            <a:pPr algn="l" indent="0" marL="0">
              <a:lnSpc>
                <a:spcPct val="155000"/>
              </a:lnSpc>
              <a:buNone/>
            </a:pPr>
            <a:r>
              <a:rPr lang="en-US" sz="1350" dirty="0">
                <a:solidFill>
                  <a:srgbClr val="3730A3"/>
                </a:solidFill>
                <a:highlight>
                  <a:srgbClr val="EEF2FF"/>
                </a:highlight>
                <a:latin typeface="Arial" pitchFamily="34" charset="0"/>
                <a:ea typeface="Arial" pitchFamily="34" charset="-122"/>
                <a:cs typeface="Arial" pitchFamily="34" charset="-120"/>
              </a:rPr>
              <a:t>Bought or sold a stock lately — what was the actual reason: a number, a story, a price move, or a tip?</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424416"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LESSON · 40 MIN</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Pick your path</a:t>
            </a:r>
            <a:endParaRPr lang="en-US" sz="3000" dirty="0"/>
          </a:p>
        </p:txBody>
      </p:sp>
      <p:sp>
        <p:nvSpPr>
          <p:cNvPr id="9" name="Shape 7"/>
          <p:cNvSpPr/>
          <p:nvPr/>
        </p:nvSpPr>
        <p:spPr>
          <a:xfrm>
            <a:off x="768667" y="1929765"/>
            <a:ext cx="419100" cy="304800"/>
          </a:xfrm>
          <a:prstGeom prst="roundRect">
            <a:avLst>
              <a:gd name="adj" fmla="val 25000"/>
            </a:avLst>
          </a:prstGeom>
          <a:solidFill>
            <a:srgbClr val="EEF2FF"/>
          </a:solidFill>
          <a:ln/>
        </p:spPr>
      </p:sp>
      <p:sp>
        <p:nvSpPr>
          <p:cNvPr id="10" name="Text 8"/>
          <p:cNvSpPr/>
          <p:nvPr/>
        </p:nvSpPr>
        <p:spPr>
          <a:xfrm>
            <a:off x="825817" y="192976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M1</a:t>
            </a:r>
            <a:endParaRPr lang="en-US" sz="1125" dirty="0"/>
          </a:p>
        </p:txBody>
      </p:sp>
      <p:sp>
        <p:nvSpPr>
          <p:cNvPr id="11" name="Text 9"/>
          <p:cNvSpPr/>
          <p:nvPr/>
        </p:nvSpPr>
        <p:spPr>
          <a:xfrm>
            <a:off x="1340167" y="1934528"/>
            <a:ext cx="10238962"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What actually moves a stock price</a:t>
            </a:r>
            <a:endParaRPr lang="en-US" sz="1500" dirty="0"/>
          </a:p>
        </p:txBody>
      </p:sp>
      <p:sp>
        <p:nvSpPr>
          <p:cNvPr id="12" name="Shape 10"/>
          <p:cNvSpPr/>
          <p:nvPr/>
        </p:nvSpPr>
        <p:spPr>
          <a:xfrm>
            <a:off x="10800715" y="1946910"/>
            <a:ext cx="622618" cy="270510"/>
          </a:xfrm>
          <a:prstGeom prst="roundRect">
            <a:avLst>
              <a:gd name="adj" fmla="val 50000"/>
            </a:avLst>
          </a:prstGeom>
          <a:solidFill>
            <a:srgbClr val="F6F7FB"/>
          </a:solidFill>
          <a:ln w="6667">
            <a:solidFill>
              <a:srgbClr val="E5E8F0"/>
            </a:solidFill>
            <a:prstDash val="solid"/>
          </a:ln>
        </p:spPr>
      </p:sp>
      <p:sp>
        <p:nvSpPr>
          <p:cNvPr id="13" name="Text 11"/>
          <p:cNvSpPr/>
          <p:nvPr/>
        </p:nvSpPr>
        <p:spPr>
          <a:xfrm>
            <a:off x="10921683" y="2010727"/>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6 min</a:t>
            </a:r>
            <a:endParaRPr lang="en-US" sz="1125" dirty="0"/>
          </a:p>
        </p:txBody>
      </p:sp>
      <p:sp>
        <p:nvSpPr>
          <p:cNvPr id="14" name="Shape 12"/>
          <p:cNvSpPr/>
          <p:nvPr/>
        </p:nvSpPr>
        <p:spPr>
          <a:xfrm>
            <a:off x="768667" y="2552700"/>
            <a:ext cx="419100" cy="304800"/>
          </a:xfrm>
          <a:prstGeom prst="roundRect">
            <a:avLst>
              <a:gd name="adj" fmla="val 25000"/>
            </a:avLst>
          </a:prstGeom>
          <a:solidFill>
            <a:srgbClr val="EEF2FF"/>
          </a:solidFill>
          <a:ln/>
        </p:spPr>
      </p:sp>
      <p:sp>
        <p:nvSpPr>
          <p:cNvPr id="15" name="Text 13"/>
          <p:cNvSpPr/>
          <p:nvPr/>
        </p:nvSpPr>
        <p:spPr>
          <a:xfrm>
            <a:off x="825817" y="2552700"/>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M2</a:t>
            </a:r>
            <a:endParaRPr lang="en-US" sz="1125" dirty="0"/>
          </a:p>
        </p:txBody>
      </p:sp>
      <p:sp>
        <p:nvSpPr>
          <p:cNvPr id="16" name="Text 14"/>
          <p:cNvSpPr/>
          <p:nvPr/>
        </p:nvSpPr>
        <p:spPr>
          <a:xfrm>
            <a:off x="1340167" y="2557463"/>
            <a:ext cx="1024909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Reading the business — statements &amp; earnings</a:t>
            </a:r>
            <a:endParaRPr lang="en-US" sz="1500" dirty="0"/>
          </a:p>
        </p:txBody>
      </p:sp>
      <p:sp>
        <p:nvSpPr>
          <p:cNvPr id="17" name="Shape 15"/>
          <p:cNvSpPr/>
          <p:nvPr/>
        </p:nvSpPr>
        <p:spPr>
          <a:xfrm>
            <a:off x="10809923" y="2569845"/>
            <a:ext cx="613410" cy="270510"/>
          </a:xfrm>
          <a:prstGeom prst="roundRect">
            <a:avLst>
              <a:gd name="adj" fmla="val 50000"/>
            </a:avLst>
          </a:prstGeom>
          <a:solidFill>
            <a:srgbClr val="F6F7FB"/>
          </a:solidFill>
          <a:ln w="6667">
            <a:solidFill>
              <a:srgbClr val="E5E8F0"/>
            </a:solidFill>
            <a:prstDash val="solid"/>
          </a:ln>
        </p:spPr>
      </p:sp>
      <p:sp>
        <p:nvSpPr>
          <p:cNvPr id="18" name="Text 16"/>
          <p:cNvSpPr/>
          <p:nvPr/>
        </p:nvSpPr>
        <p:spPr>
          <a:xfrm>
            <a:off x="10930890" y="2633662"/>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19" name="Shape 17"/>
          <p:cNvSpPr/>
          <p:nvPr/>
        </p:nvSpPr>
        <p:spPr>
          <a:xfrm>
            <a:off x="768667" y="3175635"/>
            <a:ext cx="419100" cy="304800"/>
          </a:xfrm>
          <a:prstGeom prst="roundRect">
            <a:avLst>
              <a:gd name="adj" fmla="val 25000"/>
            </a:avLst>
          </a:prstGeom>
          <a:solidFill>
            <a:srgbClr val="EEF2FF"/>
          </a:solidFill>
          <a:ln/>
        </p:spPr>
      </p:sp>
      <p:sp>
        <p:nvSpPr>
          <p:cNvPr id="20" name="Text 18"/>
          <p:cNvSpPr/>
          <p:nvPr/>
        </p:nvSpPr>
        <p:spPr>
          <a:xfrm>
            <a:off x="825817" y="317563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M3</a:t>
            </a:r>
            <a:endParaRPr lang="en-US" sz="1125" dirty="0"/>
          </a:p>
        </p:txBody>
      </p:sp>
      <p:sp>
        <p:nvSpPr>
          <p:cNvPr id="21" name="Text 19"/>
          <p:cNvSpPr/>
          <p:nvPr/>
        </p:nvSpPr>
        <p:spPr>
          <a:xfrm>
            <a:off x="1340167" y="3180397"/>
            <a:ext cx="1024909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Valuation I — multiples (relative value)</a:t>
            </a:r>
            <a:endParaRPr lang="en-US" sz="1500" dirty="0"/>
          </a:p>
        </p:txBody>
      </p:sp>
      <p:sp>
        <p:nvSpPr>
          <p:cNvPr id="22" name="Shape 20"/>
          <p:cNvSpPr/>
          <p:nvPr/>
        </p:nvSpPr>
        <p:spPr>
          <a:xfrm>
            <a:off x="10809923" y="3192780"/>
            <a:ext cx="613410" cy="270510"/>
          </a:xfrm>
          <a:prstGeom prst="roundRect">
            <a:avLst>
              <a:gd name="adj" fmla="val 50000"/>
            </a:avLst>
          </a:prstGeom>
          <a:solidFill>
            <a:srgbClr val="F6F7FB"/>
          </a:solidFill>
          <a:ln w="6667">
            <a:solidFill>
              <a:srgbClr val="E5E8F0"/>
            </a:solidFill>
            <a:prstDash val="solid"/>
          </a:ln>
        </p:spPr>
      </p:sp>
      <p:sp>
        <p:nvSpPr>
          <p:cNvPr id="23" name="Text 21"/>
          <p:cNvSpPr/>
          <p:nvPr/>
        </p:nvSpPr>
        <p:spPr>
          <a:xfrm>
            <a:off x="10930890" y="3256598"/>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24" name="Shape 22"/>
          <p:cNvSpPr/>
          <p:nvPr/>
        </p:nvSpPr>
        <p:spPr>
          <a:xfrm>
            <a:off x="609600" y="3677603"/>
            <a:ext cx="10972800" cy="546735"/>
          </a:xfrm>
          <a:prstGeom prst="roundRect">
            <a:avLst>
              <a:gd name="adj" fmla="val 20906"/>
            </a:avLst>
          </a:prstGeom>
          <a:solidFill>
            <a:srgbClr val="F6F7FB">
              <a:alpha val="91000"/>
            </a:srgbClr>
          </a:solidFill>
          <a:ln w="6667">
            <a:solidFill>
              <a:srgbClr val="E5E8F0">
                <a:alpha val="91000"/>
              </a:srgbClr>
            </a:solidFill>
            <a:prstDash val="solid"/>
          </a:ln>
        </p:spPr>
      </p:sp>
      <p:sp>
        <p:nvSpPr>
          <p:cNvPr id="25" name="Shape 23"/>
          <p:cNvSpPr/>
          <p:nvPr/>
        </p:nvSpPr>
        <p:spPr>
          <a:xfrm>
            <a:off x="768667" y="3798570"/>
            <a:ext cx="420053" cy="304800"/>
          </a:xfrm>
          <a:prstGeom prst="roundRect">
            <a:avLst>
              <a:gd name="adj" fmla="val 25000"/>
            </a:avLst>
          </a:prstGeom>
          <a:solidFill>
            <a:srgbClr val="EEF2FF"/>
          </a:solidFill>
          <a:ln/>
        </p:spPr>
      </p:sp>
      <p:sp>
        <p:nvSpPr>
          <p:cNvPr id="26" name="Text 24"/>
          <p:cNvSpPr/>
          <p:nvPr/>
        </p:nvSpPr>
        <p:spPr>
          <a:xfrm>
            <a:off x="825817" y="3798570"/>
            <a:ext cx="305753"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M4</a:t>
            </a:r>
            <a:endParaRPr lang="en-US" sz="1125" dirty="0"/>
          </a:p>
        </p:txBody>
      </p:sp>
      <p:sp>
        <p:nvSpPr>
          <p:cNvPr id="27" name="Text 25"/>
          <p:cNvSpPr/>
          <p:nvPr/>
        </p:nvSpPr>
        <p:spPr>
          <a:xfrm>
            <a:off x="1341120" y="3803332"/>
            <a:ext cx="10248042"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Valuation II — DCF &amp; forecasting</a:t>
            </a:r>
            <a:endParaRPr lang="en-US" sz="1500" dirty="0"/>
          </a:p>
        </p:txBody>
      </p:sp>
      <p:sp>
        <p:nvSpPr>
          <p:cNvPr id="28" name="Shape 26"/>
          <p:cNvSpPr/>
          <p:nvPr/>
        </p:nvSpPr>
        <p:spPr>
          <a:xfrm>
            <a:off x="10809923" y="3815715"/>
            <a:ext cx="613410" cy="270510"/>
          </a:xfrm>
          <a:prstGeom prst="roundRect">
            <a:avLst>
              <a:gd name="adj" fmla="val 50000"/>
            </a:avLst>
          </a:prstGeom>
          <a:solidFill>
            <a:srgbClr val="F6F7FB"/>
          </a:solidFill>
          <a:ln w="6667">
            <a:solidFill>
              <a:srgbClr val="E5E8F0"/>
            </a:solidFill>
            <a:prstDash val="solid"/>
          </a:ln>
        </p:spPr>
      </p:sp>
      <p:sp>
        <p:nvSpPr>
          <p:cNvPr id="29" name="Text 27"/>
          <p:cNvSpPr/>
          <p:nvPr/>
        </p:nvSpPr>
        <p:spPr>
          <a:xfrm>
            <a:off x="10930890" y="3879533"/>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30" name="Shape 28"/>
          <p:cNvSpPr/>
          <p:nvPr/>
        </p:nvSpPr>
        <p:spPr>
          <a:xfrm>
            <a:off x="768667" y="4421505"/>
            <a:ext cx="419100" cy="304800"/>
          </a:xfrm>
          <a:prstGeom prst="roundRect">
            <a:avLst>
              <a:gd name="adj" fmla="val 25000"/>
            </a:avLst>
          </a:prstGeom>
          <a:solidFill>
            <a:srgbClr val="EEF2FF"/>
          </a:solidFill>
          <a:ln/>
        </p:spPr>
      </p:sp>
      <p:sp>
        <p:nvSpPr>
          <p:cNvPr id="31" name="Text 29"/>
          <p:cNvSpPr/>
          <p:nvPr/>
        </p:nvSpPr>
        <p:spPr>
          <a:xfrm>
            <a:off x="825817" y="442150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M5</a:t>
            </a:r>
            <a:endParaRPr lang="en-US" sz="1125" dirty="0"/>
          </a:p>
        </p:txBody>
      </p:sp>
      <p:sp>
        <p:nvSpPr>
          <p:cNvPr id="32" name="Text 30"/>
          <p:cNvSpPr/>
          <p:nvPr/>
        </p:nvSpPr>
        <p:spPr>
          <a:xfrm>
            <a:off x="1340167" y="4426268"/>
            <a:ext cx="869283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Quality &amp; the buy checklist</a:t>
            </a:r>
            <a:endParaRPr lang="en-US" sz="1500" dirty="0"/>
          </a:p>
        </p:txBody>
      </p:sp>
      <p:sp>
        <p:nvSpPr>
          <p:cNvPr id="33" name="Shape 31"/>
          <p:cNvSpPr/>
          <p:nvPr/>
        </p:nvSpPr>
        <p:spPr>
          <a:xfrm>
            <a:off x="9395143" y="4445318"/>
            <a:ext cx="1329372" cy="257175"/>
          </a:xfrm>
          <a:prstGeom prst="roundRect">
            <a:avLst>
              <a:gd name="adj" fmla="val 50000"/>
            </a:avLst>
          </a:prstGeom>
          <a:solidFill>
            <a:srgbClr val="EEF2FF"/>
          </a:solidFill>
          <a:ln/>
        </p:spPr>
      </p:sp>
      <p:sp>
        <p:nvSpPr>
          <p:cNvPr id="34" name="Text 32"/>
          <p:cNvSpPr/>
          <p:nvPr/>
        </p:nvSpPr>
        <p:spPr>
          <a:xfrm>
            <a:off x="9509443" y="4502468"/>
            <a:ext cx="1176972"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most actionable</a:t>
            </a:r>
            <a:endParaRPr lang="en-US" sz="1125" dirty="0"/>
          </a:p>
        </p:txBody>
      </p:sp>
      <p:sp>
        <p:nvSpPr>
          <p:cNvPr id="35" name="Shape 33"/>
          <p:cNvSpPr/>
          <p:nvPr/>
        </p:nvSpPr>
        <p:spPr>
          <a:xfrm>
            <a:off x="10800715" y="4438650"/>
            <a:ext cx="622618" cy="270510"/>
          </a:xfrm>
          <a:prstGeom prst="roundRect">
            <a:avLst>
              <a:gd name="adj" fmla="val 50000"/>
            </a:avLst>
          </a:prstGeom>
          <a:solidFill>
            <a:srgbClr val="F6F7FB"/>
          </a:solidFill>
          <a:ln w="6667">
            <a:solidFill>
              <a:srgbClr val="E5E8F0"/>
            </a:solidFill>
            <a:prstDash val="solid"/>
          </a:ln>
        </p:spPr>
      </p:sp>
      <p:sp>
        <p:nvSpPr>
          <p:cNvPr id="36" name="Text 34"/>
          <p:cNvSpPr/>
          <p:nvPr/>
        </p:nvSpPr>
        <p:spPr>
          <a:xfrm>
            <a:off x="10921683" y="4502468"/>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6 min</a:t>
            </a:r>
            <a:endParaRPr lang="en-US" sz="1125" dirty="0"/>
          </a:p>
        </p:txBody>
      </p:sp>
      <p:sp>
        <p:nvSpPr>
          <p:cNvPr id="37" name="Shape 35"/>
          <p:cNvSpPr/>
          <p:nvPr/>
        </p:nvSpPr>
        <p:spPr>
          <a:xfrm>
            <a:off x="768667" y="5044440"/>
            <a:ext cx="419100" cy="304800"/>
          </a:xfrm>
          <a:prstGeom prst="roundRect">
            <a:avLst>
              <a:gd name="adj" fmla="val 25000"/>
            </a:avLst>
          </a:prstGeom>
          <a:solidFill>
            <a:srgbClr val="EEF2FF"/>
          </a:solidFill>
          <a:ln/>
        </p:spPr>
      </p:sp>
      <p:sp>
        <p:nvSpPr>
          <p:cNvPr id="38" name="Text 36"/>
          <p:cNvSpPr/>
          <p:nvPr/>
        </p:nvSpPr>
        <p:spPr>
          <a:xfrm>
            <a:off x="825817" y="5044440"/>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M6</a:t>
            </a:r>
            <a:endParaRPr lang="en-US" sz="1125" dirty="0"/>
          </a:p>
        </p:txBody>
      </p:sp>
      <p:sp>
        <p:nvSpPr>
          <p:cNvPr id="39" name="Text 37"/>
          <p:cNvSpPr/>
          <p:nvPr/>
        </p:nvSpPr>
        <p:spPr>
          <a:xfrm>
            <a:off x="1340167" y="5049202"/>
            <a:ext cx="929476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How hedge funds &amp; quants play it</a:t>
            </a:r>
            <a:endParaRPr lang="en-US" sz="1500" dirty="0"/>
          </a:p>
        </p:txBody>
      </p:sp>
      <p:sp>
        <p:nvSpPr>
          <p:cNvPr id="40" name="Shape 38"/>
          <p:cNvSpPr/>
          <p:nvPr/>
        </p:nvSpPr>
        <p:spPr>
          <a:xfrm>
            <a:off x="9942354" y="5068252"/>
            <a:ext cx="786130" cy="257175"/>
          </a:xfrm>
          <a:prstGeom prst="roundRect">
            <a:avLst>
              <a:gd name="adj" fmla="val 50000"/>
            </a:avLst>
          </a:prstGeom>
          <a:solidFill>
            <a:srgbClr val="EEF2FF"/>
          </a:solidFill>
          <a:ln/>
        </p:spPr>
      </p:sp>
      <p:sp>
        <p:nvSpPr>
          <p:cNvPr id="41" name="Text 39"/>
          <p:cNvSpPr/>
          <p:nvPr/>
        </p:nvSpPr>
        <p:spPr>
          <a:xfrm>
            <a:off x="10056654" y="5125402"/>
            <a:ext cx="633730"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optional</a:t>
            </a:r>
            <a:endParaRPr lang="en-US" sz="1125" dirty="0"/>
          </a:p>
        </p:txBody>
      </p:sp>
      <p:sp>
        <p:nvSpPr>
          <p:cNvPr id="42" name="Shape 40"/>
          <p:cNvSpPr/>
          <p:nvPr/>
        </p:nvSpPr>
        <p:spPr>
          <a:xfrm>
            <a:off x="10804684" y="5061585"/>
            <a:ext cx="618649" cy="270510"/>
          </a:xfrm>
          <a:prstGeom prst="roundRect">
            <a:avLst>
              <a:gd name="adj" fmla="val 50000"/>
            </a:avLst>
          </a:prstGeom>
          <a:solidFill>
            <a:srgbClr val="F6F7FB"/>
          </a:solidFill>
          <a:ln w="6667">
            <a:solidFill>
              <a:srgbClr val="E5E8F0"/>
            </a:solidFill>
            <a:prstDash val="solid"/>
          </a:ln>
        </p:spPr>
      </p:sp>
      <p:sp>
        <p:nvSpPr>
          <p:cNvPr id="43" name="Text 41"/>
          <p:cNvSpPr/>
          <p:nvPr/>
        </p:nvSpPr>
        <p:spPr>
          <a:xfrm>
            <a:off x="10925651" y="5125403"/>
            <a:ext cx="452914"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5 min</a:t>
            </a:r>
            <a:endParaRPr lang="en-US" sz="1125" dirty="0"/>
          </a:p>
        </p:txBody>
      </p:sp>
      <p:sp>
        <p:nvSpPr>
          <p:cNvPr id="44" name="Shape 42"/>
          <p:cNvSpPr/>
          <p:nvPr/>
        </p:nvSpPr>
        <p:spPr>
          <a:xfrm>
            <a:off x="768667" y="5667375"/>
            <a:ext cx="419100" cy="304800"/>
          </a:xfrm>
          <a:prstGeom prst="roundRect">
            <a:avLst>
              <a:gd name="adj" fmla="val 25000"/>
            </a:avLst>
          </a:prstGeom>
          <a:solidFill>
            <a:srgbClr val="EEF2FF"/>
          </a:solidFill>
          <a:ln/>
        </p:spPr>
      </p:sp>
      <p:sp>
        <p:nvSpPr>
          <p:cNvPr id="45" name="Text 43"/>
          <p:cNvSpPr/>
          <p:nvPr/>
        </p:nvSpPr>
        <p:spPr>
          <a:xfrm>
            <a:off x="825817" y="5667375"/>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M7</a:t>
            </a:r>
            <a:endParaRPr lang="en-US" sz="1125" dirty="0"/>
          </a:p>
        </p:txBody>
      </p:sp>
      <p:sp>
        <p:nvSpPr>
          <p:cNvPr id="46" name="Text 44"/>
          <p:cNvSpPr/>
          <p:nvPr/>
        </p:nvSpPr>
        <p:spPr>
          <a:xfrm>
            <a:off x="1340167" y="5672138"/>
            <a:ext cx="9290399"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Technical analysis &amp; timing</a:t>
            </a:r>
            <a:endParaRPr lang="en-US" sz="1500" dirty="0"/>
          </a:p>
        </p:txBody>
      </p:sp>
      <p:sp>
        <p:nvSpPr>
          <p:cNvPr id="47" name="Shape 45"/>
          <p:cNvSpPr/>
          <p:nvPr/>
        </p:nvSpPr>
        <p:spPr>
          <a:xfrm>
            <a:off x="9938385" y="5691188"/>
            <a:ext cx="786130" cy="257175"/>
          </a:xfrm>
          <a:prstGeom prst="roundRect">
            <a:avLst>
              <a:gd name="adj" fmla="val 50000"/>
            </a:avLst>
          </a:prstGeom>
          <a:solidFill>
            <a:srgbClr val="EEF2FF"/>
          </a:solidFill>
          <a:ln/>
        </p:spPr>
      </p:sp>
      <p:sp>
        <p:nvSpPr>
          <p:cNvPr id="48" name="Text 46"/>
          <p:cNvSpPr/>
          <p:nvPr/>
        </p:nvSpPr>
        <p:spPr>
          <a:xfrm>
            <a:off x="10052685" y="5748338"/>
            <a:ext cx="633730"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3730A3"/>
                </a:solidFill>
                <a:latin typeface="Arial" pitchFamily="34" charset="0"/>
                <a:ea typeface="Arial" pitchFamily="34" charset="-122"/>
                <a:cs typeface="Arial" pitchFamily="34" charset="-120"/>
              </a:rPr>
              <a:t>optional</a:t>
            </a:r>
            <a:endParaRPr lang="en-US" sz="1125" dirty="0"/>
          </a:p>
        </p:txBody>
      </p:sp>
      <p:sp>
        <p:nvSpPr>
          <p:cNvPr id="49" name="Shape 47"/>
          <p:cNvSpPr/>
          <p:nvPr/>
        </p:nvSpPr>
        <p:spPr>
          <a:xfrm>
            <a:off x="10800715" y="5684520"/>
            <a:ext cx="622618" cy="270510"/>
          </a:xfrm>
          <a:prstGeom prst="roundRect">
            <a:avLst>
              <a:gd name="adj" fmla="val 50000"/>
            </a:avLst>
          </a:prstGeom>
          <a:solidFill>
            <a:srgbClr val="F6F7FB"/>
          </a:solidFill>
          <a:ln w="6667">
            <a:solidFill>
              <a:srgbClr val="E5E8F0"/>
            </a:solidFill>
            <a:prstDash val="solid"/>
          </a:ln>
        </p:spPr>
      </p:sp>
      <p:sp>
        <p:nvSpPr>
          <p:cNvPr id="50" name="Text 48"/>
          <p:cNvSpPr/>
          <p:nvPr/>
        </p:nvSpPr>
        <p:spPr>
          <a:xfrm>
            <a:off x="10921683" y="5748337"/>
            <a:ext cx="456883"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6 min</a:t>
            </a:r>
            <a:endParaRPr lang="en-US" sz="1125" dirty="0"/>
          </a:p>
        </p:txBody>
      </p:sp>
      <p:sp>
        <p:nvSpPr>
          <p:cNvPr id="51" name="Shape 49"/>
          <p:cNvSpPr/>
          <p:nvPr/>
        </p:nvSpPr>
        <p:spPr>
          <a:xfrm>
            <a:off x="768667" y="6290310"/>
            <a:ext cx="419100" cy="304800"/>
          </a:xfrm>
          <a:prstGeom prst="roundRect">
            <a:avLst>
              <a:gd name="adj" fmla="val 25000"/>
            </a:avLst>
          </a:prstGeom>
          <a:solidFill>
            <a:srgbClr val="EEF2FF"/>
          </a:solidFill>
          <a:ln/>
        </p:spPr>
      </p:sp>
      <p:sp>
        <p:nvSpPr>
          <p:cNvPr id="52" name="Text 50"/>
          <p:cNvSpPr/>
          <p:nvPr/>
        </p:nvSpPr>
        <p:spPr>
          <a:xfrm>
            <a:off x="825817" y="6290310"/>
            <a:ext cx="304800" cy="34290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3730A3"/>
                </a:solidFill>
                <a:latin typeface="Arial" pitchFamily="34" charset="0"/>
                <a:ea typeface="Arial" pitchFamily="34" charset="-122"/>
                <a:cs typeface="Arial" pitchFamily="34" charset="-120"/>
              </a:rPr>
              <a:t>M8</a:t>
            </a:r>
            <a:endParaRPr lang="en-US" sz="1125" dirty="0"/>
          </a:p>
        </p:txBody>
      </p:sp>
      <p:sp>
        <p:nvSpPr>
          <p:cNvPr id="53" name="Text 51"/>
          <p:cNvSpPr/>
          <p:nvPr/>
        </p:nvSpPr>
        <p:spPr>
          <a:xfrm>
            <a:off x="1340167" y="6295073"/>
            <a:ext cx="1024909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0B1220"/>
                </a:solidFill>
                <a:latin typeface="Arial" pitchFamily="34" charset="0"/>
                <a:ea typeface="Arial" pitchFamily="34" charset="-122"/>
                <a:cs typeface="Arial" pitchFamily="34" charset="-120"/>
              </a:rPr>
              <a:t>Building &amp; managing the portfolio</a:t>
            </a:r>
            <a:endParaRPr lang="en-US" sz="1500" dirty="0"/>
          </a:p>
        </p:txBody>
      </p:sp>
      <p:sp>
        <p:nvSpPr>
          <p:cNvPr id="54" name="Shape 52"/>
          <p:cNvSpPr/>
          <p:nvPr/>
        </p:nvSpPr>
        <p:spPr>
          <a:xfrm>
            <a:off x="10809923" y="6307455"/>
            <a:ext cx="613410" cy="270510"/>
          </a:xfrm>
          <a:prstGeom prst="roundRect">
            <a:avLst>
              <a:gd name="adj" fmla="val 50000"/>
            </a:avLst>
          </a:prstGeom>
          <a:solidFill>
            <a:srgbClr val="F6F7FB"/>
          </a:solidFill>
          <a:ln w="6667">
            <a:solidFill>
              <a:srgbClr val="E5E8F0"/>
            </a:solidFill>
            <a:prstDash val="solid"/>
          </a:ln>
        </p:spPr>
      </p:sp>
      <p:sp>
        <p:nvSpPr>
          <p:cNvPr id="55" name="Text 53"/>
          <p:cNvSpPr/>
          <p:nvPr/>
        </p:nvSpPr>
        <p:spPr>
          <a:xfrm>
            <a:off x="10930890" y="6371273"/>
            <a:ext cx="447675" cy="180975"/>
          </a:xfrm>
          <a:prstGeom prst="rect">
            <a:avLst/>
          </a:prstGeom>
          <a:noFill/>
          <a:ln/>
        </p:spPr>
        <p:txBody>
          <a:bodyPr wrap="none" lIns="25400" tIns="25400" rIns="25400" bIns="25400" rtlCol="0" anchor="ctr">
            <a:normAutofit/>
          </a:bodyPr>
          <a:lstStyle/>
          <a:p>
            <a:pPr algn="l" indent="0" marL="0">
              <a:lnSpc>
                <a:spcPct val="100000"/>
              </a:lnSpc>
              <a:buNone/>
            </a:pPr>
            <a:r>
              <a:rPr lang="en-US" sz="1125" b="1" dirty="0">
                <a:solidFill>
                  <a:srgbClr val="5B6472"/>
                </a:solidFill>
                <a:latin typeface="Arial" pitchFamily="34" charset="0"/>
                <a:ea typeface="Arial" pitchFamily="34" charset="-122"/>
                <a:cs typeface="Arial" pitchFamily="34" charset="-120"/>
              </a:rPr>
              <a:t>7 min</a:t>
            </a:r>
            <a:endParaRPr lang="en-US" sz="1125" dirty="0"/>
          </a:p>
        </p:txBody>
      </p:sp>
      <p:sp>
        <p:nvSpPr>
          <p:cNvPr id="56" name="Text 54"/>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21529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PICK A PATH — VOTE NOW</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Two suggested routes</a:t>
            </a:r>
            <a:endParaRPr lang="en-US" sz="3000" dirty="0"/>
          </a:p>
        </p:txBody>
      </p:sp>
      <p:sp>
        <p:nvSpPr>
          <p:cNvPr id="9" name="Shape 7"/>
          <p:cNvSpPr/>
          <p:nvPr/>
        </p:nvSpPr>
        <p:spPr>
          <a:xfrm>
            <a:off x="609600" y="1808797"/>
            <a:ext cx="5372100" cy="3645218"/>
          </a:xfrm>
          <a:prstGeom prst="roundRect">
            <a:avLst>
              <a:gd name="adj" fmla="val 3136"/>
            </a:avLst>
          </a:prstGeom>
          <a:solidFill>
            <a:srgbClr val="EEF2FF"/>
          </a:solidFill>
          <a:ln w="6667">
            <a:solidFill>
              <a:srgbClr val="C7D2FE"/>
            </a:solidFill>
            <a:prstDash val="solid"/>
          </a:ln>
        </p:spPr>
      </p:sp>
      <p:sp>
        <p:nvSpPr>
          <p:cNvPr id="10" name="Text 8"/>
          <p:cNvSpPr/>
          <p:nvPr/>
        </p:nvSpPr>
        <p:spPr>
          <a:xfrm>
            <a:off x="844867" y="2044065"/>
            <a:ext cx="314063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Route A · Think like an investor</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~30 min · lighter math</a:t>
            </a:r>
            <a:endParaRPr lang="en-US" sz="1125" dirty="0"/>
          </a:p>
        </p:txBody>
      </p:sp>
      <p:sp>
        <p:nvSpPr>
          <p:cNvPr id="12" name="Text 10"/>
          <p:cNvSpPr/>
          <p:nvPr/>
        </p:nvSpPr>
        <p:spPr>
          <a:xfrm>
            <a:off x="743267" y="2789396"/>
            <a:ext cx="5079365"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M1 → M5 → M6 → M7 → M8</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What makes a great business, what funds actually do, how timing works, how to run a portfolio</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Concept &amp; strategy</a:t>
            </a:r>
            <a:endParaRPr lang="en-US" sz="1125" dirty="0"/>
          </a:p>
        </p:txBody>
      </p:sp>
      <p:sp>
        <p:nvSpPr>
          <p:cNvPr id="13" name="Shape 11"/>
          <p:cNvSpPr/>
          <p:nvPr/>
        </p:nvSpPr>
        <p:spPr>
          <a:xfrm>
            <a:off x="6210300" y="1808797"/>
            <a:ext cx="5372100" cy="3645218"/>
          </a:xfrm>
          <a:prstGeom prst="roundRect">
            <a:avLst>
              <a:gd name="adj" fmla="val 3136"/>
            </a:avLst>
          </a:prstGeom>
          <a:solidFill>
            <a:srgbClr val="FFFFFF"/>
          </a:solidFill>
          <a:ln w="6667">
            <a:solidFill>
              <a:srgbClr val="E5E8F0"/>
            </a:solidFill>
            <a:prstDash val="solid"/>
          </a:ln>
        </p:spPr>
      </p:sp>
      <p:sp>
        <p:nvSpPr>
          <p:cNvPr id="14" name="Text 12"/>
          <p:cNvSpPr/>
          <p:nvPr/>
        </p:nvSpPr>
        <p:spPr>
          <a:xfrm>
            <a:off x="6445568" y="2044065"/>
            <a:ext cx="355990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Route B · Value a company with me</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deep dive · runs long</a:t>
            </a:r>
            <a:endParaRPr lang="en-US" sz="1125" dirty="0"/>
          </a:p>
        </p:txBody>
      </p:sp>
      <p:sp>
        <p:nvSpPr>
          <p:cNvPr id="16" name="Text 14"/>
          <p:cNvSpPr/>
          <p:nvPr/>
        </p:nvSpPr>
        <p:spPr>
          <a:xfrm>
            <a:off x="6343968" y="2789396"/>
            <a:ext cx="5079365"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M1 → M2 → M3 → M4 → M8</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NVIDIA’s Q1 FY2027 filing on screen — compute the statements, multiples &amp; a DCF live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Hands-on mechanics</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Both share the same bookends — M1 (why prices move) and M8 (build &amp; manage the portfolio) — and differ only in the middle.</a:t>
            </a:r>
            <a:endParaRPr lang="en-US" sz="1125" dirty="0"/>
          </a:p>
        </p:txBody>
      </p:sp>
      <p:sp>
        <p:nvSpPr>
          <p:cNvPr id="18" name="Text 16"/>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M1</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What actually moves a stock price</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Price vs. value, the total-return equation, expectations, and the discount-rate channel.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246201"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WHAT MOVES A PRICE</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Price vs. value</a:t>
            </a:r>
            <a:endParaRPr lang="en-US" sz="3000" dirty="0"/>
          </a:p>
        </p:txBody>
      </p:sp>
      <p:sp>
        <p:nvSpPr>
          <p:cNvPr id="9" name="Text 7"/>
          <p:cNvSpPr/>
          <p:nvPr/>
        </p:nvSpPr>
        <p:spPr>
          <a:xfrm>
            <a:off x="609600" y="1618297"/>
            <a:ext cx="630937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They're tied by a long, loose leash — not a rigid rod.</a:t>
            </a:r>
            <a:endParaRPr lang="en-US" sz="1500" dirty="0"/>
          </a:p>
        </p:txBody>
      </p:sp>
      <p:sp>
        <p:nvSpPr>
          <p:cNvPr id="10" name="Shape 8"/>
          <p:cNvSpPr/>
          <p:nvPr/>
        </p:nvSpPr>
        <p:spPr>
          <a:xfrm>
            <a:off x="609600" y="2312670"/>
            <a:ext cx="85725" cy="85725"/>
          </a:xfrm>
          <a:prstGeom prst="roundRect">
            <a:avLst>
              <a:gd name="adj" fmla="val 33333"/>
            </a:avLst>
          </a:prstGeom>
          <a:solidFill>
            <a:srgbClr val="4F46E5"/>
          </a:solidFill>
          <a:ln/>
        </p:spPr>
      </p:sp>
      <p:sp>
        <p:nvSpPr>
          <p:cNvPr id="11" name="Text 9"/>
          <p:cNvSpPr/>
          <p:nvPr/>
        </p:nvSpPr>
        <p:spPr>
          <a:xfrm>
            <a:off x="809625" y="2218372"/>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Price is what someone will pay right now — set by mood, momentum, liquidity, and flows.</a:t>
            </a:r>
            <a:endParaRPr lang="en-US" sz="1350" dirty="0"/>
          </a:p>
        </p:txBody>
      </p:sp>
      <p:sp>
        <p:nvSpPr>
          <p:cNvPr id="12" name="Shape 10"/>
          <p:cNvSpPr/>
          <p:nvPr/>
        </p:nvSpPr>
        <p:spPr>
          <a:xfrm>
            <a:off x="609600" y="2996565"/>
            <a:ext cx="85725" cy="85725"/>
          </a:xfrm>
          <a:prstGeom prst="roundRect">
            <a:avLst>
              <a:gd name="adj" fmla="val 33333"/>
            </a:avLst>
          </a:prstGeom>
          <a:solidFill>
            <a:srgbClr val="4F46E5"/>
          </a:solidFill>
          <a:ln/>
        </p:spPr>
      </p:sp>
      <p:sp>
        <p:nvSpPr>
          <p:cNvPr id="13" name="Text 11"/>
          <p:cNvSpPr/>
          <p:nvPr/>
        </p:nvSpPr>
        <p:spPr>
          <a:xfrm>
            <a:off x="809625" y="290226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Value is the present value of the cash the business will generate — growth, margins, risk.</a:t>
            </a:r>
            <a:endParaRPr lang="en-US" sz="1350" dirty="0"/>
          </a:p>
        </p:txBody>
      </p:sp>
      <p:sp>
        <p:nvSpPr>
          <p:cNvPr id="14" name="Shape 12"/>
          <p:cNvSpPr/>
          <p:nvPr/>
        </p:nvSpPr>
        <p:spPr>
          <a:xfrm>
            <a:off x="609600" y="3680460"/>
            <a:ext cx="85725" cy="85725"/>
          </a:xfrm>
          <a:prstGeom prst="roundRect">
            <a:avLst>
              <a:gd name="adj" fmla="val 33333"/>
            </a:avLst>
          </a:prstGeom>
          <a:solidFill>
            <a:srgbClr val="4F46E5"/>
          </a:solidFill>
          <a:ln/>
        </p:spPr>
      </p:sp>
      <p:sp>
        <p:nvSpPr>
          <p:cNvPr id="15" name="Text 13"/>
          <p:cNvSpPr/>
          <p:nvPr/>
        </p:nvSpPr>
        <p:spPr>
          <a:xfrm>
            <a:off x="809625" y="3615690"/>
            <a:ext cx="5583625"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Mr. Market quotes you a buy/sell price every day — euphoric some days, despairing others.</a:t>
            </a:r>
            <a:endParaRPr lang="en-US" sz="1350" dirty="0"/>
          </a:p>
        </p:txBody>
      </p:sp>
      <p:sp>
        <p:nvSpPr>
          <p:cNvPr id="16" name="Text 14"/>
          <p:cNvSpPr/>
          <p:nvPr/>
        </p:nvSpPr>
        <p:spPr>
          <a:xfrm>
            <a:off x="708025" y="4193857"/>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His mood is a service to transact against, not a guide to what your stake is worth.</a:t>
            </a:r>
            <a:endParaRPr lang="en-US" sz="1125" dirty="0"/>
          </a:p>
        </p:txBody>
      </p:sp>
      <p:sp>
        <p:nvSpPr>
          <p:cNvPr id="17" name="Shape 15"/>
          <p:cNvSpPr/>
          <p:nvPr/>
        </p:nvSpPr>
        <p:spPr>
          <a:xfrm>
            <a:off x="609600" y="4883468"/>
            <a:ext cx="85725" cy="85725"/>
          </a:xfrm>
          <a:prstGeom prst="roundRect">
            <a:avLst>
              <a:gd name="adj" fmla="val 33333"/>
            </a:avLst>
          </a:prstGeom>
          <a:solidFill>
            <a:srgbClr val="4F46E5"/>
          </a:solidFill>
          <a:ln/>
        </p:spPr>
      </p:sp>
      <p:sp>
        <p:nvSpPr>
          <p:cNvPr id="18" name="Text 16"/>
          <p:cNvSpPr/>
          <p:nvPr/>
        </p:nvSpPr>
        <p:spPr>
          <a:xfrm>
            <a:off x="809625" y="4789170"/>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market is wrong” only pays if you can name which input — growth, margin, rate, duration — you disagree with.</a:t>
            </a:r>
            <a:endParaRPr lang="en-US" sz="1350" dirty="0"/>
          </a:p>
        </p:txBody>
      </p:sp>
      <p:sp>
        <p:nvSpPr>
          <p:cNvPr id="19" name="Shape 17"/>
          <p:cNvSpPr/>
          <p:nvPr/>
        </p:nvSpPr>
        <p:spPr>
          <a:xfrm>
            <a:off x="6802596" y="609600"/>
            <a:ext cx="4779804" cy="1492885"/>
          </a:xfrm>
          <a:prstGeom prst="roundRect">
            <a:avLst>
              <a:gd name="adj" fmla="val 8932"/>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PV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Present Value</a:t>
            </a:r>
            <a:endParaRPr lang="en-US" sz="1163" dirty="0"/>
          </a:p>
        </p:txBody>
      </p:sp>
      <p:sp>
        <p:nvSpPr>
          <p:cNvPr id="22" name="Text 20"/>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today’s worth of future cash</a:t>
            </a:r>
            <a:endParaRPr lang="en-US" sz="938" dirty="0"/>
          </a:p>
        </p:txBody>
      </p:sp>
      <p:sp>
        <p:nvSpPr>
          <p:cNvPr id="23" name="Text 21"/>
          <p:cNvSpPr/>
          <p:nvPr/>
        </p:nvSpPr>
        <p:spPr>
          <a:xfrm>
            <a:off x="6999763" y="1540510"/>
            <a:ext cx="4517033"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Mr. Market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Graham’s manic-depressive partner who quotes a price daily</a:t>
            </a:r>
            <a:endParaRPr lang="en-US" sz="1163" dirty="0"/>
          </a:p>
        </p:txBody>
      </p:sp>
      <p:sp>
        <p:nvSpPr>
          <p:cNvPr id="24" name="Text 22"/>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2981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WHAT MOVES A PRICE</a:t>
            </a:r>
            <a:endParaRPr lang="en-US" sz="975" dirty="0"/>
          </a:p>
        </p:txBody>
      </p:sp>
      <p:sp>
        <p:nvSpPr>
          <p:cNvPr id="8" name="Text 6"/>
          <p:cNvSpPr/>
          <p:nvPr/>
        </p:nvSpPr>
        <p:spPr>
          <a:xfrm>
            <a:off x="609600" y="896779"/>
            <a:ext cx="829818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The master equation — total return</a:t>
            </a:r>
            <a:endParaRPr lang="en-US" sz="3000" dirty="0"/>
          </a:p>
        </p:txBody>
      </p:sp>
      <p:sp>
        <p:nvSpPr>
          <p:cNvPr id="9" name="Text 7"/>
          <p:cNvSpPr/>
          <p:nvPr/>
        </p:nvSpPr>
        <p:spPr>
          <a:xfrm>
            <a:off x="609600" y="1426369"/>
            <a:ext cx="829818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TSR ≈ dividend yield + EPS growth ± ΔP/E</a:t>
            </a:r>
            <a:endParaRPr lang="en-US" sz="1500" dirty="0"/>
          </a:p>
        </p:txBody>
      </p:sp>
      <p:sp>
        <p:nvSpPr>
          <p:cNvPr id="10" name="Text 8"/>
          <p:cNvSpPr/>
          <p:nvPr/>
        </p:nvSpPr>
        <p:spPr>
          <a:xfrm>
            <a:off x="609600" y="2045494"/>
            <a:ext cx="2575893"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dirty="0">
                <a:solidFill>
                  <a:srgbClr val="0B1220"/>
                </a:solidFill>
                <a:latin typeface="Arial" pitchFamily="34" charset="0"/>
                <a:ea typeface="Arial" pitchFamily="34" charset="-122"/>
                <a:cs typeface="Arial" pitchFamily="34" charset="-120"/>
              </a:rPr>
              <a:t>16.6%</a:t>
            </a:r>
            <a:endParaRPr lang="en-US" sz="5700" dirty="0"/>
          </a:p>
        </p:txBody>
      </p:sp>
      <p:sp>
        <p:nvSpPr>
          <p:cNvPr id="11" name="Text 9"/>
          <p:cNvSpPr/>
          <p:nvPr/>
        </p:nvSpPr>
        <p:spPr>
          <a:xfrm>
            <a:off x="3103721" y="2506821"/>
            <a:ext cx="2059940"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S&amp;P 500 total return per year, 2012–2021</a:t>
            </a:r>
            <a:endParaRPr lang="en-US" sz="1125" dirty="0"/>
          </a:p>
        </p:txBody>
      </p:sp>
      <p:sp>
        <p:nvSpPr>
          <p:cNvPr id="12" name="Shape 10"/>
          <p:cNvSpPr/>
          <p:nvPr/>
        </p:nvSpPr>
        <p:spPr>
          <a:xfrm>
            <a:off x="609600" y="3197384"/>
            <a:ext cx="7543800" cy="552450"/>
          </a:xfrm>
          <a:prstGeom prst="roundRect">
            <a:avLst>
              <a:gd name="adj" fmla="val 17241"/>
            </a:avLst>
          </a:prstGeom>
          <a:ln/>
          <a:effectLst>
            <a:outerShdw sx="100000" sy="100000" kx="0" ky="0" algn="bl" rotWithShape="0" blurRad="19050" dist="9525" dir="5400000">
              <a:srgbClr val="0B1220">
                <a:alpha val="6000"/>
              </a:srgbClr>
            </a:outerShdw>
          </a:effectLst>
        </p:spPr>
      </p:sp>
      <p:sp>
        <p:nvSpPr>
          <p:cNvPr id="13" name="Shape 11"/>
          <p:cNvSpPr/>
          <p:nvPr/>
        </p:nvSpPr>
        <p:spPr>
          <a:xfrm>
            <a:off x="609600" y="3197384"/>
            <a:ext cx="3364389" cy="552450"/>
          </a:xfrm>
          <a:prstGeom prst="rect">
            <a:avLst/>
          </a:prstGeom>
          <a:solidFill>
            <a:srgbClr val="4F46E5"/>
          </a:solidFill>
          <a:ln/>
        </p:spPr>
      </p:sp>
      <p:sp>
        <p:nvSpPr>
          <p:cNvPr id="14" name="Text 12"/>
          <p:cNvSpPr/>
          <p:nvPr/>
        </p:nvSpPr>
        <p:spPr>
          <a:xfrm>
            <a:off x="559134" y="3197384"/>
            <a:ext cx="3465320" cy="59055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FFFFFF"/>
                </a:solidFill>
                <a:latin typeface="Arial" pitchFamily="34" charset="0"/>
                <a:ea typeface="Arial" pitchFamily="34" charset="-122"/>
                <a:cs typeface="Arial" pitchFamily="34" charset="-120"/>
              </a:rPr>
              <a:t>EPS +7.4%</a:t>
            </a:r>
            <a:endParaRPr lang="en-US" sz="1125" dirty="0"/>
          </a:p>
        </p:txBody>
      </p:sp>
      <p:sp>
        <p:nvSpPr>
          <p:cNvPr id="15" name="Shape 13"/>
          <p:cNvSpPr/>
          <p:nvPr/>
        </p:nvSpPr>
        <p:spPr>
          <a:xfrm>
            <a:off x="3973989" y="3197384"/>
            <a:ext cx="3138170" cy="552450"/>
          </a:xfrm>
          <a:prstGeom prst="rect">
            <a:avLst/>
          </a:prstGeom>
          <a:solidFill>
            <a:srgbClr val="C7D2FE"/>
          </a:solidFill>
          <a:ln/>
        </p:spPr>
      </p:sp>
      <p:sp>
        <p:nvSpPr>
          <p:cNvPr id="16" name="Text 14"/>
          <p:cNvSpPr/>
          <p:nvPr/>
        </p:nvSpPr>
        <p:spPr>
          <a:xfrm>
            <a:off x="3926916" y="3197384"/>
            <a:ext cx="3232315" cy="590550"/>
          </a:xfrm>
          <a:prstGeom prst="rect">
            <a:avLst/>
          </a:prstGeom>
          <a:noFill/>
          <a:ln/>
        </p:spPr>
        <p:txBody>
          <a:bodyPr wrap="square" lIns="25400" tIns="25400" rIns="25400" bIns="25400" rtlCol="0" anchor="ctr">
            <a:normAutofit/>
          </a:bodyPr>
          <a:lstStyle/>
          <a:p>
            <a:pPr algn="ctr" indent="0" marL="0">
              <a:lnSpc>
                <a:spcPct val="155000"/>
              </a:lnSpc>
              <a:buNone/>
            </a:pPr>
            <a:r>
              <a:rPr lang="en-US" sz="1125" b="1" dirty="0">
                <a:solidFill>
                  <a:srgbClr val="0B1220"/>
                </a:solidFill>
                <a:latin typeface="Arial" pitchFamily="34" charset="0"/>
                <a:ea typeface="Arial" pitchFamily="34" charset="-122"/>
                <a:cs typeface="Arial" pitchFamily="34" charset="-120"/>
              </a:rPr>
              <a:t>P/E re-rating +6.9%</a:t>
            </a:r>
            <a:endParaRPr lang="en-US" sz="1125" dirty="0"/>
          </a:p>
        </p:txBody>
      </p:sp>
      <p:sp>
        <p:nvSpPr>
          <p:cNvPr id="17" name="Shape 15"/>
          <p:cNvSpPr/>
          <p:nvPr/>
        </p:nvSpPr>
        <p:spPr>
          <a:xfrm>
            <a:off x="7112159" y="3197384"/>
            <a:ext cx="1040924" cy="552450"/>
          </a:xfrm>
          <a:prstGeom prst="rect">
            <a:avLst/>
          </a:prstGeom>
          <a:solidFill>
            <a:srgbClr val="94A3B8"/>
          </a:solidFill>
          <a:ln/>
        </p:spPr>
      </p:sp>
      <p:sp>
        <p:nvSpPr>
          <p:cNvPr id="18" name="Text 16"/>
          <p:cNvSpPr/>
          <p:nvPr/>
        </p:nvSpPr>
        <p:spPr>
          <a:xfrm>
            <a:off x="7074059" y="3197384"/>
            <a:ext cx="1117124" cy="590550"/>
          </a:xfrm>
          <a:prstGeom prst="rect">
            <a:avLst/>
          </a:prstGeom>
          <a:noFill/>
          <a:ln/>
        </p:spPr>
        <p:txBody>
          <a:bodyPr wrap="square" lIns="25400" tIns="25400" rIns="25400" bIns="25400" rtlCol="0" anchor="ctr">
            <a:normAutofit/>
          </a:bodyPr>
          <a:lstStyle/>
          <a:p>
            <a:pPr algn="ctr" indent="0" marL="0">
              <a:lnSpc>
                <a:spcPct val="155000"/>
              </a:lnSpc>
              <a:buNone/>
            </a:pPr>
            <a:r>
              <a:rPr lang="en-US" sz="975" b="1" dirty="0">
                <a:solidFill>
                  <a:srgbClr val="FFFFFF"/>
                </a:solidFill>
                <a:latin typeface="Arial" pitchFamily="34" charset="0"/>
                <a:ea typeface="Arial" pitchFamily="34" charset="-122"/>
                <a:cs typeface="Arial" pitchFamily="34" charset="-120"/>
              </a:rPr>
              <a:t>Div +2.3%</a:t>
            </a:r>
            <a:endParaRPr lang="en-US" sz="975" dirty="0"/>
          </a:p>
        </p:txBody>
      </p:sp>
      <p:sp>
        <p:nvSpPr>
          <p:cNvPr id="19" name="Text 17"/>
          <p:cNvSpPr/>
          <p:nvPr/>
        </p:nvSpPr>
        <p:spPr>
          <a:xfrm>
            <a:off x="609600" y="3959384"/>
            <a:ext cx="5790305"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Nearly </a:t>
            </a:r>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half </a:t>
            </a:r>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that decade's return was </a:t>
            </a:r>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re-rating </a:t>
            </a:r>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 paying a higher multiple. Volatile and mean-reverting; it can't compound forever. EPS growth is the durable engine.</a:t>
            </a:r>
            <a:endParaRPr lang="en-US" sz="1350" dirty="0"/>
          </a:p>
        </p:txBody>
      </p:sp>
      <p:sp>
        <p:nvSpPr>
          <p:cNvPr id="20" name="Shape 18"/>
          <p:cNvSpPr/>
          <p:nvPr/>
        </p:nvSpPr>
        <p:spPr>
          <a:xfrm>
            <a:off x="8572500" y="609600"/>
            <a:ext cx="3009900" cy="1995487"/>
          </a:xfrm>
          <a:prstGeom prst="roundRect">
            <a:avLst>
              <a:gd name="adj" fmla="val 6683"/>
            </a:avLst>
          </a:prstGeom>
          <a:solidFill>
            <a:srgbClr val="F6F7FB"/>
          </a:solidFill>
          <a:ln w="6667">
            <a:solidFill>
              <a:srgbClr val="E5E8F0"/>
            </a:solidFill>
            <a:prstDash val="solid"/>
          </a:ln>
        </p:spPr>
      </p:sp>
      <p:sp>
        <p:nvSpPr>
          <p:cNvPr id="21" name="Text 19"/>
          <p:cNvSpPr/>
          <p:nvPr/>
        </p:nvSpPr>
        <p:spPr>
          <a:xfrm>
            <a:off x="8769668" y="787717"/>
            <a:ext cx="287712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2" name="Text 20"/>
          <p:cNvSpPr/>
          <p:nvPr/>
        </p:nvSpPr>
        <p:spPr>
          <a:xfrm>
            <a:off x="8769668" y="1035367"/>
            <a:ext cx="28771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TSR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Total Shareholder Return</a:t>
            </a:r>
            <a:endParaRPr lang="en-US" sz="1163" dirty="0"/>
          </a:p>
        </p:txBody>
      </p:sp>
      <p:sp>
        <p:nvSpPr>
          <p:cNvPr id="23" name="Text 21"/>
          <p:cNvSpPr/>
          <p:nvPr/>
        </p:nvSpPr>
        <p:spPr>
          <a:xfrm>
            <a:off x="8769668" y="1255871"/>
            <a:ext cx="287712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div yield + EPS growth ± ΔP/E</a:t>
            </a:r>
            <a:endParaRPr lang="en-US" sz="938" dirty="0"/>
          </a:p>
        </p:txBody>
      </p:sp>
      <p:sp>
        <p:nvSpPr>
          <p:cNvPr id="24" name="Text 22"/>
          <p:cNvSpPr/>
          <p:nvPr/>
        </p:nvSpPr>
        <p:spPr>
          <a:xfrm>
            <a:off x="8769668" y="1540510"/>
            <a:ext cx="28771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EPS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Earnings Per Share</a:t>
            </a:r>
            <a:endParaRPr lang="en-US" sz="1163" dirty="0"/>
          </a:p>
        </p:txBody>
      </p:sp>
      <p:sp>
        <p:nvSpPr>
          <p:cNvPr id="25" name="Text 23"/>
          <p:cNvSpPr/>
          <p:nvPr/>
        </p:nvSpPr>
        <p:spPr>
          <a:xfrm>
            <a:off x="8769668" y="1761014"/>
            <a:ext cx="287712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net income ÷ diluted shares</a:t>
            </a:r>
            <a:endParaRPr lang="en-US" sz="938" dirty="0"/>
          </a:p>
        </p:txBody>
      </p:sp>
      <p:sp>
        <p:nvSpPr>
          <p:cNvPr id="26" name="Text 24"/>
          <p:cNvSpPr/>
          <p:nvPr/>
        </p:nvSpPr>
        <p:spPr>
          <a:xfrm>
            <a:off x="8769668" y="2045652"/>
            <a:ext cx="28771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Price-to-Earnings</a:t>
            </a:r>
            <a:endParaRPr lang="en-US" sz="1163" dirty="0"/>
          </a:p>
        </p:txBody>
      </p:sp>
      <p:sp>
        <p:nvSpPr>
          <p:cNvPr id="27" name="Text 25"/>
          <p:cNvSpPr/>
          <p:nvPr/>
        </p:nvSpPr>
        <p:spPr>
          <a:xfrm>
            <a:off x="8769668" y="2266156"/>
            <a:ext cx="287712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price ÷ EPS · "re-rating" = ΔP/E</a:t>
            </a:r>
            <a:endParaRPr lang="en-US" sz="938" dirty="0"/>
          </a:p>
        </p:txBody>
      </p:sp>
      <p:sp>
        <p:nvSpPr>
          <p:cNvPr id="28" name="Text 26"/>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75977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EXPECTATIONS VS. REALITY</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Why a beat can still tank a stock</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2989897"/>
            <a:ext cx="1395412" cy="591503"/>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+85%</a:t>
            </a:r>
            <a:endParaRPr lang="en-US" sz="3600" dirty="0"/>
          </a:p>
        </p:txBody>
      </p:sp>
      <p:sp>
        <p:nvSpPr>
          <p:cNvPr id="11" name="Text 9"/>
          <p:cNvSpPr/>
          <p:nvPr/>
        </p:nvSpPr>
        <p:spPr>
          <a:xfrm>
            <a:off x="2354580" y="3305175"/>
            <a:ext cx="508318"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10B981"/>
                </a:solidFill>
                <a:latin typeface="Arial" pitchFamily="34" charset="0"/>
                <a:ea typeface="Arial" pitchFamily="34" charset="-122"/>
                <a:cs typeface="Arial" pitchFamily="34" charset="-120"/>
              </a:rPr>
              <a:t>▲ beat</a:t>
            </a:r>
            <a:endParaRPr lang="en-US" sz="1125" dirty="0"/>
          </a:p>
        </p:txBody>
      </p:sp>
      <p:sp>
        <p:nvSpPr>
          <p:cNvPr id="12" name="Text 10"/>
          <p:cNvSpPr/>
          <p:nvPr/>
        </p:nvSpPr>
        <p:spPr>
          <a:xfrm>
            <a:off x="921067" y="3571399"/>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NVDA revenue YoY — record $81.6B; a beat on revenue, EPS and the outlook</a:t>
            </a:r>
            <a:endParaRPr lang="en-US" sz="1350" dirty="0"/>
          </a:p>
        </p:txBody>
      </p:sp>
      <p:sp>
        <p:nvSpPr>
          <p:cNvPr id="13" name="Text 11"/>
          <p:cNvSpPr/>
          <p:nvPr/>
        </p:nvSpPr>
        <p:spPr>
          <a:xfrm>
            <a:off x="921067" y="4559141"/>
            <a:ext cx="3170492"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Q1 FY2027</a:t>
            </a:r>
            <a:endParaRPr lang="en-US" sz="975" dirty="0"/>
          </a:p>
        </p:txBody>
      </p:sp>
      <p:sp>
        <p:nvSpPr>
          <p:cNvPr id="14" name="Shape 12"/>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5" name="Text 13"/>
          <p:cNvSpPr/>
          <p:nvPr/>
        </p:nvSpPr>
        <p:spPr>
          <a:xfrm>
            <a:off x="4654868" y="3362008"/>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~$91B</a:t>
            </a:r>
            <a:endParaRPr lang="en-US" sz="3600" dirty="0"/>
          </a:p>
        </p:txBody>
      </p:sp>
      <p:sp>
        <p:nvSpPr>
          <p:cNvPr id="16" name="Text 14"/>
          <p:cNvSpPr/>
          <p:nvPr/>
        </p:nvSpPr>
        <p:spPr>
          <a:xfrm>
            <a:off x="4654868" y="3895408"/>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next-quarter guide (±2%) — the number that actually mattered</a:t>
            </a:r>
            <a:endParaRPr lang="en-US" sz="1350" dirty="0"/>
          </a:p>
        </p:txBody>
      </p:sp>
      <p:sp>
        <p:nvSpPr>
          <p:cNvPr id="17" name="Shape 15"/>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8" name="Text 16"/>
          <p:cNvSpPr/>
          <p:nvPr/>
        </p:nvSpPr>
        <p:spPr>
          <a:xfrm>
            <a:off x="8388668" y="3181033"/>
            <a:ext cx="1109504" cy="591503"/>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−2%</a:t>
            </a:r>
            <a:endParaRPr lang="en-US" sz="3600" dirty="0"/>
          </a:p>
        </p:txBody>
      </p:sp>
      <p:sp>
        <p:nvSpPr>
          <p:cNvPr id="19" name="Text 17"/>
          <p:cNvSpPr/>
          <p:nvPr/>
        </p:nvSpPr>
        <p:spPr>
          <a:xfrm>
            <a:off x="9536271" y="3496310"/>
            <a:ext cx="411956"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EF4444"/>
                </a:solidFill>
                <a:latin typeface="Arial" pitchFamily="34" charset="0"/>
                <a:ea typeface="Arial" pitchFamily="34" charset="-122"/>
                <a:cs typeface="Arial" pitchFamily="34" charset="-120"/>
              </a:rPr>
              <a:t>▼ fell</a:t>
            </a:r>
            <a:endParaRPr lang="en-US" sz="1125" dirty="0"/>
          </a:p>
        </p:txBody>
      </p:sp>
      <p:sp>
        <p:nvSpPr>
          <p:cNvPr id="20" name="Text 18"/>
          <p:cNvSpPr/>
          <p:nvPr/>
        </p:nvSpPr>
        <p:spPr>
          <a:xfrm>
            <a:off x="8388668"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the stock the next session — 4th straight beat-and-fall; shares had run ~20% into the print</a:t>
            </a:r>
            <a:endParaRPr lang="en-US" sz="1350" dirty="0"/>
          </a:p>
        </p:txBody>
      </p:sp>
      <p:sp>
        <p:nvSpPr>
          <p:cNvPr id="21" name="Text 19"/>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06424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M1 · RATES &amp; MULTIPLES</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discount-rate channel</a:t>
            </a:r>
            <a:endParaRPr lang="en-US" sz="3000" dirty="0"/>
          </a:p>
        </p:txBody>
      </p:sp>
      <p:sp>
        <p:nvSpPr>
          <p:cNvPr id="9" name="Text 7"/>
          <p:cNvSpPr/>
          <p:nvPr/>
        </p:nvSpPr>
        <p:spPr>
          <a:xfrm>
            <a:off x="609600" y="161829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stock is worth the PV of future cash, discounted at r = risk-free rate + equity risk premium.</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43175"/>
            <a:ext cx="3690874"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Gordon shorthand: P/E ≈ payout ÷ (r − g).</a:t>
            </a:r>
            <a:endParaRPr lang="en-US" sz="1350" dirty="0"/>
          </a:p>
        </p:txBody>
      </p:sp>
      <p:sp>
        <p:nvSpPr>
          <p:cNvPr id="12" name="Text 10"/>
          <p:cNvSpPr/>
          <p:nvPr/>
        </p:nvSpPr>
        <p:spPr>
          <a:xfrm>
            <a:off x="708025" y="2855595"/>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More cash back → worth more; higher required return → pay less; faster growth → pay more.</a:t>
            </a:r>
            <a:endParaRPr lang="en-US" sz="1125" dirty="0"/>
          </a:p>
        </p:txBody>
      </p:sp>
      <p:sp>
        <p:nvSpPr>
          <p:cNvPr id="13" name="Shape 11"/>
          <p:cNvSpPr/>
          <p:nvPr/>
        </p:nvSpPr>
        <p:spPr>
          <a:xfrm>
            <a:off x="609600" y="3545205"/>
            <a:ext cx="85725" cy="85725"/>
          </a:xfrm>
          <a:prstGeom prst="roundRect">
            <a:avLst>
              <a:gd name="adj" fmla="val 33333"/>
            </a:avLst>
          </a:prstGeom>
          <a:solidFill>
            <a:srgbClr val="4F46E5"/>
          </a:solidFill>
          <a:ln/>
        </p:spPr>
      </p:sp>
      <p:sp>
        <p:nvSpPr>
          <p:cNvPr id="14" name="Text 12"/>
          <p:cNvSpPr/>
          <p:nvPr/>
        </p:nvSpPr>
        <p:spPr>
          <a:xfrm>
            <a:off x="809625" y="345090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$2 payout, r 8%, g 4% → $50. Nudge r to 9% → $40 — a 20% drop on the same business.</a:t>
            </a:r>
            <a:endParaRPr lang="en-US" sz="1350" dirty="0"/>
          </a:p>
        </p:txBody>
      </p:sp>
      <p:sp>
        <p:nvSpPr>
          <p:cNvPr id="15" name="Shape 13"/>
          <p:cNvSpPr/>
          <p:nvPr/>
        </p:nvSpPr>
        <p:spPr>
          <a:xfrm>
            <a:off x="609600" y="4229100"/>
            <a:ext cx="85725" cy="85725"/>
          </a:xfrm>
          <a:prstGeom prst="roundRect">
            <a:avLst>
              <a:gd name="adj" fmla="val 33333"/>
            </a:avLst>
          </a:prstGeom>
          <a:solidFill>
            <a:srgbClr val="4F46E5"/>
          </a:solidFill>
          <a:ln/>
        </p:spPr>
      </p:sp>
      <p:sp>
        <p:nvSpPr>
          <p:cNvPr id="16" name="Text 14"/>
          <p:cNvSpPr/>
          <p:nvPr/>
        </p:nvSpPr>
        <p:spPr>
          <a:xfrm>
            <a:off x="809625" y="413480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Growth gets hit hardest: “long-duration” cash flows shrink most when the discount rate rises.</a:t>
            </a:r>
            <a:endParaRPr lang="en-US" sz="1350" dirty="0"/>
          </a:p>
        </p:txBody>
      </p:sp>
      <p:sp>
        <p:nvSpPr>
          <p:cNvPr id="17" name="Shape 15"/>
          <p:cNvSpPr/>
          <p:nvPr/>
        </p:nvSpPr>
        <p:spPr>
          <a:xfrm>
            <a:off x="609600" y="4912995"/>
            <a:ext cx="85725" cy="85725"/>
          </a:xfrm>
          <a:prstGeom prst="roundRect">
            <a:avLst>
              <a:gd name="adj" fmla="val 33333"/>
            </a:avLst>
          </a:prstGeom>
          <a:solidFill>
            <a:srgbClr val="4F46E5"/>
          </a:solidFill>
          <a:ln/>
        </p:spPr>
      </p:sp>
      <p:sp>
        <p:nvSpPr>
          <p:cNvPr id="18" name="Text 16"/>
          <p:cNvSpPr/>
          <p:nvPr/>
        </p:nvSpPr>
        <p:spPr>
          <a:xfrm>
            <a:off x="809625" y="481869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Today’s inputs: 10-yr Treasury 4.40%, implied ERP ~4.23% → ~8.6% for a β = 1 stock.</a:t>
            </a:r>
            <a:endParaRPr lang="en-US" sz="1350" dirty="0"/>
          </a:p>
        </p:txBody>
      </p:sp>
      <p:sp>
        <p:nvSpPr>
          <p:cNvPr id="19" name="Shape 17"/>
          <p:cNvSpPr/>
          <p:nvPr/>
        </p:nvSpPr>
        <p:spPr>
          <a:xfrm>
            <a:off x="6802596" y="609600"/>
            <a:ext cx="4779804" cy="2121852"/>
          </a:xfrm>
          <a:prstGeom prst="roundRect">
            <a:avLst>
              <a:gd name="adj" fmla="val 6285"/>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required return</a:t>
            </a:r>
            <a:endParaRPr lang="en-US" sz="1163" dirty="0"/>
          </a:p>
        </p:txBody>
      </p:sp>
      <p:sp>
        <p:nvSpPr>
          <p:cNvPr id="22" name="Text 20"/>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risk-free rate + ERP</a:t>
            </a:r>
            <a:endParaRPr lang="en-US" sz="938" dirty="0"/>
          </a:p>
        </p:txBody>
      </p:sp>
      <p:sp>
        <p:nvSpPr>
          <p:cNvPr id="23" name="Text 21"/>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ERP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Equity Risk Premium</a:t>
            </a:r>
            <a:endParaRPr lang="en-US" sz="1163" dirty="0"/>
          </a:p>
        </p:txBody>
      </p:sp>
      <p:sp>
        <p:nvSpPr>
          <p:cNvPr id="24" name="Text 22"/>
          <p:cNvSpPr/>
          <p:nvPr/>
        </p:nvSpPr>
        <p:spPr>
          <a:xfrm>
            <a:off x="6999763" y="1761014"/>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extra return demanded over risk-free</a:t>
            </a:r>
            <a:endParaRPr lang="en-US" sz="938" dirty="0"/>
          </a:p>
        </p:txBody>
      </p:sp>
      <p:sp>
        <p:nvSpPr>
          <p:cNvPr id="25" name="Text 23"/>
          <p:cNvSpPr/>
          <p:nvPr/>
        </p:nvSpPr>
        <p:spPr>
          <a:xfrm>
            <a:off x="6999763" y="2045652"/>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Price-to-Earnings</a:t>
            </a:r>
            <a:endParaRPr lang="en-US" sz="1163" dirty="0"/>
          </a:p>
        </p:txBody>
      </p:sp>
      <p:sp>
        <p:nvSpPr>
          <p:cNvPr id="26" name="Text 24"/>
          <p:cNvSpPr/>
          <p:nvPr/>
        </p:nvSpPr>
        <p:spPr>
          <a:xfrm>
            <a:off x="6999763" y="2361406"/>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growth rate</a:t>
            </a:r>
            <a:endParaRPr lang="en-US" sz="1163" dirty="0"/>
          </a:p>
        </p:txBody>
      </p:sp>
      <p:sp>
        <p:nvSpPr>
          <p:cNvPr id="27" name="Text 2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475547"/>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M2</a:t>
            </a:r>
            <a:endParaRPr lang="en-US" sz="2100" dirty="0"/>
          </a:p>
        </p:txBody>
      </p:sp>
      <p:sp>
        <p:nvSpPr>
          <p:cNvPr id="4" name="Text 2"/>
          <p:cNvSpPr/>
          <p:nvPr/>
        </p:nvSpPr>
        <p:spPr>
          <a:xfrm>
            <a:off x="609600" y="3003232"/>
            <a:ext cx="7308056"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Reading the business</a:t>
            </a:r>
            <a:endParaRPr lang="en-US" sz="4200" dirty="0"/>
          </a:p>
        </p:txBody>
      </p:sp>
      <p:sp>
        <p:nvSpPr>
          <p:cNvPr id="5" name="Text 3"/>
          <p:cNvSpPr/>
          <p:nvPr/>
        </p:nvSpPr>
        <p:spPr>
          <a:xfrm>
            <a:off x="609600" y="3791903"/>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The three statements, free cash flow, GAAP vs. non-GAAP, and quality-of-earnings red flags.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32526"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READING THE BUSINESS</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The three statements</a:t>
            </a:r>
            <a:endParaRPr lang="en-US" sz="3000" dirty="0"/>
          </a:p>
        </p:txBody>
      </p:sp>
      <p:sp>
        <p:nvSpPr>
          <p:cNvPr id="9" name="Shape 7"/>
          <p:cNvSpPr/>
          <p:nvPr/>
        </p:nvSpPr>
        <p:spPr>
          <a:xfrm>
            <a:off x="609600" y="1808797"/>
            <a:ext cx="3505200" cy="3645218"/>
          </a:xfrm>
          <a:prstGeom prst="roundRect">
            <a:avLst>
              <a:gd name="adj" fmla="val 3261"/>
            </a:avLst>
          </a:prstGeom>
          <a:solidFill>
            <a:srgbClr val="FFFFFF"/>
          </a:solidFill>
          <a:ln w="6667">
            <a:solidFill>
              <a:srgbClr val="E5E8F0"/>
            </a:solidFill>
            <a:prstDash val="solid"/>
          </a:ln>
        </p:spPr>
      </p:sp>
      <p:sp>
        <p:nvSpPr>
          <p:cNvPr id="10" name="Text 8"/>
          <p:cNvSpPr/>
          <p:nvPr/>
        </p:nvSpPr>
        <p:spPr>
          <a:xfrm>
            <a:off x="844867" y="2044065"/>
            <a:ext cx="184648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Income statement</a:t>
            </a:r>
            <a:endParaRPr lang="en-US" sz="1500" dirty="0"/>
          </a:p>
        </p:txBody>
      </p:sp>
      <p:sp>
        <p:nvSpPr>
          <p:cNvPr id="11" name="Text 9"/>
          <p:cNvSpPr/>
          <p:nvPr/>
        </p:nvSpPr>
        <p:spPr>
          <a:xfrm>
            <a:off x="844867"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accrual profit, by layer</a:t>
            </a:r>
            <a:endParaRPr lang="en-US" sz="1125" dirty="0"/>
          </a:p>
        </p:txBody>
      </p:sp>
      <p:sp>
        <p:nvSpPr>
          <p:cNvPr id="12" name="Text 10"/>
          <p:cNvSpPr/>
          <p:nvPr/>
        </p:nvSpPr>
        <p:spPr>
          <a:xfrm>
            <a:off x="743267" y="2789396"/>
            <a:ext cx="3212465"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Revenue → gross → operating → net</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Gross = pricing power; operating = efficiency</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Net = after capital structure &amp; taxes</a:t>
            </a:r>
            <a:endParaRPr lang="en-US" sz="1125" dirty="0"/>
          </a:p>
        </p:txBody>
      </p:sp>
      <p:sp>
        <p:nvSpPr>
          <p:cNvPr id="13" name="Shape 11"/>
          <p:cNvSpPr/>
          <p:nvPr/>
        </p:nvSpPr>
        <p:spPr>
          <a:xfrm>
            <a:off x="4343400" y="1808797"/>
            <a:ext cx="3505200" cy="3645218"/>
          </a:xfrm>
          <a:prstGeom prst="roundRect">
            <a:avLst>
              <a:gd name="adj" fmla="val 3261"/>
            </a:avLst>
          </a:prstGeom>
          <a:solidFill>
            <a:srgbClr val="EEF2FF"/>
          </a:solidFill>
          <a:ln w="6667">
            <a:solidFill>
              <a:srgbClr val="C7D2FE"/>
            </a:solidFill>
            <a:prstDash val="solid"/>
          </a:ln>
        </p:spPr>
      </p:sp>
      <p:sp>
        <p:nvSpPr>
          <p:cNvPr id="14" name="Text 12"/>
          <p:cNvSpPr/>
          <p:nvPr/>
        </p:nvSpPr>
        <p:spPr>
          <a:xfrm>
            <a:off x="4578668" y="2044065"/>
            <a:ext cx="144135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Balance sheet</a:t>
            </a:r>
            <a:endParaRPr lang="en-US" sz="1500" dirty="0"/>
          </a:p>
        </p:txBody>
      </p:sp>
      <p:sp>
        <p:nvSpPr>
          <p:cNvPr id="15" name="Text 13"/>
          <p:cNvSpPr/>
          <p:nvPr/>
        </p:nvSpPr>
        <p:spPr>
          <a:xfrm>
            <a:off x="4578668"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 point-in-time snapshot</a:t>
            </a:r>
            <a:endParaRPr lang="en-US" sz="1125" dirty="0"/>
          </a:p>
        </p:txBody>
      </p:sp>
      <p:sp>
        <p:nvSpPr>
          <p:cNvPr id="16" name="Text 14"/>
          <p:cNvSpPr/>
          <p:nvPr/>
        </p:nvSpPr>
        <p:spPr>
          <a:xfrm>
            <a:off x="4477068" y="2789396"/>
            <a:ext cx="3212465" cy="802481"/>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Assets = Liabilities + Equity</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Cash, total debt, working capital</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Watch receivables &amp; inventory</a:t>
            </a:r>
            <a:endParaRPr lang="en-US" sz="1125" dirty="0"/>
          </a:p>
        </p:txBody>
      </p:sp>
      <p:sp>
        <p:nvSpPr>
          <p:cNvPr id="17" name="Shape 15"/>
          <p:cNvSpPr/>
          <p:nvPr/>
        </p:nvSpPr>
        <p:spPr>
          <a:xfrm>
            <a:off x="8077200" y="1808797"/>
            <a:ext cx="3505200" cy="3645218"/>
          </a:xfrm>
          <a:prstGeom prst="roundRect">
            <a:avLst>
              <a:gd name="adj" fmla="val 3261"/>
            </a:avLst>
          </a:prstGeom>
          <a:solidFill>
            <a:srgbClr val="FFFFFF"/>
          </a:solidFill>
          <a:ln w="6667">
            <a:solidFill>
              <a:srgbClr val="E5E8F0"/>
            </a:solidFill>
            <a:prstDash val="solid"/>
          </a:ln>
        </p:spPr>
      </p:sp>
      <p:sp>
        <p:nvSpPr>
          <p:cNvPr id="18" name="Text 16"/>
          <p:cNvSpPr/>
          <p:nvPr/>
        </p:nvSpPr>
        <p:spPr>
          <a:xfrm>
            <a:off x="8312468" y="2044065"/>
            <a:ext cx="1001871"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Cash flow</a:t>
            </a:r>
            <a:endParaRPr lang="en-US" sz="1500" dirty="0"/>
          </a:p>
        </p:txBody>
      </p:sp>
      <p:sp>
        <p:nvSpPr>
          <p:cNvPr id="19" name="Text 17"/>
          <p:cNvSpPr/>
          <p:nvPr/>
        </p:nvSpPr>
        <p:spPr>
          <a:xfrm>
            <a:off x="8312468" y="2415540"/>
            <a:ext cx="3338132"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cash, not accruals</a:t>
            </a:r>
            <a:endParaRPr lang="en-US" sz="1125" dirty="0"/>
          </a:p>
        </p:txBody>
      </p:sp>
      <p:sp>
        <p:nvSpPr>
          <p:cNvPr id="20" name="Text 18"/>
          <p:cNvSpPr/>
          <p:nvPr/>
        </p:nvSpPr>
        <p:spPr>
          <a:xfrm>
            <a:off x="8210868" y="2789396"/>
            <a:ext cx="3212465" cy="802481"/>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Operating − investing − financing</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OCF adds back D&amp;A and SBC</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Hardest to fake — cash is cash</a:t>
            </a:r>
            <a:endParaRPr lang="en-US" sz="1125" dirty="0"/>
          </a:p>
        </p:txBody>
      </p:sp>
      <p:sp>
        <p:nvSpPr>
          <p:cNvPr id="21" name="Text 19"/>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FCF = operating cash flow − capex — the owner's cash that funds dividends, buybacks, and reinvestment.</a:t>
            </a:r>
            <a:endParaRPr lang="en-US" sz="1125" dirty="0"/>
          </a:p>
        </p:txBody>
      </p:sp>
      <p:sp>
        <p:nvSpPr>
          <p:cNvPr id="22" name="Text 20"/>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216515"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ADJUSTED EARNINGS</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GAAP vs. non-GAAP</a:t>
            </a:r>
            <a:endParaRPr lang="en-US" sz="3000" dirty="0"/>
          </a:p>
        </p:txBody>
      </p:sp>
      <p:sp>
        <p:nvSpPr>
          <p:cNvPr id="9" name="Text 7"/>
          <p:cNvSpPr/>
          <p:nvPr/>
        </p:nvSpPr>
        <p:spPr>
          <a:xfrm>
            <a:off x="609600" y="161829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Non-GAAP excludes items management deems non-core — most controversially, stock comp.</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Common add-backs: SBC, amortization of acquired intangibles, restructuring, mark-to-market.</a:t>
            </a:r>
            <a:endParaRPr lang="en-US" sz="1350" dirty="0"/>
          </a:p>
        </p:txBody>
      </p:sp>
      <p:sp>
        <p:nvSpPr>
          <p:cNvPr id="12" name="Shape 10"/>
          <p:cNvSpPr/>
          <p:nvPr/>
        </p:nvSpPr>
        <p:spPr>
          <a:xfrm>
            <a:off x="609600" y="3291840"/>
            <a:ext cx="85725" cy="85725"/>
          </a:xfrm>
          <a:prstGeom prst="roundRect">
            <a:avLst>
              <a:gd name="adj" fmla="val 33333"/>
            </a:avLst>
          </a:prstGeom>
          <a:solidFill>
            <a:srgbClr val="4F46E5"/>
          </a:solidFill>
          <a:ln/>
        </p:spPr>
      </p:sp>
      <p:sp>
        <p:nvSpPr>
          <p:cNvPr id="13" name="Text 11"/>
          <p:cNvSpPr/>
          <p:nvPr/>
        </p:nvSpPr>
        <p:spPr>
          <a:xfrm>
            <a:off x="809625" y="319754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SEC Regulation G (2003): any non-GAAP number must show the comparable GAAP measure and a reconciliation.</a:t>
            </a:r>
            <a:endParaRPr lang="en-US" sz="1350" dirty="0"/>
          </a:p>
        </p:txBody>
      </p:sp>
      <p:sp>
        <p:nvSpPr>
          <p:cNvPr id="14" name="Shape 12"/>
          <p:cNvSpPr/>
          <p:nvPr/>
        </p:nvSpPr>
        <p:spPr>
          <a:xfrm>
            <a:off x="609600" y="3975735"/>
            <a:ext cx="85725" cy="85725"/>
          </a:xfrm>
          <a:prstGeom prst="roundRect">
            <a:avLst>
              <a:gd name="adj" fmla="val 33333"/>
            </a:avLst>
          </a:prstGeom>
          <a:solidFill>
            <a:srgbClr val="4F46E5"/>
          </a:solidFill>
          <a:ln/>
        </p:spPr>
      </p:sp>
      <p:sp>
        <p:nvSpPr>
          <p:cNvPr id="15" name="Text 13"/>
          <p:cNvSpPr/>
          <p:nvPr/>
        </p:nvSpPr>
        <p:spPr>
          <a:xfrm>
            <a:off x="809625" y="388143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Skeptic’s view: SBC is a real, recurring cost — it dilutes shareholders.</a:t>
            </a:r>
            <a:endParaRPr lang="en-US" sz="1350" dirty="0"/>
          </a:p>
        </p:txBody>
      </p:sp>
      <p:sp>
        <p:nvSpPr>
          <p:cNvPr id="16" name="Shape 14"/>
          <p:cNvSpPr/>
          <p:nvPr/>
        </p:nvSpPr>
        <p:spPr>
          <a:xfrm>
            <a:off x="609600" y="4659630"/>
            <a:ext cx="85725" cy="85725"/>
          </a:xfrm>
          <a:prstGeom prst="roundRect">
            <a:avLst>
              <a:gd name="adj" fmla="val 33333"/>
            </a:avLst>
          </a:prstGeom>
          <a:solidFill>
            <a:srgbClr val="4F46E5"/>
          </a:solidFill>
          <a:ln/>
        </p:spPr>
      </p:sp>
      <p:sp>
        <p:nvSpPr>
          <p:cNvPr id="17" name="Text 15"/>
          <p:cNvSpPr/>
          <p:nvPr/>
        </p:nvSpPr>
        <p:spPr>
          <a:xfrm>
            <a:off x="809625" y="4594860"/>
            <a:ext cx="5698188"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tell: NVIDIA stopped adding back SBC this quarter ($1.93B).</a:t>
            </a:r>
            <a:endParaRPr lang="en-US" sz="1350" dirty="0"/>
          </a:p>
        </p:txBody>
      </p:sp>
      <p:sp>
        <p:nvSpPr>
          <p:cNvPr id="18" name="Text 16"/>
          <p:cNvSpPr/>
          <p:nvPr/>
        </p:nvSpPr>
        <p:spPr>
          <a:xfrm>
            <a:off x="708025" y="4907280"/>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Effectively conceding stock comp is an operating cost — the standard is tightening.</a:t>
            </a:r>
            <a:endParaRPr lang="en-US" sz="1125" dirty="0"/>
          </a:p>
        </p:txBody>
      </p:sp>
      <p:sp>
        <p:nvSpPr>
          <p:cNvPr id="19" name="Shape 17"/>
          <p:cNvSpPr/>
          <p:nvPr/>
        </p:nvSpPr>
        <p:spPr>
          <a:xfrm>
            <a:off x="6802596" y="609600"/>
            <a:ext cx="4779804" cy="1932464"/>
          </a:xfrm>
          <a:prstGeom prst="roundRect">
            <a:avLst>
              <a:gd name="adj" fmla="val 6901"/>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GAAP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Generally Accepted Accounting Principles</a:t>
            </a:r>
            <a:endParaRPr lang="en-US" sz="1163" dirty="0"/>
          </a:p>
        </p:txBody>
      </p:sp>
      <p:sp>
        <p:nvSpPr>
          <p:cNvPr id="22" name="Text 20"/>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the standardized U.S. rulebook</a:t>
            </a:r>
            <a:endParaRPr lang="en-US" sz="938" dirty="0"/>
          </a:p>
        </p:txBody>
      </p:sp>
      <p:sp>
        <p:nvSpPr>
          <p:cNvPr id="23" name="Text 21"/>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non-GAAP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a company’s own “adjusted” numbers</a:t>
            </a:r>
            <a:endParaRPr lang="en-US" sz="1163" dirty="0"/>
          </a:p>
        </p:txBody>
      </p:sp>
      <p:sp>
        <p:nvSpPr>
          <p:cNvPr id="24" name="Text 22"/>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SBC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Stock-Based Compensation</a:t>
            </a:r>
            <a:endParaRPr lang="en-US" sz="1163" dirty="0"/>
          </a:p>
        </p:txBody>
      </p:sp>
      <p:sp>
        <p:nvSpPr>
          <p:cNvPr id="25" name="Text 23"/>
          <p:cNvSpPr/>
          <p:nvPr/>
        </p:nvSpPr>
        <p:spPr>
          <a:xfrm>
            <a:off x="6999763" y="2172018"/>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D&amp;A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Depreciation &amp; Amortization</a:t>
            </a:r>
            <a:endParaRPr lang="en-US" sz="1163" dirty="0"/>
          </a:p>
        </p:txBody>
      </p:sp>
      <p:sp>
        <p:nvSpPr>
          <p:cNvPr id="26" name="Text 24"/>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50773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ROUTE B · NVDA Q1 FY2027, LIVE</a:t>
            </a:r>
            <a:endParaRPr lang="en-US" sz="975" dirty="0"/>
          </a:p>
        </p:txBody>
      </p:sp>
      <p:sp>
        <p:nvSpPr>
          <p:cNvPr id="8" name="Text 6"/>
          <p:cNvSpPr/>
          <p:nvPr/>
        </p:nvSpPr>
        <p:spPr>
          <a:xfrm>
            <a:off x="609600" y="896779"/>
            <a:ext cx="8507730" cy="315436"/>
          </a:xfrm>
          <a:prstGeom prst="rect">
            <a:avLst/>
          </a:prstGeom>
          <a:noFill/>
          <a:ln/>
        </p:spPr>
        <p:txBody>
          <a:bodyPr wrap="square" lIns="25400" tIns="25400" rIns="25400" bIns="25400" rtlCol="0" anchor="t">
            <a:normAutofit/>
          </a:bodyPr>
          <a:lstStyle/>
          <a:p>
            <a:pPr algn="l" indent="0" marL="0">
              <a:lnSpc>
                <a:spcPct val="103988"/>
              </a:lnSpc>
              <a:buNone/>
            </a:pPr>
            <a:r>
              <a:rPr lang="en-US" sz="2100" b="1" spc="-21" kern="0" dirty="0">
                <a:solidFill>
                  <a:srgbClr val="0B1220"/>
                </a:solidFill>
                <a:latin typeface="Arial" pitchFamily="34" charset="0"/>
                <a:ea typeface="Arial" pitchFamily="34" charset="-122"/>
                <a:cs typeface="Arial" pitchFamily="34" charset="-120"/>
              </a:rPr>
              <a:t>Reading the filing, line by line</a:t>
            </a:r>
            <a:endParaRPr lang="en-US" sz="2100" dirty="0"/>
          </a:p>
        </p:txBody>
      </p:sp>
      <p:sp>
        <p:nvSpPr>
          <p:cNvPr id="9" name="Shape 7"/>
          <p:cNvSpPr/>
          <p:nvPr/>
        </p:nvSpPr>
        <p:spPr>
          <a:xfrm>
            <a:off x="609600" y="1345565"/>
            <a:ext cx="7734300" cy="9525"/>
          </a:xfrm>
          <a:prstGeom prst="rect">
            <a:avLst/>
          </a:prstGeom>
          <a:solidFill>
            <a:srgbClr val="E5E8F0"/>
          </a:solidFill>
          <a:ln/>
        </p:spPr>
      </p:sp>
      <p:sp>
        <p:nvSpPr>
          <p:cNvPr id="10" name="Shape 8"/>
          <p:cNvSpPr/>
          <p:nvPr/>
        </p:nvSpPr>
        <p:spPr>
          <a:xfrm>
            <a:off x="609600" y="1774666"/>
            <a:ext cx="7734300" cy="9525"/>
          </a:xfrm>
          <a:prstGeom prst="rect">
            <a:avLst/>
          </a:prstGeom>
          <a:solidFill>
            <a:srgbClr val="E5E8F0"/>
          </a:solidFill>
          <a:ln/>
        </p:spPr>
      </p:sp>
      <p:sp>
        <p:nvSpPr>
          <p:cNvPr id="11" name="Text 9"/>
          <p:cNvSpPr/>
          <p:nvPr/>
        </p:nvSpPr>
        <p:spPr>
          <a:xfrm>
            <a:off x="609600" y="1451928"/>
            <a:ext cx="2834164"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0B1220"/>
                </a:solidFill>
                <a:latin typeface="Arial" pitchFamily="34" charset="0"/>
                <a:ea typeface="Arial" pitchFamily="34" charset="-122"/>
                <a:cs typeface="Arial" pitchFamily="34" charset="-120"/>
              </a:rPr>
              <a:t>Revenue</a:t>
            </a:r>
            <a:endParaRPr lang="en-US" sz="1200" dirty="0"/>
          </a:p>
        </p:txBody>
      </p:sp>
      <p:sp>
        <p:nvSpPr>
          <p:cNvPr id="12" name="Text 10"/>
          <p:cNvSpPr/>
          <p:nvPr/>
        </p:nvSpPr>
        <p:spPr>
          <a:xfrm>
            <a:off x="3300413" y="1480820"/>
            <a:ext cx="369681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income statement</a:t>
            </a:r>
            <a:endParaRPr lang="en-US" sz="975" dirty="0"/>
          </a:p>
        </p:txBody>
      </p:sp>
      <p:sp>
        <p:nvSpPr>
          <p:cNvPr id="13" name="Text 11"/>
          <p:cNvSpPr/>
          <p:nvPr/>
        </p:nvSpPr>
        <p:spPr>
          <a:xfrm>
            <a:off x="6618621" y="1437957"/>
            <a:ext cx="172512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$81.6B</a:t>
            </a:r>
            <a:endParaRPr lang="en-US" sz="1275" dirty="0"/>
          </a:p>
        </p:txBody>
      </p:sp>
      <p:sp>
        <p:nvSpPr>
          <p:cNvPr id="14" name="Shape 12"/>
          <p:cNvSpPr/>
          <p:nvPr/>
        </p:nvSpPr>
        <p:spPr>
          <a:xfrm>
            <a:off x="609600" y="2203767"/>
            <a:ext cx="7734300" cy="9525"/>
          </a:xfrm>
          <a:prstGeom prst="rect">
            <a:avLst/>
          </a:prstGeom>
          <a:solidFill>
            <a:srgbClr val="E5E8F0"/>
          </a:solidFill>
          <a:ln/>
        </p:spPr>
      </p:sp>
      <p:sp>
        <p:nvSpPr>
          <p:cNvPr id="15" name="Text 13"/>
          <p:cNvSpPr/>
          <p:nvPr/>
        </p:nvSpPr>
        <p:spPr>
          <a:xfrm>
            <a:off x="609600" y="1881029"/>
            <a:ext cx="2834164"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0B1220"/>
                </a:solidFill>
                <a:latin typeface="Arial" pitchFamily="34" charset="0"/>
                <a:ea typeface="Arial" pitchFamily="34" charset="-122"/>
                <a:cs typeface="Arial" pitchFamily="34" charset="-120"/>
              </a:rPr>
              <a:t>Gross margin</a:t>
            </a:r>
            <a:endParaRPr lang="en-US" sz="1200" dirty="0"/>
          </a:p>
        </p:txBody>
      </p:sp>
      <p:sp>
        <p:nvSpPr>
          <p:cNvPr id="16" name="Text 14"/>
          <p:cNvSpPr/>
          <p:nvPr/>
        </p:nvSpPr>
        <p:spPr>
          <a:xfrm>
            <a:off x="3300413" y="1909921"/>
            <a:ext cx="369681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74.9% × revenue</a:t>
            </a:r>
            <a:endParaRPr lang="en-US" sz="975" dirty="0"/>
          </a:p>
        </p:txBody>
      </p:sp>
      <p:sp>
        <p:nvSpPr>
          <p:cNvPr id="17" name="Text 15"/>
          <p:cNvSpPr/>
          <p:nvPr/>
        </p:nvSpPr>
        <p:spPr>
          <a:xfrm>
            <a:off x="6618621" y="1867059"/>
            <a:ext cx="172512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$61.1B</a:t>
            </a:r>
            <a:endParaRPr lang="en-US" sz="1275" dirty="0"/>
          </a:p>
        </p:txBody>
      </p:sp>
      <p:sp>
        <p:nvSpPr>
          <p:cNvPr id="18" name="Shape 16"/>
          <p:cNvSpPr/>
          <p:nvPr/>
        </p:nvSpPr>
        <p:spPr>
          <a:xfrm>
            <a:off x="609600" y="2632869"/>
            <a:ext cx="7734300" cy="9525"/>
          </a:xfrm>
          <a:prstGeom prst="rect">
            <a:avLst/>
          </a:prstGeom>
          <a:solidFill>
            <a:srgbClr val="E5E8F0"/>
          </a:solidFill>
          <a:ln/>
        </p:spPr>
      </p:sp>
      <p:sp>
        <p:nvSpPr>
          <p:cNvPr id="19" name="Text 17"/>
          <p:cNvSpPr/>
          <p:nvPr/>
        </p:nvSpPr>
        <p:spPr>
          <a:xfrm>
            <a:off x="609600" y="2310130"/>
            <a:ext cx="2834164"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0B1220"/>
                </a:solidFill>
                <a:latin typeface="Arial" pitchFamily="34" charset="0"/>
                <a:ea typeface="Arial" pitchFamily="34" charset="-122"/>
                <a:cs typeface="Arial" pitchFamily="34" charset="-120"/>
              </a:rPr>
              <a:t>Operating / net margin</a:t>
            </a:r>
            <a:endParaRPr lang="en-US" sz="1200" dirty="0"/>
          </a:p>
        </p:txBody>
      </p:sp>
      <p:sp>
        <p:nvSpPr>
          <p:cNvPr id="20" name="Text 18"/>
          <p:cNvSpPr/>
          <p:nvPr/>
        </p:nvSpPr>
        <p:spPr>
          <a:xfrm>
            <a:off x="3300413" y="2339022"/>
            <a:ext cx="369681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$53.5B · $58.3B ÷ rev</a:t>
            </a:r>
            <a:endParaRPr lang="en-US" sz="975" dirty="0"/>
          </a:p>
        </p:txBody>
      </p:sp>
      <p:sp>
        <p:nvSpPr>
          <p:cNvPr id="21" name="Text 19"/>
          <p:cNvSpPr/>
          <p:nvPr/>
        </p:nvSpPr>
        <p:spPr>
          <a:xfrm>
            <a:off x="6618621" y="2296160"/>
            <a:ext cx="172512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65.6% · 71.5%</a:t>
            </a:r>
            <a:endParaRPr lang="en-US" sz="1275" dirty="0"/>
          </a:p>
        </p:txBody>
      </p:sp>
      <p:sp>
        <p:nvSpPr>
          <p:cNvPr id="22" name="Shape 20"/>
          <p:cNvSpPr/>
          <p:nvPr/>
        </p:nvSpPr>
        <p:spPr>
          <a:xfrm>
            <a:off x="609600" y="3061970"/>
            <a:ext cx="7734300" cy="9525"/>
          </a:xfrm>
          <a:prstGeom prst="rect">
            <a:avLst/>
          </a:prstGeom>
          <a:solidFill>
            <a:srgbClr val="E5E8F0"/>
          </a:solidFill>
          <a:ln/>
        </p:spPr>
      </p:sp>
      <p:sp>
        <p:nvSpPr>
          <p:cNvPr id="23" name="Text 21"/>
          <p:cNvSpPr/>
          <p:nvPr/>
        </p:nvSpPr>
        <p:spPr>
          <a:xfrm>
            <a:off x="609600" y="2739231"/>
            <a:ext cx="2834164"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0B1220"/>
                </a:solidFill>
                <a:latin typeface="Arial" pitchFamily="34" charset="0"/>
                <a:ea typeface="Arial" pitchFamily="34" charset="-122"/>
                <a:cs typeface="Arial" pitchFamily="34" charset="-120"/>
              </a:rPr>
              <a:t>Free cash flow</a:t>
            </a:r>
            <a:endParaRPr lang="en-US" sz="1200" dirty="0"/>
          </a:p>
        </p:txBody>
      </p:sp>
      <p:sp>
        <p:nvSpPr>
          <p:cNvPr id="24" name="Text 22"/>
          <p:cNvSpPr/>
          <p:nvPr/>
        </p:nvSpPr>
        <p:spPr>
          <a:xfrm>
            <a:off x="3300413" y="2768124"/>
            <a:ext cx="369681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OCF $50.3B − capex $1.8B</a:t>
            </a:r>
            <a:endParaRPr lang="en-US" sz="975" dirty="0"/>
          </a:p>
        </p:txBody>
      </p:sp>
      <p:sp>
        <p:nvSpPr>
          <p:cNvPr id="25" name="Text 23"/>
          <p:cNvSpPr/>
          <p:nvPr/>
        </p:nvSpPr>
        <p:spPr>
          <a:xfrm>
            <a:off x="6618621" y="2725261"/>
            <a:ext cx="1725120"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0B1220"/>
                </a:solidFill>
                <a:latin typeface="Arial" pitchFamily="34" charset="0"/>
                <a:ea typeface="Arial" pitchFamily="34" charset="-122"/>
                <a:cs typeface="Arial" pitchFamily="34" charset="-120"/>
              </a:rPr>
              <a:t>$48.6B</a:t>
            </a:r>
            <a:endParaRPr lang="en-US" sz="1275" dirty="0"/>
          </a:p>
        </p:txBody>
      </p:sp>
      <p:sp>
        <p:nvSpPr>
          <p:cNvPr id="26" name="Shape 24"/>
          <p:cNvSpPr/>
          <p:nvPr/>
        </p:nvSpPr>
        <p:spPr>
          <a:xfrm>
            <a:off x="609600" y="3125788"/>
            <a:ext cx="7734300" cy="460534"/>
          </a:xfrm>
          <a:prstGeom prst="roundRect">
            <a:avLst>
              <a:gd name="adj" fmla="val 20683"/>
            </a:avLst>
          </a:prstGeom>
          <a:solidFill>
            <a:srgbClr val="F6F7FB"/>
          </a:solidFill>
          <a:ln/>
        </p:spPr>
      </p:sp>
      <p:sp>
        <p:nvSpPr>
          <p:cNvPr id="27" name="Text 25"/>
          <p:cNvSpPr/>
          <p:nvPr/>
        </p:nvSpPr>
        <p:spPr>
          <a:xfrm>
            <a:off x="723900" y="3244532"/>
            <a:ext cx="2747899" cy="274320"/>
          </a:xfrm>
          <a:prstGeom prst="rect">
            <a:avLst/>
          </a:prstGeom>
          <a:noFill/>
          <a:ln/>
        </p:spPr>
        <p:txBody>
          <a:bodyPr wrap="square" lIns="25400" tIns="25400" rIns="25400" bIns="25400" rtlCol="0" anchor="t">
            <a:normAutofit/>
          </a:bodyPr>
          <a:lstStyle/>
          <a:p>
            <a:pPr algn="l" indent="0" marL="0">
              <a:lnSpc>
                <a:spcPct val="155000"/>
              </a:lnSpc>
              <a:buNone/>
            </a:pPr>
            <a:r>
              <a:rPr lang="en-US" sz="1200" b="1" dirty="0">
                <a:solidFill>
                  <a:srgbClr val="4F46E5"/>
                </a:solidFill>
                <a:latin typeface="Arial" pitchFamily="34" charset="0"/>
                <a:ea typeface="Arial" pitchFamily="34" charset="-122"/>
                <a:cs typeface="Arial" pitchFamily="34" charset="-120"/>
              </a:rPr>
              <a:t>The twist — EPS</a:t>
            </a:r>
            <a:endParaRPr lang="en-US" sz="1200" dirty="0"/>
          </a:p>
        </p:txBody>
      </p:sp>
      <p:sp>
        <p:nvSpPr>
          <p:cNvPr id="28" name="Text 26"/>
          <p:cNvSpPr/>
          <p:nvPr/>
        </p:nvSpPr>
        <p:spPr>
          <a:xfrm>
            <a:off x="3336290" y="3273425"/>
            <a:ext cx="3584178"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GAAP $2.39 &gt; non-GAAP $1.87</a:t>
            </a:r>
            <a:endParaRPr lang="en-US" sz="975" dirty="0"/>
          </a:p>
        </p:txBody>
      </p:sp>
      <p:sp>
        <p:nvSpPr>
          <p:cNvPr id="29" name="Text 27"/>
          <p:cNvSpPr/>
          <p:nvPr/>
        </p:nvSpPr>
        <p:spPr>
          <a:xfrm>
            <a:off x="6556867" y="3230563"/>
            <a:ext cx="1672733" cy="289084"/>
          </a:xfrm>
          <a:prstGeom prst="rect">
            <a:avLst/>
          </a:prstGeom>
          <a:noFill/>
          <a:ln/>
        </p:spPr>
        <p:txBody>
          <a:bodyPr wrap="square" lIns="25400" tIns="25400" rIns="25400" bIns="25400" rtlCol="0" anchor="t">
            <a:normAutofit/>
          </a:bodyPr>
          <a:lstStyle/>
          <a:p>
            <a:pPr algn="r" indent="0" marL="0">
              <a:lnSpc>
                <a:spcPct val="155000"/>
              </a:lnSpc>
              <a:buNone/>
            </a:pPr>
            <a:r>
              <a:rPr lang="en-US" sz="1275" b="1" dirty="0">
                <a:solidFill>
                  <a:srgbClr val="4F46E5"/>
                </a:solidFill>
                <a:latin typeface="Arial" pitchFamily="34" charset="0"/>
                <a:ea typeface="Arial" pitchFamily="34" charset="-122"/>
                <a:cs typeface="Arial" pitchFamily="34" charset="-120"/>
              </a:rPr>
              <a:t>backwards</a:t>
            </a:r>
            <a:endParaRPr lang="en-US" sz="1275" dirty="0"/>
          </a:p>
        </p:txBody>
      </p:sp>
      <p:sp>
        <p:nvSpPr>
          <p:cNvPr id="30" name="Text 28"/>
          <p:cNvSpPr/>
          <p:nvPr/>
        </p:nvSpPr>
        <p:spPr>
          <a:xfrm>
            <a:off x="609600" y="3738721"/>
            <a:ext cx="5572506" cy="702469"/>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GAAP is flattered by a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$15.9B non-cash gain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on equity stakes that non-GAAP removes — which is also why net income ($58.3B) exceeds operating cash flow ($50.3B). Cash flow is the truth-teller.</a:t>
            </a:r>
            <a:endParaRPr lang="en-US" sz="1125" dirty="0"/>
          </a:p>
        </p:txBody>
      </p:sp>
      <p:sp>
        <p:nvSpPr>
          <p:cNvPr id="31" name="Shape 29"/>
          <p:cNvSpPr/>
          <p:nvPr/>
        </p:nvSpPr>
        <p:spPr>
          <a:xfrm>
            <a:off x="8724900" y="609600"/>
            <a:ext cx="2857500" cy="1995487"/>
          </a:xfrm>
          <a:prstGeom prst="roundRect">
            <a:avLst>
              <a:gd name="adj" fmla="val 6683"/>
            </a:avLst>
          </a:prstGeom>
          <a:solidFill>
            <a:srgbClr val="F6F7FB"/>
          </a:solidFill>
          <a:ln w="6667">
            <a:solidFill>
              <a:srgbClr val="E5E8F0"/>
            </a:solidFill>
            <a:prstDash val="solid"/>
          </a:ln>
        </p:spPr>
      </p:sp>
      <p:sp>
        <p:nvSpPr>
          <p:cNvPr id="32" name="Text 30"/>
          <p:cNvSpPr/>
          <p:nvPr/>
        </p:nvSpPr>
        <p:spPr>
          <a:xfrm>
            <a:off x="8922068" y="787717"/>
            <a:ext cx="270948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33" name="Text 31"/>
          <p:cNvSpPr/>
          <p:nvPr/>
        </p:nvSpPr>
        <p:spPr>
          <a:xfrm>
            <a:off x="8922068" y="1035367"/>
            <a:ext cx="270948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OCF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Operating Cash Flow</a:t>
            </a:r>
            <a:endParaRPr lang="en-US" sz="1163" dirty="0"/>
          </a:p>
        </p:txBody>
      </p:sp>
      <p:sp>
        <p:nvSpPr>
          <p:cNvPr id="34" name="Text 32"/>
          <p:cNvSpPr/>
          <p:nvPr/>
        </p:nvSpPr>
        <p:spPr>
          <a:xfrm>
            <a:off x="8922068" y="1255871"/>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cash the core business throws off</a:t>
            </a:r>
            <a:endParaRPr lang="en-US" sz="938" dirty="0"/>
          </a:p>
        </p:txBody>
      </p:sp>
      <p:sp>
        <p:nvSpPr>
          <p:cNvPr id="35" name="Text 33"/>
          <p:cNvSpPr/>
          <p:nvPr/>
        </p:nvSpPr>
        <p:spPr>
          <a:xfrm>
            <a:off x="8922068" y="1540510"/>
            <a:ext cx="270948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FCF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Free Cash Flow</a:t>
            </a:r>
            <a:endParaRPr lang="en-US" sz="1163" dirty="0"/>
          </a:p>
        </p:txBody>
      </p:sp>
      <p:sp>
        <p:nvSpPr>
          <p:cNvPr id="36" name="Text 34"/>
          <p:cNvSpPr/>
          <p:nvPr/>
        </p:nvSpPr>
        <p:spPr>
          <a:xfrm>
            <a:off x="8922068" y="1761014"/>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OCF − capex</a:t>
            </a:r>
            <a:endParaRPr lang="en-US" sz="938" dirty="0"/>
          </a:p>
        </p:txBody>
      </p:sp>
      <p:sp>
        <p:nvSpPr>
          <p:cNvPr id="37" name="Text 35"/>
          <p:cNvSpPr/>
          <p:nvPr/>
        </p:nvSpPr>
        <p:spPr>
          <a:xfrm>
            <a:off x="8922068" y="2045652"/>
            <a:ext cx="270948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DSO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Days Sales Outstanding</a:t>
            </a:r>
            <a:endParaRPr lang="en-US" sz="1163" dirty="0"/>
          </a:p>
        </p:txBody>
      </p:sp>
      <p:sp>
        <p:nvSpPr>
          <p:cNvPr id="38" name="Text 36"/>
          <p:cNvSpPr/>
          <p:nvPr/>
        </p:nvSpPr>
        <p:spPr>
          <a:xfrm>
            <a:off x="8922068" y="2266156"/>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(receivables ÷ rev) × days</a:t>
            </a:r>
            <a:endParaRPr lang="en-US" sz="938" dirty="0"/>
          </a:p>
        </p:txBody>
      </p:sp>
      <p:sp>
        <p:nvSpPr>
          <p:cNvPr id="39" name="Text 37"/>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344690"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M2 · QUALITY OF EARNINGS</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The red-flag check on NVDA</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181033"/>
            <a:ext cx="1821815" cy="591503"/>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45 days</a:t>
            </a:r>
            <a:endParaRPr lang="en-US" sz="3600" dirty="0"/>
          </a:p>
        </p:txBody>
      </p:sp>
      <p:sp>
        <p:nvSpPr>
          <p:cNvPr id="11" name="Text 9"/>
          <p:cNvSpPr/>
          <p:nvPr/>
        </p:nvSpPr>
        <p:spPr>
          <a:xfrm>
            <a:off x="2780983" y="3496310"/>
            <a:ext cx="567373"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0B1220"/>
                </a:solidFill>
                <a:latin typeface="Arial" pitchFamily="34" charset="0"/>
                <a:ea typeface="Arial" pitchFamily="34" charset="-122"/>
                <a:cs typeface="Arial" pitchFamily="34" charset="-120"/>
              </a:rPr>
              <a:t>▼ clean</a:t>
            </a:r>
            <a:endParaRPr lang="en-US" sz="1125" dirty="0"/>
          </a:p>
        </p:txBody>
      </p:sp>
      <p:sp>
        <p:nvSpPr>
          <p:cNvPr id="12" name="Text 10"/>
          <p:cNvSpPr/>
          <p:nvPr/>
        </p:nvSpPr>
        <p:spPr>
          <a:xfrm>
            <a:off x="921067"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DSO — flat vs. 46 a year ago, so collections are healthy (no channel-stuffing signal)</a:t>
            </a:r>
            <a:endParaRPr lang="en-US" sz="1350" dirty="0"/>
          </a:p>
        </p:txBody>
      </p:sp>
      <p:sp>
        <p:nvSpPr>
          <p:cNvPr id="13" name="Shape 11"/>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181033"/>
            <a:ext cx="1681321" cy="591503"/>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+128%</a:t>
            </a:r>
            <a:endParaRPr lang="en-US" sz="3600" dirty="0"/>
          </a:p>
        </p:txBody>
      </p:sp>
      <p:sp>
        <p:nvSpPr>
          <p:cNvPr id="15" name="Text 13"/>
          <p:cNvSpPr/>
          <p:nvPr/>
        </p:nvSpPr>
        <p:spPr>
          <a:xfrm>
            <a:off x="6374289" y="3496310"/>
            <a:ext cx="613093"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10B981"/>
                </a:solidFill>
                <a:latin typeface="Arial" pitchFamily="34" charset="0"/>
                <a:ea typeface="Arial" pitchFamily="34" charset="-122"/>
                <a:cs typeface="Arial" pitchFamily="34" charset="-120"/>
              </a:rPr>
              <a:t>▲ watch</a:t>
            </a:r>
            <a:endParaRPr lang="en-US" sz="1125" dirty="0"/>
          </a:p>
        </p:txBody>
      </p:sp>
      <p:sp>
        <p:nvSpPr>
          <p:cNvPr id="16" name="Text 14"/>
          <p:cNvSpPr/>
          <p:nvPr/>
        </p:nvSpPr>
        <p:spPr>
          <a:xfrm>
            <a:off x="4654868"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inventory vs. revenue +85% — the yellow flag; most plausibly a Blackwell/Rubin pre-build</a:t>
            </a:r>
            <a:endParaRPr lang="en-US" sz="1350" dirty="0"/>
          </a:p>
        </p:txBody>
      </p:sp>
      <p:sp>
        <p:nvSpPr>
          <p:cNvPr id="17" name="Shape 15"/>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8" name="Text 16"/>
          <p:cNvSpPr/>
          <p:nvPr/>
        </p:nvSpPr>
        <p:spPr>
          <a:xfrm>
            <a:off x="8388668" y="3229134"/>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71.5%</a:t>
            </a:r>
            <a:endParaRPr lang="en-US" sz="3600" dirty="0"/>
          </a:p>
        </p:txBody>
      </p:sp>
      <p:sp>
        <p:nvSpPr>
          <p:cNvPr id="19" name="Text 17"/>
          <p:cNvSpPr/>
          <p:nvPr/>
        </p:nvSpPr>
        <p:spPr>
          <a:xfrm>
            <a:off x="8388668"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net margin — but net income &gt; operating cash flow, because a $15.9B gain is non-cash</a:t>
            </a:r>
            <a:endParaRPr lang="en-US" sz="1350" dirty="0"/>
          </a:p>
        </p:txBody>
      </p:sp>
      <p:sp>
        <p:nvSpPr>
          <p:cNvPr id="20" name="Text 18"/>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475547"/>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M3</a:t>
            </a:r>
            <a:endParaRPr lang="en-US" sz="2100" dirty="0"/>
          </a:p>
        </p:txBody>
      </p:sp>
      <p:sp>
        <p:nvSpPr>
          <p:cNvPr id="4" name="Text 2"/>
          <p:cNvSpPr/>
          <p:nvPr/>
        </p:nvSpPr>
        <p:spPr>
          <a:xfrm>
            <a:off x="609600" y="3003232"/>
            <a:ext cx="7308056"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Valuation I — multiples</a:t>
            </a:r>
            <a:endParaRPr lang="en-US" sz="4200" dirty="0"/>
          </a:p>
        </p:txBody>
      </p:sp>
      <p:sp>
        <p:nvSpPr>
          <p:cNvPr id="5" name="Text 3"/>
          <p:cNvSpPr/>
          <p:nvPr/>
        </p:nvSpPr>
        <p:spPr>
          <a:xfrm>
            <a:off x="609600" y="3791903"/>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What each multiple is for, enterprise value, the comp table, and the two traps.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34496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MULTIPLES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Which multiple fits which business</a:t>
            </a:r>
            <a:endParaRPr lang="en-US" sz="3000" dirty="0"/>
          </a:p>
        </p:txBody>
      </p:sp>
      <p:sp>
        <p:nvSpPr>
          <p:cNvPr id="9" name="Shape 7"/>
          <p:cNvSpPr/>
          <p:nvPr/>
        </p:nvSpPr>
        <p:spPr>
          <a:xfrm>
            <a:off x="609600" y="2341245"/>
            <a:ext cx="85725" cy="85725"/>
          </a:xfrm>
          <a:prstGeom prst="roundRect">
            <a:avLst>
              <a:gd name="adj" fmla="val 33333"/>
            </a:avLst>
          </a:prstGeom>
          <a:solidFill>
            <a:srgbClr val="4F46E5"/>
          </a:solidFill>
          <a:ln/>
        </p:spPr>
      </p:sp>
      <p:sp>
        <p:nvSpPr>
          <p:cNvPr id="10" name="Text 8"/>
          <p:cNvSpPr/>
          <p:nvPr/>
        </p:nvSpPr>
        <p:spPr>
          <a:xfrm>
            <a:off x="809625" y="2246947"/>
            <a:ext cx="5791787"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Unprofitable / early growth → P/S or EV/Sales (leverage-neutral).</a:t>
            </a:r>
            <a:endParaRPr lang="en-US" sz="1350" dirty="0"/>
          </a:p>
        </p:txBody>
      </p:sp>
      <p:sp>
        <p:nvSpPr>
          <p:cNvPr id="11" name="Shape 9"/>
          <p:cNvSpPr/>
          <p:nvPr/>
        </p:nvSpPr>
        <p:spPr>
          <a:xfrm>
            <a:off x="609600" y="2759393"/>
            <a:ext cx="85725" cy="85725"/>
          </a:xfrm>
          <a:prstGeom prst="roundRect">
            <a:avLst>
              <a:gd name="adj" fmla="val 33333"/>
            </a:avLst>
          </a:prstGeom>
          <a:solidFill>
            <a:srgbClr val="4F46E5"/>
          </a:solidFill>
          <a:ln/>
        </p:spPr>
      </p:sp>
      <p:sp>
        <p:nvSpPr>
          <p:cNvPr id="12" name="Text 10"/>
          <p:cNvSpPr/>
          <p:nvPr/>
        </p:nvSpPr>
        <p:spPr>
          <a:xfrm>
            <a:off x="809625" y="2665095"/>
            <a:ext cx="5540851"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Capital-intensive, levered or cyclical → EV/EBITDA or EV/EBIT.</a:t>
            </a:r>
            <a:endParaRPr lang="en-US" sz="1350" dirty="0"/>
          </a:p>
        </p:txBody>
      </p:sp>
      <p:sp>
        <p:nvSpPr>
          <p:cNvPr id="13" name="Shape 11"/>
          <p:cNvSpPr/>
          <p:nvPr/>
        </p:nvSpPr>
        <p:spPr>
          <a:xfrm>
            <a:off x="609600" y="3177540"/>
            <a:ext cx="85725" cy="85725"/>
          </a:xfrm>
          <a:prstGeom prst="roundRect">
            <a:avLst>
              <a:gd name="adj" fmla="val 33333"/>
            </a:avLst>
          </a:prstGeom>
          <a:solidFill>
            <a:srgbClr val="4F46E5"/>
          </a:solidFill>
          <a:ln/>
        </p:spPr>
      </p:sp>
      <p:sp>
        <p:nvSpPr>
          <p:cNvPr id="14" name="Text 12"/>
          <p:cNvSpPr/>
          <p:nvPr/>
        </p:nvSpPr>
        <p:spPr>
          <a:xfrm>
            <a:off x="809625" y="308324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Banks &amp; asset-heavy → P/B + ROE. Mature / income → P/E + dividend yield.</a:t>
            </a:r>
            <a:endParaRPr lang="en-US" sz="1350" dirty="0"/>
          </a:p>
        </p:txBody>
      </p:sp>
      <p:sp>
        <p:nvSpPr>
          <p:cNvPr id="15" name="Shape 13"/>
          <p:cNvSpPr/>
          <p:nvPr/>
        </p:nvSpPr>
        <p:spPr>
          <a:xfrm>
            <a:off x="609600" y="3861435"/>
            <a:ext cx="85725" cy="85725"/>
          </a:xfrm>
          <a:prstGeom prst="roundRect">
            <a:avLst>
              <a:gd name="adj" fmla="val 33333"/>
            </a:avLst>
          </a:prstGeom>
          <a:solidFill>
            <a:srgbClr val="4F46E5"/>
          </a:solidFill>
          <a:ln/>
        </p:spPr>
      </p:sp>
      <p:sp>
        <p:nvSpPr>
          <p:cNvPr id="16" name="Text 14"/>
          <p:cNvSpPr/>
          <p:nvPr/>
        </p:nvSpPr>
        <p:spPr>
          <a:xfrm>
            <a:off x="809625" y="3796665"/>
            <a:ext cx="5207709"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Cross-sector P/E comparisons mislead — P/E embeds growth, ROIC, risk and leverage.</a:t>
            </a:r>
            <a:endParaRPr lang="en-US" sz="1350" dirty="0"/>
          </a:p>
        </p:txBody>
      </p:sp>
      <p:sp>
        <p:nvSpPr>
          <p:cNvPr id="17" name="Text 15"/>
          <p:cNvSpPr/>
          <p:nvPr/>
        </p:nvSpPr>
        <p:spPr>
          <a:xfrm>
            <a:off x="708025" y="4374832"/>
            <a:ext cx="571357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Read every multiple two ways: vs. the company’s own history, and vs. peers.</a:t>
            </a:r>
            <a:endParaRPr lang="en-US" sz="1125" dirty="0"/>
          </a:p>
        </p:txBody>
      </p:sp>
      <p:sp>
        <p:nvSpPr>
          <p:cNvPr id="18" name="Shape 16"/>
          <p:cNvSpPr/>
          <p:nvPr/>
        </p:nvSpPr>
        <p:spPr>
          <a:xfrm>
            <a:off x="6802596" y="609600"/>
            <a:ext cx="4779804" cy="1932464"/>
          </a:xfrm>
          <a:prstGeom prst="roundRect">
            <a:avLst>
              <a:gd name="adj" fmla="val 6901"/>
            </a:avLst>
          </a:prstGeom>
          <a:solidFill>
            <a:srgbClr val="F6F7FB"/>
          </a:solidFill>
          <a:ln w="6667">
            <a:solidFill>
              <a:srgbClr val="E5E8F0"/>
            </a:solidFill>
            <a:prstDash val="solid"/>
          </a:ln>
        </p:spPr>
      </p:sp>
      <p:sp>
        <p:nvSpPr>
          <p:cNvPr id="19" name="Text 17"/>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0" name="Text 18"/>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Price-to-Earnings</a:t>
            </a:r>
            <a:endParaRPr lang="en-US" sz="1163" dirty="0"/>
          </a:p>
        </p:txBody>
      </p:sp>
      <p:sp>
        <p:nvSpPr>
          <p:cNvPr id="21" name="Text 19"/>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P/S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Price-to-Sales</a:t>
            </a:r>
            <a:endParaRPr lang="en-US" sz="1163" dirty="0"/>
          </a:p>
        </p:txBody>
      </p:sp>
      <p:sp>
        <p:nvSpPr>
          <p:cNvPr id="22" name="Text 20"/>
          <p:cNvSpPr/>
          <p:nvPr/>
        </p:nvSpPr>
        <p:spPr>
          <a:xfrm>
            <a:off x="6999763" y="1571625"/>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market cap ÷ revenue</a:t>
            </a:r>
            <a:endParaRPr lang="en-US" sz="938" dirty="0"/>
          </a:p>
        </p:txBody>
      </p:sp>
      <p:sp>
        <p:nvSpPr>
          <p:cNvPr id="23" name="Text 21"/>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EV/EBITDA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EBITDA = op. income + D&amp;A</a:t>
            </a:r>
            <a:endParaRPr lang="en-US" sz="1163" dirty="0"/>
          </a:p>
        </p:txBody>
      </p:sp>
      <p:sp>
        <p:nvSpPr>
          <p:cNvPr id="24" name="Text 22"/>
          <p:cNvSpPr/>
          <p:nvPr/>
        </p:nvSpPr>
        <p:spPr>
          <a:xfrm>
            <a:off x="6999763" y="2172018"/>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P/E ÷ growth %</a:t>
            </a:r>
            <a:endParaRPr lang="en-US" sz="1163" dirty="0"/>
          </a:p>
        </p:txBody>
      </p:sp>
      <p:sp>
        <p:nvSpPr>
          <p:cNvPr id="25" name="Text 23"/>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63346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ENTERPRISE VALUE</a:t>
            </a:r>
            <a:endParaRPr lang="en-US" sz="975" dirty="0"/>
          </a:p>
        </p:txBody>
      </p:sp>
      <p:sp>
        <p:nvSpPr>
          <p:cNvPr id="8" name="Text 6"/>
          <p:cNvSpPr/>
          <p:nvPr/>
        </p:nvSpPr>
        <p:spPr>
          <a:xfrm>
            <a:off x="609600" y="896779"/>
            <a:ext cx="863346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EV is the takeover price</a:t>
            </a:r>
            <a:endParaRPr lang="en-US" sz="3000" dirty="0"/>
          </a:p>
        </p:txBody>
      </p:sp>
      <p:sp>
        <p:nvSpPr>
          <p:cNvPr id="9" name="Text 7"/>
          <p:cNvSpPr/>
          <p:nvPr/>
        </p:nvSpPr>
        <p:spPr>
          <a:xfrm>
            <a:off x="609600" y="1331119"/>
            <a:ext cx="863346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EV = market cap + total debt − cash</a:t>
            </a:r>
            <a:endParaRPr lang="en-US" sz="1500" dirty="0"/>
          </a:p>
        </p:txBody>
      </p:sp>
      <p:sp>
        <p:nvSpPr>
          <p:cNvPr id="10" name="Shape 8"/>
          <p:cNvSpPr/>
          <p:nvPr/>
        </p:nvSpPr>
        <p:spPr>
          <a:xfrm>
            <a:off x="609600" y="1816894"/>
            <a:ext cx="3857625" cy="1679258"/>
          </a:xfrm>
          <a:prstGeom prst="roundRect">
            <a:avLst>
              <a:gd name="adj" fmla="val 6807"/>
            </a:avLst>
          </a:prstGeom>
          <a:ln w="6667">
            <a:solidFill>
              <a:srgbClr val="E5E8F0"/>
            </a:solidFill>
            <a:prstDash val="solid"/>
          </a:ln>
        </p:spPr>
      </p:sp>
      <p:sp>
        <p:nvSpPr>
          <p:cNvPr id="11" name="Text 9"/>
          <p:cNvSpPr/>
          <p:nvPr/>
        </p:nvSpPr>
        <p:spPr>
          <a:xfrm>
            <a:off x="787717" y="2359977"/>
            <a:ext cx="63547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NVDA</a:t>
            </a:r>
            <a:endParaRPr lang="en-US" sz="1500" dirty="0"/>
          </a:p>
        </p:txBody>
      </p:sp>
      <p:sp>
        <p:nvSpPr>
          <p:cNvPr id="12" name="Text 10"/>
          <p:cNvSpPr/>
          <p:nvPr/>
        </p:nvSpPr>
        <p:spPr>
          <a:xfrm>
            <a:off x="3352483" y="2427605"/>
            <a:ext cx="1012825"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10B981"/>
                </a:solidFill>
                <a:latin typeface="Arial" pitchFamily="34" charset="0"/>
                <a:ea typeface="Arial" pitchFamily="34" charset="-122"/>
                <a:cs typeface="Arial" pitchFamily="34" charset="-120"/>
              </a:rPr>
              <a:t>net cash $40B</a:t>
            </a:r>
            <a:endParaRPr lang="en-US" sz="1050" dirty="0"/>
          </a:p>
        </p:txBody>
      </p:sp>
      <p:sp>
        <p:nvSpPr>
          <p:cNvPr id="13" name="Text 11"/>
          <p:cNvSpPr/>
          <p:nvPr/>
        </p:nvSpPr>
        <p:spPr>
          <a:xfrm>
            <a:off x="787717" y="2731452"/>
            <a:ext cx="38515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EV $4.62T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&lt;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cap $4.66T</a:t>
            </a:r>
            <a:endParaRPr lang="en-US" sz="1125" dirty="0"/>
          </a:p>
        </p:txBody>
      </p:sp>
      <p:sp>
        <p:nvSpPr>
          <p:cNvPr id="14" name="Shape 12"/>
          <p:cNvSpPr/>
          <p:nvPr/>
        </p:nvSpPr>
        <p:spPr>
          <a:xfrm>
            <a:off x="4600575" y="1816894"/>
            <a:ext cx="3857625" cy="1679258"/>
          </a:xfrm>
          <a:prstGeom prst="roundRect">
            <a:avLst>
              <a:gd name="adj" fmla="val 6807"/>
            </a:avLst>
          </a:prstGeom>
          <a:ln w="6667">
            <a:solidFill>
              <a:srgbClr val="E5E8F0"/>
            </a:solidFill>
            <a:prstDash val="solid"/>
          </a:ln>
        </p:spPr>
      </p:sp>
      <p:sp>
        <p:nvSpPr>
          <p:cNvPr id="15" name="Text 13"/>
          <p:cNvSpPr/>
          <p:nvPr/>
        </p:nvSpPr>
        <p:spPr>
          <a:xfrm>
            <a:off x="4778693" y="2359977"/>
            <a:ext cx="59483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AAPL</a:t>
            </a:r>
            <a:endParaRPr lang="en-US" sz="1500" dirty="0"/>
          </a:p>
        </p:txBody>
      </p:sp>
      <p:sp>
        <p:nvSpPr>
          <p:cNvPr id="16" name="Text 14"/>
          <p:cNvSpPr/>
          <p:nvPr/>
        </p:nvSpPr>
        <p:spPr>
          <a:xfrm>
            <a:off x="7351871" y="2427605"/>
            <a:ext cx="1004411"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10B981"/>
                </a:solidFill>
                <a:latin typeface="Arial" pitchFamily="34" charset="0"/>
                <a:ea typeface="Arial" pitchFamily="34" charset="-122"/>
                <a:cs typeface="Arial" pitchFamily="34" charset="-120"/>
              </a:rPr>
              <a:t>net cash $62B</a:t>
            </a:r>
            <a:endParaRPr lang="en-US" sz="1050" dirty="0"/>
          </a:p>
        </p:txBody>
      </p:sp>
      <p:sp>
        <p:nvSpPr>
          <p:cNvPr id="17" name="Text 15"/>
          <p:cNvSpPr/>
          <p:nvPr/>
        </p:nvSpPr>
        <p:spPr>
          <a:xfrm>
            <a:off x="4778693" y="2731452"/>
            <a:ext cx="38515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EV $4.11T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&lt;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cap $4.17T</a:t>
            </a:r>
            <a:endParaRPr lang="en-US" sz="1125" dirty="0"/>
          </a:p>
        </p:txBody>
      </p:sp>
      <p:sp>
        <p:nvSpPr>
          <p:cNvPr id="18" name="Shape 16"/>
          <p:cNvSpPr/>
          <p:nvPr/>
        </p:nvSpPr>
        <p:spPr>
          <a:xfrm>
            <a:off x="609600" y="3629501"/>
            <a:ext cx="3857625" cy="1679258"/>
          </a:xfrm>
          <a:prstGeom prst="roundRect">
            <a:avLst>
              <a:gd name="adj" fmla="val 6807"/>
            </a:avLst>
          </a:prstGeom>
          <a:ln w="6667">
            <a:solidFill>
              <a:srgbClr val="E5E8F0"/>
            </a:solidFill>
            <a:prstDash val="solid"/>
          </a:ln>
        </p:spPr>
      </p:sp>
      <p:sp>
        <p:nvSpPr>
          <p:cNvPr id="19" name="Text 17"/>
          <p:cNvSpPr/>
          <p:nvPr/>
        </p:nvSpPr>
        <p:spPr>
          <a:xfrm>
            <a:off x="787717" y="4172585"/>
            <a:ext cx="35242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KO</a:t>
            </a:r>
            <a:endParaRPr lang="en-US" sz="1500" dirty="0"/>
          </a:p>
        </p:txBody>
      </p:sp>
      <p:sp>
        <p:nvSpPr>
          <p:cNvPr id="20" name="Text 18"/>
          <p:cNvSpPr/>
          <p:nvPr/>
        </p:nvSpPr>
        <p:spPr>
          <a:xfrm>
            <a:off x="3405981" y="4240213"/>
            <a:ext cx="959326"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EF4444"/>
                </a:solidFill>
                <a:latin typeface="Arial" pitchFamily="34" charset="0"/>
                <a:ea typeface="Arial" pitchFamily="34" charset="-122"/>
                <a:cs typeface="Arial" pitchFamily="34" charset="-120"/>
              </a:rPr>
              <a:t>net debt $31B</a:t>
            </a:r>
            <a:endParaRPr lang="en-US" sz="1050" dirty="0"/>
          </a:p>
        </p:txBody>
      </p:sp>
      <p:sp>
        <p:nvSpPr>
          <p:cNvPr id="21" name="Text 19"/>
          <p:cNvSpPr/>
          <p:nvPr/>
        </p:nvSpPr>
        <p:spPr>
          <a:xfrm>
            <a:off x="787717" y="4544060"/>
            <a:ext cx="38515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EV $386B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&gt;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cap $356B</a:t>
            </a:r>
            <a:endParaRPr lang="en-US" sz="1125" dirty="0"/>
          </a:p>
        </p:txBody>
      </p:sp>
      <p:sp>
        <p:nvSpPr>
          <p:cNvPr id="22" name="Shape 20"/>
          <p:cNvSpPr/>
          <p:nvPr/>
        </p:nvSpPr>
        <p:spPr>
          <a:xfrm>
            <a:off x="4600575" y="3629501"/>
            <a:ext cx="3857625" cy="1679258"/>
          </a:xfrm>
          <a:prstGeom prst="roundRect">
            <a:avLst>
              <a:gd name="adj" fmla="val 6807"/>
            </a:avLst>
          </a:prstGeom>
          <a:ln w="6667">
            <a:solidFill>
              <a:srgbClr val="E5E8F0"/>
            </a:solidFill>
            <a:prstDash val="solid"/>
          </a:ln>
        </p:spPr>
      </p:sp>
      <p:sp>
        <p:nvSpPr>
          <p:cNvPr id="23" name="Text 21"/>
          <p:cNvSpPr/>
          <p:nvPr/>
        </p:nvSpPr>
        <p:spPr>
          <a:xfrm>
            <a:off x="4778693" y="4172585"/>
            <a:ext cx="187960"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F</a:t>
            </a:r>
            <a:endParaRPr lang="en-US" sz="1500" dirty="0"/>
          </a:p>
        </p:txBody>
      </p:sp>
      <p:sp>
        <p:nvSpPr>
          <p:cNvPr id="24" name="Text 22"/>
          <p:cNvSpPr/>
          <p:nvPr/>
        </p:nvSpPr>
        <p:spPr>
          <a:xfrm>
            <a:off x="7311549" y="4240213"/>
            <a:ext cx="1044734"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EF4444"/>
                </a:solidFill>
                <a:latin typeface="Arial" pitchFamily="34" charset="0"/>
                <a:ea typeface="Arial" pitchFamily="34" charset="-122"/>
                <a:cs typeface="Arial" pitchFamily="34" charset="-120"/>
              </a:rPr>
              <a:t>net debt $138B</a:t>
            </a:r>
            <a:endParaRPr lang="en-US" sz="1050" dirty="0"/>
          </a:p>
        </p:txBody>
      </p:sp>
      <p:sp>
        <p:nvSpPr>
          <p:cNvPr id="25" name="Text 23"/>
          <p:cNvSpPr/>
          <p:nvPr/>
        </p:nvSpPr>
        <p:spPr>
          <a:xfrm>
            <a:off x="4778693" y="4544060"/>
            <a:ext cx="3851529"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EV $194B =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3.4×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cap $56B</a:t>
            </a:r>
            <a:endParaRPr lang="en-US" sz="1125" dirty="0"/>
          </a:p>
        </p:txBody>
      </p:sp>
      <p:sp>
        <p:nvSpPr>
          <p:cNvPr id="26" name="Text 24"/>
          <p:cNvSpPr/>
          <p:nvPr/>
        </p:nvSpPr>
        <p:spPr>
          <a:xfrm>
            <a:off x="609600" y="5461159"/>
            <a:ext cx="5758256"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P/E and P/S ignore the balance sheet; EV multiples put levered and unlevered firms on the same footing.</a:t>
            </a:r>
            <a:endParaRPr lang="en-US" sz="1125" dirty="0"/>
          </a:p>
        </p:txBody>
      </p:sp>
      <p:sp>
        <p:nvSpPr>
          <p:cNvPr id="27" name="Shape 25"/>
          <p:cNvSpPr/>
          <p:nvPr/>
        </p:nvSpPr>
        <p:spPr>
          <a:xfrm>
            <a:off x="8839200" y="609600"/>
            <a:ext cx="2743200" cy="985203"/>
          </a:xfrm>
          <a:prstGeom prst="roundRect">
            <a:avLst>
              <a:gd name="adj" fmla="val 13535"/>
            </a:avLst>
          </a:prstGeom>
          <a:solidFill>
            <a:srgbClr val="F6F7FB"/>
          </a:solidFill>
          <a:ln w="6667">
            <a:solidFill>
              <a:srgbClr val="E5E8F0"/>
            </a:solidFill>
            <a:prstDash val="solid"/>
          </a:ln>
        </p:spPr>
      </p:sp>
      <p:sp>
        <p:nvSpPr>
          <p:cNvPr id="28" name="Text 26"/>
          <p:cNvSpPr/>
          <p:nvPr/>
        </p:nvSpPr>
        <p:spPr>
          <a:xfrm>
            <a:off x="9036368" y="787717"/>
            <a:ext cx="258375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9" name="Text 27"/>
          <p:cNvSpPr/>
          <p:nvPr/>
        </p:nvSpPr>
        <p:spPr>
          <a:xfrm>
            <a:off x="9036368" y="1035367"/>
            <a:ext cx="258375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EV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Enterprise Value</a:t>
            </a:r>
            <a:endParaRPr lang="en-US" sz="1163" dirty="0"/>
          </a:p>
        </p:txBody>
      </p:sp>
      <p:sp>
        <p:nvSpPr>
          <p:cNvPr id="30" name="Text 28"/>
          <p:cNvSpPr/>
          <p:nvPr/>
        </p:nvSpPr>
        <p:spPr>
          <a:xfrm>
            <a:off x="9036368" y="1255871"/>
            <a:ext cx="258375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market cap + debt − cash</a:t>
            </a:r>
            <a:endParaRPr lang="en-US" sz="938" dirty="0"/>
          </a:p>
        </p:txBody>
      </p:sp>
      <p:sp>
        <p:nvSpPr>
          <p:cNvPr id="31" name="Text 29"/>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88492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THE COMP TABLE</a:t>
            </a:r>
            <a:endParaRPr lang="en-US" sz="975" dirty="0"/>
          </a:p>
        </p:txBody>
      </p:sp>
      <p:sp>
        <p:nvSpPr>
          <p:cNvPr id="8" name="Text 6"/>
          <p:cNvSpPr/>
          <p:nvPr/>
        </p:nvSpPr>
        <p:spPr>
          <a:xfrm>
            <a:off x="609600" y="896779"/>
            <a:ext cx="8884920" cy="315436"/>
          </a:xfrm>
          <a:prstGeom prst="rect">
            <a:avLst/>
          </a:prstGeom>
          <a:noFill/>
          <a:ln/>
        </p:spPr>
        <p:txBody>
          <a:bodyPr wrap="square" lIns="25400" tIns="25400" rIns="25400" bIns="25400" rtlCol="0" anchor="t">
            <a:normAutofit/>
          </a:bodyPr>
          <a:lstStyle/>
          <a:p>
            <a:pPr algn="l" indent="0" marL="0">
              <a:lnSpc>
                <a:spcPct val="103988"/>
              </a:lnSpc>
              <a:buNone/>
            </a:pPr>
            <a:r>
              <a:rPr lang="en-US" sz="2100" b="1" spc="-21" kern="0" dirty="0">
                <a:solidFill>
                  <a:srgbClr val="0B1220"/>
                </a:solidFill>
                <a:latin typeface="Arial" pitchFamily="34" charset="0"/>
                <a:ea typeface="Arial" pitchFamily="34" charset="-122"/>
                <a:cs typeface="Arial" pitchFamily="34" charset="-120"/>
              </a:rPr>
              <a:t>Four names, one screen</a:t>
            </a:r>
            <a:endParaRPr lang="en-US" sz="2100" dirty="0"/>
          </a:p>
        </p:txBody>
      </p:sp>
      <p:sp>
        <p:nvSpPr>
          <p:cNvPr id="9" name="Shape 7"/>
          <p:cNvSpPr/>
          <p:nvPr/>
        </p:nvSpPr>
        <p:spPr>
          <a:xfrm>
            <a:off x="609600" y="1674654"/>
            <a:ext cx="8077200" cy="13335"/>
          </a:xfrm>
          <a:prstGeom prst="rect">
            <a:avLst/>
          </a:prstGeom>
          <a:solidFill>
            <a:srgbClr val="0B1220"/>
          </a:solidFill>
          <a:ln/>
        </p:spPr>
      </p:sp>
      <p:sp>
        <p:nvSpPr>
          <p:cNvPr id="10" name="Text 8"/>
          <p:cNvSpPr/>
          <p:nvPr/>
        </p:nvSpPr>
        <p:spPr>
          <a:xfrm>
            <a:off x="666750" y="1393190"/>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b="1" dirty="0">
                <a:solidFill>
                  <a:srgbClr val="5B6472"/>
                </a:solidFill>
                <a:latin typeface="Arial" pitchFamily="34" charset="0"/>
                <a:ea typeface="Arial" pitchFamily="34" charset="-122"/>
                <a:cs typeface="Arial" pitchFamily="34" charset="-120"/>
              </a:rPr>
              <a:t>Metric</a:t>
            </a:r>
            <a:endParaRPr lang="en-US" sz="1125" dirty="0"/>
          </a:p>
        </p:txBody>
      </p:sp>
      <p:sp>
        <p:nvSpPr>
          <p:cNvPr id="11" name="Text 9"/>
          <p:cNvSpPr/>
          <p:nvPr/>
        </p:nvSpPr>
        <p:spPr>
          <a:xfrm>
            <a:off x="2866708" y="1393190"/>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4F46E5"/>
                </a:solidFill>
                <a:latin typeface="Arial" pitchFamily="34" charset="0"/>
                <a:ea typeface="Arial" pitchFamily="34" charset="-122"/>
                <a:cs typeface="Arial" pitchFamily="34" charset="-120"/>
              </a:rPr>
              <a:t>NVDA</a:t>
            </a:r>
            <a:endParaRPr lang="en-US" sz="1125" dirty="0"/>
          </a:p>
        </p:txBody>
      </p:sp>
      <p:sp>
        <p:nvSpPr>
          <p:cNvPr id="12" name="Text 10"/>
          <p:cNvSpPr/>
          <p:nvPr/>
        </p:nvSpPr>
        <p:spPr>
          <a:xfrm>
            <a:off x="4201160" y="1393190"/>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0B1220"/>
                </a:solidFill>
                <a:latin typeface="Arial" pitchFamily="34" charset="0"/>
                <a:ea typeface="Arial" pitchFamily="34" charset="-122"/>
                <a:cs typeface="Arial" pitchFamily="34" charset="-120"/>
              </a:rPr>
              <a:t>AAPL</a:t>
            </a:r>
            <a:endParaRPr lang="en-US" sz="1125" dirty="0"/>
          </a:p>
        </p:txBody>
      </p:sp>
      <p:sp>
        <p:nvSpPr>
          <p:cNvPr id="13" name="Text 11"/>
          <p:cNvSpPr/>
          <p:nvPr/>
        </p:nvSpPr>
        <p:spPr>
          <a:xfrm>
            <a:off x="5535771" y="1393190"/>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0B1220"/>
                </a:solidFill>
                <a:latin typeface="Arial" pitchFamily="34" charset="0"/>
                <a:ea typeface="Arial" pitchFamily="34" charset="-122"/>
                <a:cs typeface="Arial" pitchFamily="34" charset="-120"/>
              </a:rPr>
              <a:t>KO</a:t>
            </a:r>
            <a:endParaRPr lang="en-US" sz="1125" dirty="0"/>
          </a:p>
        </p:txBody>
      </p:sp>
      <p:sp>
        <p:nvSpPr>
          <p:cNvPr id="14" name="Text 12"/>
          <p:cNvSpPr/>
          <p:nvPr/>
        </p:nvSpPr>
        <p:spPr>
          <a:xfrm>
            <a:off x="6695599" y="1393190"/>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0B1220"/>
                </a:solidFill>
                <a:latin typeface="Arial" pitchFamily="34" charset="0"/>
                <a:ea typeface="Arial" pitchFamily="34" charset="-122"/>
                <a:cs typeface="Arial" pitchFamily="34" charset="-120"/>
              </a:rPr>
              <a:t>F</a:t>
            </a:r>
            <a:endParaRPr lang="en-US" sz="1125" dirty="0"/>
          </a:p>
        </p:txBody>
      </p:sp>
      <p:sp>
        <p:nvSpPr>
          <p:cNvPr id="15" name="Text 13"/>
          <p:cNvSpPr/>
          <p:nvPr/>
        </p:nvSpPr>
        <p:spPr>
          <a:xfrm>
            <a:off x="7855426" y="1393190"/>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5B6472"/>
                </a:solidFill>
                <a:latin typeface="Arial" pitchFamily="34" charset="0"/>
                <a:ea typeface="Arial" pitchFamily="34" charset="-122"/>
                <a:cs typeface="Arial" pitchFamily="34" charset="-120"/>
              </a:rPr>
              <a:t>S&amp;P</a:t>
            </a:r>
            <a:endParaRPr lang="en-US" sz="1125" dirty="0"/>
          </a:p>
        </p:txBody>
      </p:sp>
      <p:sp>
        <p:nvSpPr>
          <p:cNvPr id="16" name="Shape 14"/>
          <p:cNvSpPr/>
          <p:nvPr/>
        </p:nvSpPr>
        <p:spPr>
          <a:xfrm>
            <a:off x="609600" y="2046129"/>
            <a:ext cx="8077200" cy="9525"/>
          </a:xfrm>
          <a:prstGeom prst="rect">
            <a:avLst/>
          </a:prstGeom>
          <a:solidFill>
            <a:srgbClr val="E5E8F0"/>
          </a:solidFill>
          <a:ln/>
        </p:spPr>
      </p:sp>
      <p:sp>
        <p:nvSpPr>
          <p:cNvPr id="17" name="Text 15"/>
          <p:cNvSpPr/>
          <p:nvPr/>
        </p:nvSpPr>
        <p:spPr>
          <a:xfrm>
            <a:off x="666750" y="1754664"/>
            <a:ext cx="2238057" cy="269558"/>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Price</a:t>
            </a:r>
            <a:endParaRPr lang="en-US" sz="1125" dirty="0"/>
          </a:p>
        </p:txBody>
      </p:sp>
      <p:sp>
        <p:nvSpPr>
          <p:cNvPr id="18" name="Text 16"/>
          <p:cNvSpPr/>
          <p:nvPr/>
        </p:nvSpPr>
        <p:spPr>
          <a:xfrm>
            <a:off x="2866708" y="1754664"/>
            <a:ext cx="1296353" cy="269558"/>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$192.53</a:t>
            </a:r>
            <a:endParaRPr lang="en-US" sz="1125" dirty="0"/>
          </a:p>
        </p:txBody>
      </p:sp>
      <p:sp>
        <p:nvSpPr>
          <p:cNvPr id="19" name="Text 17"/>
          <p:cNvSpPr/>
          <p:nvPr/>
        </p:nvSpPr>
        <p:spPr>
          <a:xfrm>
            <a:off x="4201160" y="1754664"/>
            <a:ext cx="1296511" cy="269558"/>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$283.78</a:t>
            </a:r>
            <a:endParaRPr lang="en-US" sz="1125" dirty="0"/>
          </a:p>
        </p:txBody>
      </p:sp>
      <p:sp>
        <p:nvSpPr>
          <p:cNvPr id="20" name="Text 18"/>
          <p:cNvSpPr/>
          <p:nvPr/>
        </p:nvSpPr>
        <p:spPr>
          <a:xfrm>
            <a:off x="5535771" y="1754664"/>
            <a:ext cx="1121727" cy="269558"/>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$82.63</a:t>
            </a:r>
            <a:endParaRPr lang="en-US" sz="1125" dirty="0"/>
          </a:p>
        </p:txBody>
      </p:sp>
      <p:sp>
        <p:nvSpPr>
          <p:cNvPr id="21" name="Text 19"/>
          <p:cNvSpPr/>
          <p:nvPr/>
        </p:nvSpPr>
        <p:spPr>
          <a:xfrm>
            <a:off x="6695599" y="1754664"/>
            <a:ext cx="1121727" cy="269558"/>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$14.13</a:t>
            </a:r>
            <a:endParaRPr lang="en-US" sz="1125" dirty="0"/>
          </a:p>
        </p:txBody>
      </p:sp>
      <p:sp>
        <p:nvSpPr>
          <p:cNvPr id="22" name="Text 20"/>
          <p:cNvSpPr/>
          <p:nvPr/>
        </p:nvSpPr>
        <p:spPr>
          <a:xfrm>
            <a:off x="7855426" y="1754664"/>
            <a:ext cx="774224" cy="269558"/>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23" name="Shape 21"/>
          <p:cNvSpPr/>
          <p:nvPr/>
        </p:nvSpPr>
        <p:spPr>
          <a:xfrm>
            <a:off x="609600" y="2407602"/>
            <a:ext cx="8077200" cy="9525"/>
          </a:xfrm>
          <a:prstGeom prst="rect">
            <a:avLst/>
          </a:prstGeom>
          <a:solidFill>
            <a:srgbClr val="E5E8F0"/>
          </a:solidFill>
          <a:ln/>
        </p:spPr>
      </p:sp>
      <p:sp>
        <p:nvSpPr>
          <p:cNvPr id="24" name="Text 22"/>
          <p:cNvSpPr/>
          <p:nvPr/>
        </p:nvSpPr>
        <p:spPr>
          <a:xfrm>
            <a:off x="666750" y="2119471"/>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Market cap</a:t>
            </a:r>
            <a:endParaRPr lang="en-US" sz="1125" dirty="0"/>
          </a:p>
        </p:txBody>
      </p:sp>
      <p:sp>
        <p:nvSpPr>
          <p:cNvPr id="25" name="Text 23"/>
          <p:cNvSpPr/>
          <p:nvPr/>
        </p:nvSpPr>
        <p:spPr>
          <a:xfrm>
            <a:off x="2866708" y="2119471"/>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$4.66T</a:t>
            </a:r>
            <a:endParaRPr lang="en-US" sz="1125" dirty="0"/>
          </a:p>
        </p:txBody>
      </p:sp>
      <p:sp>
        <p:nvSpPr>
          <p:cNvPr id="26" name="Text 24"/>
          <p:cNvSpPr/>
          <p:nvPr/>
        </p:nvSpPr>
        <p:spPr>
          <a:xfrm>
            <a:off x="4201160" y="2119471"/>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$4.17T</a:t>
            </a:r>
            <a:endParaRPr lang="en-US" sz="1125" dirty="0"/>
          </a:p>
        </p:txBody>
      </p:sp>
      <p:sp>
        <p:nvSpPr>
          <p:cNvPr id="27" name="Text 25"/>
          <p:cNvSpPr/>
          <p:nvPr/>
        </p:nvSpPr>
        <p:spPr>
          <a:xfrm>
            <a:off x="5535771" y="2119471"/>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$356B</a:t>
            </a:r>
            <a:endParaRPr lang="en-US" sz="1125" dirty="0"/>
          </a:p>
        </p:txBody>
      </p:sp>
      <p:sp>
        <p:nvSpPr>
          <p:cNvPr id="28" name="Text 26"/>
          <p:cNvSpPr/>
          <p:nvPr/>
        </p:nvSpPr>
        <p:spPr>
          <a:xfrm>
            <a:off x="6695599" y="2119471"/>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$56B</a:t>
            </a:r>
            <a:endParaRPr lang="en-US" sz="1125" dirty="0"/>
          </a:p>
        </p:txBody>
      </p:sp>
      <p:sp>
        <p:nvSpPr>
          <p:cNvPr id="29" name="Text 27"/>
          <p:cNvSpPr/>
          <p:nvPr/>
        </p:nvSpPr>
        <p:spPr>
          <a:xfrm>
            <a:off x="7855426" y="2119471"/>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30" name="Shape 28"/>
          <p:cNvSpPr/>
          <p:nvPr/>
        </p:nvSpPr>
        <p:spPr>
          <a:xfrm>
            <a:off x="609600" y="2769076"/>
            <a:ext cx="8077200" cy="9525"/>
          </a:xfrm>
          <a:prstGeom prst="rect">
            <a:avLst/>
          </a:prstGeom>
          <a:solidFill>
            <a:srgbClr val="E5E8F0"/>
          </a:solidFill>
          <a:ln/>
        </p:spPr>
      </p:sp>
      <p:sp>
        <p:nvSpPr>
          <p:cNvPr id="31" name="Text 29"/>
          <p:cNvSpPr/>
          <p:nvPr/>
        </p:nvSpPr>
        <p:spPr>
          <a:xfrm>
            <a:off x="666750" y="2480945"/>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Enterprise value</a:t>
            </a:r>
            <a:endParaRPr lang="en-US" sz="1125" dirty="0"/>
          </a:p>
        </p:txBody>
      </p:sp>
      <p:sp>
        <p:nvSpPr>
          <p:cNvPr id="32" name="Text 30"/>
          <p:cNvSpPr/>
          <p:nvPr/>
        </p:nvSpPr>
        <p:spPr>
          <a:xfrm>
            <a:off x="2866708" y="2480945"/>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$4.62T</a:t>
            </a:r>
            <a:endParaRPr lang="en-US" sz="1125" dirty="0"/>
          </a:p>
        </p:txBody>
      </p:sp>
      <p:sp>
        <p:nvSpPr>
          <p:cNvPr id="33" name="Text 31"/>
          <p:cNvSpPr/>
          <p:nvPr/>
        </p:nvSpPr>
        <p:spPr>
          <a:xfrm>
            <a:off x="4201160" y="2480945"/>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$4.11T</a:t>
            </a:r>
            <a:endParaRPr lang="en-US" sz="1125" dirty="0"/>
          </a:p>
        </p:txBody>
      </p:sp>
      <p:sp>
        <p:nvSpPr>
          <p:cNvPr id="34" name="Text 32"/>
          <p:cNvSpPr/>
          <p:nvPr/>
        </p:nvSpPr>
        <p:spPr>
          <a:xfrm>
            <a:off x="5535771" y="2480945"/>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$386B</a:t>
            </a:r>
            <a:endParaRPr lang="en-US" sz="1125" dirty="0"/>
          </a:p>
        </p:txBody>
      </p:sp>
      <p:sp>
        <p:nvSpPr>
          <p:cNvPr id="35" name="Text 33"/>
          <p:cNvSpPr/>
          <p:nvPr/>
        </p:nvSpPr>
        <p:spPr>
          <a:xfrm>
            <a:off x="6695599" y="2480945"/>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$194B</a:t>
            </a:r>
            <a:endParaRPr lang="en-US" sz="1125" dirty="0"/>
          </a:p>
        </p:txBody>
      </p:sp>
      <p:sp>
        <p:nvSpPr>
          <p:cNvPr id="36" name="Text 34"/>
          <p:cNvSpPr/>
          <p:nvPr/>
        </p:nvSpPr>
        <p:spPr>
          <a:xfrm>
            <a:off x="7855426" y="2480945"/>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37" name="Shape 35"/>
          <p:cNvSpPr/>
          <p:nvPr/>
        </p:nvSpPr>
        <p:spPr>
          <a:xfrm>
            <a:off x="609600" y="3130550"/>
            <a:ext cx="8077200" cy="9525"/>
          </a:xfrm>
          <a:prstGeom prst="rect">
            <a:avLst/>
          </a:prstGeom>
          <a:solidFill>
            <a:srgbClr val="E5E8F0"/>
          </a:solidFill>
          <a:ln/>
        </p:spPr>
      </p:sp>
      <p:sp>
        <p:nvSpPr>
          <p:cNvPr id="38" name="Text 36"/>
          <p:cNvSpPr/>
          <p:nvPr/>
        </p:nvSpPr>
        <p:spPr>
          <a:xfrm>
            <a:off x="666750" y="2842419"/>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Trailing P/E</a:t>
            </a:r>
            <a:endParaRPr lang="en-US" sz="1125" dirty="0"/>
          </a:p>
        </p:txBody>
      </p:sp>
      <p:sp>
        <p:nvSpPr>
          <p:cNvPr id="39" name="Text 37"/>
          <p:cNvSpPr/>
          <p:nvPr/>
        </p:nvSpPr>
        <p:spPr>
          <a:xfrm>
            <a:off x="2866708" y="2842419"/>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29.5</a:t>
            </a:r>
            <a:endParaRPr lang="en-US" sz="1125" dirty="0"/>
          </a:p>
        </p:txBody>
      </p:sp>
      <p:sp>
        <p:nvSpPr>
          <p:cNvPr id="40" name="Text 38"/>
          <p:cNvSpPr/>
          <p:nvPr/>
        </p:nvSpPr>
        <p:spPr>
          <a:xfrm>
            <a:off x="4201160" y="2842419"/>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34.4</a:t>
            </a:r>
            <a:endParaRPr lang="en-US" sz="1125" dirty="0"/>
          </a:p>
        </p:txBody>
      </p:sp>
      <p:sp>
        <p:nvSpPr>
          <p:cNvPr id="41" name="Text 39"/>
          <p:cNvSpPr/>
          <p:nvPr/>
        </p:nvSpPr>
        <p:spPr>
          <a:xfrm>
            <a:off x="5535771" y="2842419"/>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26.0</a:t>
            </a:r>
            <a:endParaRPr lang="en-US" sz="1125" dirty="0"/>
          </a:p>
        </p:txBody>
      </p:sp>
      <p:sp>
        <p:nvSpPr>
          <p:cNvPr id="42" name="Text 40"/>
          <p:cNvSpPr/>
          <p:nvPr/>
        </p:nvSpPr>
        <p:spPr>
          <a:xfrm>
            <a:off x="6695599" y="2842419"/>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EF4444"/>
                </a:solidFill>
                <a:latin typeface="Arial" pitchFamily="34" charset="0"/>
                <a:ea typeface="Arial" pitchFamily="34" charset="-122"/>
                <a:cs typeface="Arial" pitchFamily="34" charset="-120"/>
              </a:rPr>
              <a:t>N/M</a:t>
            </a:r>
            <a:endParaRPr lang="en-US" sz="1125" dirty="0"/>
          </a:p>
        </p:txBody>
      </p:sp>
      <p:sp>
        <p:nvSpPr>
          <p:cNvPr id="43" name="Text 41"/>
          <p:cNvSpPr/>
          <p:nvPr/>
        </p:nvSpPr>
        <p:spPr>
          <a:xfrm>
            <a:off x="7855426" y="2842419"/>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27.3</a:t>
            </a:r>
            <a:endParaRPr lang="en-US" sz="1125" dirty="0"/>
          </a:p>
        </p:txBody>
      </p:sp>
      <p:sp>
        <p:nvSpPr>
          <p:cNvPr id="44" name="Shape 42"/>
          <p:cNvSpPr/>
          <p:nvPr/>
        </p:nvSpPr>
        <p:spPr>
          <a:xfrm>
            <a:off x="609600" y="3137218"/>
            <a:ext cx="8077200" cy="361474"/>
          </a:xfrm>
          <a:prstGeom prst="rect">
            <a:avLst/>
          </a:prstGeom>
          <a:solidFill>
            <a:srgbClr val="F6F7FB"/>
          </a:solidFill>
          <a:ln/>
        </p:spPr>
      </p:sp>
      <p:sp>
        <p:nvSpPr>
          <p:cNvPr id="45" name="Shape 43"/>
          <p:cNvSpPr/>
          <p:nvPr/>
        </p:nvSpPr>
        <p:spPr>
          <a:xfrm>
            <a:off x="609600" y="3492024"/>
            <a:ext cx="8077200" cy="9525"/>
          </a:xfrm>
          <a:prstGeom prst="rect">
            <a:avLst/>
          </a:prstGeom>
          <a:solidFill>
            <a:srgbClr val="E5E8F0"/>
          </a:solidFill>
          <a:ln/>
        </p:spPr>
      </p:sp>
      <p:sp>
        <p:nvSpPr>
          <p:cNvPr id="46" name="Text 44"/>
          <p:cNvSpPr/>
          <p:nvPr/>
        </p:nvSpPr>
        <p:spPr>
          <a:xfrm>
            <a:off x="666750" y="3203893"/>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Forward P/E</a:t>
            </a:r>
            <a:endParaRPr lang="en-US" sz="1125" dirty="0"/>
          </a:p>
        </p:txBody>
      </p:sp>
      <p:sp>
        <p:nvSpPr>
          <p:cNvPr id="47" name="Text 45"/>
          <p:cNvSpPr/>
          <p:nvPr/>
        </p:nvSpPr>
        <p:spPr>
          <a:xfrm>
            <a:off x="2866708" y="3203893"/>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b="1" dirty="0">
                <a:solidFill>
                  <a:srgbClr val="4F46E5"/>
                </a:solidFill>
                <a:latin typeface="Arial" pitchFamily="34" charset="0"/>
                <a:ea typeface="Arial" pitchFamily="34" charset="-122"/>
                <a:cs typeface="Arial" pitchFamily="34" charset="-120"/>
              </a:rPr>
              <a:t>19.4</a:t>
            </a:r>
            <a:endParaRPr lang="en-US" sz="1125" dirty="0"/>
          </a:p>
        </p:txBody>
      </p:sp>
      <p:sp>
        <p:nvSpPr>
          <p:cNvPr id="48" name="Text 46"/>
          <p:cNvSpPr/>
          <p:nvPr/>
        </p:nvSpPr>
        <p:spPr>
          <a:xfrm>
            <a:off x="4201160" y="3203893"/>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31.2</a:t>
            </a:r>
            <a:endParaRPr lang="en-US" sz="1125" dirty="0"/>
          </a:p>
        </p:txBody>
      </p:sp>
      <p:sp>
        <p:nvSpPr>
          <p:cNvPr id="49" name="Text 47"/>
          <p:cNvSpPr/>
          <p:nvPr/>
        </p:nvSpPr>
        <p:spPr>
          <a:xfrm>
            <a:off x="5535771" y="3203893"/>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25.0</a:t>
            </a:r>
            <a:endParaRPr lang="en-US" sz="1125" dirty="0"/>
          </a:p>
        </p:txBody>
      </p:sp>
      <p:sp>
        <p:nvSpPr>
          <p:cNvPr id="50" name="Text 48"/>
          <p:cNvSpPr/>
          <p:nvPr/>
        </p:nvSpPr>
        <p:spPr>
          <a:xfrm>
            <a:off x="6695599" y="3203893"/>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9.6</a:t>
            </a:r>
            <a:endParaRPr lang="en-US" sz="1125" dirty="0"/>
          </a:p>
        </p:txBody>
      </p:sp>
      <p:sp>
        <p:nvSpPr>
          <p:cNvPr id="51" name="Text 49"/>
          <p:cNvSpPr/>
          <p:nvPr/>
        </p:nvSpPr>
        <p:spPr>
          <a:xfrm>
            <a:off x="7855426" y="3203893"/>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20.1</a:t>
            </a:r>
            <a:endParaRPr lang="en-US" sz="1125" dirty="0"/>
          </a:p>
        </p:txBody>
      </p:sp>
      <p:sp>
        <p:nvSpPr>
          <p:cNvPr id="52" name="Shape 50"/>
          <p:cNvSpPr/>
          <p:nvPr/>
        </p:nvSpPr>
        <p:spPr>
          <a:xfrm>
            <a:off x="609600" y="3853497"/>
            <a:ext cx="8077200" cy="9525"/>
          </a:xfrm>
          <a:prstGeom prst="rect">
            <a:avLst/>
          </a:prstGeom>
          <a:solidFill>
            <a:srgbClr val="E5E8F0"/>
          </a:solidFill>
          <a:ln/>
        </p:spPr>
      </p:sp>
      <p:sp>
        <p:nvSpPr>
          <p:cNvPr id="53" name="Text 51"/>
          <p:cNvSpPr/>
          <p:nvPr/>
        </p:nvSpPr>
        <p:spPr>
          <a:xfrm>
            <a:off x="666750" y="3565366"/>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P/S</a:t>
            </a:r>
            <a:endParaRPr lang="en-US" sz="1125" dirty="0"/>
          </a:p>
        </p:txBody>
      </p:sp>
      <p:sp>
        <p:nvSpPr>
          <p:cNvPr id="54" name="Text 52"/>
          <p:cNvSpPr/>
          <p:nvPr/>
        </p:nvSpPr>
        <p:spPr>
          <a:xfrm>
            <a:off x="2866708" y="3565366"/>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18.4</a:t>
            </a:r>
            <a:endParaRPr lang="en-US" sz="1125" dirty="0"/>
          </a:p>
        </p:txBody>
      </p:sp>
      <p:sp>
        <p:nvSpPr>
          <p:cNvPr id="55" name="Text 53"/>
          <p:cNvSpPr/>
          <p:nvPr/>
        </p:nvSpPr>
        <p:spPr>
          <a:xfrm>
            <a:off x="4201160" y="3565366"/>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9.2</a:t>
            </a:r>
            <a:endParaRPr lang="en-US" sz="1125" dirty="0"/>
          </a:p>
        </p:txBody>
      </p:sp>
      <p:sp>
        <p:nvSpPr>
          <p:cNvPr id="56" name="Text 54"/>
          <p:cNvSpPr/>
          <p:nvPr/>
        </p:nvSpPr>
        <p:spPr>
          <a:xfrm>
            <a:off x="5535771" y="3565366"/>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7.2</a:t>
            </a:r>
            <a:endParaRPr lang="en-US" sz="1125" dirty="0"/>
          </a:p>
        </p:txBody>
      </p:sp>
      <p:sp>
        <p:nvSpPr>
          <p:cNvPr id="57" name="Text 55"/>
          <p:cNvSpPr/>
          <p:nvPr/>
        </p:nvSpPr>
        <p:spPr>
          <a:xfrm>
            <a:off x="6695599" y="3565366"/>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0.30</a:t>
            </a:r>
            <a:endParaRPr lang="en-US" sz="1125" dirty="0"/>
          </a:p>
        </p:txBody>
      </p:sp>
      <p:sp>
        <p:nvSpPr>
          <p:cNvPr id="58" name="Text 56"/>
          <p:cNvSpPr/>
          <p:nvPr/>
        </p:nvSpPr>
        <p:spPr>
          <a:xfrm>
            <a:off x="7855426" y="3565366"/>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59" name="Shape 57"/>
          <p:cNvSpPr/>
          <p:nvPr/>
        </p:nvSpPr>
        <p:spPr>
          <a:xfrm>
            <a:off x="609600" y="4214971"/>
            <a:ext cx="8077200" cy="9525"/>
          </a:xfrm>
          <a:prstGeom prst="rect">
            <a:avLst/>
          </a:prstGeom>
          <a:solidFill>
            <a:srgbClr val="E5E8F0"/>
          </a:solidFill>
          <a:ln/>
        </p:spPr>
      </p:sp>
      <p:sp>
        <p:nvSpPr>
          <p:cNvPr id="60" name="Text 58"/>
          <p:cNvSpPr/>
          <p:nvPr/>
        </p:nvSpPr>
        <p:spPr>
          <a:xfrm>
            <a:off x="666750" y="3926840"/>
            <a:ext cx="2238057" cy="266224"/>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Dividend yield</a:t>
            </a:r>
            <a:endParaRPr lang="en-US" sz="1125" dirty="0"/>
          </a:p>
        </p:txBody>
      </p:sp>
      <p:sp>
        <p:nvSpPr>
          <p:cNvPr id="61" name="Text 59"/>
          <p:cNvSpPr/>
          <p:nvPr/>
        </p:nvSpPr>
        <p:spPr>
          <a:xfrm>
            <a:off x="2866708" y="3926840"/>
            <a:ext cx="1296353"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0.52%</a:t>
            </a:r>
            <a:endParaRPr lang="en-US" sz="1125" dirty="0"/>
          </a:p>
        </p:txBody>
      </p:sp>
      <p:sp>
        <p:nvSpPr>
          <p:cNvPr id="62" name="Text 60"/>
          <p:cNvSpPr/>
          <p:nvPr/>
        </p:nvSpPr>
        <p:spPr>
          <a:xfrm>
            <a:off x="4201160" y="3926840"/>
            <a:ext cx="1296511"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0.37%</a:t>
            </a:r>
            <a:endParaRPr lang="en-US" sz="1125" dirty="0"/>
          </a:p>
        </p:txBody>
      </p:sp>
      <p:sp>
        <p:nvSpPr>
          <p:cNvPr id="63" name="Text 61"/>
          <p:cNvSpPr/>
          <p:nvPr/>
        </p:nvSpPr>
        <p:spPr>
          <a:xfrm>
            <a:off x="5535771" y="3926840"/>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2.57%</a:t>
            </a:r>
            <a:endParaRPr lang="en-US" sz="1125" dirty="0"/>
          </a:p>
        </p:txBody>
      </p:sp>
      <p:sp>
        <p:nvSpPr>
          <p:cNvPr id="64" name="Text 62"/>
          <p:cNvSpPr/>
          <p:nvPr/>
        </p:nvSpPr>
        <p:spPr>
          <a:xfrm>
            <a:off x="6695599" y="3926840"/>
            <a:ext cx="1121727"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4.25%</a:t>
            </a:r>
            <a:endParaRPr lang="en-US" sz="1125" dirty="0"/>
          </a:p>
        </p:txBody>
      </p:sp>
      <p:sp>
        <p:nvSpPr>
          <p:cNvPr id="65" name="Text 63"/>
          <p:cNvSpPr/>
          <p:nvPr/>
        </p:nvSpPr>
        <p:spPr>
          <a:xfrm>
            <a:off x="7855426" y="3926840"/>
            <a:ext cx="774224" cy="266224"/>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66" name="Text 64"/>
          <p:cNvSpPr/>
          <p:nvPr/>
        </p:nvSpPr>
        <p:spPr>
          <a:xfrm>
            <a:off x="666750" y="4288314"/>
            <a:ext cx="2238057" cy="262890"/>
          </a:xfrm>
          <a:prstGeom prst="rect">
            <a:avLst/>
          </a:prstGeom>
          <a:noFill/>
          <a:ln/>
        </p:spPr>
        <p:txBody>
          <a:bodyPr wrap="square" lIns="25400" tIns="25400" rIns="25400" bIns="25400" rtlCol="0" anchor="ctr">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PEG</a:t>
            </a:r>
            <a:endParaRPr lang="en-US" sz="1125" dirty="0"/>
          </a:p>
        </p:txBody>
      </p:sp>
      <p:sp>
        <p:nvSpPr>
          <p:cNvPr id="67" name="Text 65"/>
          <p:cNvSpPr/>
          <p:nvPr/>
        </p:nvSpPr>
        <p:spPr>
          <a:xfrm>
            <a:off x="2866708" y="4288314"/>
            <a:ext cx="1296353" cy="262890"/>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0.43</a:t>
            </a:r>
            <a:endParaRPr lang="en-US" sz="1125" dirty="0"/>
          </a:p>
        </p:txBody>
      </p:sp>
      <p:sp>
        <p:nvSpPr>
          <p:cNvPr id="68" name="Text 66"/>
          <p:cNvSpPr/>
          <p:nvPr/>
        </p:nvSpPr>
        <p:spPr>
          <a:xfrm>
            <a:off x="4201160" y="4288314"/>
            <a:ext cx="1296511" cy="262890"/>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2.71</a:t>
            </a:r>
            <a:endParaRPr lang="en-US" sz="1125" dirty="0"/>
          </a:p>
        </p:txBody>
      </p:sp>
      <p:sp>
        <p:nvSpPr>
          <p:cNvPr id="69" name="Text 67"/>
          <p:cNvSpPr/>
          <p:nvPr/>
        </p:nvSpPr>
        <p:spPr>
          <a:xfrm>
            <a:off x="5535771" y="4288314"/>
            <a:ext cx="1121727" cy="262890"/>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3.19</a:t>
            </a:r>
            <a:endParaRPr lang="en-US" sz="1125" dirty="0"/>
          </a:p>
        </p:txBody>
      </p:sp>
      <p:sp>
        <p:nvSpPr>
          <p:cNvPr id="70" name="Text 68"/>
          <p:cNvSpPr/>
          <p:nvPr/>
        </p:nvSpPr>
        <p:spPr>
          <a:xfrm>
            <a:off x="6695599" y="4288314"/>
            <a:ext cx="1121727" cy="262890"/>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0B1220"/>
                </a:solidFill>
                <a:latin typeface="Arial" pitchFamily="34" charset="0"/>
                <a:ea typeface="Arial" pitchFamily="34" charset="-122"/>
                <a:cs typeface="Arial" pitchFamily="34" charset="-120"/>
              </a:rPr>
              <a:t>0.46</a:t>
            </a:r>
            <a:endParaRPr lang="en-US" sz="1125" dirty="0"/>
          </a:p>
        </p:txBody>
      </p:sp>
      <p:sp>
        <p:nvSpPr>
          <p:cNvPr id="71" name="Text 69"/>
          <p:cNvSpPr/>
          <p:nvPr/>
        </p:nvSpPr>
        <p:spPr>
          <a:xfrm>
            <a:off x="7855426" y="4288314"/>
            <a:ext cx="774224" cy="262890"/>
          </a:xfrm>
          <a:prstGeom prst="rect">
            <a:avLst/>
          </a:prstGeom>
          <a:noFill/>
          <a:ln/>
        </p:spPr>
        <p:txBody>
          <a:bodyPr wrap="square" lIns="25400" tIns="25400" rIns="25400" bIns="25400" rtlCol="0" anchor="ctr">
            <a:normAutofit/>
          </a:bodyPr>
          <a:lstStyle/>
          <a:p>
            <a:pPr algn="r" indent="0" marL="0">
              <a:lnSpc>
                <a:spcPct val="155000"/>
              </a:lnSpc>
              <a:buNone/>
            </a:pPr>
            <a:r>
              <a:rPr lang="en-US" sz="1125" dirty="0">
                <a:solidFill>
                  <a:srgbClr val="94A3B8"/>
                </a:solidFill>
                <a:latin typeface="Arial" pitchFamily="34" charset="0"/>
                <a:ea typeface="Arial" pitchFamily="34" charset="-122"/>
                <a:cs typeface="Arial" pitchFamily="34" charset="-120"/>
              </a:rPr>
              <a:t>—</a:t>
            </a:r>
            <a:endParaRPr lang="en-US" sz="1125" dirty="0"/>
          </a:p>
        </p:txBody>
      </p:sp>
      <p:sp>
        <p:nvSpPr>
          <p:cNvPr id="72" name="Text 70"/>
          <p:cNvSpPr/>
          <p:nvPr/>
        </p:nvSpPr>
        <p:spPr>
          <a:xfrm>
            <a:off x="609600" y="4713129"/>
            <a:ext cx="888492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i="1" dirty="0">
                <a:solidFill>
                  <a:srgbClr val="5B6472"/>
                </a:solidFill>
                <a:latin typeface="Arial" pitchFamily="34" charset="0"/>
                <a:ea typeface="Arial" pitchFamily="34" charset="-122"/>
                <a:cs typeface="Arial" pitchFamily="34" charset="-120"/>
              </a:rPr>
              <a:t>As of late Jun 2026 · re-pull morning-of · Ford's trailing P/E is N/M — FY2025 net loss.</a:t>
            </a:r>
            <a:endParaRPr lang="en-US" sz="975" dirty="0"/>
          </a:p>
        </p:txBody>
      </p:sp>
      <p:sp>
        <p:nvSpPr>
          <p:cNvPr id="73" name="Shape 71"/>
          <p:cNvSpPr/>
          <p:nvPr/>
        </p:nvSpPr>
        <p:spPr>
          <a:xfrm>
            <a:off x="9029700" y="609600"/>
            <a:ext cx="2552700" cy="1998027"/>
          </a:xfrm>
          <a:prstGeom prst="roundRect">
            <a:avLst>
              <a:gd name="adj" fmla="val 6674"/>
            </a:avLst>
          </a:prstGeom>
          <a:solidFill>
            <a:srgbClr val="F6F7FB"/>
          </a:solidFill>
          <a:ln w="6667">
            <a:solidFill>
              <a:srgbClr val="E5E8F0"/>
            </a:solidFill>
            <a:prstDash val="solid"/>
          </a:ln>
        </p:spPr>
      </p:sp>
      <p:sp>
        <p:nvSpPr>
          <p:cNvPr id="74" name="Text 72"/>
          <p:cNvSpPr/>
          <p:nvPr/>
        </p:nvSpPr>
        <p:spPr>
          <a:xfrm>
            <a:off x="9226868" y="787717"/>
            <a:ext cx="237420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75" name="Text 73"/>
          <p:cNvSpPr/>
          <p:nvPr/>
        </p:nvSpPr>
        <p:spPr>
          <a:xfrm>
            <a:off x="9226868" y="1035367"/>
            <a:ext cx="22345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TTM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Trailing Twelve Months</a:t>
            </a:r>
            <a:endParaRPr lang="en-US" sz="1163" dirty="0"/>
          </a:p>
        </p:txBody>
      </p:sp>
      <p:sp>
        <p:nvSpPr>
          <p:cNvPr id="76" name="Text 74"/>
          <p:cNvSpPr/>
          <p:nvPr/>
        </p:nvSpPr>
        <p:spPr>
          <a:xfrm>
            <a:off x="9226868" y="1543050"/>
            <a:ext cx="237420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P/E to Growth</a:t>
            </a:r>
            <a:endParaRPr lang="en-US" sz="1163" dirty="0"/>
          </a:p>
        </p:txBody>
      </p:sp>
      <p:sp>
        <p:nvSpPr>
          <p:cNvPr id="77" name="Text 75"/>
          <p:cNvSpPr/>
          <p:nvPr/>
        </p:nvSpPr>
        <p:spPr>
          <a:xfrm>
            <a:off x="9226868" y="1763554"/>
            <a:ext cx="237420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P/E ÷ growth %</a:t>
            </a:r>
            <a:endParaRPr lang="en-US" sz="938" dirty="0"/>
          </a:p>
        </p:txBody>
      </p:sp>
      <p:sp>
        <p:nvSpPr>
          <p:cNvPr id="78" name="Text 76"/>
          <p:cNvSpPr/>
          <p:nvPr/>
        </p:nvSpPr>
        <p:spPr>
          <a:xfrm>
            <a:off x="9226868" y="2048193"/>
            <a:ext cx="237420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N/M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Not Meaningful</a:t>
            </a:r>
            <a:endParaRPr lang="en-US" sz="1163" dirty="0"/>
          </a:p>
        </p:txBody>
      </p:sp>
      <p:sp>
        <p:nvSpPr>
          <p:cNvPr id="79" name="Text 77"/>
          <p:cNvSpPr/>
          <p:nvPr/>
        </p:nvSpPr>
        <p:spPr>
          <a:xfrm>
            <a:off x="9226868" y="2268696"/>
            <a:ext cx="237420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earnings negative or distorted</a:t>
            </a:r>
            <a:endParaRPr lang="en-US" sz="938" dirty="0"/>
          </a:p>
        </p:txBody>
      </p:sp>
      <p:sp>
        <p:nvSpPr>
          <p:cNvPr id="80" name="Text 78"/>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20760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M3 · READING A MULTIPLE</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Re-rating, and the two traps</a:t>
            </a:r>
            <a:endParaRPr lang="en-US" sz="3000" dirty="0"/>
          </a:p>
        </p:txBody>
      </p:sp>
      <p:sp>
        <p:nvSpPr>
          <p:cNvPr id="9" name="Shape 7"/>
          <p:cNvSpPr/>
          <p:nvPr/>
        </p:nvSpPr>
        <p:spPr>
          <a:xfrm>
            <a:off x="609600" y="1864995"/>
            <a:ext cx="85725" cy="85725"/>
          </a:xfrm>
          <a:prstGeom prst="roundRect">
            <a:avLst>
              <a:gd name="adj" fmla="val 33333"/>
            </a:avLst>
          </a:prstGeom>
          <a:solidFill>
            <a:srgbClr val="4F46E5"/>
          </a:solidFill>
          <a:ln/>
        </p:spPr>
      </p:sp>
      <p:sp>
        <p:nvSpPr>
          <p:cNvPr id="10" name="Text 8"/>
          <p:cNvSpPr/>
          <p:nvPr/>
        </p:nvSpPr>
        <p:spPr>
          <a:xfrm>
            <a:off x="809625" y="1800225"/>
            <a:ext cx="4358116" cy="24479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Value trap — a low P/E isn’t always cheap (Ford).</a:t>
            </a:r>
            <a:endParaRPr lang="en-US" sz="1350" dirty="0"/>
          </a:p>
        </p:txBody>
      </p:sp>
      <p:sp>
        <p:nvSpPr>
          <p:cNvPr id="11" name="Text 9"/>
          <p:cNvSpPr/>
          <p:nvPr/>
        </p:nvSpPr>
        <p:spPr>
          <a:xfrm>
            <a:off x="708025" y="2112645"/>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Trailing P/E is N/M — TTM earnings are negative after a ~$19.5B special-items charge.</a:t>
            </a:r>
            <a:endParaRPr lang="en-US" sz="1125" dirty="0"/>
          </a:p>
        </p:txBody>
      </p:sp>
      <p:sp>
        <p:nvSpPr>
          <p:cNvPr id="12" name="Shape 10"/>
          <p:cNvSpPr/>
          <p:nvPr/>
        </p:nvSpPr>
        <p:spPr>
          <a:xfrm>
            <a:off x="609600" y="2802255"/>
            <a:ext cx="85725" cy="85725"/>
          </a:xfrm>
          <a:prstGeom prst="roundRect">
            <a:avLst>
              <a:gd name="adj" fmla="val 33333"/>
            </a:avLst>
          </a:prstGeom>
          <a:solidFill>
            <a:srgbClr val="4F46E5"/>
          </a:solidFill>
          <a:ln/>
        </p:spPr>
      </p:sp>
      <p:sp>
        <p:nvSpPr>
          <p:cNvPr id="13" name="Text 11"/>
          <p:cNvSpPr/>
          <p:nvPr/>
        </p:nvSpPr>
        <p:spPr>
          <a:xfrm>
            <a:off x="809625" y="2737485"/>
            <a:ext cx="3743611"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high P/E isn’t always expensive (NVDA).</a:t>
            </a:r>
            <a:endParaRPr lang="en-US" sz="1350" dirty="0"/>
          </a:p>
        </p:txBody>
      </p:sp>
      <p:sp>
        <p:nvSpPr>
          <p:cNvPr id="14" name="Text 12"/>
          <p:cNvSpPr/>
          <p:nvPr/>
        </p:nvSpPr>
        <p:spPr>
          <a:xfrm>
            <a:off x="708025" y="3049905"/>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Forward P/E ~19× — below the S&amp;P’s 20× — because earnings are still ~doubling.</a:t>
            </a:r>
            <a:endParaRPr lang="en-US" sz="1125" dirty="0"/>
          </a:p>
        </p:txBody>
      </p:sp>
      <p:sp>
        <p:nvSpPr>
          <p:cNvPr id="15" name="Shape 13"/>
          <p:cNvSpPr/>
          <p:nvPr/>
        </p:nvSpPr>
        <p:spPr>
          <a:xfrm>
            <a:off x="609600" y="3739515"/>
            <a:ext cx="85725" cy="85725"/>
          </a:xfrm>
          <a:prstGeom prst="roundRect">
            <a:avLst>
              <a:gd name="adj" fmla="val 33333"/>
            </a:avLst>
          </a:prstGeom>
          <a:solidFill>
            <a:srgbClr val="4F46E5"/>
          </a:solidFill>
          <a:ln/>
        </p:spPr>
      </p:sp>
      <p:sp>
        <p:nvSpPr>
          <p:cNvPr id="16" name="Text 14"/>
          <p:cNvSpPr/>
          <p:nvPr/>
        </p:nvSpPr>
        <p:spPr>
          <a:xfrm>
            <a:off x="809625" y="364521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PEG bridges them (Ford 0.46, NVDA 0.43) — but ignores risk and durability.</a:t>
            </a:r>
            <a:endParaRPr lang="en-US" sz="1350" dirty="0"/>
          </a:p>
        </p:txBody>
      </p:sp>
      <p:sp>
        <p:nvSpPr>
          <p:cNvPr id="17" name="Shape 15"/>
          <p:cNvSpPr/>
          <p:nvPr/>
        </p:nvSpPr>
        <p:spPr>
          <a:xfrm>
            <a:off x="609600" y="4423410"/>
            <a:ext cx="85725" cy="85725"/>
          </a:xfrm>
          <a:prstGeom prst="roundRect">
            <a:avLst>
              <a:gd name="adj" fmla="val 33333"/>
            </a:avLst>
          </a:prstGeom>
          <a:solidFill>
            <a:srgbClr val="4F46E5"/>
          </a:solidFill>
          <a:ln/>
        </p:spPr>
      </p:sp>
      <p:sp>
        <p:nvSpPr>
          <p:cNvPr id="18" name="Text 16"/>
          <p:cNvSpPr/>
          <p:nvPr/>
        </p:nvSpPr>
        <p:spPr>
          <a:xfrm>
            <a:off x="809625" y="432911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multiple is the question, not the answer: it tells you what the market expects — you judge if that’s right.</a:t>
            </a:r>
            <a:endParaRPr lang="en-US" sz="1350" dirty="0"/>
          </a:p>
        </p:txBody>
      </p:sp>
      <p:sp>
        <p:nvSpPr>
          <p:cNvPr id="19" name="Shape 17"/>
          <p:cNvSpPr/>
          <p:nvPr/>
        </p:nvSpPr>
        <p:spPr>
          <a:xfrm>
            <a:off x="6802596" y="609600"/>
            <a:ext cx="4779804" cy="1932464"/>
          </a:xfrm>
          <a:prstGeom prst="roundRect">
            <a:avLst>
              <a:gd name="adj" fmla="val 6901"/>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Price-to-Earnings</a:t>
            </a:r>
            <a:endParaRPr lang="en-US" sz="1163" dirty="0"/>
          </a:p>
        </p:txBody>
      </p:sp>
      <p:sp>
        <p:nvSpPr>
          <p:cNvPr id="22" name="Text 20"/>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P/E ÷ growth %</a:t>
            </a:r>
            <a:endParaRPr lang="en-US" sz="1163" dirty="0"/>
          </a:p>
        </p:txBody>
      </p:sp>
      <p:sp>
        <p:nvSpPr>
          <p:cNvPr id="23" name="Text 21"/>
          <p:cNvSpPr/>
          <p:nvPr/>
        </p:nvSpPr>
        <p:spPr>
          <a:xfrm>
            <a:off x="6999763" y="1666875"/>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N/M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Not Meaningful</a:t>
            </a:r>
            <a:endParaRPr lang="en-US" sz="1163" dirty="0"/>
          </a:p>
        </p:txBody>
      </p:sp>
      <p:sp>
        <p:nvSpPr>
          <p:cNvPr id="24" name="Text 22"/>
          <p:cNvSpPr/>
          <p:nvPr/>
        </p:nvSpPr>
        <p:spPr>
          <a:xfrm>
            <a:off x="6999763" y="1887379"/>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earnings negative or distorted</a:t>
            </a:r>
            <a:endParaRPr lang="en-US" sz="938" dirty="0"/>
          </a:p>
        </p:txBody>
      </p:sp>
      <p:sp>
        <p:nvSpPr>
          <p:cNvPr id="25" name="Text 23"/>
          <p:cNvSpPr/>
          <p:nvPr/>
        </p:nvSpPr>
        <p:spPr>
          <a:xfrm>
            <a:off x="6999763" y="2172018"/>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TTM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Trailing Twelve Months</a:t>
            </a:r>
            <a:endParaRPr lang="en-US" sz="1163" dirty="0"/>
          </a:p>
        </p:txBody>
      </p:sp>
      <p:sp>
        <p:nvSpPr>
          <p:cNvPr id="26" name="Text 24"/>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475547"/>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M4</a:t>
            </a:r>
            <a:endParaRPr lang="en-US" sz="2100" dirty="0"/>
          </a:p>
        </p:txBody>
      </p:sp>
      <p:sp>
        <p:nvSpPr>
          <p:cNvPr id="4" name="Text 2"/>
          <p:cNvSpPr/>
          <p:nvPr/>
        </p:nvSpPr>
        <p:spPr>
          <a:xfrm>
            <a:off x="609600" y="3003232"/>
            <a:ext cx="7308056"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Valuation II — DCF</a:t>
            </a:r>
            <a:endParaRPr lang="en-US" sz="4200" dirty="0"/>
          </a:p>
        </p:txBody>
      </p:sp>
      <p:sp>
        <p:nvSpPr>
          <p:cNvPr id="5" name="Text 3"/>
          <p:cNvSpPr/>
          <p:nvPr/>
        </p:nvSpPr>
        <p:spPr>
          <a:xfrm>
            <a:off x="609600" y="3791903"/>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The DCF logic, the WACC discount rate, terminal value, and the reverse-DCF sanity check.</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879314"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INTRINSIC VALUE</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DCF logic</a:t>
            </a:r>
            <a:endParaRPr lang="en-US" sz="3000" dirty="0"/>
          </a:p>
        </p:txBody>
      </p:sp>
      <p:sp>
        <p:nvSpPr>
          <p:cNvPr id="9" name="Text 7"/>
          <p:cNvSpPr/>
          <p:nvPr/>
        </p:nvSpPr>
        <p:spPr>
          <a:xfrm>
            <a:off x="609600" y="161829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company is worth the present value of its future free cash flows.</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Forecast FCF ~5–10 yrs → pick a discount rate (WACC) → compute a terminal value for the rest.</a:t>
            </a:r>
            <a:endParaRPr lang="en-US" sz="1350" dirty="0"/>
          </a:p>
        </p:txBody>
      </p:sp>
      <p:sp>
        <p:nvSpPr>
          <p:cNvPr id="12" name="Shape 10"/>
          <p:cNvSpPr/>
          <p:nvPr/>
        </p:nvSpPr>
        <p:spPr>
          <a:xfrm>
            <a:off x="609600" y="3291840"/>
            <a:ext cx="85725" cy="85725"/>
          </a:xfrm>
          <a:prstGeom prst="roundRect">
            <a:avLst>
              <a:gd name="adj" fmla="val 33333"/>
            </a:avLst>
          </a:prstGeom>
          <a:solidFill>
            <a:srgbClr val="4F46E5"/>
          </a:solidFill>
          <a:ln/>
        </p:spPr>
      </p:sp>
      <p:sp>
        <p:nvSpPr>
          <p:cNvPr id="13" name="Text 11"/>
          <p:cNvSpPr/>
          <p:nvPr/>
        </p:nvSpPr>
        <p:spPr>
          <a:xfrm>
            <a:off x="809625" y="3197543"/>
            <a:ext cx="5865828"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Discount each year + TV back to today → sum = enterprise value.</a:t>
            </a:r>
            <a:endParaRPr lang="en-US" sz="1350" dirty="0"/>
          </a:p>
        </p:txBody>
      </p:sp>
      <p:sp>
        <p:nvSpPr>
          <p:cNvPr id="14" name="Shape 12"/>
          <p:cNvSpPr/>
          <p:nvPr/>
        </p:nvSpPr>
        <p:spPr>
          <a:xfrm>
            <a:off x="609600" y="3709988"/>
            <a:ext cx="85725" cy="85725"/>
          </a:xfrm>
          <a:prstGeom prst="roundRect">
            <a:avLst>
              <a:gd name="adj" fmla="val 33333"/>
            </a:avLst>
          </a:prstGeom>
          <a:solidFill>
            <a:srgbClr val="4F46E5"/>
          </a:solidFill>
          <a:ln/>
        </p:spPr>
      </p:sp>
      <p:sp>
        <p:nvSpPr>
          <p:cNvPr id="15" name="Text 13"/>
          <p:cNvSpPr/>
          <p:nvPr/>
        </p:nvSpPr>
        <p:spPr>
          <a:xfrm>
            <a:off x="809625" y="3615690"/>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 net cash / − debt → equity value ÷ diluted shares = intrinsic value per share.</a:t>
            </a:r>
            <a:endParaRPr lang="en-US" sz="1350" dirty="0"/>
          </a:p>
        </p:txBody>
      </p:sp>
      <p:sp>
        <p:nvSpPr>
          <p:cNvPr id="16" name="Shape 14"/>
          <p:cNvSpPr/>
          <p:nvPr/>
        </p:nvSpPr>
        <p:spPr>
          <a:xfrm>
            <a:off x="609600" y="4393882"/>
            <a:ext cx="85725" cy="85725"/>
          </a:xfrm>
          <a:prstGeom prst="roundRect">
            <a:avLst>
              <a:gd name="adj" fmla="val 33333"/>
            </a:avLst>
          </a:prstGeom>
          <a:solidFill>
            <a:srgbClr val="4F46E5"/>
          </a:solidFill>
          <a:ln/>
        </p:spPr>
      </p:sp>
      <p:sp>
        <p:nvSpPr>
          <p:cNvPr id="17" name="Text 15"/>
          <p:cNvSpPr/>
          <p:nvPr/>
        </p:nvSpPr>
        <p:spPr>
          <a:xfrm>
            <a:off x="809625" y="4329113"/>
            <a:ext cx="5364518"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Honest limits: garbage-in/out, terminal-value dominance, hyper-sensitivity to WACC &amp; g.</a:t>
            </a:r>
            <a:endParaRPr lang="en-US" sz="1350" dirty="0"/>
          </a:p>
        </p:txBody>
      </p:sp>
      <p:sp>
        <p:nvSpPr>
          <p:cNvPr id="18" name="Text 16"/>
          <p:cNvSpPr/>
          <p:nvPr/>
        </p:nvSpPr>
        <p:spPr>
          <a:xfrm>
            <a:off x="708025" y="4907280"/>
            <a:ext cx="571357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Triangulate with multiples and a reverse-DCF — never a single point estimate.</a:t>
            </a:r>
            <a:endParaRPr lang="en-US" sz="1125" dirty="0"/>
          </a:p>
        </p:txBody>
      </p:sp>
      <p:sp>
        <p:nvSpPr>
          <p:cNvPr id="19" name="Shape 17"/>
          <p:cNvSpPr/>
          <p:nvPr/>
        </p:nvSpPr>
        <p:spPr>
          <a:xfrm>
            <a:off x="6802596" y="609600"/>
            <a:ext cx="4779804" cy="2121852"/>
          </a:xfrm>
          <a:prstGeom prst="roundRect">
            <a:avLst>
              <a:gd name="adj" fmla="val 6285"/>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DCF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Discounted Cash Flow</a:t>
            </a:r>
            <a:endParaRPr lang="en-US" sz="1163" dirty="0"/>
          </a:p>
        </p:txBody>
      </p:sp>
      <p:sp>
        <p:nvSpPr>
          <p:cNvPr id="22" name="Text 20"/>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FCF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Free Cash Flow</a:t>
            </a:r>
            <a:endParaRPr lang="en-US" sz="1163" dirty="0"/>
          </a:p>
        </p:txBody>
      </p:sp>
      <p:sp>
        <p:nvSpPr>
          <p:cNvPr id="23" name="Text 21"/>
          <p:cNvSpPr/>
          <p:nvPr/>
        </p:nvSpPr>
        <p:spPr>
          <a:xfrm>
            <a:off x="6999763" y="1571625"/>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OCF − capex</a:t>
            </a:r>
            <a:endParaRPr lang="en-US" sz="938" dirty="0"/>
          </a:p>
        </p:txBody>
      </p:sp>
      <p:sp>
        <p:nvSpPr>
          <p:cNvPr id="24" name="Text 22"/>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WACC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Weighted-Avg Cost of Capital</a:t>
            </a:r>
            <a:endParaRPr lang="en-US" sz="1163" dirty="0"/>
          </a:p>
        </p:txBody>
      </p:sp>
      <p:sp>
        <p:nvSpPr>
          <p:cNvPr id="25" name="Text 23"/>
          <p:cNvSpPr/>
          <p:nvPr/>
        </p:nvSpPr>
        <p:spPr>
          <a:xfrm>
            <a:off x="6999763" y="2172018"/>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TV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Terminal Value</a:t>
            </a:r>
            <a:endParaRPr lang="en-US" sz="1163" dirty="0"/>
          </a:p>
        </p:txBody>
      </p:sp>
      <p:sp>
        <p:nvSpPr>
          <p:cNvPr id="26" name="Text 24"/>
          <p:cNvSpPr/>
          <p:nvPr/>
        </p:nvSpPr>
        <p:spPr>
          <a:xfrm>
            <a:off x="6999763" y="239252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FCF×(1+g) ÷ (WACC−g)</a:t>
            </a:r>
            <a:endParaRPr lang="en-US" sz="938" dirty="0"/>
          </a:p>
        </p:txBody>
      </p:sp>
      <p:sp>
        <p:nvSpPr>
          <p:cNvPr id="27" name="Text 2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50773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THE DISCOUNT RATE</a:t>
            </a:r>
            <a:endParaRPr lang="en-US" sz="975" dirty="0"/>
          </a:p>
        </p:txBody>
      </p:sp>
      <p:sp>
        <p:nvSpPr>
          <p:cNvPr id="8" name="Text 6"/>
          <p:cNvSpPr/>
          <p:nvPr/>
        </p:nvSpPr>
        <p:spPr>
          <a:xfrm>
            <a:off x="609600" y="896779"/>
            <a:ext cx="850773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Build the rate, then the tail</a:t>
            </a:r>
            <a:endParaRPr lang="en-US" sz="3000" dirty="0"/>
          </a:p>
        </p:txBody>
      </p:sp>
      <p:sp>
        <p:nvSpPr>
          <p:cNvPr id="9" name="Shape 7"/>
          <p:cNvSpPr/>
          <p:nvPr/>
        </p:nvSpPr>
        <p:spPr>
          <a:xfrm>
            <a:off x="609600" y="1502569"/>
            <a:ext cx="7734300" cy="1582103"/>
          </a:xfrm>
          <a:prstGeom prst="roundRect">
            <a:avLst>
              <a:gd name="adj" fmla="val 7225"/>
            </a:avLst>
          </a:prstGeom>
          <a:ln w="6667">
            <a:solidFill>
              <a:srgbClr val="E5E8F0"/>
            </a:solidFill>
            <a:prstDash val="solid"/>
          </a:ln>
        </p:spPr>
      </p:sp>
      <p:sp>
        <p:nvSpPr>
          <p:cNvPr id="10" name="Text 8"/>
          <p:cNvSpPr/>
          <p:nvPr/>
        </p:nvSpPr>
        <p:spPr>
          <a:xfrm>
            <a:off x="806767" y="1680686"/>
            <a:ext cx="807396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59" kern="0" dirty="0">
                <a:solidFill>
                  <a:srgbClr val="5B6472"/>
                </a:solidFill>
                <a:latin typeface="Arial" pitchFamily="34" charset="0"/>
                <a:ea typeface="Arial" pitchFamily="34" charset="-122"/>
                <a:cs typeface="Arial" pitchFamily="34" charset="-120"/>
              </a:rPr>
              <a:t>COST OF EQUITY — CAPM</a:t>
            </a:r>
            <a:endParaRPr lang="en-US" sz="975" dirty="0"/>
          </a:p>
        </p:txBody>
      </p:sp>
      <p:sp>
        <p:nvSpPr>
          <p:cNvPr id="11" name="Text 9"/>
          <p:cNvSpPr/>
          <p:nvPr/>
        </p:nvSpPr>
        <p:spPr>
          <a:xfrm>
            <a:off x="806767" y="1948815"/>
            <a:ext cx="8073961" cy="289084"/>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0B1220"/>
                </a:solidFill>
                <a:latin typeface="Arial" pitchFamily="34" charset="0"/>
                <a:ea typeface="Arial" pitchFamily="34" charset="-122"/>
                <a:cs typeface="Arial" pitchFamily="34" charset="-120"/>
              </a:rPr>
              <a:t>= 4.40% + 2.20 × 4.23%</a:t>
            </a:r>
            <a:endParaRPr lang="en-US" sz="1275" dirty="0"/>
          </a:p>
        </p:txBody>
      </p:sp>
      <p:sp>
        <p:nvSpPr>
          <p:cNvPr id="12" name="Text 10"/>
          <p:cNvSpPr/>
          <p:nvPr/>
        </p:nvSpPr>
        <p:spPr>
          <a:xfrm>
            <a:off x="806767" y="2256949"/>
            <a:ext cx="1788509" cy="687705"/>
          </a:xfrm>
          <a:prstGeom prst="rect">
            <a:avLst/>
          </a:prstGeom>
          <a:noFill/>
          <a:ln/>
        </p:spPr>
        <p:txBody>
          <a:bodyPr wrap="square" lIns="25400" tIns="25400" rIns="25400" bIns="25400" rtlCol="0" anchor="t">
            <a:normAutofit/>
          </a:bodyPr>
          <a:lstStyle/>
          <a:p>
            <a:pPr algn="l" indent="0" marL="0">
              <a:lnSpc>
                <a:spcPct val="155000"/>
              </a:lnSpc>
              <a:buNone/>
            </a:pPr>
            <a:r>
              <a:rPr lang="en-US" sz="3300" b="1" dirty="0">
                <a:solidFill>
                  <a:srgbClr val="4F46E5"/>
                </a:solidFill>
                <a:latin typeface="Arial" pitchFamily="34" charset="0"/>
                <a:ea typeface="Arial" pitchFamily="34" charset="-122"/>
                <a:cs typeface="Arial" pitchFamily="34" charset="-120"/>
              </a:rPr>
              <a:t>13.71%</a:t>
            </a:r>
            <a:endParaRPr lang="en-US" sz="3300" dirty="0"/>
          </a:p>
        </p:txBody>
      </p:sp>
      <p:sp>
        <p:nvSpPr>
          <p:cNvPr id="13" name="Text 11"/>
          <p:cNvSpPr/>
          <p:nvPr/>
        </p:nvSpPr>
        <p:spPr>
          <a:xfrm>
            <a:off x="2546985" y="2585085"/>
            <a:ext cx="4027027"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 WACC — NVDA is ~net cash, so no debt weight to blend</a:t>
            </a:r>
            <a:endParaRPr lang="en-US" sz="1050" dirty="0"/>
          </a:p>
        </p:txBody>
      </p:sp>
      <p:sp>
        <p:nvSpPr>
          <p:cNvPr id="14" name="Text 12"/>
          <p:cNvSpPr/>
          <p:nvPr/>
        </p:nvSpPr>
        <p:spPr>
          <a:xfrm>
            <a:off x="609600" y="3275171"/>
            <a:ext cx="2635964"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Terminal value — worth today ≈ $2.8T</a:t>
            </a:r>
            <a:endParaRPr lang="en-US" sz="1050" dirty="0"/>
          </a:p>
        </p:txBody>
      </p:sp>
      <p:sp>
        <p:nvSpPr>
          <p:cNvPr id="15" name="Text 13"/>
          <p:cNvSpPr/>
          <p:nvPr/>
        </p:nvSpPr>
        <p:spPr>
          <a:xfrm>
            <a:off x="7413943" y="3275171"/>
            <a:ext cx="1006157"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Forecast years</a:t>
            </a:r>
            <a:endParaRPr lang="en-US" sz="1050" dirty="0"/>
          </a:p>
        </p:txBody>
      </p:sp>
      <p:sp>
        <p:nvSpPr>
          <p:cNvPr id="16" name="Shape 14"/>
          <p:cNvSpPr/>
          <p:nvPr/>
        </p:nvSpPr>
        <p:spPr>
          <a:xfrm>
            <a:off x="609600" y="3539014"/>
            <a:ext cx="4795203" cy="495300"/>
          </a:xfrm>
          <a:prstGeom prst="rect">
            <a:avLst/>
          </a:prstGeom>
          <a:solidFill>
            <a:srgbClr val="4F46E5"/>
          </a:solidFill>
          <a:ln/>
        </p:spPr>
      </p:sp>
      <p:sp>
        <p:nvSpPr>
          <p:cNvPr id="17" name="Text 15"/>
          <p:cNvSpPr/>
          <p:nvPr/>
        </p:nvSpPr>
        <p:spPr>
          <a:xfrm>
            <a:off x="762000" y="3539014"/>
            <a:ext cx="4786659" cy="533400"/>
          </a:xfrm>
          <a:prstGeom prst="rect">
            <a:avLst/>
          </a:prstGeom>
          <a:noFill/>
          <a:ln/>
        </p:spPr>
        <p:txBody>
          <a:bodyPr wrap="square" lIns="25400" tIns="25400" rIns="25400" bIns="25400" rtlCol="0" anchor="ctr">
            <a:normAutofit/>
          </a:bodyPr>
          <a:lstStyle/>
          <a:p>
            <a:pPr algn="l" indent="0" marL="0">
              <a:lnSpc>
                <a:spcPct val="155000"/>
              </a:lnSpc>
              <a:buNone/>
            </a:pPr>
            <a:r>
              <a:rPr lang="en-US" sz="1200" b="1" dirty="0">
                <a:solidFill>
                  <a:srgbClr val="FFFFFF"/>
                </a:solidFill>
                <a:latin typeface="Arial" pitchFamily="34" charset="0"/>
                <a:ea typeface="Arial" pitchFamily="34" charset="-122"/>
                <a:cs typeface="Arial" pitchFamily="34" charset="-120"/>
              </a:rPr>
              <a:t>62% terminal value</a:t>
            </a:r>
            <a:endParaRPr lang="en-US" sz="1200" dirty="0"/>
          </a:p>
        </p:txBody>
      </p:sp>
      <p:sp>
        <p:nvSpPr>
          <p:cNvPr id="18" name="Shape 16"/>
          <p:cNvSpPr/>
          <p:nvPr/>
        </p:nvSpPr>
        <p:spPr>
          <a:xfrm>
            <a:off x="5404803" y="3539014"/>
            <a:ext cx="2938939" cy="495300"/>
          </a:xfrm>
          <a:prstGeom prst="rect">
            <a:avLst/>
          </a:prstGeom>
          <a:solidFill>
            <a:srgbClr val="C7D2FE"/>
          </a:solidFill>
          <a:ln/>
        </p:spPr>
      </p:sp>
      <p:sp>
        <p:nvSpPr>
          <p:cNvPr id="19" name="Text 17"/>
          <p:cNvSpPr/>
          <p:nvPr/>
        </p:nvSpPr>
        <p:spPr>
          <a:xfrm>
            <a:off x="5360719" y="3539014"/>
            <a:ext cx="3027107" cy="533400"/>
          </a:xfrm>
          <a:prstGeom prst="rect">
            <a:avLst/>
          </a:prstGeom>
          <a:noFill/>
          <a:ln/>
        </p:spPr>
        <p:txBody>
          <a:bodyPr wrap="square" lIns="25400" tIns="25400" rIns="25400" bIns="25400" rtlCol="0" anchor="ctr">
            <a:normAutofit/>
          </a:bodyPr>
          <a:lstStyle/>
          <a:p>
            <a:pPr algn="ctr" indent="0" marL="0">
              <a:lnSpc>
                <a:spcPct val="155000"/>
              </a:lnSpc>
              <a:buNone/>
            </a:pPr>
            <a:r>
              <a:rPr lang="en-US" sz="1050" b="1" dirty="0">
                <a:solidFill>
                  <a:srgbClr val="0B1220"/>
                </a:solidFill>
                <a:latin typeface="Arial" pitchFamily="34" charset="0"/>
                <a:ea typeface="Arial" pitchFamily="34" charset="-122"/>
                <a:cs typeface="Arial" pitchFamily="34" charset="-120"/>
              </a:rPr>
              <a:t>38%</a:t>
            </a:r>
            <a:endParaRPr lang="en-US" sz="1050" dirty="0"/>
          </a:p>
        </p:txBody>
      </p:sp>
      <p:sp>
        <p:nvSpPr>
          <p:cNvPr id="20" name="Text 18"/>
          <p:cNvSpPr/>
          <p:nvPr/>
        </p:nvSpPr>
        <p:spPr>
          <a:xfrm>
            <a:off x="609600" y="4186714"/>
            <a:ext cx="579030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Most of the worth sits in a year you can't forecast. Above ~85% is a flag to revisit assumptions.</a:t>
            </a:r>
            <a:endParaRPr lang="en-US" sz="1350" dirty="0"/>
          </a:p>
        </p:txBody>
      </p:sp>
      <p:sp>
        <p:nvSpPr>
          <p:cNvPr id="21" name="Shape 19"/>
          <p:cNvSpPr/>
          <p:nvPr/>
        </p:nvSpPr>
        <p:spPr>
          <a:xfrm>
            <a:off x="8724900" y="609600"/>
            <a:ext cx="2857500" cy="2695099"/>
          </a:xfrm>
          <a:prstGeom prst="roundRect">
            <a:avLst>
              <a:gd name="adj" fmla="val 4948"/>
            </a:avLst>
          </a:prstGeom>
          <a:solidFill>
            <a:srgbClr val="F6F7FB"/>
          </a:solidFill>
          <a:ln w="6667">
            <a:solidFill>
              <a:srgbClr val="E5E8F0"/>
            </a:solidFill>
            <a:prstDash val="solid"/>
          </a:ln>
        </p:spPr>
      </p:sp>
      <p:sp>
        <p:nvSpPr>
          <p:cNvPr id="22" name="Text 20"/>
          <p:cNvSpPr/>
          <p:nvPr/>
        </p:nvSpPr>
        <p:spPr>
          <a:xfrm>
            <a:off x="8922068" y="787717"/>
            <a:ext cx="270948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3" name="Text 21"/>
          <p:cNvSpPr/>
          <p:nvPr/>
        </p:nvSpPr>
        <p:spPr>
          <a:xfrm>
            <a:off x="8922068" y="1035367"/>
            <a:ext cx="25393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CAPM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Capital Asset Pricing Model</a:t>
            </a:r>
            <a:endParaRPr lang="en-US" sz="1163" dirty="0"/>
          </a:p>
        </p:txBody>
      </p:sp>
      <p:sp>
        <p:nvSpPr>
          <p:cNvPr id="24" name="Text 22"/>
          <p:cNvSpPr/>
          <p:nvPr/>
        </p:nvSpPr>
        <p:spPr>
          <a:xfrm>
            <a:off x="8922068" y="1447800"/>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cost of equity = rf + β × ERP</a:t>
            </a:r>
            <a:endParaRPr lang="en-US" sz="938" dirty="0"/>
          </a:p>
        </p:txBody>
      </p:sp>
      <p:sp>
        <p:nvSpPr>
          <p:cNvPr id="25" name="Text 23"/>
          <p:cNvSpPr/>
          <p:nvPr/>
        </p:nvSpPr>
        <p:spPr>
          <a:xfrm>
            <a:off x="8922068" y="1732439"/>
            <a:ext cx="25393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WACC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Weighted-Avg Cost of Capital</a:t>
            </a:r>
            <a:endParaRPr lang="en-US" sz="1163" dirty="0"/>
          </a:p>
        </p:txBody>
      </p:sp>
      <p:sp>
        <p:nvSpPr>
          <p:cNvPr id="26" name="Text 24"/>
          <p:cNvSpPr/>
          <p:nvPr/>
        </p:nvSpPr>
        <p:spPr>
          <a:xfrm>
            <a:off x="8922068" y="2240121"/>
            <a:ext cx="270948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β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beta</a:t>
            </a:r>
            <a:endParaRPr lang="en-US" sz="1163" dirty="0"/>
          </a:p>
        </p:txBody>
      </p:sp>
      <p:sp>
        <p:nvSpPr>
          <p:cNvPr id="27" name="Text 25"/>
          <p:cNvSpPr/>
          <p:nvPr/>
        </p:nvSpPr>
        <p:spPr>
          <a:xfrm>
            <a:off x="8922068" y="2460625"/>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sensitivity to the market</a:t>
            </a:r>
            <a:endParaRPr lang="en-US" sz="938" dirty="0"/>
          </a:p>
        </p:txBody>
      </p:sp>
      <p:sp>
        <p:nvSpPr>
          <p:cNvPr id="28" name="Text 26"/>
          <p:cNvSpPr/>
          <p:nvPr/>
        </p:nvSpPr>
        <p:spPr>
          <a:xfrm>
            <a:off x="8922068" y="2745264"/>
            <a:ext cx="270948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TV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Terminal Value</a:t>
            </a:r>
            <a:endParaRPr lang="en-US" sz="1163" dirty="0"/>
          </a:p>
        </p:txBody>
      </p:sp>
      <p:sp>
        <p:nvSpPr>
          <p:cNvPr id="29" name="Text 27"/>
          <p:cNvSpPr/>
          <p:nvPr/>
        </p:nvSpPr>
        <p:spPr>
          <a:xfrm>
            <a:off x="8922068" y="2965768"/>
            <a:ext cx="270948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FCF × (1+g) ÷ (WACC − g)</a:t>
            </a:r>
            <a:endParaRPr lang="en-US" sz="938" dirty="0"/>
          </a:p>
        </p:txBody>
      </p:sp>
      <p:sp>
        <p:nvSpPr>
          <p:cNvPr id="30" name="Text 28"/>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75919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M4 · REVERSE DCF &amp; FRAGILITY</a:t>
            </a:r>
            <a:endParaRPr lang="en-US" sz="975" dirty="0"/>
          </a:p>
        </p:txBody>
      </p:sp>
      <p:sp>
        <p:nvSpPr>
          <p:cNvPr id="8" name="Text 6"/>
          <p:cNvSpPr/>
          <p:nvPr/>
        </p:nvSpPr>
        <p:spPr>
          <a:xfrm>
            <a:off x="609600" y="896779"/>
            <a:ext cx="875919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What growth is priced in?</a:t>
            </a:r>
            <a:endParaRPr lang="en-US" sz="3000" dirty="0"/>
          </a:p>
        </p:txBody>
      </p:sp>
      <p:sp>
        <p:nvSpPr>
          <p:cNvPr id="9" name="Text 7"/>
          <p:cNvSpPr/>
          <p:nvPr/>
        </p:nvSpPr>
        <p:spPr>
          <a:xfrm>
            <a:off x="723900" y="1521619"/>
            <a:ext cx="638493" cy="277654"/>
          </a:xfrm>
          <a:prstGeom prst="rect">
            <a:avLst/>
          </a:prstGeom>
          <a:noFill/>
          <a:ln/>
        </p:spPr>
        <p:txBody>
          <a:bodyPr wrap="square" lIns="25400" tIns="25400" rIns="25400" bIns="25400" rtlCol="0" anchor="ctr">
            <a:normAutofit/>
          </a:bodyPr>
          <a:lstStyle/>
          <a:p>
            <a:pPr algn="l" indent="0" marL="0">
              <a:lnSpc>
                <a:spcPct val="155000"/>
              </a:lnSpc>
              <a:buNone/>
            </a:pPr>
            <a:r>
              <a:rPr lang="en-US" sz="900" b="1" dirty="0">
                <a:solidFill>
                  <a:srgbClr val="5B6472"/>
                </a:solidFill>
                <a:latin typeface="Arial" pitchFamily="34" charset="0"/>
                <a:ea typeface="Arial" pitchFamily="34" charset="-122"/>
                <a:cs typeface="Arial" pitchFamily="34" charset="-120"/>
              </a:rPr>
              <a:t>WACC ╲ g</a:t>
            </a:r>
            <a:endParaRPr lang="en-US" sz="900" dirty="0"/>
          </a:p>
        </p:txBody>
      </p:sp>
      <p:sp>
        <p:nvSpPr>
          <p:cNvPr id="10" name="Text 8"/>
          <p:cNvSpPr/>
          <p:nvPr/>
        </p:nvSpPr>
        <p:spPr>
          <a:xfrm>
            <a:off x="1495743" y="1521619"/>
            <a:ext cx="470694"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3%</a:t>
            </a:r>
            <a:endParaRPr lang="en-US" sz="1200" dirty="0"/>
          </a:p>
        </p:txBody>
      </p:sp>
      <p:sp>
        <p:nvSpPr>
          <p:cNvPr id="11" name="Text 9"/>
          <p:cNvSpPr/>
          <p:nvPr/>
        </p:nvSpPr>
        <p:spPr>
          <a:xfrm>
            <a:off x="2156936" y="1521619"/>
            <a:ext cx="471805"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4%</a:t>
            </a:r>
            <a:endParaRPr lang="en-US" sz="1200" dirty="0"/>
          </a:p>
        </p:txBody>
      </p:sp>
      <p:sp>
        <p:nvSpPr>
          <p:cNvPr id="12" name="Text 10"/>
          <p:cNvSpPr/>
          <p:nvPr/>
        </p:nvSpPr>
        <p:spPr>
          <a:xfrm>
            <a:off x="2819241" y="1521619"/>
            <a:ext cx="470694"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5B6472"/>
                </a:solidFill>
                <a:latin typeface="Arial" pitchFamily="34" charset="0"/>
                <a:ea typeface="Arial" pitchFamily="34" charset="-122"/>
                <a:cs typeface="Arial" pitchFamily="34" charset="-120"/>
              </a:rPr>
              <a:t>5%</a:t>
            </a:r>
            <a:endParaRPr lang="en-US" sz="1200" dirty="0"/>
          </a:p>
        </p:txBody>
      </p:sp>
      <p:sp>
        <p:nvSpPr>
          <p:cNvPr id="13" name="Shape 11"/>
          <p:cNvSpPr/>
          <p:nvPr/>
        </p:nvSpPr>
        <p:spPr>
          <a:xfrm>
            <a:off x="609600" y="1818322"/>
            <a:ext cx="2775585" cy="9525"/>
          </a:xfrm>
          <a:prstGeom prst="rect">
            <a:avLst/>
          </a:prstGeom>
          <a:solidFill>
            <a:srgbClr val="E5E8F0"/>
          </a:solidFill>
          <a:ln/>
        </p:spPr>
      </p:sp>
      <p:sp>
        <p:nvSpPr>
          <p:cNvPr id="14" name="Text 12"/>
          <p:cNvSpPr/>
          <p:nvPr/>
        </p:nvSpPr>
        <p:spPr>
          <a:xfrm>
            <a:off x="723900" y="1894522"/>
            <a:ext cx="638493" cy="280988"/>
          </a:xfrm>
          <a:prstGeom prst="rect">
            <a:avLst/>
          </a:prstGeom>
          <a:noFill/>
          <a:ln/>
        </p:spPr>
        <p:txBody>
          <a:bodyPr wrap="square" lIns="25400" tIns="25400" rIns="25400" bIns="25400" rtlCol="0" anchor="ctr">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12.0%</a:t>
            </a:r>
            <a:endParaRPr lang="en-US" sz="1200" dirty="0"/>
          </a:p>
        </p:txBody>
      </p:sp>
      <p:sp>
        <p:nvSpPr>
          <p:cNvPr id="15" name="Text 13"/>
          <p:cNvSpPr/>
          <p:nvPr/>
        </p:nvSpPr>
        <p:spPr>
          <a:xfrm>
            <a:off x="1495743" y="1894522"/>
            <a:ext cx="470694"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$153</a:t>
            </a:r>
            <a:endParaRPr lang="en-US" sz="1200" dirty="0"/>
          </a:p>
        </p:txBody>
      </p:sp>
      <p:sp>
        <p:nvSpPr>
          <p:cNvPr id="16" name="Text 14"/>
          <p:cNvSpPr/>
          <p:nvPr/>
        </p:nvSpPr>
        <p:spPr>
          <a:xfrm>
            <a:off x="2156936" y="1894522"/>
            <a:ext cx="471805"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$165</a:t>
            </a:r>
            <a:endParaRPr lang="en-US" sz="1200" dirty="0"/>
          </a:p>
        </p:txBody>
      </p:sp>
      <p:sp>
        <p:nvSpPr>
          <p:cNvPr id="17" name="Text 15"/>
          <p:cNvSpPr/>
          <p:nvPr/>
        </p:nvSpPr>
        <p:spPr>
          <a:xfrm>
            <a:off x="2819241" y="1894522"/>
            <a:ext cx="470694"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$181</a:t>
            </a:r>
            <a:endParaRPr lang="en-US" sz="1200" dirty="0"/>
          </a:p>
        </p:txBody>
      </p:sp>
      <p:sp>
        <p:nvSpPr>
          <p:cNvPr id="18" name="Shape 16"/>
          <p:cNvSpPr/>
          <p:nvPr/>
        </p:nvSpPr>
        <p:spPr>
          <a:xfrm>
            <a:off x="609600" y="2213610"/>
            <a:ext cx="2775585" cy="9525"/>
          </a:xfrm>
          <a:prstGeom prst="rect">
            <a:avLst/>
          </a:prstGeom>
          <a:solidFill>
            <a:srgbClr val="E5E8F0"/>
          </a:solidFill>
          <a:ln/>
        </p:spPr>
      </p:sp>
      <p:sp>
        <p:nvSpPr>
          <p:cNvPr id="19" name="Text 17"/>
          <p:cNvSpPr/>
          <p:nvPr/>
        </p:nvSpPr>
        <p:spPr>
          <a:xfrm>
            <a:off x="723900" y="2289810"/>
            <a:ext cx="638493" cy="280988"/>
          </a:xfrm>
          <a:prstGeom prst="rect">
            <a:avLst/>
          </a:prstGeom>
          <a:noFill/>
          <a:ln/>
        </p:spPr>
        <p:txBody>
          <a:bodyPr wrap="square" lIns="25400" tIns="25400" rIns="25400" bIns="25400" rtlCol="0" anchor="ctr">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13.7%</a:t>
            </a:r>
            <a:endParaRPr lang="en-US" sz="1200" dirty="0"/>
          </a:p>
        </p:txBody>
      </p:sp>
      <p:sp>
        <p:nvSpPr>
          <p:cNvPr id="20" name="Text 18"/>
          <p:cNvSpPr/>
          <p:nvPr/>
        </p:nvSpPr>
        <p:spPr>
          <a:xfrm>
            <a:off x="1495743" y="2289810"/>
            <a:ext cx="470694"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$123</a:t>
            </a:r>
            <a:endParaRPr lang="en-US" sz="1200" dirty="0"/>
          </a:p>
        </p:txBody>
      </p:sp>
      <p:sp>
        <p:nvSpPr>
          <p:cNvPr id="21" name="Shape 19"/>
          <p:cNvSpPr/>
          <p:nvPr/>
        </p:nvSpPr>
        <p:spPr>
          <a:xfrm>
            <a:off x="2061686" y="2213610"/>
            <a:ext cx="662305" cy="395288"/>
          </a:xfrm>
          <a:prstGeom prst="roundRect">
            <a:avLst>
              <a:gd name="adj" fmla="val 14458"/>
            </a:avLst>
          </a:prstGeom>
          <a:solidFill>
            <a:srgbClr val="4F46E5"/>
          </a:solidFill>
          <a:ln/>
        </p:spPr>
      </p:sp>
      <p:sp>
        <p:nvSpPr>
          <p:cNvPr id="22" name="Text 20"/>
          <p:cNvSpPr/>
          <p:nvPr/>
        </p:nvSpPr>
        <p:spPr>
          <a:xfrm>
            <a:off x="2156936" y="2289810"/>
            <a:ext cx="471805"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b="1" dirty="0">
                <a:solidFill>
                  <a:srgbClr val="FFFFFF"/>
                </a:solidFill>
                <a:latin typeface="Arial" pitchFamily="34" charset="0"/>
                <a:ea typeface="Arial" pitchFamily="34" charset="-122"/>
                <a:cs typeface="Arial" pitchFamily="34" charset="-120"/>
              </a:rPr>
              <a:t>$130</a:t>
            </a:r>
            <a:endParaRPr lang="en-US" sz="1200" dirty="0"/>
          </a:p>
        </p:txBody>
      </p:sp>
      <p:sp>
        <p:nvSpPr>
          <p:cNvPr id="23" name="Text 21"/>
          <p:cNvSpPr/>
          <p:nvPr/>
        </p:nvSpPr>
        <p:spPr>
          <a:xfrm>
            <a:off x="2819241" y="2289810"/>
            <a:ext cx="470694" cy="280988"/>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$139</a:t>
            </a:r>
            <a:endParaRPr lang="en-US" sz="1200" dirty="0"/>
          </a:p>
        </p:txBody>
      </p:sp>
      <p:sp>
        <p:nvSpPr>
          <p:cNvPr id="24" name="Shape 22"/>
          <p:cNvSpPr/>
          <p:nvPr/>
        </p:nvSpPr>
        <p:spPr>
          <a:xfrm>
            <a:off x="609600" y="2608897"/>
            <a:ext cx="2775585" cy="9525"/>
          </a:xfrm>
          <a:prstGeom prst="rect">
            <a:avLst/>
          </a:prstGeom>
          <a:solidFill>
            <a:srgbClr val="E5E8F0"/>
          </a:solidFill>
          <a:ln/>
        </p:spPr>
      </p:sp>
      <p:sp>
        <p:nvSpPr>
          <p:cNvPr id="25" name="Text 23"/>
          <p:cNvSpPr/>
          <p:nvPr/>
        </p:nvSpPr>
        <p:spPr>
          <a:xfrm>
            <a:off x="723900" y="2685097"/>
            <a:ext cx="638493" cy="277654"/>
          </a:xfrm>
          <a:prstGeom prst="rect">
            <a:avLst/>
          </a:prstGeom>
          <a:noFill/>
          <a:ln/>
        </p:spPr>
        <p:txBody>
          <a:bodyPr wrap="square" lIns="25400" tIns="25400" rIns="25400" bIns="25400" rtlCol="0" anchor="ctr">
            <a:normAutofit/>
          </a:bodyPr>
          <a:lstStyle/>
          <a:p>
            <a:pPr algn="l" indent="0" marL="0">
              <a:lnSpc>
                <a:spcPct val="155000"/>
              </a:lnSpc>
              <a:buNone/>
            </a:pPr>
            <a:r>
              <a:rPr lang="en-US" sz="1200" dirty="0">
                <a:solidFill>
                  <a:srgbClr val="5B6472"/>
                </a:solidFill>
                <a:latin typeface="Arial" pitchFamily="34" charset="0"/>
                <a:ea typeface="Arial" pitchFamily="34" charset="-122"/>
                <a:cs typeface="Arial" pitchFamily="34" charset="-120"/>
              </a:rPr>
              <a:t>15.0%</a:t>
            </a:r>
            <a:endParaRPr lang="en-US" sz="1200" dirty="0"/>
          </a:p>
        </p:txBody>
      </p:sp>
      <p:sp>
        <p:nvSpPr>
          <p:cNvPr id="26" name="Text 24"/>
          <p:cNvSpPr/>
          <p:nvPr/>
        </p:nvSpPr>
        <p:spPr>
          <a:xfrm>
            <a:off x="1495743" y="2685097"/>
            <a:ext cx="470694"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$106</a:t>
            </a:r>
            <a:endParaRPr lang="en-US" sz="1200" dirty="0"/>
          </a:p>
        </p:txBody>
      </p:sp>
      <p:sp>
        <p:nvSpPr>
          <p:cNvPr id="27" name="Text 25"/>
          <p:cNvSpPr/>
          <p:nvPr/>
        </p:nvSpPr>
        <p:spPr>
          <a:xfrm>
            <a:off x="2156936" y="2685097"/>
            <a:ext cx="471805"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$111</a:t>
            </a:r>
            <a:endParaRPr lang="en-US" sz="1200" dirty="0"/>
          </a:p>
        </p:txBody>
      </p:sp>
      <p:sp>
        <p:nvSpPr>
          <p:cNvPr id="28" name="Text 26"/>
          <p:cNvSpPr/>
          <p:nvPr/>
        </p:nvSpPr>
        <p:spPr>
          <a:xfrm>
            <a:off x="2819241" y="2685097"/>
            <a:ext cx="470694" cy="277654"/>
          </a:xfrm>
          <a:prstGeom prst="rect">
            <a:avLst/>
          </a:prstGeom>
          <a:noFill/>
          <a:ln/>
        </p:spPr>
        <p:txBody>
          <a:bodyPr wrap="square" lIns="25400" tIns="25400" rIns="25400" bIns="25400" rtlCol="0" anchor="ctr">
            <a:normAutofit/>
          </a:bodyPr>
          <a:lstStyle/>
          <a:p>
            <a:pPr algn="ctr" indent="0" marL="0">
              <a:lnSpc>
                <a:spcPct val="155000"/>
              </a:lnSpc>
              <a:buNone/>
            </a:pPr>
            <a:r>
              <a:rPr lang="en-US" sz="1200" dirty="0">
                <a:solidFill>
                  <a:srgbClr val="0B1220"/>
                </a:solidFill>
                <a:latin typeface="Arial" pitchFamily="34" charset="0"/>
                <a:ea typeface="Arial" pitchFamily="34" charset="-122"/>
                <a:cs typeface="Arial" pitchFamily="34" charset="-120"/>
              </a:rPr>
              <a:t>$117</a:t>
            </a:r>
            <a:endParaRPr lang="en-US" sz="1200" dirty="0"/>
          </a:p>
        </p:txBody>
      </p:sp>
      <p:sp>
        <p:nvSpPr>
          <p:cNvPr id="29" name="Text 27"/>
          <p:cNvSpPr/>
          <p:nvPr/>
        </p:nvSpPr>
        <p:spPr>
          <a:xfrm>
            <a:off x="3632835" y="1687036"/>
            <a:ext cx="5433631" cy="244792"/>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Base case (20%/yr forecast)</a:t>
            </a:r>
            <a:endParaRPr lang="en-US" sz="1050" dirty="0"/>
          </a:p>
        </p:txBody>
      </p:sp>
      <p:sp>
        <p:nvSpPr>
          <p:cNvPr id="30" name="Text 28"/>
          <p:cNvSpPr/>
          <p:nvPr/>
        </p:nvSpPr>
        <p:spPr>
          <a:xfrm>
            <a:off x="3632835" y="1988979"/>
            <a:ext cx="916464" cy="540067"/>
          </a:xfrm>
          <a:prstGeom prst="rect">
            <a:avLst/>
          </a:prstGeom>
          <a:noFill/>
          <a:ln/>
        </p:spPr>
        <p:txBody>
          <a:bodyPr wrap="square" lIns="25400" tIns="25400" rIns="25400" bIns="25400" rtlCol="0" anchor="t">
            <a:normAutofit/>
          </a:bodyPr>
          <a:lstStyle/>
          <a:p>
            <a:pPr algn="l" indent="0" marL="0">
              <a:lnSpc>
                <a:spcPct val="155000"/>
              </a:lnSpc>
              <a:buNone/>
            </a:pPr>
            <a:r>
              <a:rPr lang="en-US" sz="2550" b="1" dirty="0">
                <a:solidFill>
                  <a:srgbClr val="0B1220"/>
                </a:solidFill>
                <a:latin typeface="Arial" pitchFamily="34" charset="0"/>
                <a:ea typeface="Arial" pitchFamily="34" charset="-122"/>
                <a:cs typeface="Arial" pitchFamily="34" charset="-120"/>
              </a:rPr>
              <a:t>$130</a:t>
            </a:r>
            <a:endParaRPr lang="en-US" sz="2550" dirty="0"/>
          </a:p>
        </p:txBody>
      </p:sp>
      <p:sp>
        <p:nvSpPr>
          <p:cNvPr id="31" name="Text 29"/>
          <p:cNvSpPr/>
          <p:nvPr/>
        </p:nvSpPr>
        <p:spPr>
          <a:xfrm>
            <a:off x="4587399" y="2160429"/>
            <a:ext cx="312420"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vs.</a:t>
            </a:r>
            <a:endParaRPr lang="en-US" sz="1350" dirty="0"/>
          </a:p>
        </p:txBody>
      </p:sp>
      <p:sp>
        <p:nvSpPr>
          <p:cNvPr id="32" name="Text 30"/>
          <p:cNvSpPr/>
          <p:nvPr/>
        </p:nvSpPr>
        <p:spPr>
          <a:xfrm>
            <a:off x="4937919" y="1988979"/>
            <a:ext cx="1480645" cy="540067"/>
          </a:xfrm>
          <a:prstGeom prst="rect">
            <a:avLst/>
          </a:prstGeom>
          <a:noFill/>
          <a:ln/>
        </p:spPr>
        <p:txBody>
          <a:bodyPr wrap="square" lIns="25400" tIns="25400" rIns="25400" bIns="25400" rtlCol="0" anchor="t">
            <a:normAutofit/>
          </a:bodyPr>
          <a:lstStyle/>
          <a:p>
            <a:pPr algn="l" indent="0" marL="0">
              <a:lnSpc>
                <a:spcPct val="155000"/>
              </a:lnSpc>
              <a:buNone/>
            </a:pPr>
            <a:r>
              <a:rPr lang="en-US" sz="2550" b="1" dirty="0">
                <a:solidFill>
                  <a:srgbClr val="4F46E5"/>
                </a:solidFill>
                <a:latin typeface="Arial" pitchFamily="34" charset="0"/>
                <a:ea typeface="Arial" pitchFamily="34" charset="-122"/>
                <a:cs typeface="Arial" pitchFamily="34" charset="-120"/>
              </a:rPr>
              <a:t>$192.53</a:t>
            </a:r>
            <a:endParaRPr lang="en-US" sz="2550" dirty="0"/>
          </a:p>
        </p:txBody>
      </p:sp>
      <p:sp>
        <p:nvSpPr>
          <p:cNvPr id="33" name="Text 31"/>
          <p:cNvSpPr/>
          <p:nvPr/>
        </p:nvSpPr>
        <p:spPr>
          <a:xfrm>
            <a:off x="3632835" y="2586196"/>
            <a:ext cx="5433631"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5B6472"/>
                </a:solidFill>
                <a:latin typeface="Arial" pitchFamily="34" charset="0"/>
                <a:ea typeface="Arial" pitchFamily="34" charset="-122"/>
                <a:cs typeface="Arial" pitchFamily="34" charset="-120"/>
              </a:rPr>
              <a:t>price</a:t>
            </a:r>
            <a:endParaRPr lang="en-US" sz="975" dirty="0"/>
          </a:p>
        </p:txBody>
      </p:sp>
      <p:sp>
        <p:nvSpPr>
          <p:cNvPr id="34" name="Shape 32"/>
          <p:cNvSpPr/>
          <p:nvPr/>
        </p:nvSpPr>
        <p:spPr>
          <a:xfrm>
            <a:off x="609600" y="3229451"/>
            <a:ext cx="26670" cy="747713"/>
          </a:xfrm>
          <a:prstGeom prst="rect">
            <a:avLst/>
          </a:prstGeom>
          <a:solidFill>
            <a:srgbClr val="4F46E5"/>
          </a:solidFill>
          <a:ln/>
        </p:spPr>
      </p:sp>
      <p:sp>
        <p:nvSpPr>
          <p:cNvPr id="35" name="Text 33"/>
          <p:cNvSpPr/>
          <p:nvPr/>
        </p:nvSpPr>
        <p:spPr>
          <a:xfrm>
            <a:off x="807720" y="3229451"/>
            <a:ext cx="8541258" cy="285750"/>
          </a:xfrm>
          <a:prstGeom prst="rect">
            <a:avLst/>
          </a:prstGeom>
          <a:noFill/>
          <a:ln/>
        </p:spPr>
        <p:txBody>
          <a:bodyPr wrap="square" lIns="25400" tIns="25400" rIns="25400" bIns="25400" rtlCol="0" anchor="t">
            <a:normAutofit/>
          </a:bodyPr>
          <a:lstStyle/>
          <a:p>
            <a:pPr algn="l" indent="0" marL="0">
              <a:lnSpc>
                <a:spcPct val="130000"/>
              </a:lnSpc>
              <a:buNone/>
            </a:pPr>
            <a:r>
              <a:rPr lang="en-US" sz="1500" b="1" dirty="0">
                <a:solidFill>
                  <a:srgbClr val="0B1220"/>
                </a:solidFill>
                <a:latin typeface="Arial" pitchFamily="34" charset="0"/>
                <a:ea typeface="Arial" pitchFamily="34" charset="-122"/>
                <a:cs typeface="Arial" pitchFamily="34" charset="-120"/>
              </a:rPr>
              <a:t>The price implies ~26%/yr FCF growth for a decade.</a:t>
            </a:r>
            <a:endParaRPr lang="en-US" sz="1500" dirty="0"/>
          </a:p>
        </p:txBody>
      </p:sp>
      <p:sp>
        <p:nvSpPr>
          <p:cNvPr id="36" name="Text 34"/>
          <p:cNvSpPr/>
          <p:nvPr/>
        </p:nvSpPr>
        <p:spPr>
          <a:xfrm>
            <a:off x="807720" y="3534251"/>
            <a:ext cx="5201005"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Reverse DCF reframes "is it expensive?" into an answerable question: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can it grow FCF ~20%+ for 10 years?</a:t>
            </a:r>
            <a:endParaRPr lang="en-US" sz="1125" dirty="0"/>
          </a:p>
        </p:txBody>
      </p:sp>
      <p:sp>
        <p:nvSpPr>
          <p:cNvPr id="37" name="Shape 35"/>
          <p:cNvSpPr/>
          <p:nvPr/>
        </p:nvSpPr>
        <p:spPr>
          <a:xfrm>
            <a:off x="8953500" y="609600"/>
            <a:ext cx="2628900" cy="1806099"/>
          </a:xfrm>
          <a:prstGeom prst="roundRect">
            <a:avLst>
              <a:gd name="adj" fmla="val 7383"/>
            </a:avLst>
          </a:prstGeom>
          <a:solidFill>
            <a:srgbClr val="F6F7FB"/>
          </a:solidFill>
          <a:ln w="6667">
            <a:solidFill>
              <a:srgbClr val="E5E8F0"/>
            </a:solidFill>
            <a:prstDash val="solid"/>
          </a:ln>
        </p:spPr>
      </p:sp>
      <p:sp>
        <p:nvSpPr>
          <p:cNvPr id="38" name="Text 36"/>
          <p:cNvSpPr/>
          <p:nvPr/>
        </p:nvSpPr>
        <p:spPr>
          <a:xfrm>
            <a:off x="9150668" y="787717"/>
            <a:ext cx="245802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39" name="Text 37"/>
          <p:cNvSpPr/>
          <p:nvPr/>
        </p:nvSpPr>
        <p:spPr>
          <a:xfrm>
            <a:off x="9150668" y="1035367"/>
            <a:ext cx="24580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DCF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Discounted Cash Flow</a:t>
            </a:r>
            <a:endParaRPr lang="en-US" sz="1163" dirty="0"/>
          </a:p>
        </p:txBody>
      </p:sp>
      <p:sp>
        <p:nvSpPr>
          <p:cNvPr id="40" name="Text 38"/>
          <p:cNvSpPr/>
          <p:nvPr/>
        </p:nvSpPr>
        <p:spPr>
          <a:xfrm>
            <a:off x="9150668" y="1351121"/>
            <a:ext cx="24580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Reverse DCF</a:t>
            </a:r>
            <a:endParaRPr lang="en-US" sz="1163" dirty="0"/>
          </a:p>
        </p:txBody>
      </p:sp>
      <p:sp>
        <p:nvSpPr>
          <p:cNvPr id="41" name="Text 39"/>
          <p:cNvSpPr/>
          <p:nvPr/>
        </p:nvSpPr>
        <p:spPr>
          <a:xfrm>
            <a:off x="9150668" y="1571625"/>
            <a:ext cx="245802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solve today's price for implied growth</a:t>
            </a:r>
            <a:endParaRPr lang="en-US" sz="938" dirty="0"/>
          </a:p>
        </p:txBody>
      </p:sp>
      <p:sp>
        <p:nvSpPr>
          <p:cNvPr id="42" name="Text 40"/>
          <p:cNvSpPr/>
          <p:nvPr/>
        </p:nvSpPr>
        <p:spPr>
          <a:xfrm>
            <a:off x="9150668" y="1856264"/>
            <a:ext cx="2458022"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perpetual growth rate</a:t>
            </a:r>
            <a:endParaRPr lang="en-US" sz="1163" dirty="0"/>
          </a:p>
        </p:txBody>
      </p:sp>
      <p:sp>
        <p:nvSpPr>
          <p:cNvPr id="43" name="Text 41"/>
          <p:cNvSpPr/>
          <p:nvPr/>
        </p:nvSpPr>
        <p:spPr>
          <a:xfrm>
            <a:off x="9150668" y="2076768"/>
            <a:ext cx="245802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must be ≤ ~4% (nominal GDP)</a:t>
            </a:r>
            <a:endParaRPr lang="en-US" sz="938" dirty="0"/>
          </a:p>
        </p:txBody>
      </p:sp>
      <p:sp>
        <p:nvSpPr>
          <p:cNvPr id="44" name="Text 42"/>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M5</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Quality &amp; the buy checklist</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Economic moats, the ROIC-vs-WACC math, base rates, and a 10-question pre-buy checklist.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126808"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QUALITY</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Economic moats — five sources</a:t>
            </a:r>
            <a:endParaRPr lang="en-US" sz="3000" dirty="0"/>
          </a:p>
        </p:txBody>
      </p:sp>
      <p:sp>
        <p:nvSpPr>
          <p:cNvPr id="9" name="Text 7"/>
          <p:cNvSpPr/>
          <p:nvPr/>
        </p:nvSpPr>
        <p:spPr>
          <a:xfrm>
            <a:off x="609600" y="209454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Morningstar's five durable competitive edges — and how common each is among wide-moat names.</a:t>
            </a:r>
            <a:endParaRPr lang="en-US" sz="1500" dirty="0"/>
          </a:p>
        </p:txBody>
      </p:sp>
      <p:sp>
        <p:nvSpPr>
          <p:cNvPr id="10" name="Shape 8"/>
          <p:cNvSpPr/>
          <p:nvPr/>
        </p:nvSpPr>
        <p:spPr>
          <a:xfrm>
            <a:off x="609600" y="3084195"/>
            <a:ext cx="85725" cy="85725"/>
          </a:xfrm>
          <a:prstGeom prst="roundRect">
            <a:avLst>
              <a:gd name="adj" fmla="val 33333"/>
            </a:avLst>
          </a:prstGeom>
          <a:solidFill>
            <a:srgbClr val="4F46E5"/>
          </a:solidFill>
          <a:ln/>
        </p:spPr>
      </p:sp>
      <p:sp>
        <p:nvSpPr>
          <p:cNvPr id="11" name="Text 9"/>
          <p:cNvSpPr/>
          <p:nvPr/>
        </p:nvSpPr>
        <p:spPr>
          <a:xfrm>
            <a:off x="809625" y="298989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Intangibles (brands, patents, licenses) — present in ~72% of wide-moat names.</a:t>
            </a:r>
            <a:endParaRPr lang="en-US" sz="1350" dirty="0"/>
          </a:p>
        </p:txBody>
      </p:sp>
      <p:sp>
        <p:nvSpPr>
          <p:cNvPr id="12" name="Shape 10"/>
          <p:cNvSpPr/>
          <p:nvPr/>
        </p:nvSpPr>
        <p:spPr>
          <a:xfrm>
            <a:off x="609600" y="3768090"/>
            <a:ext cx="85725" cy="85725"/>
          </a:xfrm>
          <a:prstGeom prst="roundRect">
            <a:avLst>
              <a:gd name="adj" fmla="val 33333"/>
            </a:avLst>
          </a:prstGeom>
          <a:solidFill>
            <a:srgbClr val="4F46E5"/>
          </a:solidFill>
          <a:ln/>
        </p:spPr>
      </p:sp>
      <p:sp>
        <p:nvSpPr>
          <p:cNvPr id="13" name="Text 11"/>
          <p:cNvSpPr/>
          <p:nvPr/>
        </p:nvSpPr>
        <p:spPr>
          <a:xfrm>
            <a:off x="809625" y="367379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Cost advantage 47% · switching costs 37% · network effect 20% · efficient scale 12%.</a:t>
            </a:r>
            <a:endParaRPr lang="en-US" sz="1350" dirty="0"/>
          </a:p>
        </p:txBody>
      </p:sp>
      <p:sp>
        <p:nvSpPr>
          <p:cNvPr id="14" name="Shape 12"/>
          <p:cNvSpPr/>
          <p:nvPr/>
        </p:nvSpPr>
        <p:spPr>
          <a:xfrm>
            <a:off x="609600" y="4451985"/>
            <a:ext cx="85725" cy="85725"/>
          </a:xfrm>
          <a:prstGeom prst="roundRect">
            <a:avLst>
              <a:gd name="adj" fmla="val 33333"/>
            </a:avLst>
          </a:prstGeom>
          <a:solidFill>
            <a:srgbClr val="4F46E5"/>
          </a:solidFill>
          <a:ln/>
        </p:spPr>
      </p:sp>
      <p:sp>
        <p:nvSpPr>
          <p:cNvPr id="15" name="Text 13"/>
          <p:cNvSpPr/>
          <p:nvPr/>
        </p:nvSpPr>
        <p:spPr>
          <a:xfrm>
            <a:off x="809625" y="435768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Width = durability: wide ≈ 20 yrs, narrow ≈ 10, none = no durable edge.</a:t>
            </a:r>
            <a:endParaRPr lang="en-US" sz="1350" dirty="0"/>
          </a:p>
        </p:txBody>
      </p:sp>
      <p:sp>
        <p:nvSpPr>
          <p:cNvPr id="16" name="Shape 14"/>
          <p:cNvSpPr/>
          <p:nvPr/>
        </p:nvSpPr>
        <p:spPr>
          <a:xfrm>
            <a:off x="609600" y="5135880"/>
            <a:ext cx="85725" cy="85725"/>
          </a:xfrm>
          <a:prstGeom prst="roundRect">
            <a:avLst>
              <a:gd name="adj" fmla="val 33333"/>
            </a:avLst>
          </a:prstGeom>
          <a:solidFill>
            <a:srgbClr val="4F46E5"/>
          </a:solidFill>
          <a:ln/>
        </p:spPr>
      </p:sp>
      <p:sp>
        <p:nvSpPr>
          <p:cNvPr id="17" name="Text 15"/>
          <p:cNvSpPr/>
          <p:nvPr/>
        </p:nvSpPr>
        <p:spPr>
          <a:xfrm>
            <a:off x="809625" y="5071110"/>
            <a:ext cx="1140936"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anchors:</a:t>
            </a:r>
            <a:endParaRPr lang="en-US" sz="1350" dirty="0"/>
          </a:p>
        </p:txBody>
      </p:sp>
      <p:sp>
        <p:nvSpPr>
          <p:cNvPr id="18" name="Text 16"/>
          <p:cNvSpPr/>
          <p:nvPr/>
        </p:nvSpPr>
        <p:spPr>
          <a:xfrm>
            <a:off x="708025" y="5383530"/>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AAPL switching costs + brand · NVDA the CUDA ecosystem · KO brand + scale · Ford no durable moat.</a:t>
            </a:r>
            <a:endParaRPr lang="en-US" sz="1125" dirty="0"/>
          </a:p>
        </p:txBody>
      </p:sp>
      <p:sp>
        <p:nvSpPr>
          <p:cNvPr id="19" name="Shape 17"/>
          <p:cNvSpPr/>
          <p:nvPr/>
        </p:nvSpPr>
        <p:spPr>
          <a:xfrm>
            <a:off x="6802596" y="609600"/>
            <a:ext cx="4779804" cy="1616710"/>
          </a:xfrm>
          <a:prstGeom prst="roundRect">
            <a:avLst>
              <a:gd name="adj" fmla="val 8248"/>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Moat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a durable competitive advantage</a:t>
            </a:r>
            <a:endParaRPr lang="en-US" sz="1163" dirty="0"/>
          </a:p>
        </p:txBody>
      </p:sp>
      <p:sp>
        <p:nvSpPr>
          <p:cNvPr id="22" name="Text 20"/>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protects excess returns</a:t>
            </a:r>
            <a:endParaRPr lang="en-US" sz="938" dirty="0"/>
          </a:p>
        </p:txBody>
      </p:sp>
      <p:sp>
        <p:nvSpPr>
          <p:cNvPr id="23" name="Text 21"/>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TAM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Total Addressable Market</a:t>
            </a:r>
            <a:endParaRPr lang="en-US" sz="1163" dirty="0"/>
          </a:p>
        </p:txBody>
      </p:sp>
      <p:sp>
        <p:nvSpPr>
          <p:cNvPr id="24" name="Text 22"/>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CUDA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NVIDIA’s developer software ecosystem</a:t>
            </a:r>
            <a:endParaRPr lang="en-US" sz="1163" dirty="0"/>
          </a:p>
        </p:txBody>
      </p:sp>
      <p:sp>
        <p:nvSpPr>
          <p:cNvPr id="25" name="Text 23"/>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54964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THE MATH OF A MOAT</a:t>
            </a:r>
            <a:endParaRPr lang="en-US" sz="975" dirty="0"/>
          </a:p>
        </p:txBody>
      </p:sp>
      <p:sp>
        <p:nvSpPr>
          <p:cNvPr id="8" name="Text 6"/>
          <p:cNvSpPr/>
          <p:nvPr/>
        </p:nvSpPr>
        <p:spPr>
          <a:xfrm>
            <a:off x="609600" y="896779"/>
            <a:ext cx="854964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ROIC must beat WACC</a:t>
            </a:r>
            <a:endParaRPr lang="en-US" sz="3000" dirty="0"/>
          </a:p>
        </p:txBody>
      </p:sp>
      <p:sp>
        <p:nvSpPr>
          <p:cNvPr id="9" name="Text 7"/>
          <p:cNvSpPr/>
          <p:nvPr/>
        </p:nvSpPr>
        <p:spPr>
          <a:xfrm>
            <a:off x="609600" y="1350169"/>
            <a:ext cx="854964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Return on invested capital vs. the cost of that capital — each bar is ROIC; the figure beside it is WACC.</a:t>
            </a:r>
            <a:endParaRPr lang="en-US" sz="1125" dirty="0"/>
          </a:p>
        </p:txBody>
      </p:sp>
      <p:sp>
        <p:nvSpPr>
          <p:cNvPr id="10" name="Text 8"/>
          <p:cNvSpPr/>
          <p:nvPr/>
        </p:nvSpPr>
        <p:spPr>
          <a:xfrm>
            <a:off x="609600" y="1781175"/>
            <a:ext cx="535940"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AAPL</a:t>
            </a:r>
            <a:endParaRPr lang="en-US" sz="1350" dirty="0"/>
          </a:p>
        </p:txBody>
      </p:sp>
      <p:sp>
        <p:nvSpPr>
          <p:cNvPr id="11" name="Text 9"/>
          <p:cNvSpPr/>
          <p:nvPr/>
        </p:nvSpPr>
        <p:spPr>
          <a:xfrm>
            <a:off x="7002939" y="1781175"/>
            <a:ext cx="1516967"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10B981"/>
                </a:solidFill>
                <a:latin typeface="Arial" pitchFamily="34" charset="0"/>
                <a:ea typeface="Arial" pitchFamily="34" charset="-122"/>
                <a:cs typeface="Arial" pitchFamily="34" charset="-120"/>
              </a:rPr>
              <a:t>126.2% </a:t>
            </a:r>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vs 9.7%</a:t>
            </a:r>
            <a:endParaRPr lang="en-US" sz="1350" dirty="0"/>
          </a:p>
        </p:txBody>
      </p:sp>
      <p:sp>
        <p:nvSpPr>
          <p:cNvPr id="12" name="Shape 10"/>
          <p:cNvSpPr/>
          <p:nvPr/>
        </p:nvSpPr>
        <p:spPr>
          <a:xfrm>
            <a:off x="609600" y="2094547"/>
            <a:ext cx="7772400" cy="152400"/>
          </a:xfrm>
          <a:prstGeom prst="roundRect">
            <a:avLst>
              <a:gd name="adj" fmla="val 50000"/>
            </a:avLst>
          </a:prstGeom>
          <a:solidFill>
            <a:srgbClr val="E5E8F0"/>
          </a:solidFill>
          <a:ln/>
        </p:spPr>
      </p:sp>
      <p:sp>
        <p:nvSpPr>
          <p:cNvPr id="13" name="Shape 11"/>
          <p:cNvSpPr/>
          <p:nvPr/>
        </p:nvSpPr>
        <p:spPr>
          <a:xfrm>
            <a:off x="609600" y="2094547"/>
            <a:ext cx="7772400" cy="152400"/>
          </a:xfrm>
          <a:prstGeom prst="roundRect">
            <a:avLst>
              <a:gd name="adj" fmla="val 50000"/>
            </a:avLst>
          </a:prstGeom>
          <a:solidFill>
            <a:srgbClr val="10B981"/>
          </a:solidFill>
          <a:ln/>
        </p:spPr>
      </p:sp>
      <p:sp>
        <p:nvSpPr>
          <p:cNvPr id="14" name="Text 12"/>
          <p:cNvSpPr/>
          <p:nvPr/>
        </p:nvSpPr>
        <p:spPr>
          <a:xfrm>
            <a:off x="609600" y="2418397"/>
            <a:ext cx="572929"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NVDA</a:t>
            </a:r>
            <a:endParaRPr lang="en-US" sz="1350" dirty="0"/>
          </a:p>
        </p:txBody>
      </p:sp>
      <p:sp>
        <p:nvSpPr>
          <p:cNvPr id="15" name="Text 13"/>
          <p:cNvSpPr/>
          <p:nvPr/>
        </p:nvSpPr>
        <p:spPr>
          <a:xfrm>
            <a:off x="6891814" y="2418397"/>
            <a:ext cx="1639205"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10B981"/>
                </a:solidFill>
                <a:latin typeface="Arial" pitchFamily="34" charset="0"/>
                <a:ea typeface="Arial" pitchFamily="34" charset="-122"/>
                <a:cs typeface="Arial" pitchFamily="34" charset="-120"/>
              </a:rPr>
              <a:t>113.8% </a:t>
            </a:r>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vs 10.6%</a:t>
            </a:r>
            <a:endParaRPr lang="en-US" sz="1350" dirty="0"/>
          </a:p>
        </p:txBody>
      </p:sp>
      <p:sp>
        <p:nvSpPr>
          <p:cNvPr id="16" name="Shape 14"/>
          <p:cNvSpPr/>
          <p:nvPr/>
        </p:nvSpPr>
        <p:spPr>
          <a:xfrm>
            <a:off x="609600" y="2731770"/>
            <a:ext cx="7772400" cy="152400"/>
          </a:xfrm>
          <a:prstGeom prst="roundRect">
            <a:avLst>
              <a:gd name="adj" fmla="val 50000"/>
            </a:avLst>
          </a:prstGeom>
          <a:solidFill>
            <a:srgbClr val="E5E8F0"/>
          </a:solidFill>
          <a:ln/>
        </p:spPr>
      </p:sp>
      <p:sp>
        <p:nvSpPr>
          <p:cNvPr id="17" name="Shape 15"/>
          <p:cNvSpPr/>
          <p:nvPr/>
        </p:nvSpPr>
        <p:spPr>
          <a:xfrm>
            <a:off x="609600" y="2731770"/>
            <a:ext cx="6995160" cy="152400"/>
          </a:xfrm>
          <a:prstGeom prst="roundRect">
            <a:avLst>
              <a:gd name="adj" fmla="val 50000"/>
            </a:avLst>
          </a:prstGeom>
          <a:solidFill>
            <a:srgbClr val="10B981"/>
          </a:solidFill>
          <a:ln/>
        </p:spPr>
      </p:sp>
      <p:sp>
        <p:nvSpPr>
          <p:cNvPr id="18" name="Text 16"/>
          <p:cNvSpPr/>
          <p:nvPr/>
        </p:nvSpPr>
        <p:spPr>
          <a:xfrm>
            <a:off x="609600" y="3055620"/>
            <a:ext cx="32210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KO</a:t>
            </a:r>
            <a:endParaRPr lang="en-US" sz="1350" dirty="0"/>
          </a:p>
        </p:txBody>
      </p:sp>
      <p:sp>
        <p:nvSpPr>
          <p:cNvPr id="19" name="Text 17"/>
          <p:cNvSpPr/>
          <p:nvPr/>
        </p:nvSpPr>
        <p:spPr>
          <a:xfrm>
            <a:off x="7113746" y="3055620"/>
            <a:ext cx="1395079"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15.1% </a:t>
            </a:r>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vs 6.3%</a:t>
            </a:r>
            <a:endParaRPr lang="en-US" sz="1350" dirty="0"/>
          </a:p>
        </p:txBody>
      </p:sp>
      <p:sp>
        <p:nvSpPr>
          <p:cNvPr id="20" name="Shape 18"/>
          <p:cNvSpPr/>
          <p:nvPr/>
        </p:nvSpPr>
        <p:spPr>
          <a:xfrm>
            <a:off x="609600" y="3368993"/>
            <a:ext cx="7772400" cy="152400"/>
          </a:xfrm>
          <a:prstGeom prst="roundRect">
            <a:avLst>
              <a:gd name="adj" fmla="val 50000"/>
            </a:avLst>
          </a:prstGeom>
          <a:solidFill>
            <a:srgbClr val="E5E8F0"/>
          </a:solidFill>
          <a:ln/>
        </p:spPr>
      </p:sp>
      <p:sp>
        <p:nvSpPr>
          <p:cNvPr id="21" name="Shape 19"/>
          <p:cNvSpPr/>
          <p:nvPr/>
        </p:nvSpPr>
        <p:spPr>
          <a:xfrm>
            <a:off x="609600" y="3368993"/>
            <a:ext cx="932656" cy="152400"/>
          </a:xfrm>
          <a:prstGeom prst="roundRect">
            <a:avLst>
              <a:gd name="adj" fmla="val 50000"/>
            </a:avLst>
          </a:prstGeom>
          <a:solidFill>
            <a:srgbClr val="4F46E5"/>
          </a:solidFill>
          <a:ln/>
        </p:spPr>
      </p:sp>
      <p:sp>
        <p:nvSpPr>
          <p:cNvPr id="22" name="Text 20"/>
          <p:cNvSpPr/>
          <p:nvPr/>
        </p:nvSpPr>
        <p:spPr>
          <a:xfrm>
            <a:off x="609600" y="3692843"/>
            <a:ext cx="177006"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F</a:t>
            </a:r>
            <a:endParaRPr lang="en-US" sz="1350" dirty="0"/>
          </a:p>
        </p:txBody>
      </p:sp>
      <p:sp>
        <p:nvSpPr>
          <p:cNvPr id="23" name="Text 21"/>
          <p:cNvSpPr/>
          <p:nvPr/>
        </p:nvSpPr>
        <p:spPr>
          <a:xfrm>
            <a:off x="7113746" y="3692843"/>
            <a:ext cx="1395079"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EF4444"/>
                </a:solidFill>
                <a:latin typeface="Arial" pitchFamily="34" charset="0"/>
                <a:ea typeface="Arial" pitchFamily="34" charset="-122"/>
                <a:cs typeface="Arial" pitchFamily="34" charset="-120"/>
              </a:rPr>
              <a:t>−6.4% </a:t>
            </a:r>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vs 9.4%</a:t>
            </a:r>
            <a:endParaRPr lang="en-US" sz="1350" dirty="0"/>
          </a:p>
        </p:txBody>
      </p:sp>
      <p:sp>
        <p:nvSpPr>
          <p:cNvPr id="24" name="Shape 22"/>
          <p:cNvSpPr/>
          <p:nvPr/>
        </p:nvSpPr>
        <p:spPr>
          <a:xfrm>
            <a:off x="609600" y="4006215"/>
            <a:ext cx="7772400" cy="152400"/>
          </a:xfrm>
          <a:prstGeom prst="roundRect">
            <a:avLst>
              <a:gd name="adj" fmla="val 50000"/>
            </a:avLst>
          </a:prstGeom>
          <a:solidFill>
            <a:srgbClr val="E5E8F0"/>
          </a:solidFill>
          <a:ln/>
        </p:spPr>
      </p:sp>
      <p:sp>
        <p:nvSpPr>
          <p:cNvPr id="25" name="Shape 23"/>
          <p:cNvSpPr/>
          <p:nvPr/>
        </p:nvSpPr>
        <p:spPr>
          <a:xfrm>
            <a:off x="609600" y="4006215"/>
            <a:ext cx="621665" cy="152400"/>
          </a:xfrm>
          <a:prstGeom prst="roundRect">
            <a:avLst>
              <a:gd name="adj" fmla="val 50000"/>
            </a:avLst>
          </a:prstGeom>
          <a:solidFill>
            <a:srgbClr val="EF4444"/>
          </a:solidFill>
          <a:ln/>
        </p:spPr>
      </p:sp>
      <p:sp>
        <p:nvSpPr>
          <p:cNvPr id="26" name="Text 24"/>
          <p:cNvSpPr/>
          <p:nvPr/>
        </p:nvSpPr>
        <p:spPr>
          <a:xfrm>
            <a:off x="609600" y="4368165"/>
            <a:ext cx="5572506"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Direction holds under any definition: AAPL, NVDA, KO create value; Ford, at a GAAP loss, destroys it.</a:t>
            </a:r>
            <a:endParaRPr lang="en-US" sz="1125" dirty="0"/>
          </a:p>
        </p:txBody>
      </p:sp>
      <p:sp>
        <p:nvSpPr>
          <p:cNvPr id="27" name="Shape 25"/>
          <p:cNvSpPr/>
          <p:nvPr/>
        </p:nvSpPr>
        <p:spPr>
          <a:xfrm>
            <a:off x="8763000" y="609600"/>
            <a:ext cx="2819400" cy="2192496"/>
          </a:xfrm>
          <a:prstGeom prst="roundRect">
            <a:avLst>
              <a:gd name="adj" fmla="val 6082"/>
            </a:avLst>
          </a:prstGeom>
          <a:solidFill>
            <a:srgbClr val="F6F7FB"/>
          </a:solidFill>
          <a:ln w="6667">
            <a:solidFill>
              <a:srgbClr val="E5E8F0"/>
            </a:solidFill>
            <a:prstDash val="solid"/>
          </a:ln>
        </p:spPr>
      </p:sp>
      <p:sp>
        <p:nvSpPr>
          <p:cNvPr id="28" name="Text 26"/>
          <p:cNvSpPr/>
          <p:nvPr/>
        </p:nvSpPr>
        <p:spPr>
          <a:xfrm>
            <a:off x="8960168" y="787717"/>
            <a:ext cx="266757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9" name="Text 27"/>
          <p:cNvSpPr/>
          <p:nvPr/>
        </p:nvSpPr>
        <p:spPr>
          <a:xfrm>
            <a:off x="8960168" y="1035367"/>
            <a:ext cx="25012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ROIC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Return on Invested Capital</a:t>
            </a:r>
            <a:endParaRPr lang="en-US" sz="1163" dirty="0"/>
          </a:p>
        </p:txBody>
      </p:sp>
      <p:sp>
        <p:nvSpPr>
          <p:cNvPr id="30" name="Text 28"/>
          <p:cNvSpPr/>
          <p:nvPr/>
        </p:nvSpPr>
        <p:spPr>
          <a:xfrm>
            <a:off x="8960168" y="1447800"/>
            <a:ext cx="266757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NOPAT ÷ invested capital</a:t>
            </a:r>
            <a:endParaRPr lang="en-US" sz="938" dirty="0"/>
          </a:p>
        </p:txBody>
      </p:sp>
      <p:sp>
        <p:nvSpPr>
          <p:cNvPr id="31" name="Text 29"/>
          <p:cNvSpPr/>
          <p:nvPr/>
        </p:nvSpPr>
        <p:spPr>
          <a:xfrm>
            <a:off x="8960168" y="1732439"/>
            <a:ext cx="25012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NOPAT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Net Operating Profit After Tax</a:t>
            </a:r>
            <a:endParaRPr lang="en-US" sz="1163" dirty="0"/>
          </a:p>
        </p:txBody>
      </p:sp>
      <p:sp>
        <p:nvSpPr>
          <p:cNvPr id="32" name="Text 30"/>
          <p:cNvSpPr/>
          <p:nvPr/>
        </p:nvSpPr>
        <p:spPr>
          <a:xfrm>
            <a:off x="8960168" y="2240121"/>
            <a:ext cx="25012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WACC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Weighted-Avg Cost of Capital</a:t>
            </a:r>
            <a:endParaRPr lang="en-US" sz="1163" dirty="0"/>
          </a:p>
        </p:txBody>
      </p:sp>
      <p:sp>
        <p:nvSpPr>
          <p:cNvPr id="33" name="Text 31"/>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304177"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SPIVA REALITY CHECK</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Most active pickers trail the index</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313906"/>
            <a:ext cx="1395412" cy="591502"/>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~86%</a:t>
            </a:r>
            <a:endParaRPr lang="en-US" sz="3600" dirty="0"/>
          </a:p>
        </p:txBody>
      </p:sp>
      <p:sp>
        <p:nvSpPr>
          <p:cNvPr id="11" name="Text 9"/>
          <p:cNvSpPr/>
          <p:nvPr/>
        </p:nvSpPr>
        <p:spPr>
          <a:xfrm>
            <a:off x="2354580" y="3629184"/>
            <a:ext cx="418783"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EF4444"/>
                </a:solidFill>
                <a:latin typeface="Arial" pitchFamily="34" charset="0"/>
                <a:ea typeface="Arial" pitchFamily="34" charset="-122"/>
                <a:cs typeface="Arial" pitchFamily="34" charset="-120"/>
              </a:rPr>
              <a:t>▼ lag</a:t>
            </a:r>
            <a:endParaRPr lang="en-US" sz="1125" dirty="0"/>
          </a:p>
        </p:txBody>
      </p:sp>
      <p:sp>
        <p:nvSpPr>
          <p:cNvPr id="12" name="Text 10"/>
          <p:cNvSpPr/>
          <p:nvPr/>
        </p:nvSpPr>
        <p:spPr>
          <a:xfrm>
            <a:off x="921067" y="3895408"/>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large-cap funds that trail the S&amp;P 500 over 10 years (91% over 20)</a:t>
            </a:r>
            <a:endParaRPr lang="en-US" sz="1350" dirty="0"/>
          </a:p>
        </p:txBody>
      </p:sp>
      <p:sp>
        <p:nvSpPr>
          <p:cNvPr id="13" name="Shape 11"/>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362008"/>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0%</a:t>
            </a:r>
            <a:endParaRPr lang="en-US" sz="3600" dirty="0"/>
          </a:p>
        </p:txBody>
      </p:sp>
      <p:sp>
        <p:nvSpPr>
          <p:cNvPr id="15" name="Text 13"/>
          <p:cNvSpPr/>
          <p:nvPr/>
        </p:nvSpPr>
        <p:spPr>
          <a:xfrm>
            <a:off x="4654868" y="3895408"/>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top-quartile funds in 2021 that stayed top-quartile through 2025</a:t>
            </a:r>
            <a:endParaRPr lang="en-US" sz="1350" dirty="0"/>
          </a:p>
        </p:txBody>
      </p:sp>
      <p:sp>
        <p:nvSpPr>
          <p:cNvPr id="16" name="Shape 14"/>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7" name="Text 15"/>
          <p:cNvSpPr/>
          <p:nvPr/>
        </p:nvSpPr>
        <p:spPr>
          <a:xfrm>
            <a:off x="8388668" y="3229134"/>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79%</a:t>
            </a:r>
            <a:endParaRPr lang="en-US" sz="3600" dirty="0"/>
          </a:p>
        </p:txBody>
      </p:sp>
      <p:sp>
        <p:nvSpPr>
          <p:cNvPr id="18" name="Text 16"/>
          <p:cNvSpPr/>
          <p:nvPr/>
        </p:nvSpPr>
        <p:spPr>
          <a:xfrm>
            <a:off x="8388668"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active large-cap funds that lagged in 2025 alone — 4th-worst in 25 years</a:t>
            </a:r>
            <a:endParaRPr lang="en-US" sz="1350" dirty="0"/>
          </a:p>
        </p:txBody>
      </p:sp>
      <p:sp>
        <p:nvSpPr>
          <p:cNvPr id="19" name="Text 17"/>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864471"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M5 · BEFORE YOU BUY</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pre-buy checklist</a:t>
            </a:r>
            <a:endParaRPr lang="en-US" sz="3000" dirty="0"/>
          </a:p>
        </p:txBody>
      </p:sp>
      <p:sp>
        <p:nvSpPr>
          <p:cNvPr id="9" name="Text 7"/>
          <p:cNvSpPr/>
          <p:nvPr/>
        </p:nvSpPr>
        <p:spPr>
          <a:xfrm>
            <a:off x="609600" y="161829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A great business bought at a rich multiple can still be a poor stock — both judgments must clear the bar.</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Moat? Name which of the 5 sources applies — and is it widening or narrowing?</a:t>
            </a:r>
            <a:endParaRPr lang="en-US" sz="1350" dirty="0"/>
          </a:p>
        </p:txBody>
      </p:sp>
      <p:sp>
        <p:nvSpPr>
          <p:cNvPr id="12" name="Shape 10"/>
          <p:cNvSpPr/>
          <p:nvPr/>
        </p:nvSpPr>
        <p:spPr>
          <a:xfrm>
            <a:off x="609600" y="3291840"/>
            <a:ext cx="85725" cy="85725"/>
          </a:xfrm>
          <a:prstGeom prst="roundRect">
            <a:avLst>
              <a:gd name="adj" fmla="val 33333"/>
            </a:avLst>
          </a:prstGeom>
          <a:solidFill>
            <a:srgbClr val="4F46E5"/>
          </a:solidFill>
          <a:ln/>
        </p:spPr>
      </p:sp>
      <p:sp>
        <p:nvSpPr>
          <p:cNvPr id="13" name="Text 11"/>
          <p:cNvSpPr/>
          <p:nvPr/>
        </p:nvSpPr>
        <p:spPr>
          <a:xfrm>
            <a:off x="809625" y="319754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ROIC &gt; WACC, sustainably? Durable, profitable growth with a long reinvestment runway?</a:t>
            </a:r>
            <a:endParaRPr lang="en-US" sz="1350" dirty="0"/>
          </a:p>
        </p:txBody>
      </p:sp>
      <p:sp>
        <p:nvSpPr>
          <p:cNvPr id="14" name="Shape 12"/>
          <p:cNvSpPr/>
          <p:nvPr/>
        </p:nvSpPr>
        <p:spPr>
          <a:xfrm>
            <a:off x="609600" y="3975735"/>
            <a:ext cx="85725" cy="85725"/>
          </a:xfrm>
          <a:prstGeom prst="roundRect">
            <a:avLst>
              <a:gd name="adj" fmla="val 33333"/>
            </a:avLst>
          </a:prstGeom>
          <a:solidFill>
            <a:srgbClr val="4F46E5"/>
          </a:solidFill>
          <a:ln/>
        </p:spPr>
      </p:sp>
      <p:sp>
        <p:nvSpPr>
          <p:cNvPr id="15" name="Text 13"/>
          <p:cNvSpPr/>
          <p:nvPr/>
        </p:nvSpPr>
        <p:spPr>
          <a:xfrm>
            <a:off x="809625" y="388143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Margins high &amp; stable? Strong FCF conversion after capex? Healthy balance sheet?</a:t>
            </a:r>
            <a:endParaRPr lang="en-US" sz="1350" dirty="0"/>
          </a:p>
        </p:txBody>
      </p:sp>
      <p:sp>
        <p:nvSpPr>
          <p:cNvPr id="16" name="Shape 14"/>
          <p:cNvSpPr/>
          <p:nvPr/>
        </p:nvSpPr>
        <p:spPr>
          <a:xfrm>
            <a:off x="609600" y="4659630"/>
            <a:ext cx="85725" cy="85725"/>
          </a:xfrm>
          <a:prstGeom prst="roundRect">
            <a:avLst>
              <a:gd name="adj" fmla="val 33333"/>
            </a:avLst>
          </a:prstGeom>
          <a:solidFill>
            <a:srgbClr val="4F46E5"/>
          </a:solidFill>
          <a:ln/>
        </p:spPr>
      </p:sp>
      <p:sp>
        <p:nvSpPr>
          <p:cNvPr id="17" name="Text 15"/>
          <p:cNvSpPr/>
          <p:nvPr/>
        </p:nvSpPr>
        <p:spPr>
          <a:xfrm>
            <a:off x="809625" y="4565332"/>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Disciplined capital allocation — buybacks when cheap, covered dividend, insider alignment?</a:t>
            </a:r>
            <a:endParaRPr lang="en-US" sz="1350" dirty="0"/>
          </a:p>
        </p:txBody>
      </p:sp>
      <p:sp>
        <p:nvSpPr>
          <p:cNvPr id="18" name="Shape 16"/>
          <p:cNvSpPr/>
          <p:nvPr/>
        </p:nvSpPr>
        <p:spPr>
          <a:xfrm>
            <a:off x="609600" y="5343525"/>
            <a:ext cx="85725" cy="85725"/>
          </a:xfrm>
          <a:prstGeom prst="roundRect">
            <a:avLst>
              <a:gd name="adj" fmla="val 33333"/>
            </a:avLst>
          </a:prstGeom>
          <a:solidFill>
            <a:srgbClr val="4F46E5"/>
          </a:solidFill>
          <a:ln/>
        </p:spPr>
      </p:sp>
      <p:sp>
        <p:nvSpPr>
          <p:cNvPr id="19" name="Text 17"/>
          <p:cNvSpPr/>
          <p:nvPr/>
        </p:nvSpPr>
        <p:spPr>
          <a:xfrm>
            <a:off x="809625" y="5278755"/>
            <a:ext cx="5619271"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Reasonable valuation — what’s priced in, and what would break the thesis?</a:t>
            </a:r>
            <a:endParaRPr lang="en-US" sz="1350" dirty="0"/>
          </a:p>
        </p:txBody>
      </p:sp>
      <p:sp>
        <p:nvSpPr>
          <p:cNvPr id="20" name="Text 18"/>
          <p:cNvSpPr/>
          <p:nvPr/>
        </p:nvSpPr>
        <p:spPr>
          <a:xfrm>
            <a:off x="708025" y="5856923"/>
            <a:ext cx="571357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Pre-commit the disconfirming signals that would make you sell.</a:t>
            </a:r>
            <a:endParaRPr lang="en-US" sz="1125" dirty="0"/>
          </a:p>
        </p:txBody>
      </p:sp>
      <p:sp>
        <p:nvSpPr>
          <p:cNvPr id="21" name="Shape 19"/>
          <p:cNvSpPr/>
          <p:nvPr/>
        </p:nvSpPr>
        <p:spPr>
          <a:xfrm>
            <a:off x="6802596" y="609600"/>
            <a:ext cx="4779804" cy="1616710"/>
          </a:xfrm>
          <a:prstGeom prst="roundRect">
            <a:avLst>
              <a:gd name="adj" fmla="val 8248"/>
            </a:avLst>
          </a:prstGeom>
          <a:solidFill>
            <a:srgbClr val="F6F7FB"/>
          </a:solidFill>
          <a:ln w="6667">
            <a:solidFill>
              <a:srgbClr val="E5E8F0"/>
            </a:solidFill>
            <a:prstDash val="solid"/>
          </a:ln>
        </p:spPr>
      </p:sp>
      <p:sp>
        <p:nvSpPr>
          <p:cNvPr id="22" name="Text 20"/>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3" name="Text 21"/>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ROIC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Return on Invested Capital</a:t>
            </a:r>
            <a:endParaRPr lang="en-US" sz="1163" dirty="0"/>
          </a:p>
        </p:txBody>
      </p:sp>
      <p:sp>
        <p:nvSpPr>
          <p:cNvPr id="24" name="Text 22"/>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WACC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Weighted-Avg Cost of Capital</a:t>
            </a:r>
            <a:endParaRPr lang="en-US" sz="1163" dirty="0"/>
          </a:p>
        </p:txBody>
      </p:sp>
      <p:sp>
        <p:nvSpPr>
          <p:cNvPr id="25" name="Text 23"/>
          <p:cNvSpPr/>
          <p:nvPr/>
        </p:nvSpPr>
        <p:spPr>
          <a:xfrm>
            <a:off x="6999763" y="1666875"/>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FCF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Free Cash Flow</a:t>
            </a:r>
            <a:endParaRPr lang="en-US" sz="1163" dirty="0"/>
          </a:p>
        </p:txBody>
      </p:sp>
      <p:sp>
        <p:nvSpPr>
          <p:cNvPr id="26" name="Text 24"/>
          <p:cNvSpPr/>
          <p:nvPr/>
        </p:nvSpPr>
        <p:spPr>
          <a:xfrm>
            <a:off x="6999763" y="1887379"/>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 OCF − capex</a:t>
            </a:r>
            <a:endParaRPr lang="en-US" sz="938" dirty="0"/>
          </a:p>
        </p:txBody>
      </p:sp>
      <p:sp>
        <p:nvSpPr>
          <p:cNvPr id="27" name="Text 2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M6</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How hedge funds &amp; quants play it</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Factors, long/short, event-driven, quant, options and leverage — and whether it beats the index.</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515298"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M6 · HEDGE FUNDS &amp; QUANTS</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strategy landscape</a:t>
            </a:r>
            <a:endParaRPr lang="en-US" sz="3000" dirty="0"/>
          </a:p>
        </p:txBody>
      </p:sp>
      <p:sp>
        <p:nvSpPr>
          <p:cNvPr id="9" name="Text 7"/>
          <p:cNvSpPr/>
          <p:nvPr/>
        </p:nvSpPr>
        <p:spPr>
          <a:xfrm>
            <a:off x="609600" y="1618297"/>
            <a:ext cx="630937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Recognize the landscape — not execute it.</a:t>
            </a:r>
            <a:endParaRPr lang="en-US" sz="1500" dirty="0"/>
          </a:p>
        </p:txBody>
      </p:sp>
      <p:sp>
        <p:nvSpPr>
          <p:cNvPr id="10" name="Shape 8"/>
          <p:cNvSpPr/>
          <p:nvPr/>
        </p:nvSpPr>
        <p:spPr>
          <a:xfrm>
            <a:off x="609600" y="2312670"/>
            <a:ext cx="85725" cy="85725"/>
          </a:xfrm>
          <a:prstGeom prst="roundRect">
            <a:avLst>
              <a:gd name="adj" fmla="val 33333"/>
            </a:avLst>
          </a:prstGeom>
          <a:solidFill>
            <a:srgbClr val="4F46E5"/>
          </a:solidFill>
          <a:ln/>
        </p:spPr>
      </p:sp>
      <p:sp>
        <p:nvSpPr>
          <p:cNvPr id="11" name="Text 9"/>
          <p:cNvSpPr/>
          <p:nvPr/>
        </p:nvSpPr>
        <p:spPr>
          <a:xfrm>
            <a:off x="809625" y="2218372"/>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Factor / smart beta: value, momentum, quality, size, low-vol explain most of returns.</a:t>
            </a:r>
            <a:endParaRPr lang="en-US" sz="1350" dirty="0"/>
          </a:p>
        </p:txBody>
      </p:sp>
      <p:sp>
        <p:nvSpPr>
          <p:cNvPr id="12" name="Shape 10"/>
          <p:cNvSpPr/>
          <p:nvPr/>
        </p:nvSpPr>
        <p:spPr>
          <a:xfrm>
            <a:off x="609600" y="2996565"/>
            <a:ext cx="85725" cy="85725"/>
          </a:xfrm>
          <a:prstGeom prst="roundRect">
            <a:avLst>
              <a:gd name="adj" fmla="val 33333"/>
            </a:avLst>
          </a:prstGeom>
          <a:solidFill>
            <a:srgbClr val="4F46E5"/>
          </a:solidFill>
          <a:ln/>
        </p:spPr>
      </p:sp>
      <p:sp>
        <p:nvSpPr>
          <p:cNvPr id="13" name="Text 11"/>
          <p:cNvSpPr/>
          <p:nvPr/>
        </p:nvSpPr>
        <p:spPr>
          <a:xfrm>
            <a:off x="809625" y="290226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Long/short &amp; market-neutral: buy winners, short losers; size net beta ≈ 0. Shorts have unlimited downside.</a:t>
            </a:r>
            <a:endParaRPr lang="en-US" sz="1350" dirty="0"/>
          </a:p>
        </p:txBody>
      </p:sp>
      <p:sp>
        <p:nvSpPr>
          <p:cNvPr id="14" name="Shape 12"/>
          <p:cNvSpPr/>
          <p:nvPr/>
        </p:nvSpPr>
        <p:spPr>
          <a:xfrm>
            <a:off x="609600" y="3680460"/>
            <a:ext cx="85725" cy="85725"/>
          </a:xfrm>
          <a:prstGeom prst="roundRect">
            <a:avLst>
              <a:gd name="adj" fmla="val 33333"/>
            </a:avLst>
          </a:prstGeom>
          <a:solidFill>
            <a:srgbClr val="4F46E5"/>
          </a:solidFill>
          <a:ln/>
        </p:spPr>
      </p:sp>
      <p:sp>
        <p:nvSpPr>
          <p:cNvPr id="15" name="Text 13"/>
          <p:cNvSpPr/>
          <p:nvPr/>
        </p:nvSpPr>
        <p:spPr>
          <a:xfrm>
            <a:off x="809625" y="358616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Event-driven (merger arb), global macro, activist (a 13D once ownership tops 5%).</a:t>
            </a:r>
            <a:endParaRPr lang="en-US" sz="1350" dirty="0"/>
          </a:p>
        </p:txBody>
      </p:sp>
      <p:sp>
        <p:nvSpPr>
          <p:cNvPr id="16" name="Shape 14"/>
          <p:cNvSpPr/>
          <p:nvPr/>
        </p:nvSpPr>
        <p:spPr>
          <a:xfrm>
            <a:off x="609600" y="4364355"/>
            <a:ext cx="85725" cy="85725"/>
          </a:xfrm>
          <a:prstGeom prst="roundRect">
            <a:avLst>
              <a:gd name="adj" fmla="val 33333"/>
            </a:avLst>
          </a:prstGeom>
          <a:solidFill>
            <a:srgbClr val="4F46E5"/>
          </a:solidFill>
          <a:ln/>
        </p:spPr>
      </p:sp>
      <p:sp>
        <p:nvSpPr>
          <p:cNvPr id="17" name="Text 15"/>
          <p:cNvSpPr/>
          <p:nvPr/>
        </p:nvSpPr>
        <p:spPr>
          <a:xfrm>
            <a:off x="809625" y="4299585"/>
            <a:ext cx="5501215"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Quant / stat arb: many tiny statistical edges; alt-data forecasts the print.</a:t>
            </a:r>
            <a:endParaRPr lang="en-US" sz="1350" dirty="0"/>
          </a:p>
        </p:txBody>
      </p:sp>
      <p:sp>
        <p:nvSpPr>
          <p:cNvPr id="18" name="Text 16"/>
          <p:cNvSpPr/>
          <p:nvPr/>
        </p:nvSpPr>
        <p:spPr>
          <a:xfrm>
            <a:off x="708025" y="4877752"/>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Options: covered call = income; protective put = insurance. Leverage cuts both ways — see LTCM.</a:t>
            </a:r>
            <a:endParaRPr lang="en-US" sz="1125" dirty="0"/>
          </a:p>
        </p:txBody>
      </p:sp>
      <p:sp>
        <p:nvSpPr>
          <p:cNvPr id="19" name="Shape 17"/>
          <p:cNvSpPr/>
          <p:nvPr/>
        </p:nvSpPr>
        <p:spPr>
          <a:xfrm>
            <a:off x="6802596" y="609600"/>
            <a:ext cx="4779804" cy="1806099"/>
          </a:xfrm>
          <a:prstGeom prst="roundRect">
            <a:avLst>
              <a:gd name="adj" fmla="val 7383"/>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13D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Schedule 13D</a:t>
            </a:r>
            <a:endParaRPr lang="en-US" sz="1163" dirty="0"/>
          </a:p>
        </p:txBody>
      </p:sp>
      <p:sp>
        <p:nvSpPr>
          <p:cNvPr id="22" name="Text 20"/>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filed once ownership tops 5%</a:t>
            </a:r>
            <a:endParaRPr lang="en-US" sz="938" dirty="0"/>
          </a:p>
        </p:txBody>
      </p:sp>
      <p:sp>
        <p:nvSpPr>
          <p:cNvPr id="23" name="Text 21"/>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LTCM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Long-Term Capital Management</a:t>
            </a:r>
            <a:endParaRPr lang="en-US" sz="1163" dirty="0"/>
          </a:p>
        </p:txBody>
      </p:sp>
      <p:sp>
        <p:nvSpPr>
          <p:cNvPr id="24" name="Text 22"/>
          <p:cNvSpPr/>
          <p:nvPr/>
        </p:nvSpPr>
        <p:spPr>
          <a:xfrm>
            <a:off x="6999763" y="1761014"/>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1998 leveraged blow-up</a:t>
            </a:r>
            <a:endParaRPr lang="en-US" sz="938" dirty="0"/>
          </a:p>
        </p:txBody>
      </p:sp>
      <p:sp>
        <p:nvSpPr>
          <p:cNvPr id="25" name="Text 23"/>
          <p:cNvSpPr/>
          <p:nvPr/>
        </p:nvSpPr>
        <p:spPr>
          <a:xfrm>
            <a:off x="6999763" y="2045652"/>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2 and 20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2% management + 20% performance fee</a:t>
            </a:r>
            <a:endParaRPr lang="en-US" sz="1163" dirty="0"/>
          </a:p>
        </p:txBody>
      </p:sp>
      <p:sp>
        <p:nvSpPr>
          <p:cNvPr id="26" name="Text 24"/>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0598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M6 · SOPHISTICATED ≠ WINS</a:t>
            </a:r>
            <a:endParaRPr lang="en-US" sz="975" dirty="0"/>
          </a:p>
        </p:txBody>
      </p:sp>
      <p:sp>
        <p:nvSpPr>
          <p:cNvPr id="8" name="Text 6"/>
          <p:cNvSpPr/>
          <p:nvPr/>
        </p:nvSpPr>
        <p:spPr>
          <a:xfrm>
            <a:off x="609600" y="989647"/>
            <a:ext cx="6781038"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Buffett's $1M bet, settled</a:t>
            </a:r>
            <a:endParaRPr lang="en-US" sz="3000" dirty="0"/>
          </a:p>
        </p:txBody>
      </p:sp>
      <p:sp>
        <p:nvSpPr>
          <p:cNvPr id="9" name="Shape 7"/>
          <p:cNvSpPr/>
          <p:nvPr/>
        </p:nvSpPr>
        <p:spPr>
          <a:xfrm>
            <a:off x="6096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313906"/>
            <a:ext cx="2080895" cy="591502"/>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+125.8%</a:t>
            </a:r>
            <a:endParaRPr lang="en-US" sz="3600" dirty="0"/>
          </a:p>
        </p:txBody>
      </p:sp>
      <p:sp>
        <p:nvSpPr>
          <p:cNvPr id="11" name="Text 9"/>
          <p:cNvSpPr/>
          <p:nvPr/>
        </p:nvSpPr>
        <p:spPr>
          <a:xfrm>
            <a:off x="3040063" y="3629184"/>
            <a:ext cx="655320"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10B981"/>
                </a:solidFill>
                <a:latin typeface="Arial" pitchFamily="34" charset="0"/>
                <a:ea typeface="Arial" pitchFamily="34" charset="-122"/>
                <a:cs typeface="Arial" pitchFamily="34" charset="-120"/>
              </a:rPr>
              <a:t>▲ winner</a:t>
            </a:r>
            <a:endParaRPr lang="en-US" sz="1125" dirty="0"/>
          </a:p>
        </p:txBody>
      </p:sp>
      <p:sp>
        <p:nvSpPr>
          <p:cNvPr id="12" name="Text 10"/>
          <p:cNvSpPr/>
          <p:nvPr/>
        </p:nvSpPr>
        <p:spPr>
          <a:xfrm>
            <a:off x="921067" y="3895408"/>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a low-cost S&amp;P 500 index fund, 2008–2017 (~8.5%/yr)</a:t>
            </a:r>
            <a:endParaRPr lang="en-US" sz="1350" dirty="0"/>
          </a:p>
        </p:txBody>
      </p:sp>
      <p:sp>
        <p:nvSpPr>
          <p:cNvPr id="13" name="Shape 11"/>
          <p:cNvSpPr/>
          <p:nvPr/>
        </p:nvSpPr>
        <p:spPr>
          <a:xfrm>
            <a:off x="43434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313906"/>
            <a:ext cx="2300288" cy="591502"/>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+2.8–88%</a:t>
            </a:r>
            <a:endParaRPr lang="en-US" sz="3600" dirty="0"/>
          </a:p>
        </p:txBody>
      </p:sp>
      <p:sp>
        <p:nvSpPr>
          <p:cNvPr id="15" name="Text 13"/>
          <p:cNvSpPr/>
          <p:nvPr/>
        </p:nvSpPr>
        <p:spPr>
          <a:xfrm>
            <a:off x="6993255" y="3629184"/>
            <a:ext cx="454025"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EF4444"/>
                </a:solidFill>
                <a:latin typeface="Arial" pitchFamily="34" charset="0"/>
                <a:ea typeface="Arial" pitchFamily="34" charset="-122"/>
                <a:cs typeface="Arial" pitchFamily="34" charset="-120"/>
              </a:rPr>
              <a:t>▼ lost</a:t>
            </a:r>
            <a:endParaRPr lang="en-US" sz="1125" dirty="0"/>
          </a:p>
        </p:txBody>
      </p:sp>
      <p:sp>
        <p:nvSpPr>
          <p:cNvPr id="16" name="Text 14"/>
          <p:cNvSpPr/>
          <p:nvPr/>
        </p:nvSpPr>
        <p:spPr>
          <a:xfrm>
            <a:off x="4654868" y="3895408"/>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the five funds-of-funds — low single digits annualized</a:t>
            </a:r>
            <a:endParaRPr lang="en-US" sz="1350" dirty="0"/>
          </a:p>
        </p:txBody>
      </p:sp>
      <p:sp>
        <p:nvSpPr>
          <p:cNvPr id="17" name="Shape 15"/>
          <p:cNvSpPr/>
          <p:nvPr/>
        </p:nvSpPr>
        <p:spPr>
          <a:xfrm>
            <a:off x="8077200" y="1884997"/>
            <a:ext cx="3505200" cy="4019074"/>
          </a:xfrm>
          <a:prstGeom prst="roundRect">
            <a:avLst>
              <a:gd name="adj" fmla="val 3261"/>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8" name="Text 16"/>
          <p:cNvSpPr/>
          <p:nvPr/>
        </p:nvSpPr>
        <p:spPr>
          <a:xfrm>
            <a:off x="8388668" y="3229134"/>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$347.51</a:t>
            </a:r>
            <a:endParaRPr lang="en-US" sz="3600" dirty="0"/>
          </a:p>
        </p:txBody>
      </p:sp>
      <p:sp>
        <p:nvSpPr>
          <p:cNvPr id="19" name="Text 17"/>
          <p:cNvSpPr/>
          <p:nvPr/>
        </p:nvSpPr>
        <p:spPr>
          <a:xfrm>
            <a:off x="8388668" y="3762534"/>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GameStop’s Jan-2021 squeeze close — driven by sentiment, not short-covering (SEC)</a:t>
            </a:r>
            <a:endParaRPr lang="en-US" sz="1350" dirty="0"/>
          </a:p>
        </p:txBody>
      </p:sp>
      <p:sp>
        <p:nvSpPr>
          <p:cNvPr id="20" name="Text 18"/>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M7</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Technical analysis &amp; timing</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What TA claims, the EMH challenge, the honest evidence, and the one robust exception.</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25894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TECHNICAL ANALYSIS</a:t>
            </a:r>
            <a:endParaRPr lang="en-US" sz="975" dirty="0"/>
          </a:p>
        </p:txBody>
      </p:sp>
      <p:sp>
        <p:nvSpPr>
          <p:cNvPr id="8" name="Text 6"/>
          <p:cNvSpPr/>
          <p:nvPr/>
        </p:nvSpPr>
        <p:spPr>
          <a:xfrm>
            <a:off x="609600" y="989647"/>
            <a:ext cx="5820391" cy="99060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What TA claims — and the challenge</a:t>
            </a:r>
            <a:endParaRPr lang="en-US" sz="3000" dirty="0"/>
          </a:p>
        </p:txBody>
      </p:sp>
      <p:sp>
        <p:nvSpPr>
          <p:cNvPr id="9" name="Text 7"/>
          <p:cNvSpPr/>
          <p:nvPr/>
        </p:nvSpPr>
        <p:spPr>
          <a:xfrm>
            <a:off x="609600" y="2094547"/>
            <a:ext cx="630937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TA is a timing overlay, not a stock-selection system.</a:t>
            </a:r>
            <a:endParaRPr lang="en-US" sz="1500" dirty="0"/>
          </a:p>
        </p:txBody>
      </p:sp>
      <p:sp>
        <p:nvSpPr>
          <p:cNvPr id="10" name="Shape 8"/>
          <p:cNvSpPr/>
          <p:nvPr/>
        </p:nvSpPr>
        <p:spPr>
          <a:xfrm>
            <a:off x="609600" y="2788920"/>
            <a:ext cx="85725" cy="85725"/>
          </a:xfrm>
          <a:prstGeom prst="roundRect">
            <a:avLst>
              <a:gd name="adj" fmla="val 33333"/>
            </a:avLst>
          </a:prstGeom>
          <a:solidFill>
            <a:srgbClr val="4F46E5"/>
          </a:solidFill>
          <a:ln/>
        </p:spPr>
      </p:sp>
      <p:sp>
        <p:nvSpPr>
          <p:cNvPr id="11" name="Text 9"/>
          <p:cNvSpPr/>
          <p:nvPr/>
        </p:nvSpPr>
        <p:spPr>
          <a:xfrm>
            <a:off x="809625" y="2694622"/>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Premises: price &amp; volume already discount the info; trends persist until they reverse.</a:t>
            </a:r>
            <a:endParaRPr lang="en-US" sz="1350" dirty="0"/>
          </a:p>
        </p:txBody>
      </p:sp>
      <p:sp>
        <p:nvSpPr>
          <p:cNvPr id="12" name="Shape 10"/>
          <p:cNvSpPr/>
          <p:nvPr/>
        </p:nvSpPr>
        <p:spPr>
          <a:xfrm>
            <a:off x="609600" y="3472815"/>
            <a:ext cx="85725" cy="85725"/>
          </a:xfrm>
          <a:prstGeom prst="roundRect">
            <a:avLst>
              <a:gd name="adj" fmla="val 33333"/>
            </a:avLst>
          </a:prstGeom>
          <a:solidFill>
            <a:srgbClr val="4F46E5"/>
          </a:solidFill>
          <a:ln/>
        </p:spPr>
      </p:sp>
      <p:sp>
        <p:nvSpPr>
          <p:cNvPr id="13" name="Text 11"/>
          <p:cNvSpPr/>
          <p:nvPr/>
        </p:nvSpPr>
        <p:spPr>
          <a:xfrm>
            <a:off x="809625" y="3408045"/>
            <a:ext cx="5361411"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challenge — weak-form EMH (Fama 1970): past prices can’t predict future returns.</a:t>
            </a:r>
            <a:endParaRPr lang="en-US" sz="1350" dirty="0"/>
          </a:p>
        </p:txBody>
      </p:sp>
      <p:sp>
        <p:nvSpPr>
          <p:cNvPr id="14" name="Text 12"/>
          <p:cNvSpPr/>
          <p:nvPr/>
        </p:nvSpPr>
        <p:spPr>
          <a:xfrm>
            <a:off x="708025" y="3986213"/>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Grossman-Stiglitz: a perfectly efficient market is impossible — so some edge can exist.</a:t>
            </a:r>
            <a:endParaRPr lang="en-US" sz="1125" dirty="0"/>
          </a:p>
        </p:txBody>
      </p:sp>
      <p:sp>
        <p:nvSpPr>
          <p:cNvPr id="15" name="Shape 13"/>
          <p:cNvSpPr/>
          <p:nvPr/>
        </p:nvSpPr>
        <p:spPr>
          <a:xfrm>
            <a:off x="609600" y="4675822"/>
            <a:ext cx="85725" cy="85725"/>
          </a:xfrm>
          <a:prstGeom prst="roundRect">
            <a:avLst>
              <a:gd name="adj" fmla="val 33333"/>
            </a:avLst>
          </a:prstGeom>
          <a:solidFill>
            <a:srgbClr val="4F46E5"/>
          </a:solidFill>
          <a:ln/>
        </p:spPr>
      </p:sp>
      <p:sp>
        <p:nvSpPr>
          <p:cNvPr id="16" name="Text 14"/>
          <p:cNvSpPr/>
          <p:nvPr/>
        </p:nvSpPr>
        <p:spPr>
          <a:xfrm>
            <a:off x="809625" y="4581525"/>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Tools: 50/200-day MAs (golden/death cross), support &amp; resistance, RSI, MACD, volume.</a:t>
            </a:r>
            <a:endParaRPr lang="en-US" sz="1350" dirty="0"/>
          </a:p>
        </p:txBody>
      </p:sp>
      <p:sp>
        <p:nvSpPr>
          <p:cNvPr id="17" name="Shape 15"/>
          <p:cNvSpPr/>
          <p:nvPr/>
        </p:nvSpPr>
        <p:spPr>
          <a:xfrm>
            <a:off x="609600" y="5359718"/>
            <a:ext cx="85725" cy="85725"/>
          </a:xfrm>
          <a:prstGeom prst="roundRect">
            <a:avLst>
              <a:gd name="adj" fmla="val 33333"/>
            </a:avLst>
          </a:prstGeom>
          <a:solidFill>
            <a:srgbClr val="4F46E5"/>
          </a:solidFill>
          <a:ln/>
        </p:spPr>
      </p:sp>
      <p:sp>
        <p:nvSpPr>
          <p:cNvPr id="18" name="Text 16"/>
          <p:cNvSpPr/>
          <p:nvPr/>
        </p:nvSpPr>
        <p:spPr>
          <a:xfrm>
            <a:off x="809625" y="5265420"/>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burden of proof is on the chartist — markets are “mostly efficient with exploitable frictions.”</a:t>
            </a:r>
            <a:endParaRPr lang="en-US" sz="1350" dirty="0"/>
          </a:p>
        </p:txBody>
      </p:sp>
      <p:sp>
        <p:nvSpPr>
          <p:cNvPr id="19" name="Shape 17"/>
          <p:cNvSpPr/>
          <p:nvPr/>
        </p:nvSpPr>
        <p:spPr>
          <a:xfrm>
            <a:off x="6802596" y="609600"/>
            <a:ext cx="4779804" cy="2121852"/>
          </a:xfrm>
          <a:prstGeom prst="roundRect">
            <a:avLst>
              <a:gd name="adj" fmla="val 6285"/>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EMH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Efficient Market Hypothesis</a:t>
            </a:r>
            <a:endParaRPr lang="en-US" sz="1163" dirty="0"/>
          </a:p>
        </p:txBody>
      </p:sp>
      <p:sp>
        <p:nvSpPr>
          <p:cNvPr id="22" name="Text 20"/>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RSI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Relative Strength Index</a:t>
            </a:r>
            <a:endParaRPr lang="en-US" sz="1163" dirty="0"/>
          </a:p>
        </p:txBody>
      </p:sp>
      <p:sp>
        <p:nvSpPr>
          <p:cNvPr id="23" name="Text 21"/>
          <p:cNvSpPr/>
          <p:nvPr/>
        </p:nvSpPr>
        <p:spPr>
          <a:xfrm>
            <a:off x="6999763" y="1571625"/>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0–100 momentum oscillator</a:t>
            </a:r>
            <a:endParaRPr lang="en-US" sz="938" dirty="0"/>
          </a:p>
        </p:txBody>
      </p:sp>
      <p:sp>
        <p:nvSpPr>
          <p:cNvPr id="24" name="Text 22"/>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MACD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Moving Avg Convergence Divergence</a:t>
            </a:r>
            <a:endParaRPr lang="en-US" sz="1163" dirty="0"/>
          </a:p>
        </p:txBody>
      </p:sp>
      <p:sp>
        <p:nvSpPr>
          <p:cNvPr id="25" name="Text 23"/>
          <p:cNvSpPr/>
          <p:nvPr/>
        </p:nvSpPr>
        <p:spPr>
          <a:xfrm>
            <a:off x="6999763" y="2172018"/>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MA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Moving Average</a:t>
            </a:r>
            <a:endParaRPr lang="en-US" sz="1163" dirty="0"/>
          </a:p>
        </p:txBody>
      </p:sp>
      <p:sp>
        <p:nvSpPr>
          <p:cNvPr id="26" name="Text 24"/>
          <p:cNvSpPr/>
          <p:nvPr/>
        </p:nvSpPr>
        <p:spPr>
          <a:xfrm>
            <a:off x="6999763" y="239252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50 / 200-day</a:t>
            </a:r>
            <a:endParaRPr lang="en-US" sz="938" dirty="0"/>
          </a:p>
        </p:txBody>
      </p:sp>
      <p:sp>
        <p:nvSpPr>
          <p:cNvPr id="27" name="Text 2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730010"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M7 · DOES IT WORK?</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The evidence, honestly</a:t>
            </a:r>
            <a:endParaRPr lang="en-US" sz="3000" dirty="0"/>
          </a:p>
        </p:txBody>
      </p:sp>
      <p:sp>
        <p:nvSpPr>
          <p:cNvPr id="9" name="Shape 7"/>
          <p:cNvSpPr/>
          <p:nvPr/>
        </p:nvSpPr>
        <p:spPr>
          <a:xfrm>
            <a:off x="609600" y="1864995"/>
            <a:ext cx="85725" cy="85725"/>
          </a:xfrm>
          <a:prstGeom prst="roundRect">
            <a:avLst>
              <a:gd name="adj" fmla="val 33333"/>
            </a:avLst>
          </a:prstGeom>
          <a:solidFill>
            <a:srgbClr val="4F46E5"/>
          </a:solidFill>
          <a:ln/>
        </p:spPr>
      </p:sp>
      <p:sp>
        <p:nvSpPr>
          <p:cNvPr id="10" name="Text 8"/>
          <p:cNvSpPr/>
          <p:nvPr/>
        </p:nvSpPr>
        <p:spPr>
          <a:xfrm>
            <a:off x="809625" y="177069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TA overall: mixed-to-weak — most studies compromised by data-snooping and undercounted costs.</a:t>
            </a:r>
            <a:endParaRPr lang="en-US" sz="1350" dirty="0"/>
          </a:p>
        </p:txBody>
      </p:sp>
      <p:sp>
        <p:nvSpPr>
          <p:cNvPr id="11" name="Shape 9"/>
          <p:cNvSpPr/>
          <p:nvPr/>
        </p:nvSpPr>
        <p:spPr>
          <a:xfrm>
            <a:off x="609600" y="2548890"/>
            <a:ext cx="85725" cy="85725"/>
          </a:xfrm>
          <a:prstGeom prst="roundRect">
            <a:avLst>
              <a:gd name="adj" fmla="val 33333"/>
            </a:avLst>
          </a:prstGeom>
          <a:solidFill>
            <a:srgbClr val="4F46E5"/>
          </a:solidFill>
          <a:ln/>
        </p:spPr>
      </p:sp>
      <p:sp>
        <p:nvSpPr>
          <p:cNvPr id="12" name="Text 10"/>
          <p:cNvSpPr/>
          <p:nvPr/>
        </p:nvSpPr>
        <p:spPr>
          <a:xfrm>
            <a:off x="809625" y="2484120"/>
            <a:ext cx="4684633"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one robust exception — cross-sectional momentum (Jegadeesh &amp; Titman): ~1.3%/mo.</a:t>
            </a:r>
            <a:endParaRPr lang="en-US" sz="1350" dirty="0"/>
          </a:p>
        </p:txBody>
      </p:sp>
      <p:sp>
        <p:nvSpPr>
          <p:cNvPr id="13" name="Text 11"/>
          <p:cNvSpPr/>
          <p:nvPr/>
        </p:nvSpPr>
        <p:spPr>
          <a:xfrm>
            <a:off x="708025" y="3062288"/>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But it mean-reverts and crashes: past losers +163% vs. winners +8% in Mar–May 2009.</a:t>
            </a:r>
            <a:endParaRPr lang="en-US" sz="1125" dirty="0"/>
          </a:p>
        </p:txBody>
      </p:sp>
      <p:sp>
        <p:nvSpPr>
          <p:cNvPr id="14" name="Shape 12"/>
          <p:cNvSpPr/>
          <p:nvPr/>
        </p:nvSpPr>
        <p:spPr>
          <a:xfrm>
            <a:off x="609600" y="3751897"/>
            <a:ext cx="85725" cy="85725"/>
          </a:xfrm>
          <a:prstGeom prst="roundRect">
            <a:avLst>
              <a:gd name="adj" fmla="val 33333"/>
            </a:avLst>
          </a:prstGeom>
          <a:solidFill>
            <a:srgbClr val="4F46E5"/>
          </a:solidFill>
          <a:ln/>
        </p:spPr>
      </p:sp>
      <p:sp>
        <p:nvSpPr>
          <p:cNvPr id="15" name="Text 13"/>
          <p:cNvSpPr/>
          <p:nvPr/>
        </p:nvSpPr>
        <p:spPr>
          <a:xfrm>
            <a:off x="809625" y="3657600"/>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golden cross is a lagging regime filter — it describes a trend, it doesn’t predict one.</a:t>
            </a:r>
            <a:endParaRPr lang="en-US" sz="1350" dirty="0"/>
          </a:p>
        </p:txBody>
      </p:sp>
      <p:sp>
        <p:nvSpPr>
          <p:cNvPr id="16" name="Shape 14"/>
          <p:cNvSpPr/>
          <p:nvPr/>
        </p:nvSpPr>
        <p:spPr>
          <a:xfrm>
            <a:off x="609600" y="4435793"/>
            <a:ext cx="85725" cy="85725"/>
          </a:xfrm>
          <a:prstGeom prst="roundRect">
            <a:avLst>
              <a:gd name="adj" fmla="val 33333"/>
            </a:avLst>
          </a:prstGeom>
          <a:solidFill>
            <a:srgbClr val="4F46E5"/>
          </a:solidFill>
          <a:ln/>
        </p:spPr>
      </p:sp>
      <p:sp>
        <p:nvSpPr>
          <p:cNvPr id="17" name="Text 15"/>
          <p:cNvSpPr/>
          <p:nvPr/>
        </p:nvSpPr>
        <p:spPr>
          <a:xfrm>
            <a:off x="809625" y="4341495"/>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Legitimate use: entry/exit timing on a thesis you already hold — never the reason to own it.</a:t>
            </a:r>
            <a:endParaRPr lang="en-US" sz="1350" dirty="0"/>
          </a:p>
        </p:txBody>
      </p:sp>
      <p:sp>
        <p:nvSpPr>
          <p:cNvPr id="18" name="Shape 16"/>
          <p:cNvSpPr/>
          <p:nvPr/>
        </p:nvSpPr>
        <p:spPr>
          <a:xfrm>
            <a:off x="6802596" y="609600"/>
            <a:ext cx="4779804" cy="1616710"/>
          </a:xfrm>
          <a:prstGeom prst="roundRect">
            <a:avLst>
              <a:gd name="adj" fmla="val 8248"/>
            </a:avLst>
          </a:prstGeom>
          <a:solidFill>
            <a:srgbClr val="F6F7FB"/>
          </a:solidFill>
          <a:ln w="6667">
            <a:solidFill>
              <a:srgbClr val="E5E8F0"/>
            </a:solidFill>
            <a:prstDash val="solid"/>
          </a:ln>
        </p:spPr>
      </p:sp>
      <p:sp>
        <p:nvSpPr>
          <p:cNvPr id="19" name="Text 17"/>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0" name="Text 18"/>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MA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Moving Average</a:t>
            </a:r>
            <a:endParaRPr lang="en-US" sz="1163" dirty="0"/>
          </a:p>
        </p:txBody>
      </p:sp>
      <p:sp>
        <p:nvSpPr>
          <p:cNvPr id="21" name="Text 19"/>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50 / 200-day</a:t>
            </a:r>
            <a:endParaRPr lang="en-US" sz="938" dirty="0"/>
          </a:p>
        </p:txBody>
      </p:sp>
      <p:sp>
        <p:nvSpPr>
          <p:cNvPr id="22" name="Text 20"/>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Golden cross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50-day rises above 200-day</a:t>
            </a:r>
            <a:endParaRPr lang="en-US" sz="1163" dirty="0"/>
          </a:p>
        </p:txBody>
      </p:sp>
      <p:sp>
        <p:nvSpPr>
          <p:cNvPr id="23" name="Text 21"/>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EMH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Efficient Market Hypothesis</a:t>
            </a:r>
            <a:endParaRPr lang="en-US" sz="1163" dirty="0"/>
          </a:p>
        </p:txBody>
      </p:sp>
      <p:sp>
        <p:nvSpPr>
          <p:cNvPr id="24" name="Text 22"/>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M8</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Building &amp; managing the portfolio</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Goal-based allocation, account types, 2026 tax numbers, and a five-trigger sell discipline.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60383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M8 · BUILDING THE PORTFOLIO</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Goal → horizon → allocation</a:t>
            </a:r>
            <a:endParaRPr lang="en-US" sz="3000" dirty="0"/>
          </a:p>
        </p:txBody>
      </p:sp>
      <p:sp>
        <p:nvSpPr>
          <p:cNvPr id="9" name="Shape 7"/>
          <p:cNvSpPr/>
          <p:nvPr/>
        </p:nvSpPr>
        <p:spPr>
          <a:xfrm>
            <a:off x="609600" y="1864995"/>
            <a:ext cx="85725" cy="85725"/>
          </a:xfrm>
          <a:prstGeom prst="roundRect">
            <a:avLst>
              <a:gd name="adj" fmla="val 33333"/>
            </a:avLst>
          </a:prstGeom>
          <a:solidFill>
            <a:srgbClr val="4F46E5"/>
          </a:solidFill>
          <a:ln/>
        </p:spPr>
      </p:sp>
      <p:sp>
        <p:nvSpPr>
          <p:cNvPr id="10" name="Text 8"/>
          <p:cNvSpPr/>
          <p:nvPr/>
        </p:nvSpPr>
        <p:spPr>
          <a:xfrm>
            <a:off x="809625" y="177069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Allocation is driven by when you need the money and how much loss you can absorb — not feelings.</a:t>
            </a:r>
            <a:endParaRPr lang="en-US" sz="1350" dirty="0"/>
          </a:p>
        </p:txBody>
      </p:sp>
      <p:sp>
        <p:nvSpPr>
          <p:cNvPr id="11" name="Shape 9"/>
          <p:cNvSpPr/>
          <p:nvPr/>
        </p:nvSpPr>
        <p:spPr>
          <a:xfrm>
            <a:off x="609600" y="2548890"/>
            <a:ext cx="85725" cy="85725"/>
          </a:xfrm>
          <a:prstGeom prst="roundRect">
            <a:avLst>
              <a:gd name="adj" fmla="val 33333"/>
            </a:avLst>
          </a:prstGeom>
          <a:solidFill>
            <a:srgbClr val="4F46E5"/>
          </a:solidFill>
          <a:ln/>
        </p:spPr>
      </p:sp>
      <p:sp>
        <p:nvSpPr>
          <p:cNvPr id="12" name="Text 10"/>
          <p:cNvSpPr/>
          <p:nvPr/>
        </p:nvSpPr>
        <p:spPr>
          <a:xfrm>
            <a:off x="809625" y="245459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Short-term (0–3 yr) = preservation: T-bills ~3.7%, money-market ~3.56% (state-tax-exempt).</a:t>
            </a:r>
            <a:endParaRPr lang="en-US" sz="1350" dirty="0"/>
          </a:p>
        </p:txBody>
      </p:sp>
      <p:sp>
        <p:nvSpPr>
          <p:cNvPr id="13" name="Shape 11"/>
          <p:cNvSpPr/>
          <p:nvPr/>
        </p:nvSpPr>
        <p:spPr>
          <a:xfrm>
            <a:off x="609600" y="3232785"/>
            <a:ext cx="85725" cy="85725"/>
          </a:xfrm>
          <a:prstGeom prst="roundRect">
            <a:avLst>
              <a:gd name="adj" fmla="val 33333"/>
            </a:avLst>
          </a:prstGeom>
          <a:solidFill>
            <a:srgbClr val="4F46E5"/>
          </a:solidFill>
          <a:ln/>
        </p:spPr>
      </p:sp>
      <p:sp>
        <p:nvSpPr>
          <p:cNvPr id="14" name="Text 12"/>
          <p:cNvSpPr/>
          <p:nvPr/>
        </p:nvSpPr>
        <p:spPr>
          <a:xfrm>
            <a:off x="809625" y="313848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Long-term (10+ yr) = equity-heavy; retirement = a glide path that de-risks with age.</a:t>
            </a:r>
            <a:endParaRPr lang="en-US" sz="1350" dirty="0"/>
          </a:p>
        </p:txBody>
      </p:sp>
      <p:sp>
        <p:nvSpPr>
          <p:cNvPr id="15" name="Shape 13"/>
          <p:cNvSpPr/>
          <p:nvPr/>
        </p:nvSpPr>
        <p:spPr>
          <a:xfrm>
            <a:off x="609600" y="3916680"/>
            <a:ext cx="85725" cy="85725"/>
          </a:xfrm>
          <a:prstGeom prst="roundRect">
            <a:avLst>
              <a:gd name="adj" fmla="val 33333"/>
            </a:avLst>
          </a:prstGeom>
          <a:solidFill>
            <a:srgbClr val="4F46E5"/>
          </a:solidFill>
          <a:ln/>
        </p:spPr>
      </p:sp>
      <p:sp>
        <p:nvSpPr>
          <p:cNvPr id="16" name="Text 14"/>
          <p:cNvSpPr/>
          <p:nvPr/>
        </p:nvSpPr>
        <p:spPr>
          <a:xfrm>
            <a:off x="809625" y="3851910"/>
            <a:ext cx="5225304" cy="24479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Vanguard’s default: ~90% equity early → 30/70 by age 72.</a:t>
            </a:r>
            <a:endParaRPr lang="en-US" sz="1350" dirty="0"/>
          </a:p>
        </p:txBody>
      </p:sp>
      <p:sp>
        <p:nvSpPr>
          <p:cNvPr id="17" name="Text 15"/>
          <p:cNvSpPr/>
          <p:nvPr/>
        </p:nvSpPr>
        <p:spPr>
          <a:xfrm>
            <a:off x="708025" y="4164330"/>
            <a:ext cx="543290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“110/120 − age” is a sanity check, not a prescription — age is a crude proxy.</a:t>
            </a:r>
            <a:endParaRPr lang="en-US" sz="1125" dirty="0"/>
          </a:p>
        </p:txBody>
      </p:sp>
      <p:sp>
        <p:nvSpPr>
          <p:cNvPr id="18" name="Shape 16"/>
          <p:cNvSpPr/>
          <p:nvPr/>
        </p:nvSpPr>
        <p:spPr>
          <a:xfrm>
            <a:off x="6802596" y="609600"/>
            <a:ext cx="4779804" cy="1616710"/>
          </a:xfrm>
          <a:prstGeom prst="roundRect">
            <a:avLst>
              <a:gd name="adj" fmla="val 8248"/>
            </a:avLst>
          </a:prstGeom>
          <a:solidFill>
            <a:srgbClr val="F6F7FB"/>
          </a:solidFill>
          <a:ln w="6667">
            <a:solidFill>
              <a:srgbClr val="E5E8F0"/>
            </a:solidFill>
            <a:prstDash val="solid"/>
          </a:ln>
        </p:spPr>
      </p:sp>
      <p:sp>
        <p:nvSpPr>
          <p:cNvPr id="19" name="Text 17"/>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0" name="Text 18"/>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T-bill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Treasury bill</a:t>
            </a:r>
            <a:endParaRPr lang="en-US" sz="1163" dirty="0"/>
          </a:p>
        </p:txBody>
      </p:sp>
      <p:sp>
        <p:nvSpPr>
          <p:cNvPr id="21" name="Text 19"/>
          <p:cNvSpPr/>
          <p:nvPr/>
        </p:nvSpPr>
        <p:spPr>
          <a:xfrm>
            <a:off x="6999763" y="1255871"/>
            <a:ext cx="4824016"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state-tax-exempt interest</a:t>
            </a:r>
            <a:endParaRPr lang="en-US" sz="938" dirty="0"/>
          </a:p>
        </p:txBody>
      </p:sp>
      <p:sp>
        <p:nvSpPr>
          <p:cNvPr id="22" name="Text 20"/>
          <p:cNvSpPr/>
          <p:nvPr/>
        </p:nvSpPr>
        <p:spPr>
          <a:xfrm>
            <a:off x="6999763" y="1540510"/>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Glide path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allocation that de-risks with age</a:t>
            </a:r>
            <a:endParaRPr lang="en-US" sz="1163" dirty="0"/>
          </a:p>
        </p:txBody>
      </p:sp>
      <p:sp>
        <p:nvSpPr>
          <p:cNvPr id="23" name="Text 21"/>
          <p:cNvSpPr/>
          <p:nvPr/>
        </p:nvSpPr>
        <p:spPr>
          <a:xfrm>
            <a:off x="6999763" y="1856264"/>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ERP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Equity Risk Premium</a:t>
            </a:r>
            <a:endParaRPr lang="en-US" sz="1163" dirty="0"/>
          </a:p>
        </p:txBody>
      </p:sp>
      <p:sp>
        <p:nvSpPr>
          <p:cNvPr id="24" name="Text 22"/>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022332"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M8 · WHERE TO HOLD IT</a:t>
            </a:r>
            <a:endParaRPr lang="en-US" sz="975" dirty="0"/>
          </a:p>
        </p:txBody>
      </p:sp>
      <p:sp>
        <p:nvSpPr>
          <p:cNvPr id="8" name="Text 6"/>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Roth vs. traditional</a:t>
            </a:r>
            <a:endParaRPr lang="en-US" sz="3000" dirty="0"/>
          </a:p>
        </p:txBody>
      </p:sp>
      <p:sp>
        <p:nvSpPr>
          <p:cNvPr id="9" name="Shape 7"/>
          <p:cNvSpPr/>
          <p:nvPr/>
        </p:nvSpPr>
        <p:spPr>
          <a:xfrm>
            <a:off x="609600" y="1808797"/>
            <a:ext cx="5372100" cy="3645218"/>
          </a:xfrm>
          <a:prstGeom prst="roundRect">
            <a:avLst>
              <a:gd name="adj" fmla="val 3136"/>
            </a:avLst>
          </a:prstGeom>
          <a:solidFill>
            <a:srgbClr val="FFFFFF"/>
          </a:solidFill>
          <a:ln w="6667">
            <a:solidFill>
              <a:srgbClr val="E5E8F0"/>
            </a:solidFill>
            <a:prstDash val="solid"/>
          </a:ln>
        </p:spPr>
      </p:sp>
      <p:sp>
        <p:nvSpPr>
          <p:cNvPr id="10" name="Text 8"/>
          <p:cNvSpPr/>
          <p:nvPr/>
        </p:nvSpPr>
        <p:spPr>
          <a:xfrm>
            <a:off x="844867" y="2044065"/>
            <a:ext cx="1069023"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0B1220"/>
                </a:solidFill>
                <a:latin typeface="Arial" pitchFamily="34" charset="0"/>
                <a:ea typeface="Arial" pitchFamily="34" charset="-122"/>
                <a:cs typeface="Arial" pitchFamily="34" charset="-120"/>
              </a:rPr>
              <a:t>Traditional</a:t>
            </a:r>
            <a:endParaRPr lang="en-US" sz="1500" dirty="0"/>
          </a:p>
        </p:txBody>
      </p:sp>
      <p:sp>
        <p:nvSpPr>
          <p:cNvPr id="11" name="Text 9"/>
          <p:cNvSpPr/>
          <p:nvPr/>
        </p:nvSpPr>
        <p:spPr>
          <a:xfrm>
            <a:off x="844867"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tax-later</a:t>
            </a:r>
            <a:endParaRPr lang="en-US" sz="1125" dirty="0"/>
          </a:p>
        </p:txBody>
      </p:sp>
      <p:sp>
        <p:nvSpPr>
          <p:cNvPr id="12" name="Text 10"/>
          <p:cNvSpPr/>
          <p:nvPr/>
        </p:nvSpPr>
        <p:spPr>
          <a:xfrm>
            <a:off x="743267"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Pre-tax in → deduction now</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Grows tax-deferred</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Taxed as income at withdrawal</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RMDs forced starting in your 70s</a:t>
            </a:r>
            <a:endParaRPr lang="en-US" sz="1125" dirty="0"/>
          </a:p>
        </p:txBody>
      </p:sp>
      <p:sp>
        <p:nvSpPr>
          <p:cNvPr id="13" name="Shape 11"/>
          <p:cNvSpPr/>
          <p:nvPr/>
        </p:nvSpPr>
        <p:spPr>
          <a:xfrm>
            <a:off x="6210300" y="1808797"/>
            <a:ext cx="5372100" cy="3645218"/>
          </a:xfrm>
          <a:prstGeom prst="roundRect">
            <a:avLst>
              <a:gd name="adj" fmla="val 3136"/>
            </a:avLst>
          </a:prstGeom>
          <a:solidFill>
            <a:srgbClr val="EEF2FF"/>
          </a:solidFill>
          <a:ln w="6667">
            <a:solidFill>
              <a:srgbClr val="C7D2FE"/>
            </a:solidFill>
            <a:prstDash val="solid"/>
          </a:ln>
        </p:spPr>
      </p:sp>
      <p:sp>
        <p:nvSpPr>
          <p:cNvPr id="14" name="Text 12"/>
          <p:cNvSpPr/>
          <p:nvPr/>
        </p:nvSpPr>
        <p:spPr>
          <a:xfrm>
            <a:off x="6445568" y="2044065"/>
            <a:ext cx="504825"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dirty="0">
                <a:solidFill>
                  <a:srgbClr val="3730A3"/>
                </a:solidFill>
                <a:latin typeface="Arial" pitchFamily="34" charset="0"/>
                <a:ea typeface="Arial" pitchFamily="34" charset="-122"/>
                <a:cs typeface="Arial" pitchFamily="34" charset="-120"/>
              </a:rPr>
              <a:t>Roth</a:t>
            </a:r>
            <a:endParaRPr lang="en-US" sz="1500" dirty="0"/>
          </a:p>
        </p:txBody>
      </p:sp>
      <p:sp>
        <p:nvSpPr>
          <p:cNvPr id="15" name="Text 13"/>
          <p:cNvSpPr/>
          <p:nvPr/>
        </p:nvSpPr>
        <p:spPr>
          <a:xfrm>
            <a:off x="6445568" y="2415540"/>
            <a:ext cx="539172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tax-now</a:t>
            </a:r>
            <a:endParaRPr lang="en-US" sz="1125" dirty="0"/>
          </a:p>
        </p:txBody>
      </p:sp>
      <p:sp>
        <p:nvSpPr>
          <p:cNvPr id="16" name="Text 14"/>
          <p:cNvSpPr/>
          <p:nvPr/>
        </p:nvSpPr>
        <p:spPr>
          <a:xfrm>
            <a:off x="6343968" y="2789396"/>
            <a:ext cx="5079365" cy="10953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After-tax in → no deduction</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Qualified withdrawals come out tax-free</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No RMDs, ever</a:t>
            </a:r>
            <a:endParaRPr lang="en-US" sz="1125" dirty="0"/>
          </a:p>
          <a:p>
            <a:pPr algn="l" indent="0" marL="0">
              <a:lnSpc>
                <a:spcPct val="125000"/>
              </a:lnSpc>
              <a:buNone/>
            </a:pPr>
            <a:r>
              <a:rPr lang="en-US" sz="1125" dirty="0">
                <a:solidFill>
                  <a:srgbClr val="1E293B"/>
                </a:solidFill>
                <a:latin typeface="Arial" pitchFamily="34" charset="0"/>
                <a:ea typeface="Arial" pitchFamily="34" charset="-122"/>
                <a:cs typeface="Arial" pitchFamily="34" charset="-120"/>
              </a:rPr>
              <a:t>Backdoor Roth above the income limits</a:t>
            </a:r>
            <a:endParaRPr lang="en-US" sz="1125" dirty="0"/>
          </a:p>
        </p:txBody>
      </p:sp>
      <p:sp>
        <p:nvSpPr>
          <p:cNvPr id="17" name="Text 15"/>
          <p:cNvSpPr/>
          <p:nvPr/>
        </p:nvSpPr>
        <p:spPr>
          <a:xfrm>
            <a:off x="609600" y="5682615"/>
            <a:ext cx="12070080"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HSA is the only triple tax advantage — pre-tax in, tax-free growth, tax-free out for medical (requires an HDHP).</a:t>
            </a:r>
            <a:endParaRPr lang="en-US" sz="1125" dirty="0"/>
          </a:p>
        </p:txBody>
      </p:sp>
      <p:sp>
        <p:nvSpPr>
          <p:cNvPr id="18" name="Text 16"/>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63346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M8 · THE 2026 NUMBERS</a:t>
            </a:r>
            <a:endParaRPr lang="en-US" sz="975" dirty="0"/>
          </a:p>
        </p:txBody>
      </p:sp>
      <p:sp>
        <p:nvSpPr>
          <p:cNvPr id="8" name="Text 6"/>
          <p:cNvSpPr/>
          <p:nvPr/>
        </p:nvSpPr>
        <p:spPr>
          <a:xfrm>
            <a:off x="609600" y="896779"/>
            <a:ext cx="8633460"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Limits &amp; tax rates to know</a:t>
            </a:r>
            <a:endParaRPr lang="en-US" sz="3000" dirty="0"/>
          </a:p>
        </p:txBody>
      </p:sp>
      <p:sp>
        <p:nvSpPr>
          <p:cNvPr id="9" name="Shape 7"/>
          <p:cNvSpPr/>
          <p:nvPr/>
        </p:nvSpPr>
        <p:spPr>
          <a:xfrm>
            <a:off x="609600" y="1483519"/>
            <a:ext cx="3819525" cy="3806190"/>
          </a:xfrm>
          <a:prstGeom prst="roundRect">
            <a:avLst>
              <a:gd name="adj" fmla="val 3003"/>
            </a:avLst>
          </a:prstGeom>
          <a:ln w="6667">
            <a:solidFill>
              <a:srgbClr val="E5E8F0"/>
            </a:solidFill>
            <a:prstDash val="solid"/>
          </a:ln>
        </p:spPr>
      </p:sp>
      <p:sp>
        <p:nvSpPr>
          <p:cNvPr id="10" name="Text 8"/>
          <p:cNvSpPr/>
          <p:nvPr/>
        </p:nvSpPr>
        <p:spPr>
          <a:xfrm>
            <a:off x="806767" y="1661636"/>
            <a:ext cx="3767709"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59" kern="0" dirty="0">
                <a:solidFill>
                  <a:srgbClr val="4F46E5"/>
                </a:solidFill>
                <a:latin typeface="Arial" pitchFamily="34" charset="0"/>
                <a:ea typeface="Arial" pitchFamily="34" charset="-122"/>
                <a:cs typeface="Arial" pitchFamily="34" charset="-120"/>
              </a:rPr>
              <a:t>CONTRIBUTION LIMITS</a:t>
            </a:r>
            <a:endParaRPr lang="en-US" sz="975" dirty="0"/>
          </a:p>
        </p:txBody>
      </p:sp>
      <p:sp>
        <p:nvSpPr>
          <p:cNvPr id="11" name="Shape 9"/>
          <p:cNvSpPr/>
          <p:nvPr/>
        </p:nvSpPr>
        <p:spPr>
          <a:xfrm>
            <a:off x="806767" y="2386012"/>
            <a:ext cx="3425190" cy="9525"/>
          </a:xfrm>
          <a:prstGeom prst="rect">
            <a:avLst/>
          </a:prstGeom>
          <a:solidFill>
            <a:srgbClr val="E5E8F0"/>
          </a:solidFill>
          <a:ln/>
        </p:spPr>
      </p:sp>
      <p:sp>
        <p:nvSpPr>
          <p:cNvPr id="12" name="Text 10"/>
          <p:cNvSpPr/>
          <p:nvPr/>
        </p:nvSpPr>
        <p:spPr>
          <a:xfrm>
            <a:off x="806767" y="2053590"/>
            <a:ext cx="1265555"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401(k) deferral</a:t>
            </a:r>
            <a:endParaRPr lang="en-US" sz="1350" dirty="0"/>
          </a:p>
        </p:txBody>
      </p:sp>
      <p:sp>
        <p:nvSpPr>
          <p:cNvPr id="13" name="Text 11"/>
          <p:cNvSpPr/>
          <p:nvPr/>
        </p:nvSpPr>
        <p:spPr>
          <a:xfrm>
            <a:off x="3519646" y="2053590"/>
            <a:ext cx="788511"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$24,500</a:t>
            </a:r>
            <a:endParaRPr lang="en-US" sz="1350" dirty="0"/>
          </a:p>
        </p:txBody>
      </p:sp>
      <p:sp>
        <p:nvSpPr>
          <p:cNvPr id="14" name="Shape 12"/>
          <p:cNvSpPr/>
          <p:nvPr/>
        </p:nvSpPr>
        <p:spPr>
          <a:xfrm>
            <a:off x="806767" y="2791778"/>
            <a:ext cx="3425190" cy="9525"/>
          </a:xfrm>
          <a:prstGeom prst="rect">
            <a:avLst/>
          </a:prstGeom>
          <a:solidFill>
            <a:srgbClr val="E5E8F0"/>
          </a:solidFill>
          <a:ln/>
        </p:spPr>
      </p:sp>
      <p:sp>
        <p:nvSpPr>
          <p:cNvPr id="15" name="Text 13"/>
          <p:cNvSpPr/>
          <p:nvPr/>
        </p:nvSpPr>
        <p:spPr>
          <a:xfrm>
            <a:off x="806767" y="2459355"/>
            <a:ext cx="1200150"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IRA / Roth IRA</a:t>
            </a:r>
            <a:endParaRPr lang="en-US" sz="1350" dirty="0"/>
          </a:p>
        </p:txBody>
      </p:sp>
      <p:sp>
        <p:nvSpPr>
          <p:cNvPr id="16" name="Text 14"/>
          <p:cNvSpPr/>
          <p:nvPr/>
        </p:nvSpPr>
        <p:spPr>
          <a:xfrm>
            <a:off x="3630454" y="2459355"/>
            <a:ext cx="67770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$7,500</a:t>
            </a:r>
            <a:endParaRPr lang="en-US" sz="1350" dirty="0"/>
          </a:p>
        </p:txBody>
      </p:sp>
      <p:sp>
        <p:nvSpPr>
          <p:cNvPr id="17" name="Shape 15"/>
          <p:cNvSpPr/>
          <p:nvPr/>
        </p:nvSpPr>
        <p:spPr>
          <a:xfrm>
            <a:off x="806767" y="3197542"/>
            <a:ext cx="3425190" cy="9525"/>
          </a:xfrm>
          <a:prstGeom prst="rect">
            <a:avLst/>
          </a:prstGeom>
          <a:solidFill>
            <a:srgbClr val="E5E8F0"/>
          </a:solidFill>
          <a:ln/>
        </p:spPr>
      </p:sp>
      <p:sp>
        <p:nvSpPr>
          <p:cNvPr id="18" name="Text 16"/>
          <p:cNvSpPr/>
          <p:nvPr/>
        </p:nvSpPr>
        <p:spPr>
          <a:xfrm>
            <a:off x="806767" y="2865120"/>
            <a:ext cx="967899"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HSA family</a:t>
            </a:r>
            <a:endParaRPr lang="en-US" sz="1350" dirty="0"/>
          </a:p>
        </p:txBody>
      </p:sp>
      <p:sp>
        <p:nvSpPr>
          <p:cNvPr id="19" name="Text 17"/>
          <p:cNvSpPr/>
          <p:nvPr/>
        </p:nvSpPr>
        <p:spPr>
          <a:xfrm>
            <a:off x="3630454" y="2865120"/>
            <a:ext cx="67770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$8,750</a:t>
            </a:r>
            <a:endParaRPr lang="en-US" sz="1350" dirty="0"/>
          </a:p>
        </p:txBody>
      </p:sp>
      <p:sp>
        <p:nvSpPr>
          <p:cNvPr id="20" name="Text 18"/>
          <p:cNvSpPr/>
          <p:nvPr/>
        </p:nvSpPr>
        <p:spPr>
          <a:xfrm>
            <a:off x="806767" y="3270885"/>
            <a:ext cx="120856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Catch-up 50+</a:t>
            </a:r>
            <a:endParaRPr lang="en-US" sz="1350" dirty="0"/>
          </a:p>
        </p:txBody>
      </p:sp>
      <p:sp>
        <p:nvSpPr>
          <p:cNvPr id="21" name="Text 19"/>
          <p:cNvSpPr/>
          <p:nvPr/>
        </p:nvSpPr>
        <p:spPr>
          <a:xfrm>
            <a:off x="3519646" y="3270885"/>
            <a:ext cx="788511"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+$8,000</a:t>
            </a:r>
            <a:endParaRPr lang="en-US" sz="1350" dirty="0"/>
          </a:p>
        </p:txBody>
      </p:sp>
      <p:sp>
        <p:nvSpPr>
          <p:cNvPr id="22" name="Shape 20"/>
          <p:cNvSpPr/>
          <p:nvPr/>
        </p:nvSpPr>
        <p:spPr>
          <a:xfrm>
            <a:off x="4638675" y="1483519"/>
            <a:ext cx="3819525" cy="3806190"/>
          </a:xfrm>
          <a:prstGeom prst="roundRect">
            <a:avLst>
              <a:gd name="adj" fmla="val 3003"/>
            </a:avLst>
          </a:prstGeom>
          <a:ln w="6667">
            <a:solidFill>
              <a:srgbClr val="E5E8F0"/>
            </a:solidFill>
            <a:prstDash val="solid"/>
          </a:ln>
        </p:spPr>
      </p:sp>
      <p:sp>
        <p:nvSpPr>
          <p:cNvPr id="23" name="Text 21"/>
          <p:cNvSpPr/>
          <p:nvPr/>
        </p:nvSpPr>
        <p:spPr>
          <a:xfrm>
            <a:off x="4835843" y="1661636"/>
            <a:ext cx="3767709"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59" kern="0" dirty="0">
                <a:solidFill>
                  <a:srgbClr val="4F46E5"/>
                </a:solidFill>
                <a:latin typeface="Arial" pitchFamily="34" charset="0"/>
                <a:ea typeface="Arial" pitchFamily="34" charset="-122"/>
                <a:cs typeface="Arial" pitchFamily="34" charset="-120"/>
              </a:rPr>
              <a:t>CAPITAL GAINS</a:t>
            </a:r>
            <a:endParaRPr lang="en-US" sz="975" dirty="0"/>
          </a:p>
        </p:txBody>
      </p:sp>
      <p:sp>
        <p:nvSpPr>
          <p:cNvPr id="24" name="Shape 22"/>
          <p:cNvSpPr/>
          <p:nvPr/>
        </p:nvSpPr>
        <p:spPr>
          <a:xfrm>
            <a:off x="4835843" y="2386012"/>
            <a:ext cx="3425190" cy="9525"/>
          </a:xfrm>
          <a:prstGeom prst="rect">
            <a:avLst/>
          </a:prstGeom>
          <a:solidFill>
            <a:srgbClr val="E5E8F0"/>
          </a:solidFill>
          <a:ln/>
        </p:spPr>
      </p:sp>
      <p:sp>
        <p:nvSpPr>
          <p:cNvPr id="25" name="Text 23"/>
          <p:cNvSpPr/>
          <p:nvPr/>
        </p:nvSpPr>
        <p:spPr>
          <a:xfrm>
            <a:off x="4835843" y="2053590"/>
            <a:ext cx="156516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Long-term (&gt;1 yr)</a:t>
            </a:r>
            <a:endParaRPr lang="en-US" sz="1350" dirty="0"/>
          </a:p>
        </p:txBody>
      </p:sp>
      <p:sp>
        <p:nvSpPr>
          <p:cNvPr id="26" name="Text 24"/>
          <p:cNvSpPr/>
          <p:nvPr/>
        </p:nvSpPr>
        <p:spPr>
          <a:xfrm>
            <a:off x="7215664" y="2053590"/>
            <a:ext cx="1121569"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0 / 15 / 20%</a:t>
            </a:r>
            <a:endParaRPr lang="en-US" sz="1350" dirty="0"/>
          </a:p>
        </p:txBody>
      </p:sp>
      <p:sp>
        <p:nvSpPr>
          <p:cNvPr id="27" name="Shape 25"/>
          <p:cNvSpPr/>
          <p:nvPr/>
        </p:nvSpPr>
        <p:spPr>
          <a:xfrm>
            <a:off x="4835843" y="2791778"/>
            <a:ext cx="3425190" cy="9525"/>
          </a:xfrm>
          <a:prstGeom prst="rect">
            <a:avLst/>
          </a:prstGeom>
          <a:solidFill>
            <a:srgbClr val="E5E8F0"/>
          </a:solidFill>
          <a:ln/>
        </p:spPr>
      </p:sp>
      <p:sp>
        <p:nvSpPr>
          <p:cNvPr id="28" name="Text 26"/>
          <p:cNvSpPr/>
          <p:nvPr/>
        </p:nvSpPr>
        <p:spPr>
          <a:xfrm>
            <a:off x="4835843" y="2459355"/>
            <a:ext cx="1577562"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Short-term (≤1 yr)</a:t>
            </a:r>
            <a:endParaRPr lang="en-US" sz="1350" dirty="0"/>
          </a:p>
        </p:txBody>
      </p:sp>
      <p:sp>
        <p:nvSpPr>
          <p:cNvPr id="29" name="Text 27"/>
          <p:cNvSpPr/>
          <p:nvPr/>
        </p:nvSpPr>
        <p:spPr>
          <a:xfrm>
            <a:off x="7553801" y="2459355"/>
            <a:ext cx="783431"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ordinary</a:t>
            </a:r>
            <a:endParaRPr lang="en-US" sz="1350" dirty="0"/>
          </a:p>
        </p:txBody>
      </p:sp>
      <p:sp>
        <p:nvSpPr>
          <p:cNvPr id="30" name="Shape 28"/>
          <p:cNvSpPr/>
          <p:nvPr/>
        </p:nvSpPr>
        <p:spPr>
          <a:xfrm>
            <a:off x="4835843" y="3197542"/>
            <a:ext cx="3425190" cy="9525"/>
          </a:xfrm>
          <a:prstGeom prst="rect">
            <a:avLst/>
          </a:prstGeom>
          <a:solidFill>
            <a:srgbClr val="E5E8F0"/>
          </a:solidFill>
          <a:ln/>
        </p:spPr>
      </p:sp>
      <p:sp>
        <p:nvSpPr>
          <p:cNvPr id="31" name="Text 29"/>
          <p:cNvSpPr/>
          <p:nvPr/>
        </p:nvSpPr>
        <p:spPr>
          <a:xfrm>
            <a:off x="4835843" y="2865120"/>
            <a:ext cx="962660"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NIIT surtax</a:t>
            </a:r>
            <a:endParaRPr lang="en-US" sz="1350" dirty="0"/>
          </a:p>
        </p:txBody>
      </p:sp>
      <p:sp>
        <p:nvSpPr>
          <p:cNvPr id="32" name="Text 30"/>
          <p:cNvSpPr/>
          <p:nvPr/>
        </p:nvSpPr>
        <p:spPr>
          <a:xfrm>
            <a:off x="7708424" y="2865120"/>
            <a:ext cx="628809"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+3.8%</a:t>
            </a:r>
            <a:endParaRPr lang="en-US" sz="1350" dirty="0"/>
          </a:p>
        </p:txBody>
      </p:sp>
      <p:sp>
        <p:nvSpPr>
          <p:cNvPr id="33" name="Text 31"/>
          <p:cNvSpPr/>
          <p:nvPr/>
        </p:nvSpPr>
        <p:spPr>
          <a:xfrm>
            <a:off x="4835843" y="3270885"/>
            <a:ext cx="1335707"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5B6472"/>
                </a:solidFill>
                <a:latin typeface="Arial" pitchFamily="34" charset="0"/>
                <a:ea typeface="Arial" pitchFamily="34" charset="-122"/>
                <a:cs typeface="Arial" pitchFamily="34" charset="-120"/>
              </a:rPr>
              <a:t>Loss offset / yr</a:t>
            </a:r>
            <a:endParaRPr lang="en-US" sz="1350" dirty="0"/>
          </a:p>
        </p:txBody>
      </p:sp>
      <p:sp>
        <p:nvSpPr>
          <p:cNvPr id="34" name="Text 32"/>
          <p:cNvSpPr/>
          <p:nvPr/>
        </p:nvSpPr>
        <p:spPr>
          <a:xfrm>
            <a:off x="7659529" y="3270885"/>
            <a:ext cx="67770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0B1220"/>
                </a:solidFill>
                <a:latin typeface="Arial" pitchFamily="34" charset="0"/>
                <a:ea typeface="Arial" pitchFamily="34" charset="-122"/>
                <a:cs typeface="Arial" pitchFamily="34" charset="-120"/>
              </a:rPr>
              <a:t>$3,000</a:t>
            </a:r>
            <a:endParaRPr lang="en-US" sz="1350" dirty="0"/>
          </a:p>
        </p:txBody>
      </p:sp>
      <p:sp>
        <p:nvSpPr>
          <p:cNvPr id="35" name="Text 33"/>
          <p:cNvSpPr/>
          <p:nvPr/>
        </p:nvSpPr>
        <p:spPr>
          <a:xfrm>
            <a:off x="609600" y="5461159"/>
            <a:ext cx="5758256"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Crossing the 1-year mark can move a $20k gain from 24% ($4,800) to 15% ($3,000) — </a:t>
            </a:r>
            <a:pPr algn="l" indent="0" marL="0">
              <a:lnSpc>
                <a:spcPct val="155000"/>
              </a:lnSpc>
              <a:buNone/>
            </a:pPr>
            <a:r>
              <a:rPr lang="en-US" sz="1125" b="1" dirty="0">
                <a:solidFill>
                  <a:srgbClr val="0B1220"/>
                </a:solidFill>
                <a:latin typeface="Arial" pitchFamily="34" charset="0"/>
                <a:ea typeface="Arial" pitchFamily="34" charset="-122"/>
                <a:cs typeface="Arial" pitchFamily="34" charset="-120"/>
              </a:rPr>
              <a:t>$1,800 saved </a:t>
            </a:r>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on the identical gain.</a:t>
            </a:r>
            <a:endParaRPr lang="en-US" sz="1125" dirty="0"/>
          </a:p>
        </p:txBody>
      </p:sp>
      <p:sp>
        <p:nvSpPr>
          <p:cNvPr id="36" name="Shape 34"/>
          <p:cNvSpPr/>
          <p:nvPr/>
        </p:nvSpPr>
        <p:spPr>
          <a:xfrm>
            <a:off x="8839200" y="609600"/>
            <a:ext cx="2743200" cy="2542699"/>
          </a:xfrm>
          <a:prstGeom prst="roundRect">
            <a:avLst>
              <a:gd name="adj" fmla="val 5244"/>
            </a:avLst>
          </a:prstGeom>
          <a:solidFill>
            <a:srgbClr val="F6F7FB"/>
          </a:solidFill>
          <a:ln w="6667">
            <a:solidFill>
              <a:srgbClr val="E5E8F0"/>
            </a:solidFill>
            <a:prstDash val="solid"/>
          </a:ln>
        </p:spPr>
      </p:sp>
      <p:sp>
        <p:nvSpPr>
          <p:cNvPr id="37" name="Text 35"/>
          <p:cNvSpPr/>
          <p:nvPr/>
        </p:nvSpPr>
        <p:spPr>
          <a:xfrm>
            <a:off x="9036368" y="787717"/>
            <a:ext cx="2583752"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38" name="Text 36"/>
          <p:cNvSpPr/>
          <p:nvPr/>
        </p:nvSpPr>
        <p:spPr>
          <a:xfrm>
            <a:off x="9036368" y="1035367"/>
            <a:ext cx="24250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NIIT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Net Investment Income Tax</a:t>
            </a:r>
            <a:endParaRPr lang="en-US" sz="1163" dirty="0"/>
          </a:p>
        </p:txBody>
      </p:sp>
      <p:sp>
        <p:nvSpPr>
          <p:cNvPr id="39" name="Text 37"/>
          <p:cNvSpPr/>
          <p:nvPr/>
        </p:nvSpPr>
        <p:spPr>
          <a:xfrm>
            <a:off x="9036368" y="1447800"/>
            <a:ext cx="2583752" cy="198914"/>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+3.8% above MAGI thresholds</a:t>
            </a:r>
            <a:endParaRPr lang="en-US" sz="938" dirty="0"/>
          </a:p>
        </p:txBody>
      </p:sp>
      <p:sp>
        <p:nvSpPr>
          <p:cNvPr id="40" name="Text 38"/>
          <p:cNvSpPr/>
          <p:nvPr/>
        </p:nvSpPr>
        <p:spPr>
          <a:xfrm>
            <a:off x="9036368" y="1732439"/>
            <a:ext cx="24250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MAGI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Modified Adjusted Gross Income</a:t>
            </a:r>
            <a:endParaRPr lang="en-US" sz="1163" dirty="0"/>
          </a:p>
        </p:txBody>
      </p:sp>
      <p:sp>
        <p:nvSpPr>
          <p:cNvPr id="41" name="Text 39"/>
          <p:cNvSpPr/>
          <p:nvPr/>
        </p:nvSpPr>
        <p:spPr>
          <a:xfrm>
            <a:off x="9036368" y="2240121"/>
            <a:ext cx="2425065" cy="421958"/>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RMD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Required Minimum Distribution</a:t>
            </a:r>
            <a:endParaRPr lang="en-US" sz="1163" dirty="0"/>
          </a:p>
        </p:txBody>
      </p:sp>
      <p:sp>
        <p:nvSpPr>
          <p:cNvPr id="42" name="Text 40"/>
          <p:cNvSpPr/>
          <p:nvPr/>
        </p:nvSpPr>
        <p:spPr>
          <a:xfrm>
            <a:off x="9036368" y="2652554"/>
            <a:ext cx="2425065" cy="359727"/>
          </a:xfrm>
          <a:prstGeom prst="rect">
            <a:avLst/>
          </a:prstGeom>
          <a:noFill/>
          <a:ln/>
        </p:spPr>
        <p:txBody>
          <a:bodyPr wrap="square" lIns="25400" tIns="25400" rIns="25400" bIns="25400" rtlCol="0" anchor="t">
            <a:normAutofit/>
          </a:bodyPr>
          <a:lstStyle/>
          <a:p>
            <a:pPr algn="l" indent="0" marL="0">
              <a:lnSpc>
                <a:spcPct val="135066"/>
              </a:lnSpc>
              <a:buNone/>
            </a:pPr>
            <a:r>
              <a:rPr lang="en-US" sz="938" dirty="0">
                <a:solidFill>
                  <a:srgbClr val="5B6472"/>
                </a:solidFill>
                <a:latin typeface="Arial" pitchFamily="34" charset="0"/>
                <a:ea typeface="Arial" pitchFamily="34" charset="-122"/>
                <a:cs typeface="Arial" pitchFamily="34" charset="-120"/>
              </a:rPr>
              <a:t>forced from traditional accounts in your 70s</a:t>
            </a:r>
            <a:endParaRPr lang="en-US" sz="938" dirty="0"/>
          </a:p>
        </p:txBody>
      </p:sp>
      <p:sp>
        <p:nvSpPr>
          <p:cNvPr id="43" name="Text 41"/>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1816275"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M8 · SELL DISCIPLINE</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When to sell</a:t>
            </a:r>
            <a:endParaRPr lang="en-US" sz="3000" dirty="0"/>
          </a:p>
        </p:txBody>
      </p:sp>
      <p:sp>
        <p:nvSpPr>
          <p:cNvPr id="9" name="Text 7"/>
          <p:cNvSpPr/>
          <p:nvPr/>
        </p:nvSpPr>
        <p:spPr>
          <a:xfrm>
            <a:off x="609600" y="1618297"/>
            <a:ext cx="6309376"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Five legitimate triggers — most everything else is noise.</a:t>
            </a:r>
            <a:endParaRPr lang="en-US" sz="1500" dirty="0"/>
          </a:p>
        </p:txBody>
      </p:sp>
      <p:sp>
        <p:nvSpPr>
          <p:cNvPr id="10" name="Shape 8"/>
          <p:cNvSpPr/>
          <p:nvPr/>
        </p:nvSpPr>
        <p:spPr>
          <a:xfrm>
            <a:off x="609600" y="2312670"/>
            <a:ext cx="85725" cy="85725"/>
          </a:xfrm>
          <a:prstGeom prst="roundRect">
            <a:avLst>
              <a:gd name="adj" fmla="val 33333"/>
            </a:avLst>
          </a:prstGeom>
          <a:solidFill>
            <a:srgbClr val="4F46E5"/>
          </a:solidFill>
          <a:ln/>
        </p:spPr>
      </p:sp>
      <p:sp>
        <p:nvSpPr>
          <p:cNvPr id="11" name="Text 9"/>
          <p:cNvSpPr/>
          <p:nvPr/>
        </p:nvSpPr>
        <p:spPr>
          <a:xfrm>
            <a:off x="809625" y="2218372"/>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The thesis breaks · (b) valuation / price target hit · (c) a materially better opportunity.</a:t>
            </a:r>
            <a:endParaRPr lang="en-US" sz="1350" dirty="0"/>
          </a:p>
        </p:txBody>
      </p:sp>
      <p:sp>
        <p:nvSpPr>
          <p:cNvPr id="12" name="Shape 10"/>
          <p:cNvSpPr/>
          <p:nvPr/>
        </p:nvSpPr>
        <p:spPr>
          <a:xfrm>
            <a:off x="609600" y="2996565"/>
            <a:ext cx="85725" cy="85725"/>
          </a:xfrm>
          <a:prstGeom prst="roundRect">
            <a:avLst>
              <a:gd name="adj" fmla="val 33333"/>
            </a:avLst>
          </a:prstGeom>
          <a:solidFill>
            <a:srgbClr val="4F46E5"/>
          </a:solidFill>
          <a:ln/>
        </p:spPr>
      </p:sp>
      <p:sp>
        <p:nvSpPr>
          <p:cNvPr id="13" name="Text 11"/>
          <p:cNvSpPr/>
          <p:nvPr/>
        </p:nvSpPr>
        <p:spPr>
          <a:xfrm>
            <a:off x="809625" y="290226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(d) Rebalancing or position-size management · (e) tax-loss harvesting.</a:t>
            </a:r>
            <a:endParaRPr lang="en-US" sz="1350" dirty="0"/>
          </a:p>
        </p:txBody>
      </p:sp>
      <p:sp>
        <p:nvSpPr>
          <p:cNvPr id="14" name="Shape 12"/>
          <p:cNvSpPr/>
          <p:nvPr/>
        </p:nvSpPr>
        <p:spPr>
          <a:xfrm>
            <a:off x="609600" y="3680460"/>
            <a:ext cx="85725" cy="85725"/>
          </a:xfrm>
          <a:prstGeom prst="roundRect">
            <a:avLst>
              <a:gd name="adj" fmla="val 33333"/>
            </a:avLst>
          </a:prstGeom>
          <a:solidFill>
            <a:srgbClr val="4F46E5"/>
          </a:solidFill>
          <a:ln/>
        </p:spPr>
      </p:sp>
      <p:sp>
        <p:nvSpPr>
          <p:cNvPr id="15" name="Text 13"/>
          <p:cNvSpPr/>
          <p:nvPr/>
        </p:nvSpPr>
        <p:spPr>
          <a:xfrm>
            <a:off x="809625" y="3615690"/>
            <a:ext cx="5458865"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The core test: would I buy it at today’s price? If not, holding is just inertia.</a:t>
            </a:r>
            <a:endParaRPr lang="en-US" sz="1350" dirty="0"/>
          </a:p>
        </p:txBody>
      </p:sp>
      <p:sp>
        <p:nvSpPr>
          <p:cNvPr id="16" name="Text 14"/>
          <p:cNvSpPr/>
          <p:nvPr/>
        </p:nvSpPr>
        <p:spPr>
          <a:xfrm>
            <a:off x="708025" y="4193857"/>
            <a:ext cx="571357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This strips out your purchase price entirely.</a:t>
            </a:r>
            <a:endParaRPr lang="en-US" sz="1125" dirty="0"/>
          </a:p>
        </p:txBody>
      </p:sp>
      <p:sp>
        <p:nvSpPr>
          <p:cNvPr id="17" name="Shape 15"/>
          <p:cNvSpPr/>
          <p:nvPr/>
        </p:nvSpPr>
        <p:spPr>
          <a:xfrm>
            <a:off x="609600" y="4662011"/>
            <a:ext cx="85725" cy="85725"/>
          </a:xfrm>
          <a:prstGeom prst="roundRect">
            <a:avLst>
              <a:gd name="adj" fmla="val 33333"/>
            </a:avLst>
          </a:prstGeom>
          <a:solidFill>
            <a:srgbClr val="4F46E5"/>
          </a:solidFill>
          <a:ln/>
        </p:spPr>
      </p:sp>
      <p:sp>
        <p:nvSpPr>
          <p:cNvPr id="18" name="Text 16"/>
          <p:cNvSpPr/>
          <p:nvPr/>
        </p:nvSpPr>
        <p:spPr>
          <a:xfrm>
            <a:off x="809625" y="4597241"/>
            <a:ext cx="5576266"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Behavioral trap — the disposition effect: sell winners too early, ride losers too long.</a:t>
            </a:r>
            <a:endParaRPr lang="en-US" sz="1350" dirty="0"/>
          </a:p>
        </p:txBody>
      </p:sp>
      <p:sp>
        <p:nvSpPr>
          <p:cNvPr id="19" name="Text 17"/>
          <p:cNvSpPr/>
          <p:nvPr/>
        </p:nvSpPr>
        <p:spPr>
          <a:xfrm>
            <a:off x="708025" y="5175409"/>
            <a:ext cx="5713571"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~1.5× more likely to sell a winner. But don’t let the tax tail wag the dog.</a:t>
            </a:r>
            <a:endParaRPr lang="en-US" sz="1125" dirty="0"/>
          </a:p>
        </p:txBody>
      </p:sp>
      <p:sp>
        <p:nvSpPr>
          <p:cNvPr id="20" name="Shape 18"/>
          <p:cNvSpPr/>
          <p:nvPr/>
        </p:nvSpPr>
        <p:spPr>
          <a:xfrm>
            <a:off x="6802596" y="609600"/>
            <a:ext cx="4779804" cy="1427321"/>
          </a:xfrm>
          <a:prstGeom prst="roundRect">
            <a:avLst>
              <a:gd name="adj" fmla="val 9343"/>
            </a:avLst>
          </a:prstGeom>
          <a:solidFill>
            <a:srgbClr val="F6F7FB"/>
          </a:solidFill>
          <a:ln w="6667">
            <a:solidFill>
              <a:srgbClr val="E5E8F0"/>
            </a:solidFill>
            <a:prstDash val="solid"/>
          </a:ln>
        </p:spPr>
      </p:sp>
      <p:sp>
        <p:nvSpPr>
          <p:cNvPr id="21" name="Text 19"/>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2" name="Text 20"/>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Disposition effect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selling winners early, holding losers</a:t>
            </a:r>
            <a:endParaRPr lang="en-US" sz="1163" dirty="0"/>
          </a:p>
        </p:txBody>
      </p:sp>
      <p:sp>
        <p:nvSpPr>
          <p:cNvPr id="23" name="Text 21"/>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Wash sale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loss disallowed if you rebuy within 30 days</a:t>
            </a:r>
            <a:endParaRPr lang="en-US" sz="1163" dirty="0"/>
          </a:p>
        </p:txBody>
      </p:sp>
      <p:sp>
        <p:nvSpPr>
          <p:cNvPr id="24" name="Text 22"/>
          <p:cNvSpPr/>
          <p:nvPr/>
        </p:nvSpPr>
        <p:spPr>
          <a:xfrm>
            <a:off x="6999763" y="1666875"/>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RMD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Required Minimum Distribution</a:t>
            </a:r>
            <a:endParaRPr lang="en-US" sz="1163" dirty="0"/>
          </a:p>
        </p:txBody>
      </p:sp>
      <p:sp>
        <p:nvSpPr>
          <p:cNvPr id="25" name="Text 23"/>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2195513"/>
            <a:ext cx="12070080" cy="451485"/>
          </a:xfrm>
          <a:prstGeom prst="rect">
            <a:avLst/>
          </a:prstGeom>
          <a:noFill/>
          <a:ln/>
        </p:spPr>
        <p:txBody>
          <a:bodyPr wrap="square" lIns="25400" tIns="25400" rIns="25400" bIns="25400" rtlCol="0" anchor="t">
            <a:normAutofit/>
          </a:bodyPr>
          <a:lstStyle/>
          <a:p>
            <a:pPr algn="l" indent="0" marL="0">
              <a:lnSpc>
                <a:spcPct val="155000"/>
              </a:lnSpc>
              <a:buNone/>
            </a:pPr>
            <a:r>
              <a:rPr lang="en-US" sz="2100" b="1" spc="42" kern="0" dirty="0">
                <a:solidFill>
                  <a:srgbClr val="C7D2FE"/>
                </a:solidFill>
                <a:latin typeface="Arial" pitchFamily="34" charset="0"/>
                <a:ea typeface="Arial" pitchFamily="34" charset="-122"/>
                <a:cs typeface="Arial" pitchFamily="34" charset="-120"/>
              </a:rPr>
              <a:t>Market moment</a:t>
            </a:r>
            <a:endParaRPr lang="en-US" sz="2100" dirty="0"/>
          </a:p>
        </p:txBody>
      </p:sp>
      <p:sp>
        <p:nvSpPr>
          <p:cNvPr id="4" name="Text 2"/>
          <p:cNvSpPr/>
          <p:nvPr/>
        </p:nvSpPr>
        <p:spPr>
          <a:xfrm>
            <a:off x="609600" y="2723197"/>
            <a:ext cx="6842998" cy="1158240"/>
          </a:xfrm>
          <a:prstGeom prst="rect">
            <a:avLst/>
          </a:prstGeom>
          <a:noFill/>
          <a:ln/>
        </p:spPr>
        <p:txBody>
          <a:bodyPr wrap="square" lIns="25400" tIns="25400" rIns="25400" bIns="25400" rtlCol="0" anchor="t">
            <a:normAutofit/>
          </a:bodyPr>
          <a:lstStyle/>
          <a:p>
            <a:pPr algn="l" indent="0" marL="0">
              <a:lnSpc>
                <a:spcPct val="105000"/>
              </a:lnSpc>
              <a:buNone/>
            </a:pPr>
            <a:r>
              <a:rPr lang="en-US" sz="4200" b="1" spc="-84" kern="0" dirty="0">
                <a:solidFill>
                  <a:srgbClr val="FFFFFF"/>
                </a:solidFill>
                <a:latin typeface="Arial" pitchFamily="34" charset="0"/>
                <a:ea typeface="Arial" pitchFamily="34" charset="-122"/>
                <a:cs typeface="Arial" pitchFamily="34" charset="-120"/>
              </a:rPr>
              <a:t>The most concentrated index in history</a:t>
            </a:r>
            <a:endParaRPr lang="en-US" sz="4200" dirty="0"/>
          </a:p>
        </p:txBody>
      </p:sp>
      <p:sp>
        <p:nvSpPr>
          <p:cNvPr id="5" name="Text 3"/>
          <p:cNvSpPr/>
          <p:nvPr/>
        </p:nvSpPr>
        <p:spPr>
          <a:xfrm>
            <a:off x="609600" y="4071938"/>
            <a:ext cx="6436506"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FFFFFF">
                    <a:alpha val="70000"/>
                  </a:srgbClr>
                </a:solidFill>
                <a:latin typeface="Arial" pitchFamily="34" charset="0"/>
                <a:ea typeface="Arial" pitchFamily="34" charset="-122"/>
                <a:cs typeface="Arial" pitchFamily="34" charset="-120"/>
              </a:rPr>
              <a:t>A handful of AI mega-caps now drive the S&amp;P 500's level, valuation, and earnings — and officialdom is flagging it.</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09600"/>
            <a:ext cx="8444865"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MARKET MOMENT · CONCENTRATION</a:t>
            </a:r>
            <a:endParaRPr lang="en-US" sz="975" dirty="0"/>
          </a:p>
        </p:txBody>
      </p:sp>
      <p:sp>
        <p:nvSpPr>
          <p:cNvPr id="8" name="Text 6"/>
          <p:cNvSpPr/>
          <p:nvPr/>
        </p:nvSpPr>
        <p:spPr>
          <a:xfrm>
            <a:off x="609600" y="896779"/>
            <a:ext cx="8444865" cy="434340"/>
          </a:xfrm>
          <a:prstGeom prst="rect">
            <a:avLst/>
          </a:prstGeom>
          <a:noFill/>
          <a:ln/>
        </p:spPr>
        <p:txBody>
          <a:bodyPr wrap="square" lIns="25400" tIns="25400" rIns="25400" bIns="25400" rtlCol="0" anchor="t">
            <a:normAutofit/>
          </a:bodyPr>
          <a:lstStyle/>
          <a:p>
            <a:pPr algn="l" indent="0" marL="0">
              <a:lnSpc>
                <a:spcPct val="104000"/>
              </a:lnSpc>
              <a:buNone/>
            </a:pPr>
            <a:r>
              <a:rPr lang="en-US" sz="3000" b="1" spc="-30" kern="0" dirty="0">
                <a:solidFill>
                  <a:srgbClr val="0B1220"/>
                </a:solidFill>
                <a:latin typeface="Arial" pitchFamily="34" charset="0"/>
                <a:ea typeface="Arial" pitchFamily="34" charset="-122"/>
                <a:cs typeface="Arial" pitchFamily="34" charset="-120"/>
              </a:rPr>
              <a:t>Top 10 = 41% of the S&amp;P 500</a:t>
            </a:r>
            <a:endParaRPr lang="en-US" sz="3000" dirty="0"/>
          </a:p>
        </p:txBody>
      </p:sp>
      <p:sp>
        <p:nvSpPr>
          <p:cNvPr id="9" name="Text 7"/>
          <p:cNvSpPr/>
          <p:nvPr/>
        </p:nvSpPr>
        <p:spPr>
          <a:xfrm>
            <a:off x="609600" y="1350169"/>
            <a:ext cx="8444865" cy="259556"/>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Share of index market cap held by the ten largest stocks.</a:t>
            </a:r>
            <a:endParaRPr lang="en-US" sz="1125" dirty="0"/>
          </a:p>
        </p:txBody>
      </p:sp>
      <p:sp>
        <p:nvSpPr>
          <p:cNvPr id="10" name="Text 8"/>
          <p:cNvSpPr/>
          <p:nvPr/>
        </p:nvSpPr>
        <p:spPr>
          <a:xfrm>
            <a:off x="830739" y="3954463"/>
            <a:ext cx="471964" cy="303847"/>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5B6472"/>
                </a:solidFill>
                <a:latin typeface="Arial" pitchFamily="34" charset="0"/>
                <a:ea typeface="Arial" pitchFamily="34" charset="-122"/>
                <a:cs typeface="Arial" pitchFamily="34" charset="-120"/>
              </a:rPr>
              <a:t>19%</a:t>
            </a:r>
            <a:endParaRPr lang="en-US" sz="1350" dirty="0"/>
          </a:p>
        </p:txBody>
      </p:sp>
      <p:sp>
        <p:nvSpPr>
          <p:cNvPr id="11" name="Shape 9"/>
          <p:cNvSpPr/>
          <p:nvPr/>
        </p:nvSpPr>
        <p:spPr>
          <a:xfrm>
            <a:off x="609600" y="4296410"/>
            <a:ext cx="838200" cy="1248569"/>
          </a:xfrm>
          <a:prstGeom prst="roundRect">
            <a:avLst>
              <a:gd name="adj" fmla="val 9091"/>
            </a:avLst>
          </a:prstGeom>
          <a:solidFill>
            <a:srgbClr val="C7D2FE"/>
          </a:solidFill>
          <a:ln/>
        </p:spPr>
      </p:sp>
      <p:sp>
        <p:nvSpPr>
          <p:cNvPr id="12" name="Text 10"/>
          <p:cNvSpPr/>
          <p:nvPr/>
        </p:nvSpPr>
        <p:spPr>
          <a:xfrm>
            <a:off x="879316" y="5640229"/>
            <a:ext cx="374968"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2015</a:t>
            </a:r>
            <a:endParaRPr lang="en-US" sz="1050" dirty="0"/>
          </a:p>
        </p:txBody>
      </p:sp>
      <p:sp>
        <p:nvSpPr>
          <p:cNvPr id="13" name="Text 11"/>
          <p:cNvSpPr/>
          <p:nvPr/>
        </p:nvSpPr>
        <p:spPr>
          <a:xfrm>
            <a:off x="1992789" y="3430905"/>
            <a:ext cx="471964" cy="303848"/>
          </a:xfrm>
          <a:prstGeom prst="rect">
            <a:avLst/>
          </a:prstGeom>
          <a:noFill/>
          <a:ln/>
        </p:spPr>
        <p:txBody>
          <a:bodyPr wrap="square" lIns="25400" tIns="25400" rIns="25400" bIns="25400" rtlCol="0" anchor="t">
            <a:normAutofit/>
          </a:bodyPr>
          <a:lstStyle/>
          <a:p>
            <a:pPr algn="l" indent="0" marL="0">
              <a:lnSpc>
                <a:spcPct val="155000"/>
              </a:lnSpc>
              <a:buNone/>
            </a:pPr>
            <a:r>
              <a:rPr lang="en-US" sz="1350" b="1" dirty="0">
                <a:solidFill>
                  <a:srgbClr val="5B6472"/>
                </a:solidFill>
                <a:latin typeface="Arial" pitchFamily="34" charset="0"/>
                <a:ea typeface="Arial" pitchFamily="34" charset="-122"/>
                <a:cs typeface="Arial" pitchFamily="34" charset="-120"/>
              </a:rPr>
              <a:t>27%</a:t>
            </a:r>
            <a:endParaRPr lang="en-US" sz="1350" dirty="0"/>
          </a:p>
        </p:txBody>
      </p:sp>
      <p:sp>
        <p:nvSpPr>
          <p:cNvPr id="14" name="Shape 12"/>
          <p:cNvSpPr/>
          <p:nvPr/>
        </p:nvSpPr>
        <p:spPr>
          <a:xfrm>
            <a:off x="1771650" y="3772853"/>
            <a:ext cx="838200" cy="1772126"/>
          </a:xfrm>
          <a:prstGeom prst="roundRect">
            <a:avLst>
              <a:gd name="adj" fmla="val 9091"/>
            </a:avLst>
          </a:prstGeom>
          <a:solidFill>
            <a:srgbClr val="4F46E5"/>
          </a:solidFill>
          <a:ln/>
        </p:spPr>
      </p:sp>
      <p:sp>
        <p:nvSpPr>
          <p:cNvPr id="15" name="Text 13"/>
          <p:cNvSpPr/>
          <p:nvPr/>
        </p:nvSpPr>
        <p:spPr>
          <a:xfrm>
            <a:off x="1850708" y="5640229"/>
            <a:ext cx="756126"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5B6472"/>
                </a:solidFill>
                <a:latin typeface="Arial" pitchFamily="34" charset="0"/>
                <a:ea typeface="Arial" pitchFamily="34" charset="-122"/>
                <a:cs typeface="Arial" pitchFamily="34" charset="-120"/>
              </a:rPr>
              <a:t>2000 peak</a:t>
            </a:r>
            <a:endParaRPr lang="en-US" sz="1050" dirty="0"/>
          </a:p>
        </p:txBody>
      </p:sp>
      <p:sp>
        <p:nvSpPr>
          <p:cNvPr id="16" name="Text 14"/>
          <p:cNvSpPr/>
          <p:nvPr/>
        </p:nvSpPr>
        <p:spPr>
          <a:xfrm>
            <a:off x="3109754" y="2445544"/>
            <a:ext cx="562292" cy="362903"/>
          </a:xfrm>
          <a:prstGeom prst="rect">
            <a:avLst/>
          </a:prstGeom>
          <a:noFill/>
          <a:ln/>
        </p:spPr>
        <p:txBody>
          <a:bodyPr wrap="square" lIns="25400" tIns="25400" rIns="25400" bIns="25400" rtlCol="0" anchor="t">
            <a:normAutofit/>
          </a:bodyPr>
          <a:lstStyle/>
          <a:p>
            <a:pPr algn="l" indent="0" marL="0">
              <a:lnSpc>
                <a:spcPct val="155000"/>
              </a:lnSpc>
              <a:buNone/>
            </a:pPr>
            <a:r>
              <a:rPr lang="en-US" sz="1650" b="1" dirty="0">
                <a:solidFill>
                  <a:srgbClr val="4F46E5"/>
                </a:solidFill>
                <a:latin typeface="Arial" pitchFamily="34" charset="0"/>
                <a:ea typeface="Arial" pitchFamily="34" charset="-122"/>
                <a:cs typeface="Arial" pitchFamily="34" charset="-120"/>
              </a:rPr>
              <a:t>41%</a:t>
            </a:r>
            <a:endParaRPr lang="en-US" sz="1650" dirty="0"/>
          </a:p>
        </p:txBody>
      </p:sp>
      <p:sp>
        <p:nvSpPr>
          <p:cNvPr id="17" name="Shape 15"/>
          <p:cNvSpPr/>
          <p:nvPr/>
        </p:nvSpPr>
        <p:spPr>
          <a:xfrm>
            <a:off x="2933700" y="2846546"/>
            <a:ext cx="838200" cy="2698432"/>
          </a:xfrm>
          <a:prstGeom prst="roundRect">
            <a:avLst>
              <a:gd name="adj" fmla="val 9091"/>
            </a:avLst>
          </a:prstGeom>
          <a:solidFill>
            <a:srgbClr val="3730A3"/>
          </a:solidFill>
          <a:ln/>
        </p:spPr>
      </p:sp>
      <p:sp>
        <p:nvSpPr>
          <p:cNvPr id="18" name="Text 16"/>
          <p:cNvSpPr/>
          <p:nvPr/>
        </p:nvSpPr>
        <p:spPr>
          <a:xfrm>
            <a:off x="3171349" y="5640229"/>
            <a:ext cx="439103"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0B1220"/>
                </a:solidFill>
                <a:latin typeface="Arial" pitchFamily="34" charset="0"/>
                <a:ea typeface="Arial" pitchFamily="34" charset="-122"/>
                <a:cs typeface="Arial" pitchFamily="34" charset="-120"/>
              </a:rPr>
              <a:t>today</a:t>
            </a:r>
            <a:endParaRPr lang="en-US" sz="1050" dirty="0"/>
          </a:p>
        </p:txBody>
      </p:sp>
      <p:sp>
        <p:nvSpPr>
          <p:cNvPr id="19" name="Shape 17"/>
          <p:cNvSpPr/>
          <p:nvPr/>
        </p:nvSpPr>
        <p:spPr>
          <a:xfrm>
            <a:off x="4095750" y="3604419"/>
            <a:ext cx="9525" cy="457200"/>
          </a:xfrm>
          <a:prstGeom prst="rect">
            <a:avLst/>
          </a:prstGeom>
          <a:solidFill>
            <a:srgbClr val="E5E8F0"/>
          </a:solidFill>
          <a:ln/>
        </p:spPr>
      </p:sp>
      <p:sp>
        <p:nvSpPr>
          <p:cNvPr id="20" name="Text 18"/>
          <p:cNvSpPr/>
          <p:nvPr/>
        </p:nvSpPr>
        <p:spPr>
          <a:xfrm>
            <a:off x="4235768" y="3604419"/>
            <a:ext cx="1856899" cy="495300"/>
          </a:xfrm>
          <a:prstGeom prst="rect">
            <a:avLst/>
          </a:prstGeom>
          <a:noFill/>
          <a:ln/>
        </p:spPr>
        <p:txBody>
          <a:bodyPr wrap="square" lIns="25400" tIns="25400" rIns="25400" bIns="25400" rtlCol="0" anchor="t">
            <a:normAutofit/>
          </a:bodyPr>
          <a:lstStyle/>
          <a:p>
            <a:pPr algn="l" indent="0" marL="0">
              <a:lnSpc>
                <a:spcPct val="120000"/>
              </a:lnSpc>
              <a:buNone/>
            </a:pPr>
            <a:r>
              <a:rPr lang="en-US" sz="1500" b="1" dirty="0">
                <a:solidFill>
                  <a:srgbClr val="0B1220"/>
                </a:solidFill>
                <a:latin typeface="Arial" pitchFamily="34" charset="0"/>
                <a:ea typeface="Arial" pitchFamily="34" charset="-122"/>
                <a:cs typeface="Arial" pitchFamily="34" charset="-120"/>
              </a:rPr>
              <a:t>~1.5× the dot-com record</a:t>
            </a:r>
            <a:endParaRPr lang="en-US" sz="1500" dirty="0"/>
          </a:p>
        </p:txBody>
      </p:sp>
      <p:sp>
        <p:nvSpPr>
          <p:cNvPr id="21" name="Shape 19"/>
          <p:cNvSpPr/>
          <p:nvPr/>
        </p:nvSpPr>
        <p:spPr>
          <a:xfrm>
            <a:off x="8667750" y="1832134"/>
            <a:ext cx="2914650" cy="1750695"/>
          </a:xfrm>
          <a:prstGeom prst="roundRect">
            <a:avLst>
              <a:gd name="adj" fmla="val 7617"/>
            </a:avLst>
          </a:prstGeom>
          <a:solidFill>
            <a:srgbClr val="FFFFFF"/>
          </a:solidFill>
          <a:ln w="6667">
            <a:solidFill>
              <a:srgbClr val="E5E8F0"/>
            </a:solidFill>
            <a:prstDash val="solid"/>
          </a:ln>
        </p:spPr>
      </p:sp>
      <p:sp>
        <p:nvSpPr>
          <p:cNvPr id="22" name="Text 20"/>
          <p:cNvSpPr/>
          <p:nvPr/>
        </p:nvSpPr>
        <p:spPr>
          <a:xfrm>
            <a:off x="8864918" y="2010251"/>
            <a:ext cx="1355439"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dirty="0">
                <a:solidFill>
                  <a:srgbClr val="0B1220"/>
                </a:solidFill>
                <a:latin typeface="Arial" pitchFamily="34" charset="0"/>
                <a:ea typeface="Arial" pitchFamily="34" charset="-122"/>
                <a:cs typeface="Arial" pitchFamily="34" charset="-120"/>
              </a:rPr>
              <a:t>32.7%</a:t>
            </a:r>
            <a:endParaRPr lang="en-US" sz="3000" dirty="0"/>
          </a:p>
        </p:txBody>
      </p:sp>
      <p:sp>
        <p:nvSpPr>
          <p:cNvPr id="23" name="Text 21"/>
          <p:cNvSpPr/>
          <p:nvPr/>
        </p:nvSpPr>
        <p:spPr>
          <a:xfrm>
            <a:off x="8864918" y="2657951"/>
            <a:ext cx="2596515" cy="784860"/>
          </a:xfrm>
          <a:prstGeom prst="rect">
            <a:avLst/>
          </a:prstGeom>
          <a:noFill/>
          <a:ln/>
        </p:spPr>
        <p:txBody>
          <a:bodyPr wrap="square" lIns="25400" tIns="25400" rIns="25400" bIns="25400" rtlCol="0" anchor="t">
            <a:normAutofit/>
          </a:bodyPr>
          <a:lstStyle/>
          <a:p>
            <a:pPr algn="l" indent="0" marL="0">
              <a:lnSpc>
                <a:spcPct val="140000"/>
              </a:lnSpc>
              <a:buNone/>
            </a:pPr>
            <a:r>
              <a:rPr lang="en-US" sz="1050" dirty="0">
                <a:solidFill>
                  <a:srgbClr val="5B6472"/>
                </a:solidFill>
                <a:latin typeface="Arial" pitchFamily="34" charset="0"/>
                <a:ea typeface="Arial" pitchFamily="34" charset="-122"/>
                <a:cs typeface="Arial" pitchFamily="34" charset="-120"/>
              </a:rPr>
              <a:t>Magnificent 7 share of the S&amp;P 500 (~$22T): NVDA 7.4 · Alphabet 6.6 · Apple 6.4 · Microsoft 4.2 · Amazon 3.8 · Tesla 2.2 · Meta 2.1</a:t>
            </a:r>
            <a:endParaRPr lang="en-US" sz="1050" dirty="0"/>
          </a:p>
        </p:txBody>
      </p:sp>
      <p:sp>
        <p:nvSpPr>
          <p:cNvPr id="24" name="Shape 22"/>
          <p:cNvSpPr/>
          <p:nvPr/>
        </p:nvSpPr>
        <p:spPr>
          <a:xfrm>
            <a:off x="8667750" y="3735229"/>
            <a:ext cx="2914650" cy="946150"/>
          </a:xfrm>
          <a:prstGeom prst="roundRect">
            <a:avLst>
              <a:gd name="adj" fmla="val 14094"/>
            </a:avLst>
          </a:prstGeom>
          <a:solidFill>
            <a:srgbClr val="FFFFFF"/>
          </a:solidFill>
          <a:ln w="6667">
            <a:solidFill>
              <a:srgbClr val="E5E8F0"/>
            </a:solidFill>
            <a:prstDash val="solid"/>
          </a:ln>
        </p:spPr>
      </p:sp>
      <p:sp>
        <p:nvSpPr>
          <p:cNvPr id="25" name="Text 23"/>
          <p:cNvSpPr/>
          <p:nvPr/>
        </p:nvSpPr>
        <p:spPr>
          <a:xfrm>
            <a:off x="8864918" y="3894296"/>
            <a:ext cx="2772347" cy="142875"/>
          </a:xfrm>
          <a:prstGeom prst="rect">
            <a:avLst/>
          </a:prstGeom>
          <a:noFill/>
          <a:ln/>
        </p:spPr>
        <p:txBody>
          <a:bodyPr wrap="square" lIns="25400" tIns="25400" rIns="25400" bIns="25400" rtlCol="0" anchor="t">
            <a:normAutofit/>
          </a:bodyPr>
          <a:lstStyle/>
          <a:p>
            <a:pPr algn="l" indent="0" marL="0">
              <a:lnSpc>
                <a:spcPct val="100000"/>
              </a:lnSpc>
              <a:buNone/>
            </a:pPr>
            <a:r>
              <a:rPr lang="en-US" sz="825" b="1" spc="74" kern="0" dirty="0">
                <a:solidFill>
                  <a:srgbClr val="4F46E5"/>
                </a:solidFill>
                <a:latin typeface="Arial" pitchFamily="34" charset="0"/>
                <a:ea typeface="Arial" pitchFamily="34" charset="-122"/>
                <a:cs typeface="Arial" pitchFamily="34" charset="-120"/>
              </a:rPr>
              <a:t>TERMS</a:t>
            </a:r>
            <a:endParaRPr lang="en-US" sz="825" dirty="0"/>
          </a:p>
        </p:txBody>
      </p:sp>
      <p:sp>
        <p:nvSpPr>
          <p:cNvPr id="26" name="Text 24"/>
          <p:cNvSpPr/>
          <p:nvPr/>
        </p:nvSpPr>
        <p:spPr>
          <a:xfrm>
            <a:off x="8864918" y="4094321"/>
            <a:ext cx="2596515" cy="466090"/>
          </a:xfrm>
          <a:prstGeom prst="rect">
            <a:avLst/>
          </a:prstGeom>
          <a:noFill/>
          <a:ln/>
        </p:spPr>
        <p:txBody>
          <a:bodyPr wrap="square" lIns="25400" tIns="25400" rIns="25400" bIns="25400" rtlCol="0" anchor="t">
            <a:normAutofit/>
          </a:bodyPr>
          <a:lstStyle/>
          <a:p>
            <a:pPr algn="l" indent="0" marL="0">
              <a:lnSpc>
                <a:spcPct val="154943"/>
              </a:lnSpc>
              <a:buNone/>
            </a:pPr>
            <a:r>
              <a:rPr lang="en-US" sz="1088" b="1" dirty="0">
                <a:solidFill>
                  <a:srgbClr val="4F46E5"/>
                </a:solidFill>
                <a:latin typeface="Arial" pitchFamily="34" charset="0"/>
                <a:ea typeface="Arial" pitchFamily="34" charset="-122"/>
                <a:cs typeface="Arial" pitchFamily="34" charset="-120"/>
              </a:rPr>
              <a:t>Mag 7 </a:t>
            </a:r>
            <a:pPr algn="l" indent="0" marL="0">
              <a:lnSpc>
                <a:spcPct val="154943"/>
              </a:lnSpc>
              <a:buNone/>
            </a:pPr>
            <a:r>
              <a:rPr lang="en-US" sz="1088" dirty="0">
                <a:solidFill>
                  <a:srgbClr val="0B1220"/>
                </a:solidFill>
                <a:latin typeface="Arial" pitchFamily="34" charset="0"/>
                <a:ea typeface="Arial" pitchFamily="34" charset="-122"/>
                <a:cs typeface="Arial" pitchFamily="34" charset="-120"/>
              </a:rPr>
              <a:t>— the Magnificent Seven mega-caps</a:t>
            </a:r>
            <a:endParaRPr lang="en-US" sz="1088" dirty="0"/>
          </a:p>
        </p:txBody>
      </p:sp>
      <p:sp>
        <p:nvSpPr>
          <p:cNvPr id="27" name="Text 2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452259"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MARKET MOMENT · THE TELL</a:t>
            </a:r>
            <a:endParaRPr lang="en-US" sz="975" dirty="0"/>
          </a:p>
        </p:txBody>
      </p:sp>
      <p:sp>
        <p:nvSpPr>
          <p:cNvPr id="8" name="Text 6"/>
          <p:cNvSpPr/>
          <p:nvPr/>
        </p:nvSpPr>
        <p:spPr>
          <a:xfrm>
            <a:off x="609600" y="989647"/>
            <a:ext cx="6349518" cy="121920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Cap share is running ahead of earnings share</a:t>
            </a:r>
            <a:endParaRPr lang="en-US" sz="3000" dirty="0"/>
          </a:p>
        </p:txBody>
      </p:sp>
      <p:sp>
        <p:nvSpPr>
          <p:cNvPr id="9" name="Shape 7"/>
          <p:cNvSpPr/>
          <p:nvPr/>
        </p:nvSpPr>
        <p:spPr>
          <a:xfrm>
            <a:off x="609600" y="2475547"/>
            <a:ext cx="3505200" cy="3428524"/>
          </a:xfrm>
          <a:prstGeom prst="roundRect">
            <a:avLst>
              <a:gd name="adj" fmla="val 3334"/>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0" name="Text 8"/>
          <p:cNvSpPr/>
          <p:nvPr/>
        </p:nvSpPr>
        <p:spPr>
          <a:xfrm>
            <a:off x="921067" y="3247708"/>
            <a:ext cx="1748155" cy="1048703"/>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41% vs 32%</a:t>
            </a:r>
            <a:endParaRPr lang="en-US" sz="3600" dirty="0"/>
          </a:p>
        </p:txBody>
      </p:sp>
      <p:sp>
        <p:nvSpPr>
          <p:cNvPr id="11" name="Text 9"/>
          <p:cNvSpPr/>
          <p:nvPr/>
        </p:nvSpPr>
        <p:spPr>
          <a:xfrm>
            <a:off x="3463607" y="3562985"/>
            <a:ext cx="415925" cy="323850"/>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10B981"/>
                </a:solidFill>
                <a:latin typeface="Arial" pitchFamily="34" charset="0"/>
                <a:ea typeface="Arial" pitchFamily="34" charset="-122"/>
                <a:cs typeface="Arial" pitchFamily="34" charset="-120"/>
              </a:rPr>
              <a:t>▲ gap</a:t>
            </a:r>
            <a:endParaRPr lang="en-US" sz="1125" dirty="0"/>
          </a:p>
        </p:txBody>
      </p:sp>
      <p:sp>
        <p:nvSpPr>
          <p:cNvPr id="12" name="Text 10"/>
          <p:cNvSpPr/>
          <p:nvPr/>
        </p:nvSpPr>
        <p:spPr>
          <a:xfrm>
            <a:off x="921067" y="4286409"/>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top-10 share of index weight vs. of earnings — paying up for future growth</a:t>
            </a:r>
            <a:endParaRPr lang="en-US" sz="1350" dirty="0"/>
          </a:p>
        </p:txBody>
      </p:sp>
      <p:sp>
        <p:nvSpPr>
          <p:cNvPr id="13" name="Shape 11"/>
          <p:cNvSpPr/>
          <p:nvPr/>
        </p:nvSpPr>
        <p:spPr>
          <a:xfrm>
            <a:off x="4343400" y="2475547"/>
            <a:ext cx="3505200" cy="3428524"/>
          </a:xfrm>
          <a:prstGeom prst="roundRect">
            <a:avLst>
              <a:gd name="adj" fmla="val 3334"/>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4" name="Text 12"/>
          <p:cNvSpPr/>
          <p:nvPr/>
        </p:nvSpPr>
        <p:spPr>
          <a:xfrm>
            <a:off x="4654868" y="3524409"/>
            <a:ext cx="3170492"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20.1</a:t>
            </a:r>
            <a:endParaRPr lang="en-US" sz="3600" dirty="0"/>
          </a:p>
        </p:txBody>
      </p:sp>
      <p:sp>
        <p:nvSpPr>
          <p:cNvPr id="15" name="Text 13"/>
          <p:cNvSpPr/>
          <p:nvPr/>
        </p:nvSpPr>
        <p:spPr>
          <a:xfrm>
            <a:off x="4654868" y="4057809"/>
            <a:ext cx="2968733" cy="835342"/>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S&amp;P 500 forward P/E — above its 5-yr (19.9) and 10-yr (19.0) average</a:t>
            </a:r>
            <a:endParaRPr lang="en-US" sz="1350" dirty="0"/>
          </a:p>
        </p:txBody>
      </p:sp>
      <p:sp>
        <p:nvSpPr>
          <p:cNvPr id="16" name="Shape 14"/>
          <p:cNvSpPr/>
          <p:nvPr/>
        </p:nvSpPr>
        <p:spPr>
          <a:xfrm>
            <a:off x="8077200" y="2475547"/>
            <a:ext cx="3505200" cy="3428524"/>
          </a:xfrm>
          <a:prstGeom prst="roundRect">
            <a:avLst>
              <a:gd name="adj" fmla="val 3334"/>
            </a:avLst>
          </a:prstGeom>
          <a:solidFill>
            <a:srgbClr val="FFFFFF"/>
          </a:solidFill>
          <a:ln w="6667">
            <a:solidFill>
              <a:srgbClr val="E5E8F0"/>
            </a:solidFill>
            <a:prstDash val="solid"/>
          </a:ln>
          <a:effectLst>
            <a:outerShdw sx="100000" sy="100000" kx="0" ky="0" algn="bl" rotWithShape="0" blurRad="19050" dist="9525" dir="5400000">
              <a:srgbClr val="0B1220">
                <a:alpha val="6000"/>
              </a:srgbClr>
            </a:outerShdw>
          </a:effectLst>
        </p:spPr>
      </p:sp>
      <p:sp>
        <p:nvSpPr>
          <p:cNvPr id="17" name="Text 15"/>
          <p:cNvSpPr/>
          <p:nvPr/>
        </p:nvSpPr>
        <p:spPr>
          <a:xfrm>
            <a:off x="8388668" y="3609181"/>
            <a:ext cx="1521142" cy="591502"/>
          </a:xfrm>
          <a:prstGeom prst="rect">
            <a:avLst/>
          </a:prstGeom>
          <a:noFill/>
          <a:ln/>
        </p:spPr>
        <p:txBody>
          <a:bodyPr wrap="square" lIns="0" tIns="0" rIns="0" bIns="0" rtlCol="0" anchor="t">
            <a:normAutofit/>
          </a:bodyPr>
          <a:lstStyle/>
          <a:p>
            <a:pPr algn="l" indent="0" marL="0">
              <a:lnSpc>
                <a:spcPct val="100000"/>
              </a:lnSpc>
              <a:buNone/>
            </a:pPr>
            <a:r>
              <a:rPr lang="en-US" sz="3600" b="1" spc="-72" kern="0" dirty="0">
                <a:solidFill>
                  <a:srgbClr val="0B1220"/>
                </a:solidFill>
                <a:latin typeface="Arial" pitchFamily="34" charset="0"/>
                <a:ea typeface="Arial" pitchFamily="34" charset="-122"/>
                <a:cs typeface="Arial" pitchFamily="34" charset="-120"/>
              </a:rPr>
              <a:t>$725B</a:t>
            </a:r>
            <a:endParaRPr lang="en-US" sz="3600" dirty="0"/>
          </a:p>
        </p:txBody>
      </p:sp>
      <p:sp>
        <p:nvSpPr>
          <p:cNvPr id="18" name="Text 16"/>
          <p:cNvSpPr/>
          <p:nvPr/>
        </p:nvSpPr>
        <p:spPr>
          <a:xfrm>
            <a:off x="9947910" y="3924459"/>
            <a:ext cx="621506" cy="180975"/>
          </a:xfrm>
          <a:prstGeom prst="rect">
            <a:avLst/>
          </a:prstGeom>
          <a:noFill/>
          <a:ln/>
        </p:spPr>
        <p:txBody>
          <a:bodyPr wrap="square" lIns="25400" tIns="25400" rIns="25400" bIns="25400" rtlCol="0" anchor="t">
            <a:normAutofit/>
          </a:bodyPr>
          <a:lstStyle/>
          <a:p>
            <a:pPr algn="l" indent="0" marL="0">
              <a:lnSpc>
                <a:spcPct val="100000"/>
              </a:lnSpc>
              <a:buNone/>
            </a:pPr>
            <a:r>
              <a:rPr lang="en-US" sz="1125" b="1" spc="-72" kern="0" dirty="0">
                <a:solidFill>
                  <a:srgbClr val="10B981"/>
                </a:solidFill>
                <a:latin typeface="Arial" pitchFamily="34" charset="0"/>
                <a:ea typeface="Arial" pitchFamily="34" charset="-122"/>
                <a:cs typeface="Arial" pitchFamily="34" charset="-120"/>
              </a:rPr>
              <a:t>▲ +77%</a:t>
            </a:r>
            <a:endParaRPr lang="en-US" sz="1125" dirty="0"/>
          </a:p>
        </p:txBody>
      </p:sp>
      <p:sp>
        <p:nvSpPr>
          <p:cNvPr id="19" name="Text 17"/>
          <p:cNvSpPr/>
          <p:nvPr/>
        </p:nvSpPr>
        <p:spPr>
          <a:xfrm>
            <a:off x="8388668" y="4190683"/>
            <a:ext cx="2968733"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1E293B"/>
                </a:solidFill>
                <a:latin typeface="Arial" pitchFamily="34" charset="0"/>
                <a:ea typeface="Arial" pitchFamily="34" charset="-122"/>
                <a:cs typeface="Arial" pitchFamily="34" charset="-120"/>
              </a:rPr>
              <a:t>2026 hyperscaler capex — increasingly debt-funded</a:t>
            </a:r>
            <a:endParaRPr lang="en-US" sz="1350" dirty="0"/>
          </a:p>
        </p:txBody>
      </p:sp>
      <p:sp>
        <p:nvSpPr>
          <p:cNvPr id="20" name="Text 18"/>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sp>
        <p:nvSpPr>
          <p:cNvPr id="3" name="Shape 1"/>
          <p:cNvSpPr/>
          <p:nvPr/>
        </p:nvSpPr>
        <p:spPr>
          <a:xfrm>
            <a:off x="11410950" y="609600"/>
            <a:ext cx="171450" cy="171450"/>
          </a:xfrm>
          <a:prstGeom prst="rect">
            <a:avLst/>
          </a:prstGeom>
          <a:solidFill>
            <a:srgbClr val="4F46E5"/>
          </a:solidFill>
          <a:ln/>
          <a:effectLst>
            <a:outerShdw sx="100000" sy="100000" kx="0" ky="0" algn="bl" rotWithShape="0" blurRad="19050" dist="9525" dir="5400000">
              <a:srgbClr val="0B1220">
                <a:alpha val="6000"/>
              </a:srgbClr>
            </a:outerShdw>
          </a:effectLst>
        </p:spPr>
      </p:sp>
      <p:sp>
        <p:nvSpPr>
          <p:cNvPr id="4" name="Shape 2"/>
          <p:cNvSpPr/>
          <p:nvPr/>
        </p:nvSpPr>
        <p:spPr>
          <a:xfrm>
            <a:off x="11453813" y="700088"/>
            <a:ext cx="19050" cy="38100"/>
          </a:xfrm>
          <a:prstGeom prst="roundRect">
            <a:avLst>
              <a:gd name="adj" fmla="val 50000"/>
            </a:avLst>
          </a:prstGeom>
          <a:solidFill>
            <a:srgbClr val="FFFFFF">
              <a:alpha val="65000"/>
            </a:srgbClr>
          </a:solidFill>
          <a:ln/>
        </p:spPr>
      </p:sp>
      <p:sp>
        <p:nvSpPr>
          <p:cNvPr id="5" name="Shape 3"/>
          <p:cNvSpPr/>
          <p:nvPr/>
        </p:nvSpPr>
        <p:spPr>
          <a:xfrm>
            <a:off x="11487150" y="676275"/>
            <a:ext cx="19050" cy="61912"/>
          </a:xfrm>
          <a:prstGeom prst="roundRect">
            <a:avLst>
              <a:gd name="adj" fmla="val 50000"/>
            </a:avLst>
          </a:prstGeom>
          <a:solidFill>
            <a:srgbClr val="FFFFFF">
              <a:alpha val="85000"/>
            </a:srgbClr>
          </a:solidFill>
          <a:ln/>
        </p:spPr>
      </p:sp>
      <p:sp>
        <p:nvSpPr>
          <p:cNvPr id="6" name="Shape 4"/>
          <p:cNvSpPr/>
          <p:nvPr/>
        </p:nvSpPr>
        <p:spPr>
          <a:xfrm>
            <a:off x="11520488" y="652463"/>
            <a:ext cx="19050" cy="85725"/>
          </a:xfrm>
          <a:prstGeom prst="roundRect">
            <a:avLst>
              <a:gd name="adj" fmla="val 50000"/>
            </a:avLst>
          </a:prstGeom>
          <a:solidFill>
            <a:srgbClr val="FFFFFF"/>
          </a:solidFill>
          <a:ln/>
        </p:spPr>
      </p:sp>
      <p:sp>
        <p:nvSpPr>
          <p:cNvPr id="7" name="Text 5"/>
          <p:cNvSpPr/>
          <p:nvPr/>
        </p:nvSpPr>
        <p:spPr>
          <a:xfrm>
            <a:off x="609600" y="685800"/>
            <a:ext cx="2578513"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MARKET MOMENT · THE TIE-IN</a:t>
            </a:r>
            <a:endParaRPr lang="en-US" sz="975" dirty="0"/>
          </a:p>
        </p:txBody>
      </p:sp>
      <p:sp>
        <p:nvSpPr>
          <p:cNvPr id="8" name="Text 6"/>
          <p:cNvSpPr/>
          <p:nvPr/>
        </p:nvSpPr>
        <p:spPr>
          <a:xfrm>
            <a:off x="609600" y="989647"/>
            <a:ext cx="6215951" cy="514350"/>
          </a:xfrm>
          <a:prstGeom prst="rect">
            <a:avLst/>
          </a:prstGeom>
          <a:noFill/>
          <a:ln/>
        </p:spPr>
        <p:txBody>
          <a:bodyPr wrap="square" lIns="25400" tIns="25400" rIns="25400" bIns="25400" rtlCol="0" anchor="t">
            <a:normAutofit/>
          </a:bodyPr>
          <a:lstStyle/>
          <a:p>
            <a:pPr algn="l" indent="0" marL="0">
              <a:lnSpc>
                <a:spcPct val="125000"/>
              </a:lnSpc>
              <a:buNone/>
            </a:pPr>
            <a:r>
              <a:rPr lang="en-US" sz="3000" b="1" spc="-60" kern="0" dirty="0">
                <a:solidFill>
                  <a:srgbClr val="0B1220"/>
                </a:solidFill>
                <a:latin typeface="Arial" pitchFamily="34" charset="0"/>
                <a:ea typeface="Arial" pitchFamily="34" charset="-122"/>
                <a:cs typeface="Arial" pitchFamily="34" charset="-120"/>
              </a:rPr>
              <a:t>Why it matters</a:t>
            </a:r>
            <a:endParaRPr lang="en-US" sz="3000" dirty="0"/>
          </a:p>
        </p:txBody>
      </p:sp>
      <p:sp>
        <p:nvSpPr>
          <p:cNvPr id="9" name="Text 7"/>
          <p:cNvSpPr/>
          <p:nvPr/>
        </p:nvSpPr>
        <p:spPr>
          <a:xfrm>
            <a:off x="609600" y="1618297"/>
            <a:ext cx="5907870" cy="62865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5B6472"/>
                </a:solidFill>
                <a:latin typeface="Arial" pitchFamily="34" charset="0"/>
                <a:ea typeface="Arial" pitchFamily="34" charset="-122"/>
                <a:cs typeface="Arial" pitchFamily="34" charset="-120"/>
              </a:rPr>
              <a:t>Index investors are less diversified than they think — and a high multiple is a promise.</a:t>
            </a:r>
            <a:endParaRPr lang="en-US" sz="1500" dirty="0"/>
          </a:p>
        </p:txBody>
      </p:sp>
      <p:sp>
        <p:nvSpPr>
          <p:cNvPr id="10" name="Shape 8"/>
          <p:cNvSpPr/>
          <p:nvPr/>
        </p:nvSpPr>
        <p:spPr>
          <a:xfrm>
            <a:off x="609600" y="2607945"/>
            <a:ext cx="85725" cy="85725"/>
          </a:xfrm>
          <a:prstGeom prst="roundRect">
            <a:avLst>
              <a:gd name="adj" fmla="val 33333"/>
            </a:avLst>
          </a:prstGeom>
          <a:solidFill>
            <a:srgbClr val="4F46E5"/>
          </a:solidFill>
          <a:ln/>
        </p:spPr>
      </p:sp>
      <p:sp>
        <p:nvSpPr>
          <p:cNvPr id="11" name="Text 9"/>
          <p:cNvSpPr/>
          <p:nvPr/>
        </p:nvSpPr>
        <p:spPr>
          <a:xfrm>
            <a:off x="809625" y="2513647"/>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Index investors are less diversified than they think: “the S&amp;P 500” is a ~33% bet on 7 correlated AI names.</a:t>
            </a:r>
            <a:endParaRPr lang="en-US" sz="1350" dirty="0"/>
          </a:p>
        </p:txBody>
      </p:sp>
      <p:sp>
        <p:nvSpPr>
          <p:cNvPr id="12" name="Shape 10"/>
          <p:cNvSpPr/>
          <p:nvPr/>
        </p:nvSpPr>
        <p:spPr>
          <a:xfrm>
            <a:off x="609600" y="3291840"/>
            <a:ext cx="85725" cy="85725"/>
          </a:xfrm>
          <a:prstGeom prst="roundRect">
            <a:avLst>
              <a:gd name="adj" fmla="val 33333"/>
            </a:avLst>
          </a:prstGeom>
          <a:solidFill>
            <a:srgbClr val="4F46E5"/>
          </a:solidFill>
          <a:ln/>
        </p:spPr>
      </p:sp>
      <p:sp>
        <p:nvSpPr>
          <p:cNvPr id="13" name="Text 11"/>
          <p:cNvSpPr/>
          <p:nvPr/>
        </p:nvSpPr>
        <p:spPr>
          <a:xfrm>
            <a:off x="809625" y="3197543"/>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$10,000 index buy implicitly holds ~$3,270 of the Mag 7 — and ~$740 of NVIDIA alone.</a:t>
            </a:r>
            <a:endParaRPr lang="en-US" sz="1350" dirty="0"/>
          </a:p>
        </p:txBody>
      </p:sp>
      <p:sp>
        <p:nvSpPr>
          <p:cNvPr id="14" name="Shape 12"/>
          <p:cNvSpPr/>
          <p:nvPr/>
        </p:nvSpPr>
        <p:spPr>
          <a:xfrm>
            <a:off x="609600" y="3975735"/>
            <a:ext cx="85725" cy="85725"/>
          </a:xfrm>
          <a:prstGeom prst="roundRect">
            <a:avLst>
              <a:gd name="adj" fmla="val 33333"/>
            </a:avLst>
          </a:prstGeom>
          <a:solidFill>
            <a:srgbClr val="4F46E5"/>
          </a:solidFill>
          <a:ln/>
        </p:spPr>
      </p:sp>
      <p:sp>
        <p:nvSpPr>
          <p:cNvPr id="15" name="Text 13"/>
          <p:cNvSpPr/>
          <p:nvPr/>
        </p:nvSpPr>
        <p:spPr>
          <a:xfrm>
            <a:off x="809625" y="3881438"/>
            <a:ext cx="5701845" cy="569595"/>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A high multiple is a promise: NVDA’s PEG implies ~45% growth — beat the whisper, not the consensus.</a:t>
            </a:r>
            <a:endParaRPr lang="en-US" sz="1350" dirty="0"/>
          </a:p>
        </p:txBody>
      </p:sp>
      <p:sp>
        <p:nvSpPr>
          <p:cNvPr id="16" name="Shape 14"/>
          <p:cNvSpPr/>
          <p:nvPr/>
        </p:nvSpPr>
        <p:spPr>
          <a:xfrm>
            <a:off x="609600" y="4659630"/>
            <a:ext cx="85725" cy="85725"/>
          </a:xfrm>
          <a:prstGeom prst="roundRect">
            <a:avLst>
              <a:gd name="adj" fmla="val 33333"/>
            </a:avLst>
          </a:prstGeom>
          <a:solidFill>
            <a:srgbClr val="4F46E5"/>
          </a:solidFill>
          <a:ln/>
        </p:spPr>
      </p:sp>
      <p:sp>
        <p:nvSpPr>
          <p:cNvPr id="17" name="Text 15"/>
          <p:cNvSpPr/>
          <p:nvPr/>
        </p:nvSpPr>
        <p:spPr>
          <a:xfrm>
            <a:off x="809625" y="4594860"/>
            <a:ext cx="5341463" cy="510540"/>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0B1220"/>
                </a:solidFill>
                <a:latin typeface="Arial" pitchFamily="34" charset="0"/>
                <a:ea typeface="Arial" pitchFamily="34" charset="-122"/>
                <a:cs typeface="Arial" pitchFamily="34" charset="-120"/>
              </a:rPr>
              <a:t>Cap share &gt; earnings share is the tell — a multiple-compression year closes that gap.</a:t>
            </a:r>
            <a:endParaRPr lang="en-US" sz="1350" dirty="0"/>
          </a:p>
        </p:txBody>
      </p:sp>
      <p:sp>
        <p:nvSpPr>
          <p:cNvPr id="18" name="Text 16"/>
          <p:cNvSpPr/>
          <p:nvPr/>
        </p:nvSpPr>
        <p:spPr>
          <a:xfrm>
            <a:off x="708025" y="5173027"/>
            <a:ext cx="5713571"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5B6472"/>
                </a:solidFill>
                <a:latin typeface="Arial" pitchFamily="34" charset="0"/>
                <a:ea typeface="Arial" pitchFamily="34" charset="-122"/>
                <a:cs typeface="Arial" pitchFamily="34" charset="-120"/>
              </a:rPr>
              <a:t>NVDA is down ~18% YTD even as earnings rose 85% — almost pure re-rating in reverse.</a:t>
            </a:r>
            <a:endParaRPr lang="en-US" sz="1125" dirty="0"/>
          </a:p>
        </p:txBody>
      </p:sp>
      <p:sp>
        <p:nvSpPr>
          <p:cNvPr id="19" name="Shape 17"/>
          <p:cNvSpPr/>
          <p:nvPr/>
        </p:nvSpPr>
        <p:spPr>
          <a:xfrm>
            <a:off x="6802596" y="609600"/>
            <a:ext cx="4779804" cy="1427321"/>
          </a:xfrm>
          <a:prstGeom prst="roundRect">
            <a:avLst>
              <a:gd name="adj" fmla="val 9343"/>
            </a:avLst>
          </a:prstGeom>
          <a:solidFill>
            <a:srgbClr val="F6F7FB"/>
          </a:solidFill>
          <a:ln w="6667">
            <a:solidFill>
              <a:srgbClr val="E5E8F0"/>
            </a:solidFill>
            <a:prstDash val="solid"/>
          </a:ln>
        </p:spPr>
      </p:sp>
      <p:sp>
        <p:nvSpPr>
          <p:cNvPr id="20" name="Text 18"/>
          <p:cNvSpPr/>
          <p:nvPr/>
        </p:nvSpPr>
        <p:spPr>
          <a:xfrm>
            <a:off x="6999763" y="787717"/>
            <a:ext cx="4824016" cy="152400"/>
          </a:xfrm>
          <a:prstGeom prst="rect">
            <a:avLst/>
          </a:prstGeom>
          <a:noFill/>
          <a:ln/>
        </p:spPr>
        <p:txBody>
          <a:bodyPr wrap="square" lIns="25400" tIns="25400" rIns="25400" bIns="25400" rtlCol="0" anchor="t">
            <a:normAutofit/>
          </a:bodyPr>
          <a:lstStyle/>
          <a:p>
            <a:pPr algn="l" indent="0" marL="0">
              <a:lnSpc>
                <a:spcPct val="100000"/>
              </a:lnSpc>
              <a:buNone/>
            </a:pPr>
            <a:r>
              <a:rPr lang="en-US" sz="900" b="1" spc="81" kern="0" dirty="0">
                <a:solidFill>
                  <a:srgbClr val="4F46E5"/>
                </a:solidFill>
                <a:latin typeface="Arial" pitchFamily="34" charset="0"/>
                <a:ea typeface="Arial" pitchFamily="34" charset="-122"/>
                <a:cs typeface="Arial" pitchFamily="34" charset="-120"/>
              </a:rPr>
              <a:t>TERMS ON THIS SLIDE</a:t>
            </a:r>
            <a:endParaRPr lang="en-US" sz="900" dirty="0"/>
          </a:p>
        </p:txBody>
      </p:sp>
      <p:sp>
        <p:nvSpPr>
          <p:cNvPr id="21" name="Text 19"/>
          <p:cNvSpPr/>
          <p:nvPr/>
        </p:nvSpPr>
        <p:spPr>
          <a:xfrm>
            <a:off x="6999763" y="1035367"/>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Mag 7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the Magnificent Seven mega-caps</a:t>
            </a:r>
            <a:endParaRPr lang="en-US" sz="1163" dirty="0"/>
          </a:p>
        </p:txBody>
      </p:sp>
      <p:sp>
        <p:nvSpPr>
          <p:cNvPr id="22" name="Text 20"/>
          <p:cNvSpPr/>
          <p:nvPr/>
        </p:nvSpPr>
        <p:spPr>
          <a:xfrm>
            <a:off x="6999763" y="1351121"/>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PEG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P/E ÷ growth %</a:t>
            </a:r>
            <a:endParaRPr lang="en-US" sz="1163" dirty="0"/>
          </a:p>
        </p:txBody>
      </p:sp>
      <p:sp>
        <p:nvSpPr>
          <p:cNvPr id="23" name="Text 21"/>
          <p:cNvSpPr/>
          <p:nvPr/>
        </p:nvSpPr>
        <p:spPr>
          <a:xfrm>
            <a:off x="6999763" y="1666875"/>
            <a:ext cx="4824016" cy="230029"/>
          </a:xfrm>
          <a:prstGeom prst="rect">
            <a:avLst/>
          </a:prstGeom>
          <a:noFill/>
          <a:ln/>
        </p:spPr>
        <p:txBody>
          <a:bodyPr wrap="square" lIns="25400" tIns="25400" rIns="25400" bIns="25400" rtlCol="0" anchor="t">
            <a:normAutofit/>
          </a:bodyPr>
          <a:lstStyle/>
          <a:p>
            <a:pPr algn="l" indent="0" marL="0">
              <a:lnSpc>
                <a:spcPct val="130000"/>
              </a:lnSpc>
              <a:buNone/>
            </a:pPr>
            <a:r>
              <a:rPr lang="en-US" sz="1163" b="1" dirty="0">
                <a:solidFill>
                  <a:srgbClr val="4F46E5"/>
                </a:solidFill>
                <a:latin typeface="Arial" pitchFamily="34" charset="0"/>
                <a:ea typeface="Arial" pitchFamily="34" charset="-122"/>
                <a:cs typeface="Arial" pitchFamily="34" charset="-120"/>
              </a:rPr>
              <a:t>YTD </a:t>
            </a:r>
            <a:pPr algn="l" indent="0" marL="0">
              <a:lnSpc>
                <a:spcPct val="130000"/>
              </a:lnSpc>
              <a:buNone/>
            </a:pPr>
            <a:r>
              <a:rPr lang="en-US" sz="1163" dirty="0">
                <a:solidFill>
                  <a:srgbClr val="0B1220"/>
                </a:solidFill>
                <a:latin typeface="Arial" pitchFamily="34" charset="0"/>
                <a:ea typeface="Arial" pitchFamily="34" charset="-122"/>
                <a:cs typeface="Arial" pitchFamily="34" charset="-120"/>
              </a:rPr>
              <a:t>— Year-to-Date</a:t>
            </a:r>
            <a:endParaRPr lang="en-US" sz="1163" dirty="0"/>
          </a:p>
        </p:txBody>
      </p:sp>
      <p:sp>
        <p:nvSpPr>
          <p:cNvPr id="24" name="Text 22"/>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B1220"/>
          </a:solidFill>
          <a:ln/>
        </p:spPr>
      </p:sp>
      <p:sp>
        <p:nvSpPr>
          <p:cNvPr id="3" name="Text 1"/>
          <p:cNvSpPr/>
          <p:nvPr/>
        </p:nvSpPr>
        <p:spPr>
          <a:xfrm>
            <a:off x="609600" y="685800"/>
            <a:ext cx="744855" cy="184785"/>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C7D2FE"/>
                </a:solidFill>
                <a:latin typeface="Arial" pitchFamily="34" charset="0"/>
                <a:ea typeface="Arial" pitchFamily="34" charset="-122"/>
                <a:cs typeface="Arial" pitchFamily="34" charset="-120"/>
              </a:rPr>
              <a:t>DISCUSS</a:t>
            </a:r>
            <a:endParaRPr lang="en-US" sz="975" dirty="0"/>
          </a:p>
        </p:txBody>
      </p:sp>
      <p:sp>
        <p:nvSpPr>
          <p:cNvPr id="4" name="Text 2"/>
          <p:cNvSpPr/>
          <p:nvPr/>
        </p:nvSpPr>
        <p:spPr>
          <a:xfrm>
            <a:off x="609600" y="989647"/>
            <a:ext cx="12070080"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FFFFFF"/>
                </a:solidFill>
                <a:latin typeface="Arial" pitchFamily="34" charset="0"/>
                <a:ea typeface="Arial" pitchFamily="34" charset="-122"/>
                <a:cs typeface="Arial" pitchFamily="34" charset="-120"/>
              </a:rPr>
              <a:t>Discussion</a:t>
            </a:r>
            <a:endParaRPr lang="en-US" sz="3000" dirty="0"/>
          </a:p>
        </p:txBody>
      </p:sp>
      <p:sp>
        <p:nvSpPr>
          <p:cNvPr id="5" name="Shape 3"/>
          <p:cNvSpPr/>
          <p:nvPr/>
        </p:nvSpPr>
        <p:spPr>
          <a:xfrm>
            <a:off x="609600" y="1884997"/>
            <a:ext cx="381000" cy="381000"/>
          </a:xfrm>
          <a:prstGeom prst="ellipse">
            <a:avLst/>
          </a:prstGeom>
          <a:ln w="6667">
            <a:solidFill>
              <a:srgbClr val="FFFFFF">
                <a:alpha val="18000"/>
              </a:srgbClr>
            </a:solidFill>
            <a:prstDash val="solid"/>
          </a:ln>
        </p:spPr>
      </p:sp>
      <p:sp>
        <p:nvSpPr>
          <p:cNvPr id="6" name="Text 4"/>
          <p:cNvSpPr/>
          <p:nvPr/>
        </p:nvSpPr>
        <p:spPr>
          <a:xfrm>
            <a:off x="578168" y="1891665"/>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1</a:t>
            </a:r>
            <a:endParaRPr lang="en-US" sz="1350" dirty="0"/>
          </a:p>
        </p:txBody>
      </p:sp>
      <p:sp>
        <p:nvSpPr>
          <p:cNvPr id="7" name="Text 5"/>
          <p:cNvSpPr/>
          <p:nvPr/>
        </p:nvSpPr>
        <p:spPr>
          <a:xfrm>
            <a:off x="1143000" y="1884997"/>
            <a:ext cx="8153387" cy="103822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NVDA beat on every metric and fell — down ~18% YTD while earnings rose 85%. What exactly was “priced in,” and how would you have known the bar was that high before the print?</a:t>
            </a:r>
            <a:endParaRPr lang="en-US" sz="2100" dirty="0"/>
          </a:p>
        </p:txBody>
      </p:sp>
      <p:sp>
        <p:nvSpPr>
          <p:cNvPr id="8" name="Shape 6"/>
          <p:cNvSpPr/>
          <p:nvPr/>
        </p:nvSpPr>
        <p:spPr>
          <a:xfrm>
            <a:off x="609600" y="3189922"/>
            <a:ext cx="381000" cy="381000"/>
          </a:xfrm>
          <a:prstGeom prst="ellipse">
            <a:avLst/>
          </a:prstGeom>
          <a:ln w="6667">
            <a:solidFill>
              <a:srgbClr val="FFFFFF">
                <a:alpha val="18000"/>
              </a:srgbClr>
            </a:solidFill>
            <a:prstDash val="solid"/>
          </a:ln>
        </p:spPr>
      </p:sp>
      <p:sp>
        <p:nvSpPr>
          <p:cNvPr id="9" name="Text 7"/>
          <p:cNvSpPr/>
          <p:nvPr/>
        </p:nvSpPr>
        <p:spPr>
          <a:xfrm>
            <a:off x="578168" y="3196590"/>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2</a:t>
            </a:r>
            <a:endParaRPr lang="en-US" sz="1350" dirty="0"/>
          </a:p>
        </p:txBody>
      </p:sp>
      <p:sp>
        <p:nvSpPr>
          <p:cNvPr id="10" name="Text 8"/>
          <p:cNvSpPr/>
          <p:nvPr/>
        </p:nvSpPr>
        <p:spPr>
          <a:xfrm>
            <a:off x="1143000" y="3189922"/>
            <a:ext cx="8153387" cy="1038225"/>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The top 10 are 41% of the index’s weight but only 32% of its earnings. Justified by superior growth, or concentration risk — and does it change “just buy the S&amp;P 500”?</a:t>
            </a:r>
            <a:endParaRPr lang="en-US" sz="2100" dirty="0"/>
          </a:p>
        </p:txBody>
      </p:sp>
      <p:sp>
        <p:nvSpPr>
          <p:cNvPr id="11" name="Shape 9"/>
          <p:cNvSpPr/>
          <p:nvPr/>
        </p:nvSpPr>
        <p:spPr>
          <a:xfrm>
            <a:off x="609600" y="4494847"/>
            <a:ext cx="381000" cy="381000"/>
          </a:xfrm>
          <a:prstGeom prst="ellipse">
            <a:avLst/>
          </a:prstGeom>
          <a:ln w="6667">
            <a:solidFill>
              <a:srgbClr val="FFFFFF">
                <a:alpha val="18000"/>
              </a:srgbClr>
            </a:solidFill>
            <a:prstDash val="solid"/>
          </a:ln>
        </p:spPr>
      </p:sp>
      <p:sp>
        <p:nvSpPr>
          <p:cNvPr id="12" name="Text 10"/>
          <p:cNvSpPr/>
          <p:nvPr/>
        </p:nvSpPr>
        <p:spPr>
          <a:xfrm>
            <a:off x="578168" y="4501515"/>
            <a:ext cx="443865" cy="405765"/>
          </a:xfrm>
          <a:prstGeom prst="rect">
            <a:avLst/>
          </a:prstGeom>
          <a:noFill/>
          <a:ln/>
        </p:spPr>
        <p:txBody>
          <a:bodyPr wrap="square" lIns="25400" tIns="25400" rIns="25400" bIns="25400" rtlCol="0" anchor="ctr">
            <a:normAutofit/>
          </a:bodyPr>
          <a:lstStyle/>
          <a:p>
            <a:pPr algn="ctr" indent="0" marL="0">
              <a:lnSpc>
                <a:spcPct val="155000"/>
              </a:lnSpc>
              <a:buNone/>
            </a:pPr>
            <a:r>
              <a:rPr lang="en-US" sz="1350" b="1" dirty="0">
                <a:solidFill>
                  <a:srgbClr val="C7D2FE"/>
                </a:solidFill>
                <a:latin typeface="Arial" pitchFamily="34" charset="0"/>
                <a:ea typeface="Arial" pitchFamily="34" charset="-122"/>
                <a:cs typeface="Arial" pitchFamily="34" charset="-120"/>
              </a:rPr>
              <a:t>3</a:t>
            </a:r>
            <a:endParaRPr lang="en-US" sz="1350" dirty="0"/>
          </a:p>
        </p:txBody>
      </p:sp>
      <p:sp>
        <p:nvSpPr>
          <p:cNvPr id="13" name="Text 11"/>
          <p:cNvSpPr/>
          <p:nvPr/>
        </p:nvSpPr>
        <p:spPr>
          <a:xfrm>
            <a:off x="1143000" y="4494847"/>
            <a:ext cx="8153387" cy="1371600"/>
          </a:xfrm>
          <a:prstGeom prst="rect">
            <a:avLst/>
          </a:prstGeom>
          <a:noFill/>
          <a:ln/>
        </p:spPr>
        <p:txBody>
          <a:bodyPr wrap="square" lIns="25400" tIns="25400" rIns="25400" bIns="25400" rtlCol="0" anchor="t">
            <a:normAutofit/>
          </a:bodyPr>
          <a:lstStyle/>
          <a:p>
            <a:pPr algn="l" indent="0" marL="0">
              <a:lnSpc>
                <a:spcPct val="125000"/>
              </a:lnSpc>
              <a:buNone/>
            </a:pPr>
            <a:r>
              <a:rPr lang="en-US" sz="2100" dirty="0">
                <a:solidFill>
                  <a:srgbClr val="FFFFFF"/>
                </a:solidFill>
                <a:latin typeface="Arial" pitchFamily="34" charset="0"/>
                <a:ea typeface="Arial" pitchFamily="34" charset="-122"/>
                <a:cs typeface="Arial" pitchFamily="34" charset="-120"/>
              </a:rPr>
              <a:t>Hyperscalers will spend ~$725B in 2026, increasingly with debt. Using a reverse-DCF mindset, what must that spending produce to justify prices — and what’s the contagion path if it doesn’t?</a:t>
            </a:r>
            <a:endParaRPr lang="en-US" sz="2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7FB"/>
          </a:solidFill>
          <a:ln/>
        </p:spPr>
      </p:sp>
      <p:sp>
        <p:nvSpPr>
          <p:cNvPr id="3" name="Text 1"/>
          <p:cNvSpPr/>
          <p:nvPr/>
        </p:nvSpPr>
        <p:spPr>
          <a:xfrm>
            <a:off x="609600" y="609600"/>
            <a:ext cx="1624886" cy="628650"/>
          </a:xfrm>
          <a:prstGeom prst="rect">
            <a:avLst/>
          </a:prstGeom>
          <a:noFill/>
          <a:ln/>
        </p:spPr>
        <p:txBody>
          <a:bodyPr wrap="square" lIns="25400" tIns="25400" rIns="25400" bIns="25400" rtlCol="0" anchor="t">
            <a:normAutofit/>
          </a:bodyPr>
          <a:lstStyle/>
          <a:p>
            <a:pPr algn="l" indent="0" marL="0">
              <a:lnSpc>
                <a:spcPct val="155000"/>
              </a:lnSpc>
              <a:buNone/>
            </a:pPr>
            <a:r>
              <a:rPr lang="en-US" sz="3000" b="1" spc="-60" kern="0" dirty="0">
                <a:solidFill>
                  <a:srgbClr val="0B1220"/>
                </a:solidFill>
                <a:latin typeface="Arial" pitchFamily="34" charset="0"/>
                <a:ea typeface="Arial" pitchFamily="34" charset="-122"/>
                <a:cs typeface="Arial" pitchFamily="34" charset="-120"/>
              </a:rPr>
              <a:t>Sources</a:t>
            </a:r>
            <a:endParaRPr lang="en-US" sz="3000" dirty="0"/>
          </a:p>
        </p:txBody>
      </p:sp>
      <p:sp>
        <p:nvSpPr>
          <p:cNvPr id="4" name="Shape 2"/>
          <p:cNvSpPr/>
          <p:nvPr/>
        </p:nvSpPr>
        <p:spPr>
          <a:xfrm>
            <a:off x="9018587" y="733425"/>
            <a:ext cx="342900" cy="342900"/>
          </a:xfrm>
          <a:prstGeom prst="roundRect">
            <a:avLst>
              <a:gd name="adj" fmla="val 27778"/>
            </a:avLst>
          </a:prstGeom>
          <a:solidFill>
            <a:srgbClr val="4F46E5"/>
          </a:solidFill>
          <a:ln/>
          <a:effectLst>
            <a:outerShdw sx="100000" sy="100000" kx="0" ky="0" algn="bl" rotWithShape="0" blurRad="19050" dist="9525" dir="5400000">
              <a:srgbClr val="0B1220">
                <a:alpha val="6000"/>
              </a:srgbClr>
            </a:outerShdw>
          </a:effectLst>
        </p:spPr>
      </p:sp>
      <p:sp>
        <p:nvSpPr>
          <p:cNvPr id="5" name="Shape 3"/>
          <p:cNvSpPr/>
          <p:nvPr/>
        </p:nvSpPr>
        <p:spPr>
          <a:xfrm>
            <a:off x="9104312" y="914400"/>
            <a:ext cx="38100" cy="66675"/>
          </a:xfrm>
          <a:prstGeom prst="roundRect">
            <a:avLst>
              <a:gd name="adj" fmla="val 50000"/>
            </a:avLst>
          </a:prstGeom>
          <a:solidFill>
            <a:srgbClr val="FFFFFF">
              <a:alpha val="65000"/>
            </a:srgbClr>
          </a:solidFill>
          <a:ln/>
        </p:spPr>
      </p:sp>
      <p:sp>
        <p:nvSpPr>
          <p:cNvPr id="6" name="Shape 4"/>
          <p:cNvSpPr/>
          <p:nvPr/>
        </p:nvSpPr>
        <p:spPr>
          <a:xfrm>
            <a:off x="9170987" y="876300"/>
            <a:ext cx="38100" cy="104775"/>
          </a:xfrm>
          <a:prstGeom prst="roundRect">
            <a:avLst>
              <a:gd name="adj" fmla="val 50000"/>
            </a:avLst>
          </a:prstGeom>
          <a:solidFill>
            <a:srgbClr val="FFFFFF">
              <a:alpha val="85000"/>
            </a:srgbClr>
          </a:solidFill>
          <a:ln/>
        </p:spPr>
      </p:sp>
      <p:sp>
        <p:nvSpPr>
          <p:cNvPr id="7" name="Shape 5"/>
          <p:cNvSpPr/>
          <p:nvPr/>
        </p:nvSpPr>
        <p:spPr>
          <a:xfrm>
            <a:off x="9237662" y="828675"/>
            <a:ext cx="38100" cy="152400"/>
          </a:xfrm>
          <a:prstGeom prst="roundRect">
            <a:avLst>
              <a:gd name="adj" fmla="val 50000"/>
            </a:avLst>
          </a:prstGeom>
          <a:solidFill>
            <a:srgbClr val="FFFFFF"/>
          </a:solidFill>
          <a:ln/>
        </p:spPr>
      </p:sp>
      <p:sp>
        <p:nvSpPr>
          <p:cNvPr id="8" name="Text 6"/>
          <p:cNvSpPr/>
          <p:nvPr/>
        </p:nvSpPr>
        <p:spPr>
          <a:xfrm>
            <a:off x="9475787" y="757238"/>
            <a:ext cx="2317274" cy="333375"/>
          </a:xfrm>
          <a:prstGeom prst="rect">
            <a:avLst/>
          </a:prstGeom>
          <a:noFill/>
          <a:ln/>
        </p:spPr>
        <p:txBody>
          <a:bodyPr wrap="square" lIns="25400" tIns="25400" rIns="25400" bIns="25400" rtlCol="0" anchor="t">
            <a:normAutofit/>
          </a:bodyPr>
          <a:lstStyle/>
          <a:p>
            <a:pPr algn="l" indent="0" marL="0">
              <a:lnSpc>
                <a:spcPct val="155000"/>
              </a:lnSpc>
              <a:buNone/>
            </a:pPr>
            <a:r>
              <a:rPr lang="en-US" sz="1500" b="1" spc="-13" kern="0" dirty="0">
                <a:solidFill>
                  <a:srgbClr val="0B1220"/>
                </a:solidFill>
                <a:latin typeface="Arial" pitchFamily="34" charset="0"/>
                <a:ea typeface="Arial" pitchFamily="34" charset="-122"/>
                <a:cs typeface="Arial" pitchFamily="34" charset="-120"/>
              </a:rPr>
              <a:t>Compound Money Talk</a:t>
            </a:r>
            <a:endParaRPr lang="en-US" sz="1500" dirty="0"/>
          </a:p>
        </p:txBody>
      </p:sp>
      <p:sp>
        <p:nvSpPr>
          <p:cNvPr id="9" name="Text 7"/>
          <p:cNvSpPr/>
          <p:nvPr/>
        </p:nvSpPr>
        <p:spPr>
          <a:xfrm>
            <a:off x="609600" y="1504950"/>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WHAT MOVES A PRICE</a:t>
            </a:r>
            <a:endParaRPr lang="en-US" sz="975" dirty="0"/>
          </a:p>
        </p:txBody>
      </p:sp>
      <p:sp>
        <p:nvSpPr>
          <p:cNvPr id="10" name="Text 8"/>
          <p:cNvSpPr/>
          <p:nvPr/>
        </p:nvSpPr>
        <p:spPr>
          <a:xfrm>
            <a:off x="508000" y="1773079"/>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Mauboussin &amp; Callahan — Total Shareholder Return (Morgan Stanley)</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Graham — Mr. Market · Berkshire 1987 letter</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Fed H.15 / FRED · Damodaran implied ERP</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FactSet Earnings Insight — S&amp;P 500 forward P/E</a:t>
            </a:r>
            <a:endParaRPr lang="en-US" sz="1125" dirty="0"/>
          </a:p>
        </p:txBody>
      </p:sp>
      <p:sp>
        <p:nvSpPr>
          <p:cNvPr id="11" name="Text 9"/>
          <p:cNvSpPr/>
          <p:nvPr/>
        </p:nvSpPr>
        <p:spPr>
          <a:xfrm>
            <a:off x="609600" y="2944654"/>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STATEMENTS &amp; VALUATION</a:t>
            </a:r>
            <a:endParaRPr lang="en-US" sz="975" dirty="0"/>
          </a:p>
        </p:txBody>
      </p:sp>
      <p:sp>
        <p:nvSpPr>
          <p:cNvPr id="12" name="Text 10"/>
          <p:cNvSpPr/>
          <p:nvPr/>
        </p:nvSpPr>
        <p:spPr>
          <a:xfrm>
            <a:off x="508000" y="3212782"/>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NVIDIA Q1 FY2027 results &amp; 10-Q</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SEC Regulation G — non-GAAP</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stockanalysis.com — live multiples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Damodaran — P/E, WACC &amp; ERP datasets</a:t>
            </a:r>
            <a:endParaRPr lang="en-US" sz="1125" dirty="0"/>
          </a:p>
        </p:txBody>
      </p:sp>
      <p:sp>
        <p:nvSpPr>
          <p:cNvPr id="13" name="Text 11"/>
          <p:cNvSpPr/>
          <p:nvPr/>
        </p:nvSpPr>
        <p:spPr>
          <a:xfrm>
            <a:off x="6324600" y="1504950"/>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QUALITY, FUNDS &amp; TECHNICALS</a:t>
            </a:r>
            <a:endParaRPr lang="en-US" sz="975" dirty="0"/>
          </a:p>
        </p:txBody>
      </p:sp>
      <p:sp>
        <p:nvSpPr>
          <p:cNvPr id="14" name="Text 12"/>
          <p:cNvSpPr/>
          <p:nvPr/>
        </p:nvSpPr>
        <p:spPr>
          <a:xfrm>
            <a:off x="6223000" y="1773079"/>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Morningstar — economic moats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SPIVA U.S. Mid-Year 2025 &amp; Persistence</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Jegadeesh &amp; Titman — momentum · Fama — EMH</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SEC — GameStop report · Fed — LTCM</a:t>
            </a:r>
            <a:endParaRPr lang="en-US" sz="1125" dirty="0"/>
          </a:p>
        </p:txBody>
      </p:sp>
      <p:sp>
        <p:nvSpPr>
          <p:cNvPr id="15" name="Text 13"/>
          <p:cNvSpPr/>
          <p:nvPr/>
        </p:nvSpPr>
        <p:spPr>
          <a:xfrm>
            <a:off x="6324600" y="2944654"/>
            <a:ext cx="5783580"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b="1" spc="137" kern="0" dirty="0">
                <a:solidFill>
                  <a:srgbClr val="4F46E5"/>
                </a:solidFill>
                <a:latin typeface="Arial" pitchFamily="34" charset="0"/>
                <a:ea typeface="Arial" pitchFamily="34" charset="-122"/>
                <a:cs typeface="Arial" pitchFamily="34" charset="-120"/>
              </a:rPr>
              <a:t>PORTFOLIO, TAXES &amp; THE MARKET MOMENT</a:t>
            </a:r>
            <a:endParaRPr lang="en-US" sz="975" dirty="0"/>
          </a:p>
        </p:txBody>
      </p:sp>
      <p:sp>
        <p:nvSpPr>
          <p:cNvPr id="16" name="Text 14"/>
          <p:cNvSpPr/>
          <p:nvPr/>
        </p:nvSpPr>
        <p:spPr>
          <a:xfrm>
            <a:off x="6223000" y="3212782"/>
            <a:ext cx="5435600" cy="981075"/>
          </a:xfrm>
          <a:prstGeom prst="rect">
            <a:avLst/>
          </a:prstGeom>
          <a:noFill/>
          <a:ln/>
        </p:spPr>
        <p:txBody>
          <a:bodyPr wrap="square" lIns="25400" tIns="25400" rIns="25400" bIns="25400" rtlCol="0" anchor="t">
            <a:normAutofit/>
          </a:bodyPr>
          <a:lstStyle/>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IRS 2026 limits · HSA &amp; cap-gains Rev. Procs.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Vanguard glide path · Odean — disposition effect</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RBC — The Great Narrowing · Mag 7 weights</a:t>
            </a:r>
            <a:endParaRPr lang="en-US" sz="1125" dirty="0"/>
          </a:p>
          <a:p>
            <a:pPr algn="l" indent="0" marL="0">
              <a:lnSpc>
                <a:spcPct val="125000"/>
              </a:lnSpc>
              <a:buNone/>
            </a:pPr>
            <a:r>
              <a:rPr lang="en-US" sz="1125" dirty="0">
                <a:solidFill>
                  <a:srgbClr val="5B6472"/>
                </a:solidFill>
                <a:latin typeface="Arial" pitchFamily="34" charset="0"/>
                <a:ea typeface="Arial" pitchFamily="34" charset="-122"/>
                <a:cs typeface="Arial" pitchFamily="34" charset="-120"/>
              </a:rPr>
              <a:t>Fed Financial Stability Report (May 2026) · hyperscaler capex</a:t>
            </a:r>
            <a:endParaRPr lang="en-US" sz="1125" dirty="0"/>
          </a:p>
        </p:txBody>
      </p:sp>
      <p:sp>
        <p:nvSpPr>
          <p:cNvPr id="17" name="Text 15"/>
          <p:cNvSpPr/>
          <p:nvPr/>
        </p:nvSpPr>
        <p:spPr>
          <a:xfrm>
            <a:off x="10498773" y="6056471"/>
            <a:ext cx="1159827" cy="230029"/>
          </a:xfrm>
          <a:prstGeom prst="rect">
            <a:avLst/>
          </a:prstGeom>
          <a:noFill/>
          <a:ln/>
        </p:spPr>
        <p:txBody>
          <a:bodyPr wrap="square" lIns="25400" tIns="25400" rIns="25400" bIns="25400" rtlCol="0" anchor="t">
            <a:normAutofit/>
          </a:bodyPr>
          <a:lstStyle/>
          <a:p>
            <a:pPr algn="l" indent="0" marL="0">
              <a:lnSpc>
                <a:spcPct val="155000"/>
              </a:lnSpc>
              <a:buNone/>
            </a:pPr>
            <a:r>
              <a:rPr lang="en-US" sz="975" dirty="0">
                <a:solidFill>
                  <a:srgbClr val="94A3B8"/>
                </a:solidFill>
                <a:latin typeface="Arial" pitchFamily="34" charset="0"/>
                <a:ea typeface="Arial" pitchFamily="34" charset="-122"/>
                <a:cs typeface="Arial" pitchFamily="34" charset="-120"/>
              </a:rPr>
              <a:t>Week 2 · Valuation</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2026-07-03T05:09:44Z</dcterms:created>
  <dcterms:modified xsi:type="dcterms:W3CDTF">2026-07-03T05:09:44Z</dcterms:modified>
</cp:coreProperties>
</file>