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 this is Compound Money Talk, a weekly hour on real-world money. Week 1 is credit because it quietly prices almost everything else you'll borrow: cars, an apartment, eventually a mortgage.
• Frame the hour: 10 min sharing, ~40 min lesson built as 7 modules you can reorder or skip, 10 min on a real market story.
• Set the tone — no judgment, ask anything; the goal is to leave knowing one concrete thing to do this week.
• Credit is the one financial record that follows you for years AND that you can actively improve — that's why it leads the series.
— Likely Q&amp;A —
Q: Do I need a credit score if I always pay cash? A: Eventually yes — landlords, insurers, even employers pull it; a thin file can cost you an apartment or a bigger deposit.
Q: Will checking my own score hurt it? A: No — checking your own is a 'soft pull' and never affects your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standing 10-minute open. First week, so no recap — the goal is just to get everyone talking and surface real situations we can use as live examples.
• Go around the room, ~1 minute each. You're modeling that talking about money is normal, not awkward.
• The three prompts are deliberately broad — a win, a lesson, an idea. 'I did nothing' is fine; ask what they're avoiding and why.
• Keep it conversational — react, ask a follow-up, share one of your own. The point is momentum and comfort, not a status report.
• Listen for threads to tie into modules — someone paying off a card → M2; someone with no score → M5.
— Likely Q&amp;A —
Q: I have no accounts to share. A: Perfect example of being 'credit invisible' — that's exactly what M5 covers; you're not behind, you're early.
Q: Is it bad my score dropped after I opened a card? A: A new account usually dips it a little short-term (the inquiry + lower average age); the on-time history recovers it within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choose-your-own-path menu. The seven modules sum past 40 minutes on purpose — we will not do all of them today.
• Ask the room to vote: which 3–4 matter most right now? M5 (building credit) is the most actionable for students; M7 (bond ratings) is an optional deep dive that pays off the market story at the end.
• Default order builds logically: what credit is → what it costs → how it's scored → your rights → building it → borrowing with others → credit at country scale.
• New-to-credit group → prioritize M1, M3, M5. More advanced → M2, M6, M7.
• Each module stands alone, so they can interrupt to jump around.
— Likely Q&amp;A —
Q: Can we come back to a skipped module next week? A: Yes — anything we skip rolls forward; modules are self-contained.
Q: Which helps me buy a car/apartment soonest? A: M5 to build the file, M6 for debt-to-income, M3 so you know which score they'll pull.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 the foundation. Six minutes to define credit and the two distinctions that explain almost everything later: revolving vs. installment, and secured vs. unsecured. Every other module sits on these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from the plain definition and build outward to the menagerie of products.
• Credit is time-shifted money: use it now, repay later, pay rent (interest) for the privilege. Every product is a variation on that one idea.
• Consumer vs. institutional matters because the same word covers your Visa and a government bond — we bookend the hour by connecting them (M7 + the market story).
• A line of credit is the idea students under-use: a limit you draw on as needed, not a lump sum. A credit card is just the revolving line most people hold.
• Name the exotic ones briefly (HELOC, overdraft line, BNPL, securities-backed lending) so they're recognized later — don't rabbit-hole.
— Likely Q&amp;A —
Q: Is Buy Now Pay Later a loan? A: Yes — short-term installment credit; some BNPL now reports to bureaus, so missed payments can hurt you.
Q: Is a debit card credit? A: No — debit spends your own money and builds no credit history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big distinction — make it concrete with their own wallet.
• Revolving = a reusable bucket: pay it down and the room reopens. Installment = a countdown: fixed payments to a payoff date.
• Why scoring cares: revolving balances drive 'utilization' (a huge factor); installment loans mostly build payment history and credit mix.
• A credit limit is the ceiling on a revolving line — borrowing near it (high utilization) is what hurts, even if you later pay in full.
• Mortgages and auto loans are installment — they don't have 'utilization' the way a card does.
— Likely Q&amp;A —
Q: Does paying off my car early help my score? A: It closes an active installment tradeline — usually fine, but don't expect a jump, and keep at least one open account.
Q: Is a HELOC revolving or installment? A: Revolving during the draw period (a card against your home), then it converts to installment repayment.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big distinction — and it's entirely about lender risk.
• Collateral is the whole story: if the lender can seize an asset, they lend cheaper. No asset to grab → higher APR, and their only recourse is collections and courts.
• Walk the worked example: the same $12,000 used car costs ~$1,360 more in interest as an unsecured personal loan than a secured auto loan — that premium is the price of not pledging the car.
• Define lien (legal claim until paid), repossession (taking collateral — often no court order needed), charge-off (after ~6 missed payments they write it off for accounting, but you still owe it).
• Both repossession and charge-offs sit on your report for 7 years.
— Likely Q&amp;A —
Q: What exactly is a charge-off? A: After about 120–180 days (≈6 missed payments) the lender gives up collecting and writes the debt off as a loss on ITS books — an accounting move. It does NOT erase what you owe: the debt is usually sold to a collection agency, still shows on your report for 7 years, and can still be pursued.
Q: If my car is repossessed and sold, am I done owing? A: Not necessarily — if the sale doesn't cover the balance you owe the 'deficiency' plus repo fees.
Q: Does a charge-off mean the debt is forgiven? A: No — it's an accounting move; the debt is usually sold to collections and still damages your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terms before the scary numbers — most of the room won't know these.
• Payday loans target people who need cash before payday and can't get a card or bank loan; the 'fee, not interest' framing hides how expensive they really are.
• The single-payment structure is the trap: the whole balance plus fee is due at once in ~2 weeks, so many borrowers can't repay and 'roll it over' into a new fee — that's how the cost spirals.
• A title loan is secured by your car's title; a pawn loan is secured by an item you hand over. Both are last-resort, high-cost credit.
• CFPB is worth a sentence: a federal agency created after the 2008 crisis to police consumer financial products — its data is why we can quote real numbers.
— Likely Q&amp;A —
Q: How is a payday 'fee' different from interest? A: It isn't, really — a flat $15 per $100 looks like a small charge, but because it's due in two weeks it works out to a triple-digit APR once annualized.
Q: Why would anyone use these? A: Usually no other option — no credit, an emergency, fast cash with no credit check. That's exactly why building credit (M5) matters: it gives you cheaper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payoff slide — now that the terms are defined, let the numbers shock a little.
• The payday math IS the lesson: '$15 per $100' due in 14 days annualizes to ~391% APR. The short term is what makes the rate explode, not a huge-sounding fee.
• A single-payment car-title loan runs ~300% APR — and the collateral is your car, so the downside is losing your transportation.
• Contrast with a 21% credit card: still pricey, but an order of magnitude cheaper than either of these.
• The throughline: these products exist for people with no other access — building credit (M5) is how you make sure you never need one.
— Likely Q&amp;A —
Q: Does '1 in 5' really mean a fifth of people lose their car? A: Yes — the CFPB found that about 20% of borrowers who take single-payment car-title loans eventually have the vehicle repossessed for failing to repay. It's one specific product, but that's a staggering share.
Q: Why are payday loans legal at ~400%? A: They're regulated state-by-state — some cap or ban them, others don't; the CFPB discloses the APR but sets no national 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 what credit actually costs. Seven minutes on APR, how card interest really compounds, and the single most expensive habit in personal finance: paying only the minimum.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the number everyone sees but few understand.
• APR is the sticker price, but it's 'nominal' — it ignores compounding. The card actually applies a daily periodic rate (APR ÷ 365) every single day.
• Because yesterday's interest joins today's balance, it compounds daily — so the true cost (APY) runs higher than the APR. A 21.52% APR is really ~24% effective.
• The gap is tiny per day but relentless; it's why a balance grows even after you stop spending.
• Most issuers use the 'average daily balance' method — sum each day's balance, divide by days in the cycle, multiply by the daily rate.
— Likely Q&amp;A —
Q: So is the APR a lie? A: No — it's a standardized disclosure so you can compare cards; just know the effective cost is a bit higher because of daily compounding.
Q: Does compounding hurt me if I pay in full? A: No — pay the statement balance by the due date and the grace period means $0 interest on purchases.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grace period is the most valuable free feature on a card — make sure they use it.
• Pay the STATEMENT balance in full by the due date → $0 interest on new purchases. Carry even $1 and you lose it; interest then hits old and new purchases from their transaction dates.
• Statements must arrive at least 21 days before the due date — that's your interest-free runway, by law.
• Almost all card APRs are variable: Prime + a margin set by your credit. When the Fed moves and Prime moves, your rate moves next cycle.
• One card holds several APRs — purchase, balance transfer, cash advance, penalty. Cash advances have NO grace period, a higher rate, and a fee from day one.
— Likely Q&amp;A —
Q: If I pay the minimum, do I still get the grace period? A: No — paying less than the full statement balance forfeits it until you're back to $0 and pay in full again.
Q: Can my rate jump suddenly? A: A penalty APR needs 45 days' written notice and only applies to your whole balance if you're 60+ days late; otherwise it just tracks Prime.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centerpiece behavior-change slide. Make the numbers land slowly.
• Minimums are engineered to keep you in debt: ~1% of balance plus that month's interest. On $1,500 at 24%, the first ~$45 payment is two-thirds interest.
• Paying only the minimum stretches $1,500 to ~6.7 years and ~$1,400 of interest — you nearly pay for it twice.
• Flip the lever: a fixed $100/month clears it in ~18 months with ~$300 interest. Same card, same APR — the only change is a fixed payment instead of the minimum.
• National context: the average balance per borrower is ~$6,715 — same trap, roughly 4× the damage.
— Likely Q&amp;A —
Q: Is paying the minimum bad for my score? A: It keeps your reported balance (and utilization) high, which hurts — and it's the costliest way to repay; pay more whenever you can.
Q: What if I can only afford the minimum some months? A: Pay it to stay current (on-time matters most), but treat it as a red flag to cut the balance or move it to a 0% offer.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fine-print trap that catches people at checkout, especially on store cards.
• True 0% intro APR: interest is genuinely zero during the promo; when it ends you owe the normal APR only on what's left — never retroactively.
• Deferred interest ('no interest if paid in full in 12 months'): interest is quietly accruing the whole time and is waived only if you clear the full balance in time. Miss by a dollar or a day and you're billed all the back interest to the purchase date.
• Balance transfers move debt to a 0% card but charge a 3–5% fee up front, and only the transferred balance gets the 0%.
• Rule of thumb: ask 'is this zero interest, or interest-waived-if-paid-in-full?' — they are not the same product.
— Likely Q&amp;A —
Q: How do I tell which one a store offer is? A: 'No interest if paid in full within N months' = deferred interest. 'X% intro APR for N months' = the real thing.
Q: Is a balance transfer worth the fee? A: Often yes — a 3% fee beats months at 24%, but only if you actually clear it before the promo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 the scoreboard. Eight minutes on the two score families (FICO and VantageScore), the five things that actually move a FICO score, and the one lever students control most: utilization.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show WHERE Americans actually fall — and who's missing entirely.
• Bar height = share of people in each range. The distribution is top-heavy: most Americans sit in 'good' to 'exceptional' — about 70% have a FICO of 670+, and ~23% are 800+.
• The far-left bar is the credit invisible: people with NO scorable file. By conventional FICO-style models, roughly 1 in 5 U.S. adults can't be scored — ~26 million invisible plus ~19 million with files too thin to score (CFPB).
• That bar is far smaller for VantageScore: because it can score someone with ~1 month of history, it scores about 33 million more adults — shrinking the invisible group to roughly 5%.
• VantageScore's middle band is wide: 'prime' (661–780) is one big bucket holding ~38%, which is why that bar towers over the rest.
• Tie to M5: being credit invisible isn't a score of zero — it's NO score, and the fix is simply opening one reporting account.
— Likely Q&amp;A —
Q: Is credit invisible the same as bad credit? A: No — it's having NO score at all, not a low one. Lenders can't evaluate you, so you're denied or pay more; one reporting account starts fixing it.
Q: Why can VantageScore score people FICO can't? A: It needs only ~1 month of history vs. FICO's 6 months and an active account, so thin-file consumers get a VantageScore first.
Q: Do these add to 100%? A: Roughly — band figures are of people who HAVE a score; the invisible bar is the slice of adults with no scorable file, so treat the heights as approximate shares.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comparison in the module — the factor weights, side by side.
• Payment history dominates BOTH (FICO 35%, VantageScore 41%) — paying on time is the highest-leverage habit no matter which model a lender uses.
• Utilization is huge in both (FICO's 'amounts owed' 30%; VantageScore 20%) — keep balances low, ideally under 10%.
• The rest splits similarly: age/length of history, new/recent credit, and a small role for total balances. The two recipes agree on the basics and differ only at the margins.
• These are population averages, not a fixed formula — a thin or young file is weighted differently from a 20-year file.
• VantageScore 5.0 launched April 2025 but doesn't publish weights, so 4.0 is the teaching model.
— Likely Q&amp;A —
Q: Which score should I optimize? A: Neither in isolation — on-time payments and low utilization move both; just know which a lender pulls before a big application.
Q: Fastest way to raise either score? A: Pay every bill on time and pay balances down before the statement cuts — those hit the two biggest slices in both donuts.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Utilization is the lever students can move THIS month — make it actionable.
• Utilization = revolving balances ÷ limits. Under 30% is the rule of thumb, but lower is better — people with 800+ scores average just 7.1%.
• Two numbers count: your overall utilization AND each individual card. Five cards at 20% overall but one maxed at 95% still drags you down.
• Timing trick: FICO reads your STATEMENT balance, not what's left after you pay. Pay before the statement closes (or mid-cycle) so a low number gets reported.
• Raising your limit without raising spending lowers utilization instantly — a legitimate quick win.
— Likely Q&amp;A —
Q: Should I carry a small balance to 'build credit'? A: No — that's a myth; pay in full. Utilization is measured at the statement, and carrying a balance just costs interest.
Q: Utilization is high this month — how fast does it recover? A: Almost immediately — it's a snapshot, so next statement with a low balance reports low, no lasting damage.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the two families together so they're not confused.
• Same 300–850 scale, same core behaviors — the differences are at the edges: what they do with collections, medical debt, and thin files.
• VantageScore ignores medical and paid collections entirely and uses trended data; FICO 8 still counts paid collections and doesn't single out medical (FICO 9/10 soften this).
• Practical point: if you have a paid-off collection or medical debt, your VantageScore may look better than your FICO 8 — and a mortgage still leans on classic FICO.
• Bottom line: you can't control which model a lender uses, only the behavior underneath — so manage the behavior.
— Likely Q&amp;A —
Q: I paid off a collection — why didn't my score jump? A: On VantageScore it stops counting; on FICO 8 (still common) a paid collection can keep dragging until it ages off.
Q: Is one model 'right'? A: Neither — they're different predictions; lenders pick the one that fits their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Clear up the 'which score is real' confusion — it's about versions, not vendors.
• Dozens of score versions are live at once. The newest (FICO 10T, VantageScore 5.0) are NOT what most lenders pull today.
• Everyday lending mostly uses FICO 8 (from 2009). Mortgages still run on three even-older classic FICO models, one per bureau (2, 5, 4).
• The system modernizes slowly: Fannie and Freddie now ALLOW VantageScore 4.0; FICO 10T is validated but not yet in mortgage use, pending more historical data.
• Takeaway: before a big application, ask the lender which score and bureau they use, then check that exact one.
— Likely Q&amp;A —
Q: My app shows a different number than my lender quoted — who's wrong? A: Neither — your app likely shows VantageScore or a newer FICO; the lender pulled an older model for that product.
Q: Should I pay for FICO scores? A: Usually no — free sources cover you; consider it only right before a mortgage to see the classic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4 — your rights, and they're stronger than most people realize. Five minutes on what's in your report, who keeps it, how long mistakes and damage last, and the free tools (reports, freezes, disputes) you already have by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the two words people blur — report vs. score — then demystify the bureaus.
• The report is the raw record; the score is just a number computed from it. Lenders read the report; you usually only see a score.
• The three bureaus are private companies that DON'T share with each other. Furnishing data is voluntary — which is exactly why your three reports, and scores, rarely match.
• Everyone should pull all three free at AnnualCreditReport.com — now free WEEKLY, made permanent in 2023. Stagger them (one every few months) to self-monitor year-round.
• Remind them: that site gives reports, not scores — the score comes from a card app or bank.
— Likely Q&amp;A —
Q: Does checking my report there hurt my score? A: No — it's your own report, a soft pull, zero impact.
Q: Why three different scores? A: Three separate reports plus different models; same person, different data, different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on how long the consequences — and your mistakes — actually last.
• Most negatives fall off after 7 years; the big exception is Chapter 7 bankruptcy at 10. Hard inquiries linger up to 2 years but FICO only scores them for ~12 months.
• The clock for collections/charge-offs starts ~180 days after the first missed payment — so it's effectively ~7.5 years from the original miss.
• Crucial myth-buster: paying a collection does NOT reset the clock or erase it — it just marks it paid. Time, not payment, removes it.
• The hopeful flip side: damage isn't permanent. A rough patch genuinely ages off, and recent good behavior outweighs old bad behavior.
— Likely Q&amp;A —
Q: Should I pay an old collection about to fall off? A: Maybe — it may not lift your score and could restart contact, but paying can matter for a loan that checks for unpaid debts. Weigh it.
Q: Can I get accurate negatives removed early? A: Generally no — only errors. Beware 'credit repair' firms promising to delete true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tools people confuse — clarify what each does, and that the best one is free.
• A freeze blocks anyone new from opening credit in your name. Free by law, fast to lift, and does NOT hurt your score — the single best protection against identity theft.
• A fraud alert doesn't block access; it tells lenders to verify it's really you. One call covers all three bureaus.
• A 'lock' is a paid product that mostly resells freeze functionality; the CFPB literally says it's no more effective than the free freeze.
• Practical advice: freeze all three now if you're not actively applying; thaw temporarily when you need a pull.
— Likely Q&amp;A —
Q: Will a freeze stop me using my existing cards? A: No — it only blocks NEW credit pulls; current accounts work normally.
Q: Is applying with a freeze on a hassle? A: Minor — thaw it (often one bureau, set window) in about an hour online, then it re-freezes.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Calm the common fear that checking credit 'tanks' your score, then explain rate shopping.
• Soft vs. hard isn't about how much data they see — both read the same report. It's whether the pull is tied to a NEW-credit application you initiated.
• Soft pulls (your own checks, prequalification, prescreened offers, employer/insurer) aren't recorded for other lenders and don't affect your score. Hard pulls (you applied) are recorded and dinged slightly.
• Rate shopping is protected: cluster a mortgage/auto/student-loan search into a short window and the models count it as one inquiry — so shop hard in a focused period.
• A single hard pull is usually a few points; the score factors it for ~12 months and it falls off in two years.
— Likely Q&amp;A —
Q: Does applying for several cards in a week look bad? A: Yes — card inquiries aren't bundled like loan rate-shopping, so several in a span reads as risk. Space them out.
Q: Will prequalifying for a card hurt me? A: No — prequalification is a soft pull; only the actual application is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5 — the most actionable hour for students. Seven minutes on escaping the no-credit catch-22: the handful of starter products that build a file from nothing, what actually moves the number, and the sequence from a starter card to the real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frustrating paradox, then immediately reframe it as solvable.
• The catch-22: lenders want a track record before they'll extend credit, but you can't build a record without credit. ~7 million U.S. adults are 'credit invisible' (no file at all); more are 'unscored' (a file too thin or stale to score).
• The escape hatch is the scoring minimums: FICO needs an account 6+ months old and active; VantageScore 4.0 needs just one account a month old — so you'll often get a VantageScore first.
• Step 0 is free: pull your file at AnnualCreditReport.com to learn whether you're truly invisible or just thin before picking a product.
• Reassure the room: being early is not the same as being behind — starter products are designed exactly for this.
— Likely Q&amp;A —
Q: I'm 19 with no credit — where do I start? A: A student card if you have any income, or a secured card; both report to the bureaus and start the 6-month FICO clock.
Q: Does a bank account or debit card build credit? A: No — only borrowing-and-repaying that gets reported builds credit.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menu and match products to the person — there's no single right answer.
• Student and secured cards are the workhorses: a student card skips the deposit if you qualify; a secured card uses your own cash as the limit and is near-impossible to be denied.
• Authorized-user 'piggybacking' is the fastest — a trusted person's aged, low-utilization card can post its full history to you overnight — but it's fragile: their missed payment or high balance hits you too, and newer models trust it less.
• Credit-builder loans flip the order: you pay first, get the money at the end. CFPB found they work best for people with NO existing debt; for someone stretched they can backfire.
• Rent/utility reporting makes bills you already pay count — but only in newer score models (invisible to the still-common FICO 8 and to mortgage FICOs), so know which score a lender uses.
— Likely Q&amp;A —
Q: Best single move for me? A: For most students, a no-deposit student card paid in full monthly — it builds the two biggest factors at near-zero cost.
Q: Is becoming an authorized user 'cheating'? A: No — it's legitimate and common; just make sure the primary card has low utilization and a clean record, or it hurts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payoff concrete — and show the downside is real too.
• A secured card kept open and paid for two years tracks with a ~24-point median gain — modest but real, and it compounds as the account ages.
• Reporting on-time rent is one of the biggest quick wins available: TransUnion found over 75% of renters who reported saw gains, averaging ~60 points.
• The minus sign matters: defaulting on a secured card tracks with a ~60-point DROP. The deposit protects the LENDER, not your score — collateral doesn't shield you from credit damage.
• The throughline: these tools work because of the behavior, not the product. On-time payments and low balances move all of them.
— Likely Q&amp;A —
Q: How fast will I see movement? A: Often within 3–6 months once an account reports; rent services sometimes backfill recent months for a faster bump.
Q: If I slip on a starter card, is my credit ruined? A: No — one slip is recoverable; it's the pattern that matters, and negatives age off. Get current and keep going.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the module with a clear, repeatable sequence they can act on this week.
• The path: start (student or secured card) → use it lightly and pay on time → after 6–18 months, graduate to unsecured and get the deposit back.
• The single most important habit is utilization plus on-time: keep balances under ~30% (ideally under 10%) and never miss a due date — autopay the minimum as a safety net, then pay in full.
• The most common avoidable mistake: closing the first card once you get a 'better' one. Its age anchors your average account age — keep it open, even if barely used.
• If a fee becomes the reason to close, ask the issuer to downgrade to a no-fee version instead of closing.
— Likely Q&amp;A —
Q: When can I expect an unsecured upgrade? A: Many secured cards auto-review around 6–12 months of on-time payments; if yours doesn't, ask, or apply for a basic unsecured card once your score supports it.
Q: Should I open several cards fast to build quicker? A: No — space them out; a cluster of new accounts lowers your average age and looks risky.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6 — borrowing alongside other people, and the number that actually approves a loan. Five minutes on the four ways to share credit (and who's liable), plus debt-to-income — the capacity test your score never 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Disentangle four roles people mix up — the key is two questions: can you USE the credit, and are you LIABLE for it?
• Authorized user: access, no legal liability — great for building credit off someone else's good account, but they carry the risk.
• Co-signer: full liability, NO access — you're guaranteeing someone else's loan (often a parent for a student); if they miss, it's your credit and your debt.
• Co-borrower: liability AND access — true partners on the debt, like a couple buying a car together.
• Joint accounts report per name, so behavior hits everyone — which is why divorce and shared cards get messy. On joint mortgages some lenders use the LOWER of the two middle scores.
— Likely Q&amp;A —
Q: If I co-sign for my sibling, does it show on my credit? A: Yes — it's your debt too; it affects your DTI and score, and a missed payment is yours.
Q: Does marriage merge our scores? A: No — scores stay individual; only joint accounts and shared property link your credit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DTI tangible with a realistic student example — the math IS the lesson.
• DTI = monthly debt payments ÷ GROSS (pre-tax) income. 'Debt' = recurring obligations a lender sees (rent, card minimums, auto, student, personal loans) — not groceries or utilities.
• Two ratios: front-end is just housing (rent is 42% of income here); back-end is ALL debt (64%) and usually governs approval.
• At 64% this borrower is far past the ~43–50% ceiling most lenders allow — which is exactly why students so often need a co-signer or a cheaper car.
• Note the lender counts rent even though you don't own — and your deferred student loans pile onto this the day you graduate.
— Likely Q&amp;A —
Q: Why does rent count if it's not a loan? A: It's a recurring obligation competing for the same income, so lenders include it in the back-end ratio.
Q: How do I lower DTI fast? A: Raise income, pay off a small installment, or shrink the new payment (cheaper car, bigger down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Resolve the puzzle: a great score and a denial can coexist.
• Score and DTI measure different things — willingness vs. capacity. Income isn't on your report, so DTI mathematically can't be in your score; lenders pull pay stubs and W-2s separately to compute it.
• Benchmarks: the classic 28/36 rule; under ~36% back-end is comfortable; ~50% is the practical ceiling, available only with strong scores and reserves.
• The old '43% Qualified Mortgage' hard cap is now historical — replaced in 2020 by a price-based test — but lenders are still legally required to consider your DTI and ability to repay.
• Forward warning: deferred student loans become a real monthly line at graduation (~$315/mo on a $28k balance) — often the very thing that tips a new grad past a mortgage limit.
— Likely Q&amp;A —
Q: I have an 800 score — can I be denied a mortgage? A: Yes — if your DTI is too high or income can't be verified, a perfect score won't override capacity.
Q: Do deferred student loans count while I'm in school? A: They sit quietly in deferment, but underwriters often factor an estimated payment — and they fully count once you graduate.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7 — the optional deep dive that ties the whole hour to the world. Eight minutes zooming out from your wallet to companies and countries: business credit, the bond-rating ladder, what a rating predicts about default, and how ratings move markets — the setup for today's market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'credit' scales up — same logic, bigger entities.
• Companies have their own bureaus (Equifax, Experian, Dun &amp; Bradstreet) and scores, usually on a 0–100 scale like D&amp;B's PAYDEX; lender-facing models like FICO's SBSS run 0–300.
• The stakes are cash flow: a company with a bad score gets put on pay-in-advance terms or loses suppliers entirely — credit IS the lifeblood of operations.
• Negative data can linger even longer than consumer credit — up to about 9 years, 9 months.
• Founders: separate the business legally (LLC/incorporation, EIN, business bank accounts, a listed business line) so the company builds its OWN file rather than riding your personal credit.
— Likely Q&amp;A —
Q: If I start a business, do they check MY credit? A: Early on, yes — a new company has no file, so lenders lean on the owner's personal credit and often a personal guarantee.
Q: Is a business score built the same way? A: Similar spirit — pay vendors on time, keep utilization reasonable, and use suppliers that report to the business bureaus.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bridge to bonds — and to today's market story.
• S&amp;P and Fitch share one alphabet (AAA down to D); Moody's uses its own (Aaa down to C). They map onto each other notch for notch.
• The single most important line in credit investing: BBB−/Baa3 is the floor of 'investment grade.' One notch lower, BB+/Ba1, is the top of 'high yield' — junk.
• Why that line is a cliff: many pensions, insurers, and index funds are MANDATED to hold only investment grade, so a downgrade across the line can force them to sell — pushing price down and yield up.
• Keep the parallel alive: this is the same idea as a personal score band, just for a bond issuer — and a country gets graded on the very same ladder.
— Likely Q&amp;A —
Q: Who decides these ratings? A: The big three agencies — S&amp;P, Moody's, Fitch — analyze the issuer's finances; we'll see their conflict of interest in two slides.
Q: Is 'junk' really worthless? A: No — high-yield bonds pay more precisely because they're riskier; many perform fine, but defaults are far likelier than in investment 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numbers prove the ladder isn't arbitrary — ratings really do predict default.
• Read across: at every horizon, default risk climbs steeply as the grade falls. AAA essentially never defaults in a year; CCC/C defaults nearly a third of the time within a year.
• Point at the cliff: BBB → BB (the IG/HY line) roughly 4×'s the 1-year rate (0.16% → 0.62%) and 3×'s the 10-year (4.4% → 14.5%). That's why crossing the line matters so much.
• And it keeps compounding: BB → B nearly doubles the 10-year rate again (14.5% → 27.8%).
• Frame it for investors: the extra yield on low-rated bonds is COMPENSATION for these odds — expected loss is probability of default × loss given default, not the headline spread.
— Likely Q&amp;A —
Q: If CCC defaults ~54% over 10 years, why buy it? A: You don't lose everything in a default — recovery is ~40 cents on the dollar — and the high coupon can still pay off across a diversified basket.
Q: Are these guarantees? A: No — they're historical averages from S&amp;P's 1981–2024 data; any single bond can do better or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module by connecting ratings to real money and real history.
• Ratings drive the 'credit spread' — the extra yield over a same-maturity Treasury. As of mid-2026, investment grade pays under a point of spread; CCC and below pay nearly 9.5 points. The market prices the ladder in real time.
• That fat spread isn't free money — it's payment for the default odds we just saw. Expected loss = probability of default × loss given default.
• The structural flaw: since the 1970s the bond ISSUER pays the agency for its rating, which invites 'ratings shopping' — soliciting several and using the friendliest grade.
• 2008 is the cautionary tale: agencies rated mortgage bonds AAA, then mass-downgraded them; 73% of the 2006 AAA mortgage bonds Moody's rated were junk by 2010. Dodd-Frank added oversight, but issuer-pays survives.
— Likely Q&amp;A —
Q: Did anyone fix the conflict of interest after 2008? A: Partly — Dodd-Frank added the SEC Office of Credit Ratings, but the issuer-pays model is still standard.
Q: Why trust ratings at all then? A: They're still useful and broadly accurate for corporates and sovereigns; 2008 was a structured-finance failure — treat AAA as informative, not infallible.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story — a real, recent headline that pays off the whole hour. Set the scene first.
• On May 16, 2025, Moody's cut the U.S. from Aaa to Aa1 — one notch. It was the LAST of the big three to do it; Moody's had rated the U.S. top-tier since 1917. S&amp;P cut in 2011, Fitch in 2023.
• The reason rhymes with personal credit: over a decade of rising debt and interest costs, and a track record of not fixing it — debt headed for 134% of GDP, interest eating ~30% of revenue.
• Market reaction was a one-day wobble: the 30-yr Treasury briefly topped 5%, stocks opened red then closed roughly flat. Treasuries are still the world's safe asset.
• Frame the lesson: a sovereign rating is a credit score for a country — and it ultimately feeds the rates YOU pay.
— Likely Q&amp;A —
Q: If markets shrugged, did it matter? A: Symbolically yes, practically little this time — but it nudges long-term borrowing costs up at the margin, and those feed mortgages.
Q: Could the U.S. actually default? A: Effectively no in the ordinary sense — it borrows in its own currency; the downgrade is about fiscal trajectory, not imminent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'why' — it explains the mechanism and is the most useful takeaway for someone buying a house.
• The yield curve has a short end (3-month to ~2-year), anchored to Fed policy, and a long end (10–30-year), which prices a decade-plus of inflation, growth, and fiscal risk.
• A SOVEREIGN downgrade is a statement about long-run fiscal health, so it lifts the LONG end. The short end, tied to the Fed, barely moved — the curve 'steepened.'
• That's why outcomes split: 30-yr mortgages track the 10-yr Treasury, so they ticked up (~+8 bps in two weeks); card APRs track Prime / the Fed-funds rate, so they stayed flat.
• In dollars: on a $400k 30-yr loan, each +0.25% adds ~$67/month and ~$24,000 over the life of the loan — small moves aren't nothing.
— Likely Q&amp;A —
Q: Should I rush to lock a mortgage after a downgrade? A: Don't panic — moves are usually small; focus on the rate you control (your score) and shop within a rate-shopping window.
Q: Why don't card rates follow the same news? A: Cards are pegged to Prime, which moves with the Fed's short-term rate — not with long-term fiscal worries.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this land as the unifying idea of the whole hour — pause on it.
• Everything we covered — your FICO, a company's PAYDEX, a country's Aaa — is the same machine: a grade predicting the odds a borrower fails to pay as promised, which sets the price they're charged.
• The 820-to-790 analogy keeps it human: the U.S. didn't become risky, it became slightly less perfect — exactly how a strong personal score dips after one new card.
• Bridge back to action: you can't control the Treasury market, but you CAN control your own 'sovereign rating.'
— Likely Q&amp;A —
Q: Is comparing a person to a country really fair? A: The mechanics genuinely match — debt vs. income, payment record, a grade that sets your rate; the scale differs, the logic doesn't.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it up — these reward debate, not single answers. Give the room a minute on each.
• Q1 connects macro to personal: the equivalent of '134% debt-to-GDP' is high debt-to-income, and '30% of revenue to interest' is when minimum payments swallow your paycheck. Let them find the parallel.
• Q2 is about whether ratings matter if markets ignore them — push them on WHEN it would suddenly matter (a forced-selling cascade, a confidence shock, a country without reserve-currency status).
• Q3 is the practical close: between the 10-yr Treasury (uncontrollable) and your credit score (controllable), pull the lever you own — build the score, lower DTI, shop the rate.
• Tie back to anyone's opener share if you can — a live example beats a hypothetical.
— Likely Q&amp;A —
Q: Single most useful thing this week? A: Pull your free reports, set up autopay, and check utilization before each statement — three moves that hit the biggest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slide. Everything tonight came from primary or authoritative sources, fact-checked as of June 2026.
• Encourage them to go to the originals — especially AnnualCreditReport.com (free weekly), the CFPB's ask-CFPB pages, and myFICO for the score breakdown.
• Remind them the figures (APRs, mortgage rates, spreads) drift over time — the method and ranges matter more than the exact decimals.
• One-line close: pick ONE action from tonight and do it before next week — that's the whole point of the hour.
— Likely Q&amp;A —
Q: Where do I get my actual score for free? A: Many banks and card apps show a free FICO or VantageScore; AnnualCreditReport.com gives the reports behind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image" Target="../media/image-17-3.png"/><Relationship Id="rId4" Type="http://schemas.openxmlformats.org/officeDocument/2006/relationships/image" Target="../media/image-17-4.sv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sv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1220"/>
          </a:solidFill>
          <a:ln/>
        </p:spPr>
      </p:sp>
      <p:sp>
        <p:nvSpPr>
          <p:cNvPr id="3" name="Shape 1"/>
          <p:cNvSpPr/>
          <p:nvPr/>
        </p:nvSpPr>
        <p:spPr>
          <a:xfrm>
            <a:off x="609600" y="609600"/>
            <a:ext cx="342900" cy="34290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695325" y="790575"/>
            <a:ext cx="38100" cy="66675"/>
          </a:xfrm>
          <a:prstGeom prst="roundRect">
            <a:avLst>
              <a:gd name="adj" fmla="val 50000"/>
            </a:avLst>
          </a:prstGeom>
          <a:solidFill>
            <a:srgbClr val="FFFFFF">
              <a:alpha val="65000"/>
            </a:srgbClr>
          </a:solidFill>
          <a:ln/>
        </p:spPr>
      </p:sp>
      <p:sp>
        <p:nvSpPr>
          <p:cNvPr id="5" name="Shape 3"/>
          <p:cNvSpPr/>
          <p:nvPr/>
        </p:nvSpPr>
        <p:spPr>
          <a:xfrm>
            <a:off x="762000" y="752475"/>
            <a:ext cx="38100" cy="104775"/>
          </a:xfrm>
          <a:prstGeom prst="roundRect">
            <a:avLst>
              <a:gd name="adj" fmla="val 50000"/>
            </a:avLst>
          </a:prstGeom>
          <a:solidFill>
            <a:srgbClr val="FFFFFF">
              <a:alpha val="85000"/>
            </a:srgbClr>
          </a:solidFill>
          <a:ln/>
        </p:spPr>
      </p:sp>
      <p:sp>
        <p:nvSpPr>
          <p:cNvPr id="6" name="Shape 4"/>
          <p:cNvSpPr/>
          <p:nvPr/>
        </p:nvSpPr>
        <p:spPr>
          <a:xfrm>
            <a:off x="828675" y="704850"/>
            <a:ext cx="38100" cy="152400"/>
          </a:xfrm>
          <a:prstGeom prst="roundRect">
            <a:avLst>
              <a:gd name="adj" fmla="val 50000"/>
            </a:avLst>
          </a:prstGeom>
          <a:solidFill>
            <a:srgbClr val="FFFFFF"/>
          </a:solidFill>
          <a:ln/>
        </p:spPr>
      </p:sp>
      <p:sp>
        <p:nvSpPr>
          <p:cNvPr id="7" name="Text 5"/>
          <p:cNvSpPr/>
          <p:nvPr/>
        </p:nvSpPr>
        <p:spPr>
          <a:xfrm>
            <a:off x="1066800" y="633413"/>
            <a:ext cx="2317274"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spc="-13" kern="0" dirty="0">
                <a:solidFill>
                  <a:srgbClr val="FFFFFF"/>
                </a:solidFill>
                <a:latin typeface="Arial" pitchFamily="34" charset="0"/>
                <a:ea typeface="Arial" pitchFamily="34" charset="-122"/>
                <a:cs typeface="Arial" pitchFamily="34" charset="-120"/>
              </a:rPr>
              <a:t>Compound Money Talk</a:t>
            </a:r>
            <a:endParaRPr lang="en-US" sz="1500" dirty="0"/>
          </a:p>
        </p:txBody>
      </p:sp>
      <p:sp>
        <p:nvSpPr>
          <p:cNvPr id="8" name="Text 6"/>
          <p:cNvSpPr/>
          <p:nvPr/>
        </p:nvSpPr>
        <p:spPr>
          <a:xfrm>
            <a:off x="10184289" y="685006"/>
            <a:ext cx="1537922"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spc="20" kern="0" dirty="0">
                <a:solidFill>
                  <a:srgbClr val="FFFFFF">
                    <a:alpha val="55000"/>
                  </a:srgbClr>
                </a:solidFill>
                <a:latin typeface="Arial" pitchFamily="34" charset="0"/>
                <a:ea typeface="Arial" pitchFamily="34" charset="-122"/>
                <a:cs typeface="Arial" pitchFamily="34" charset="-120"/>
              </a:rPr>
              <a:t>Compound Money Talk</a:t>
            </a:r>
            <a:endParaRPr lang="en-US" sz="975" dirty="0"/>
          </a:p>
        </p:txBody>
      </p:sp>
      <p:sp>
        <p:nvSpPr>
          <p:cNvPr id="9" name="Text 7"/>
          <p:cNvSpPr/>
          <p:nvPr/>
        </p:nvSpPr>
        <p:spPr>
          <a:xfrm>
            <a:off x="609600" y="4248626"/>
            <a:ext cx="1207008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C7D2FE"/>
                </a:solidFill>
                <a:latin typeface="Arial" pitchFamily="34" charset="0"/>
                <a:ea typeface="Arial" pitchFamily="34" charset="-122"/>
                <a:cs typeface="Arial" pitchFamily="34" charset="-120"/>
              </a:rPr>
              <a:t>WEEK 1</a:t>
            </a:r>
            <a:endParaRPr lang="en-US" sz="975" dirty="0"/>
          </a:p>
        </p:txBody>
      </p:sp>
      <p:sp>
        <p:nvSpPr>
          <p:cNvPr id="10" name="Text 8"/>
          <p:cNvSpPr/>
          <p:nvPr/>
        </p:nvSpPr>
        <p:spPr>
          <a:xfrm>
            <a:off x="609600" y="4592955"/>
            <a:ext cx="12070080" cy="598170"/>
          </a:xfrm>
          <a:prstGeom prst="rect">
            <a:avLst/>
          </a:prstGeom>
          <a:noFill/>
          <a:ln/>
        </p:spPr>
        <p:txBody>
          <a:bodyPr wrap="square" lIns="25400" tIns="25400" rIns="25400" bIns="25400" rtlCol="0" anchor="t">
            <a:normAutofit/>
          </a:bodyPr>
          <a:lstStyle/>
          <a:p>
            <a:pPr algn="l" indent="0" marL="0">
              <a:lnSpc>
                <a:spcPct val="105000"/>
              </a:lnSpc>
              <a:buNone/>
            </a:pPr>
            <a:r>
              <a:rPr lang="en-US" sz="4200" b="1" spc="-84" kern="0" dirty="0">
                <a:solidFill>
                  <a:srgbClr val="FFFFFF"/>
                </a:solidFill>
                <a:latin typeface="Arial" pitchFamily="34" charset="0"/>
                <a:ea typeface="Arial" pitchFamily="34" charset="-122"/>
                <a:cs typeface="Arial" pitchFamily="34" charset="-120"/>
              </a:rPr>
              <a:t>Credit</a:t>
            </a:r>
            <a:endParaRPr lang="en-US" sz="4200" dirty="0"/>
          </a:p>
        </p:txBody>
      </p:sp>
      <p:sp>
        <p:nvSpPr>
          <p:cNvPr id="11" name="Text 9"/>
          <p:cNvSpPr/>
          <p:nvPr/>
        </p:nvSpPr>
        <p:spPr>
          <a:xfrm>
            <a:off x="609600" y="5305425"/>
            <a:ext cx="5198717"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FFFFFF">
                    <a:alpha val="72000"/>
                  </a:srgbClr>
                </a:solidFill>
                <a:latin typeface="Arial" pitchFamily="34" charset="0"/>
                <a:ea typeface="Arial" pitchFamily="34" charset="-122"/>
                <a:cs typeface="Arial" pitchFamily="34" charset="-120"/>
              </a:rPr>
              <a:t>How borrowing works — and how to build a file that works for you.</a:t>
            </a:r>
            <a:endParaRPr lang="en-US" sz="1500" dirty="0"/>
          </a:p>
        </p:txBody>
      </p:sp>
      <p:sp>
        <p:nvSpPr>
          <p:cNvPr id="12" name="Shape 10"/>
          <p:cNvSpPr/>
          <p:nvPr/>
        </p:nvSpPr>
        <p:spPr>
          <a:xfrm>
            <a:off x="609600" y="6200775"/>
            <a:ext cx="914400" cy="47625"/>
          </a:xfrm>
          <a:prstGeom prst="roundRect">
            <a:avLst>
              <a:gd name="adj" fmla="val 50000"/>
            </a:avLst>
          </a:prstGeom>
          <a:gradFill rotWithShape="1">
            <a:gsLst>
              <a:gs pos="0">
                <a:srgbClr val="4F46E5">
                  <a:alpha val="100000"/>
                </a:srgbClr>
              </a:gs>
              <a:gs pos="100000">
                <a:srgbClr val="C7D2FE">
                  <a:alpha val="100000"/>
                </a:srgbClr>
              </a:gs>
            </a:gsLst>
            <a:lin ang="0" scaled="0"/>
          </a:gra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1396301"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OPENER · 10 MIN</a:t>
            </a:r>
            <a:endParaRPr lang="en-US" sz="975" dirty="0"/>
          </a:p>
        </p:txBody>
      </p:sp>
      <p:sp>
        <p:nvSpPr>
          <p:cNvPr id="8" name="Text 6"/>
          <p:cNvSpPr/>
          <p:nvPr/>
        </p:nvSpPr>
        <p:spPr>
          <a:xfrm>
            <a:off x="609600" y="989647"/>
            <a:ext cx="12070080" cy="628650"/>
          </a:xfrm>
          <a:prstGeom prst="rect">
            <a:avLst/>
          </a:prstGeom>
          <a:noFill/>
          <a:ln/>
        </p:spPr>
        <p:txBody>
          <a:bodyPr wrap="square" lIns="25400" tIns="25400" rIns="25400" bIns="25400" rtlCol="0" anchor="t">
            <a:normAutofit/>
          </a:bodyPr>
          <a:lstStyle/>
          <a:p>
            <a:pPr algn="l" indent="0" marL="0">
              <a:lnSpc>
                <a:spcPct val="155000"/>
              </a:lnSpc>
              <a:buNone/>
            </a:pPr>
            <a:r>
              <a:rPr lang="en-US" sz="3000" b="1" spc="-60" kern="0" dirty="0">
                <a:solidFill>
                  <a:srgbClr val="0B1220"/>
                </a:solidFill>
                <a:latin typeface="Arial" pitchFamily="34" charset="0"/>
                <a:ea typeface="Arial" pitchFamily="34" charset="-122"/>
                <a:cs typeface="Arial" pitchFamily="34" charset="-120"/>
              </a:rPr>
              <a:t>Wins &amp; Questions</a:t>
            </a:r>
            <a:endParaRPr lang="en-US" sz="3000" dirty="0"/>
          </a:p>
        </p:txBody>
      </p:sp>
      <p:sp>
        <p:nvSpPr>
          <p:cNvPr id="9" name="Shape 7"/>
          <p:cNvSpPr/>
          <p:nvPr/>
        </p:nvSpPr>
        <p:spPr>
          <a:xfrm>
            <a:off x="609600" y="1884997"/>
            <a:ext cx="3556000" cy="4363403"/>
          </a:xfrm>
          <a:prstGeom prst="roundRect">
            <a:avLst>
              <a:gd name="adj" fmla="val 3214"/>
            </a:avLst>
          </a:prstGeom>
          <a:solidFill>
            <a:srgbClr val="F6F7FB"/>
          </a:solidFill>
          <a:ln w="6667">
            <a:solidFill>
              <a:srgbClr val="E5E8F0"/>
            </a:solidFill>
            <a:prstDash val="solid"/>
          </a:ln>
        </p:spPr>
      </p:sp>
      <p:sp>
        <p:nvSpPr>
          <p:cNvPr id="10" name="Shape 8"/>
          <p:cNvSpPr/>
          <p:nvPr/>
        </p:nvSpPr>
        <p:spPr>
          <a:xfrm>
            <a:off x="921067" y="3342799"/>
            <a:ext cx="342900" cy="342900"/>
          </a:xfrm>
          <a:prstGeom prst="ellipse">
            <a:avLst/>
          </a:prstGeom>
          <a:solidFill>
            <a:srgbClr val="FFFFFF"/>
          </a:solidFill>
          <a:ln w="6667">
            <a:solidFill>
              <a:srgbClr val="E5E8F0"/>
            </a:solidFill>
            <a:prstDash val="solid"/>
          </a:ln>
        </p:spPr>
      </p:sp>
      <p:sp>
        <p:nvSpPr>
          <p:cNvPr id="11" name="Text 9"/>
          <p:cNvSpPr/>
          <p:nvPr/>
        </p:nvSpPr>
        <p:spPr>
          <a:xfrm>
            <a:off x="889635" y="3349466"/>
            <a:ext cx="405765" cy="367665"/>
          </a:xfrm>
          <a:prstGeom prst="rect">
            <a:avLst/>
          </a:prstGeom>
          <a:noFill/>
          <a:ln/>
        </p:spPr>
        <p:txBody>
          <a:bodyPr wrap="square" lIns="25400" tIns="25400" rIns="25400" bIns="25400" rtlCol="0" anchor="ctr">
            <a:normAutofit/>
          </a:bodyPr>
          <a:lstStyle/>
          <a:p>
            <a:pPr algn="ctr" indent="0" marL="0">
              <a:lnSpc>
                <a:spcPct val="155000"/>
              </a:lnSpc>
              <a:buNone/>
            </a:pPr>
            <a:r>
              <a:rPr lang="en-US" sz="1350" b="1" dirty="0">
                <a:solidFill>
                  <a:srgbClr val="4F46E5"/>
                </a:solidFill>
                <a:latin typeface="Arial" pitchFamily="34" charset="0"/>
                <a:ea typeface="Arial" pitchFamily="34" charset="-122"/>
                <a:cs typeface="Arial" pitchFamily="34" charset="-120"/>
              </a:rPr>
              <a:t>1</a:t>
            </a:r>
            <a:endParaRPr lang="en-US" sz="1350" dirty="0"/>
          </a:p>
        </p:txBody>
      </p:sp>
      <p:sp>
        <p:nvSpPr>
          <p:cNvPr id="12" name="Text 10"/>
          <p:cNvSpPr/>
          <p:nvPr/>
        </p:nvSpPr>
        <p:spPr>
          <a:xfrm>
            <a:off x="921067" y="3838099"/>
            <a:ext cx="3021057" cy="990600"/>
          </a:xfrm>
          <a:prstGeom prst="rect">
            <a:avLst/>
          </a:prstGeom>
          <a:noFill/>
          <a:ln/>
        </p:spPr>
        <p:txBody>
          <a:bodyPr wrap="square" lIns="25400" tIns="25400" rIns="25400" bIns="25400" rtlCol="0" anchor="t">
            <a:normAutofit/>
          </a:bodyPr>
          <a:lstStyle/>
          <a:p>
            <a:pPr algn="l" indent="0" marL="0">
              <a:lnSpc>
                <a:spcPct val="125000"/>
              </a:lnSpc>
              <a:buNone/>
            </a:pPr>
            <a:r>
              <a:rPr lang="en-US" sz="1500" dirty="0">
                <a:solidFill>
                  <a:srgbClr val="1E293B"/>
                </a:solidFill>
                <a:latin typeface="Arial" pitchFamily="34" charset="0"/>
                <a:ea typeface="Arial" pitchFamily="34" charset="-122"/>
                <a:cs typeface="Arial" pitchFamily="34" charset="-120"/>
              </a:rPr>
              <a:t>Anything new you did with money this week — opened an account, paid something off, a purchase decision?</a:t>
            </a:r>
            <a:endParaRPr lang="en-US" sz="1500" dirty="0"/>
          </a:p>
        </p:txBody>
      </p:sp>
      <p:sp>
        <p:nvSpPr>
          <p:cNvPr id="13" name="Shape 11"/>
          <p:cNvSpPr/>
          <p:nvPr/>
        </p:nvSpPr>
        <p:spPr>
          <a:xfrm>
            <a:off x="4318000" y="1884997"/>
            <a:ext cx="3556000" cy="4363403"/>
          </a:xfrm>
          <a:prstGeom prst="roundRect">
            <a:avLst>
              <a:gd name="adj" fmla="val 3214"/>
            </a:avLst>
          </a:prstGeom>
          <a:solidFill>
            <a:srgbClr val="F6F7FB"/>
          </a:solidFill>
          <a:ln w="6667">
            <a:solidFill>
              <a:srgbClr val="E5E8F0"/>
            </a:solidFill>
            <a:prstDash val="solid"/>
          </a:ln>
        </p:spPr>
      </p:sp>
      <p:sp>
        <p:nvSpPr>
          <p:cNvPr id="14" name="Shape 12"/>
          <p:cNvSpPr/>
          <p:nvPr/>
        </p:nvSpPr>
        <p:spPr>
          <a:xfrm>
            <a:off x="4629467" y="3461861"/>
            <a:ext cx="342900" cy="342900"/>
          </a:xfrm>
          <a:prstGeom prst="ellipse">
            <a:avLst/>
          </a:prstGeom>
          <a:solidFill>
            <a:srgbClr val="FFFFFF"/>
          </a:solidFill>
          <a:ln w="6667">
            <a:solidFill>
              <a:srgbClr val="E5E8F0"/>
            </a:solidFill>
            <a:prstDash val="solid"/>
          </a:ln>
        </p:spPr>
      </p:sp>
      <p:sp>
        <p:nvSpPr>
          <p:cNvPr id="15" name="Text 13"/>
          <p:cNvSpPr/>
          <p:nvPr/>
        </p:nvSpPr>
        <p:spPr>
          <a:xfrm>
            <a:off x="4598035" y="3468529"/>
            <a:ext cx="405765" cy="367665"/>
          </a:xfrm>
          <a:prstGeom prst="rect">
            <a:avLst/>
          </a:prstGeom>
          <a:noFill/>
          <a:ln/>
        </p:spPr>
        <p:txBody>
          <a:bodyPr wrap="square" lIns="25400" tIns="25400" rIns="25400" bIns="25400" rtlCol="0" anchor="ctr">
            <a:normAutofit/>
          </a:bodyPr>
          <a:lstStyle/>
          <a:p>
            <a:pPr algn="ctr" indent="0" marL="0">
              <a:lnSpc>
                <a:spcPct val="155000"/>
              </a:lnSpc>
              <a:buNone/>
            </a:pPr>
            <a:r>
              <a:rPr lang="en-US" sz="1350" b="1" dirty="0">
                <a:solidFill>
                  <a:srgbClr val="4F46E5"/>
                </a:solidFill>
                <a:latin typeface="Arial" pitchFamily="34" charset="0"/>
                <a:ea typeface="Arial" pitchFamily="34" charset="-122"/>
                <a:cs typeface="Arial" pitchFamily="34" charset="-120"/>
              </a:rPr>
              <a:t>2</a:t>
            </a:r>
            <a:endParaRPr lang="en-US" sz="1350" dirty="0"/>
          </a:p>
        </p:txBody>
      </p:sp>
      <p:sp>
        <p:nvSpPr>
          <p:cNvPr id="16" name="Text 14"/>
          <p:cNvSpPr/>
          <p:nvPr/>
        </p:nvSpPr>
        <p:spPr>
          <a:xfrm>
            <a:off x="4629467" y="3957161"/>
            <a:ext cx="3021057" cy="752475"/>
          </a:xfrm>
          <a:prstGeom prst="rect">
            <a:avLst/>
          </a:prstGeom>
          <a:noFill/>
          <a:ln/>
        </p:spPr>
        <p:txBody>
          <a:bodyPr wrap="square" lIns="25400" tIns="25400" rIns="25400" bIns="25400" rtlCol="0" anchor="t">
            <a:normAutofit/>
          </a:bodyPr>
          <a:lstStyle/>
          <a:p>
            <a:pPr algn="l" indent="0" marL="0">
              <a:lnSpc>
                <a:spcPct val="125000"/>
              </a:lnSpc>
              <a:buNone/>
            </a:pPr>
            <a:r>
              <a:rPr lang="en-US" sz="1500" dirty="0">
                <a:solidFill>
                  <a:srgbClr val="1E293B"/>
                </a:solidFill>
                <a:latin typeface="Arial" pitchFamily="34" charset="0"/>
                <a:ea typeface="Arial" pitchFamily="34" charset="-122"/>
                <a:cs typeface="Arial" pitchFamily="34" charset="-120"/>
              </a:rPr>
              <a:t>Something interesting you learned about money or finance?</a:t>
            </a:r>
            <a:endParaRPr lang="en-US" sz="1500" dirty="0"/>
          </a:p>
        </p:txBody>
      </p:sp>
      <p:sp>
        <p:nvSpPr>
          <p:cNvPr id="17" name="Shape 15"/>
          <p:cNvSpPr/>
          <p:nvPr/>
        </p:nvSpPr>
        <p:spPr>
          <a:xfrm>
            <a:off x="8026400" y="1884997"/>
            <a:ext cx="3556000" cy="4363403"/>
          </a:xfrm>
          <a:prstGeom prst="roundRect">
            <a:avLst>
              <a:gd name="adj" fmla="val 3214"/>
            </a:avLst>
          </a:prstGeom>
          <a:solidFill>
            <a:srgbClr val="F6F7FB"/>
          </a:solidFill>
          <a:ln w="6667">
            <a:solidFill>
              <a:srgbClr val="E5E8F0"/>
            </a:solidFill>
            <a:prstDash val="solid"/>
          </a:ln>
        </p:spPr>
      </p:sp>
      <p:sp>
        <p:nvSpPr>
          <p:cNvPr id="18" name="Shape 16"/>
          <p:cNvSpPr/>
          <p:nvPr/>
        </p:nvSpPr>
        <p:spPr>
          <a:xfrm>
            <a:off x="8337868" y="3580924"/>
            <a:ext cx="342900" cy="342900"/>
          </a:xfrm>
          <a:prstGeom prst="ellipse">
            <a:avLst/>
          </a:prstGeom>
          <a:solidFill>
            <a:srgbClr val="FFFFFF"/>
          </a:solidFill>
          <a:ln w="6667">
            <a:solidFill>
              <a:srgbClr val="E5E8F0"/>
            </a:solidFill>
            <a:prstDash val="solid"/>
          </a:ln>
        </p:spPr>
      </p:sp>
      <p:sp>
        <p:nvSpPr>
          <p:cNvPr id="19" name="Text 17"/>
          <p:cNvSpPr/>
          <p:nvPr/>
        </p:nvSpPr>
        <p:spPr>
          <a:xfrm>
            <a:off x="8306435" y="3587591"/>
            <a:ext cx="405765" cy="367665"/>
          </a:xfrm>
          <a:prstGeom prst="rect">
            <a:avLst/>
          </a:prstGeom>
          <a:noFill/>
          <a:ln/>
        </p:spPr>
        <p:txBody>
          <a:bodyPr wrap="square" lIns="25400" tIns="25400" rIns="25400" bIns="25400" rtlCol="0" anchor="ctr">
            <a:normAutofit/>
          </a:bodyPr>
          <a:lstStyle/>
          <a:p>
            <a:pPr algn="ctr" indent="0" marL="0">
              <a:lnSpc>
                <a:spcPct val="155000"/>
              </a:lnSpc>
              <a:buNone/>
            </a:pPr>
            <a:r>
              <a:rPr lang="en-US" sz="1350" b="1" dirty="0">
                <a:solidFill>
                  <a:srgbClr val="4F46E5"/>
                </a:solidFill>
                <a:latin typeface="Arial" pitchFamily="34" charset="0"/>
                <a:ea typeface="Arial" pitchFamily="34" charset="-122"/>
                <a:cs typeface="Arial" pitchFamily="34" charset="-120"/>
              </a:rPr>
              <a:t>3</a:t>
            </a:r>
            <a:endParaRPr lang="en-US" sz="1350" dirty="0"/>
          </a:p>
        </p:txBody>
      </p:sp>
      <p:sp>
        <p:nvSpPr>
          <p:cNvPr id="20" name="Text 18"/>
          <p:cNvSpPr/>
          <p:nvPr/>
        </p:nvSpPr>
        <p:spPr>
          <a:xfrm>
            <a:off x="8337868" y="4076224"/>
            <a:ext cx="3021057" cy="514350"/>
          </a:xfrm>
          <a:prstGeom prst="rect">
            <a:avLst/>
          </a:prstGeom>
          <a:noFill/>
          <a:ln/>
        </p:spPr>
        <p:txBody>
          <a:bodyPr wrap="square" lIns="25400" tIns="25400" rIns="25400" bIns="25400" rtlCol="0" anchor="t">
            <a:normAutofit/>
          </a:bodyPr>
          <a:lstStyle/>
          <a:p>
            <a:pPr algn="l" indent="0" marL="0">
              <a:lnSpc>
                <a:spcPct val="125000"/>
              </a:lnSpc>
              <a:buNone/>
            </a:pPr>
            <a:r>
              <a:rPr lang="en-US" sz="1500" dirty="0">
                <a:solidFill>
                  <a:srgbClr val="1E293B"/>
                </a:solidFill>
                <a:latin typeface="Arial" pitchFamily="34" charset="0"/>
                <a:ea typeface="Arial" pitchFamily="34" charset="-122"/>
                <a:cs typeface="Arial" pitchFamily="34" charset="-120"/>
              </a:rPr>
              <a:t>A new investment you're looking at or like right now?</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3775742"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LESSON · 40 MIN — WE WON'T COVER IT ALL</a:t>
            </a:r>
            <a:endParaRPr lang="en-US" sz="975" dirty="0"/>
          </a:p>
        </p:txBody>
      </p:sp>
      <p:sp>
        <p:nvSpPr>
          <p:cNvPr id="8" name="Text 6"/>
          <p:cNvSpPr/>
          <p:nvPr/>
        </p:nvSpPr>
        <p:spPr>
          <a:xfrm>
            <a:off x="609600" y="989647"/>
            <a:ext cx="12070080" cy="628650"/>
          </a:xfrm>
          <a:prstGeom prst="rect">
            <a:avLst/>
          </a:prstGeom>
          <a:noFill/>
          <a:ln/>
        </p:spPr>
        <p:txBody>
          <a:bodyPr wrap="square" lIns="25400" tIns="25400" rIns="25400" bIns="25400" rtlCol="0" anchor="t">
            <a:normAutofit/>
          </a:bodyPr>
          <a:lstStyle/>
          <a:p>
            <a:pPr algn="l" indent="0" marL="0">
              <a:lnSpc>
                <a:spcPct val="155000"/>
              </a:lnSpc>
              <a:buNone/>
            </a:pPr>
            <a:r>
              <a:rPr lang="en-US" sz="3000" b="1" spc="-60" kern="0" dirty="0">
                <a:solidFill>
                  <a:srgbClr val="0B1220"/>
                </a:solidFill>
                <a:latin typeface="Arial" pitchFamily="34" charset="0"/>
                <a:ea typeface="Arial" pitchFamily="34" charset="-122"/>
                <a:cs typeface="Arial" pitchFamily="34" charset="-120"/>
              </a:rPr>
              <a:t>Pick your path</a:t>
            </a:r>
            <a:endParaRPr lang="en-US" sz="3000" dirty="0"/>
          </a:p>
        </p:txBody>
      </p:sp>
      <p:sp>
        <p:nvSpPr>
          <p:cNvPr id="9" name="Shape 7"/>
          <p:cNvSpPr/>
          <p:nvPr/>
        </p:nvSpPr>
        <p:spPr>
          <a:xfrm>
            <a:off x="768667" y="1929765"/>
            <a:ext cx="419100" cy="304800"/>
          </a:xfrm>
          <a:prstGeom prst="roundRect">
            <a:avLst>
              <a:gd name="adj" fmla="val 25000"/>
            </a:avLst>
          </a:prstGeom>
          <a:solidFill>
            <a:srgbClr val="EEF2FF"/>
          </a:solidFill>
          <a:ln/>
        </p:spPr>
      </p:sp>
      <p:sp>
        <p:nvSpPr>
          <p:cNvPr id="10" name="Text 8"/>
          <p:cNvSpPr/>
          <p:nvPr/>
        </p:nvSpPr>
        <p:spPr>
          <a:xfrm>
            <a:off x="825817" y="1929765"/>
            <a:ext cx="304800" cy="342900"/>
          </a:xfrm>
          <a:prstGeom prst="rect">
            <a:avLst/>
          </a:prstGeom>
          <a:noFill/>
          <a:ln/>
        </p:spPr>
        <p:txBody>
          <a:bodyPr wrap="square" lIns="25400" tIns="25400" rIns="25400" bIns="25400" rtlCol="0" anchor="ctr">
            <a:normAutofit/>
          </a:bodyPr>
          <a:lstStyle/>
          <a:p>
            <a:pPr algn="ctr" indent="0" marL="0">
              <a:lnSpc>
                <a:spcPct val="155000"/>
              </a:lnSpc>
              <a:buNone/>
            </a:pPr>
            <a:r>
              <a:rPr lang="en-US" sz="1125" b="1" dirty="0">
                <a:solidFill>
                  <a:srgbClr val="3730A3"/>
                </a:solidFill>
                <a:latin typeface="Arial" pitchFamily="34" charset="0"/>
                <a:ea typeface="Arial" pitchFamily="34" charset="-122"/>
                <a:cs typeface="Arial" pitchFamily="34" charset="-120"/>
              </a:rPr>
              <a:t>M1</a:t>
            </a:r>
            <a:endParaRPr lang="en-US" sz="1125" dirty="0"/>
          </a:p>
        </p:txBody>
      </p:sp>
      <p:sp>
        <p:nvSpPr>
          <p:cNvPr id="11" name="Text 9"/>
          <p:cNvSpPr/>
          <p:nvPr/>
        </p:nvSpPr>
        <p:spPr>
          <a:xfrm>
            <a:off x="1340167" y="1934528"/>
            <a:ext cx="10238962"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0B1220"/>
                </a:solidFill>
                <a:latin typeface="Arial" pitchFamily="34" charset="0"/>
                <a:ea typeface="Arial" pitchFamily="34" charset="-122"/>
                <a:cs typeface="Arial" pitchFamily="34" charset="-120"/>
              </a:rPr>
              <a:t>Credit 101 — what it is &amp; its types</a:t>
            </a:r>
            <a:endParaRPr lang="en-US" sz="1500" dirty="0"/>
          </a:p>
        </p:txBody>
      </p:sp>
      <p:sp>
        <p:nvSpPr>
          <p:cNvPr id="12" name="Shape 10"/>
          <p:cNvSpPr/>
          <p:nvPr/>
        </p:nvSpPr>
        <p:spPr>
          <a:xfrm>
            <a:off x="10800715" y="1946910"/>
            <a:ext cx="622618" cy="270510"/>
          </a:xfrm>
          <a:prstGeom prst="roundRect">
            <a:avLst>
              <a:gd name="adj" fmla="val 50000"/>
            </a:avLst>
          </a:prstGeom>
          <a:solidFill>
            <a:srgbClr val="F6F7FB"/>
          </a:solidFill>
          <a:ln w="6667">
            <a:solidFill>
              <a:srgbClr val="E5E8F0"/>
            </a:solidFill>
            <a:prstDash val="solid"/>
          </a:ln>
        </p:spPr>
      </p:sp>
      <p:sp>
        <p:nvSpPr>
          <p:cNvPr id="13" name="Text 11"/>
          <p:cNvSpPr/>
          <p:nvPr/>
        </p:nvSpPr>
        <p:spPr>
          <a:xfrm>
            <a:off x="10921683" y="2010727"/>
            <a:ext cx="456883" cy="180975"/>
          </a:xfrm>
          <a:prstGeom prst="rect">
            <a:avLst/>
          </a:prstGeom>
          <a:noFill/>
          <a:ln/>
        </p:spPr>
        <p:txBody>
          <a:bodyPr wrap="none" lIns="25400" tIns="25400" rIns="25400" bIns="25400" rtlCol="0" anchor="ctr">
            <a:normAutofit/>
          </a:bodyPr>
          <a:lstStyle/>
          <a:p>
            <a:pPr algn="l" indent="0" marL="0">
              <a:lnSpc>
                <a:spcPct val="100000"/>
              </a:lnSpc>
              <a:buNone/>
            </a:pPr>
            <a:r>
              <a:rPr lang="en-US" sz="1125" b="1" dirty="0">
                <a:solidFill>
                  <a:srgbClr val="5B6472"/>
                </a:solidFill>
                <a:latin typeface="Arial" pitchFamily="34" charset="0"/>
                <a:ea typeface="Arial" pitchFamily="34" charset="-122"/>
                <a:cs typeface="Arial" pitchFamily="34" charset="-120"/>
              </a:rPr>
              <a:t>6 min</a:t>
            </a:r>
            <a:endParaRPr lang="en-US" sz="1125" dirty="0"/>
          </a:p>
        </p:txBody>
      </p:sp>
      <p:sp>
        <p:nvSpPr>
          <p:cNvPr id="14" name="Shape 12"/>
          <p:cNvSpPr/>
          <p:nvPr/>
        </p:nvSpPr>
        <p:spPr>
          <a:xfrm>
            <a:off x="768667" y="2552700"/>
            <a:ext cx="419100" cy="304800"/>
          </a:xfrm>
          <a:prstGeom prst="roundRect">
            <a:avLst>
              <a:gd name="adj" fmla="val 25000"/>
            </a:avLst>
          </a:prstGeom>
          <a:solidFill>
            <a:srgbClr val="EEF2FF"/>
          </a:solidFill>
          <a:ln/>
        </p:spPr>
      </p:sp>
      <p:sp>
        <p:nvSpPr>
          <p:cNvPr id="15" name="Text 13"/>
          <p:cNvSpPr/>
          <p:nvPr/>
        </p:nvSpPr>
        <p:spPr>
          <a:xfrm>
            <a:off x="825817" y="2552700"/>
            <a:ext cx="304800" cy="342900"/>
          </a:xfrm>
          <a:prstGeom prst="rect">
            <a:avLst/>
          </a:prstGeom>
          <a:noFill/>
          <a:ln/>
        </p:spPr>
        <p:txBody>
          <a:bodyPr wrap="square" lIns="25400" tIns="25400" rIns="25400" bIns="25400" rtlCol="0" anchor="ctr">
            <a:normAutofit/>
          </a:bodyPr>
          <a:lstStyle/>
          <a:p>
            <a:pPr algn="ctr" indent="0" marL="0">
              <a:lnSpc>
                <a:spcPct val="155000"/>
              </a:lnSpc>
              <a:buNone/>
            </a:pPr>
            <a:r>
              <a:rPr lang="en-US" sz="1125" b="1" dirty="0">
                <a:solidFill>
                  <a:srgbClr val="3730A3"/>
                </a:solidFill>
                <a:latin typeface="Arial" pitchFamily="34" charset="0"/>
                <a:ea typeface="Arial" pitchFamily="34" charset="-122"/>
                <a:cs typeface="Arial" pitchFamily="34" charset="-120"/>
              </a:rPr>
              <a:t>M2</a:t>
            </a:r>
            <a:endParaRPr lang="en-US" sz="1125" dirty="0"/>
          </a:p>
        </p:txBody>
      </p:sp>
      <p:sp>
        <p:nvSpPr>
          <p:cNvPr id="16" name="Text 14"/>
          <p:cNvSpPr/>
          <p:nvPr/>
        </p:nvSpPr>
        <p:spPr>
          <a:xfrm>
            <a:off x="1340167" y="2557463"/>
            <a:ext cx="10249091"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0B1220"/>
                </a:solidFill>
                <a:latin typeface="Arial" pitchFamily="34" charset="0"/>
                <a:ea typeface="Arial" pitchFamily="34" charset="-122"/>
                <a:cs typeface="Arial" pitchFamily="34" charset="-120"/>
              </a:rPr>
              <a:t>The cost of credit — interest &amp; APR</a:t>
            </a:r>
            <a:endParaRPr lang="en-US" sz="1500" dirty="0"/>
          </a:p>
        </p:txBody>
      </p:sp>
      <p:sp>
        <p:nvSpPr>
          <p:cNvPr id="17" name="Shape 15"/>
          <p:cNvSpPr/>
          <p:nvPr/>
        </p:nvSpPr>
        <p:spPr>
          <a:xfrm>
            <a:off x="10809923" y="2569845"/>
            <a:ext cx="613410" cy="270510"/>
          </a:xfrm>
          <a:prstGeom prst="roundRect">
            <a:avLst>
              <a:gd name="adj" fmla="val 50000"/>
            </a:avLst>
          </a:prstGeom>
          <a:solidFill>
            <a:srgbClr val="F6F7FB"/>
          </a:solidFill>
          <a:ln w="6667">
            <a:solidFill>
              <a:srgbClr val="E5E8F0"/>
            </a:solidFill>
            <a:prstDash val="solid"/>
          </a:ln>
        </p:spPr>
      </p:sp>
      <p:sp>
        <p:nvSpPr>
          <p:cNvPr id="18" name="Text 16"/>
          <p:cNvSpPr/>
          <p:nvPr/>
        </p:nvSpPr>
        <p:spPr>
          <a:xfrm>
            <a:off x="10930890" y="2633662"/>
            <a:ext cx="447675" cy="180975"/>
          </a:xfrm>
          <a:prstGeom prst="rect">
            <a:avLst/>
          </a:prstGeom>
          <a:noFill/>
          <a:ln/>
        </p:spPr>
        <p:txBody>
          <a:bodyPr wrap="none" lIns="25400" tIns="25400" rIns="25400" bIns="25400" rtlCol="0" anchor="ctr">
            <a:normAutofit/>
          </a:bodyPr>
          <a:lstStyle/>
          <a:p>
            <a:pPr algn="l" indent="0" marL="0">
              <a:lnSpc>
                <a:spcPct val="100000"/>
              </a:lnSpc>
              <a:buNone/>
            </a:pPr>
            <a:r>
              <a:rPr lang="en-US" sz="1125" b="1" dirty="0">
                <a:solidFill>
                  <a:srgbClr val="5B6472"/>
                </a:solidFill>
                <a:latin typeface="Arial" pitchFamily="34" charset="0"/>
                <a:ea typeface="Arial" pitchFamily="34" charset="-122"/>
                <a:cs typeface="Arial" pitchFamily="34" charset="-120"/>
              </a:rPr>
              <a:t>7 min</a:t>
            </a:r>
            <a:endParaRPr lang="en-US" sz="1125" dirty="0"/>
          </a:p>
        </p:txBody>
      </p:sp>
      <p:sp>
        <p:nvSpPr>
          <p:cNvPr id="19" name="Shape 17"/>
          <p:cNvSpPr/>
          <p:nvPr/>
        </p:nvSpPr>
        <p:spPr>
          <a:xfrm>
            <a:off x="768667" y="3175635"/>
            <a:ext cx="419100" cy="304800"/>
          </a:xfrm>
          <a:prstGeom prst="roundRect">
            <a:avLst>
              <a:gd name="adj" fmla="val 25000"/>
            </a:avLst>
          </a:prstGeom>
          <a:solidFill>
            <a:srgbClr val="EEF2FF"/>
          </a:solidFill>
          <a:ln/>
        </p:spPr>
      </p:sp>
      <p:sp>
        <p:nvSpPr>
          <p:cNvPr id="20" name="Text 18"/>
          <p:cNvSpPr/>
          <p:nvPr/>
        </p:nvSpPr>
        <p:spPr>
          <a:xfrm>
            <a:off x="825817" y="3175635"/>
            <a:ext cx="304800" cy="342900"/>
          </a:xfrm>
          <a:prstGeom prst="rect">
            <a:avLst/>
          </a:prstGeom>
          <a:noFill/>
          <a:ln/>
        </p:spPr>
        <p:txBody>
          <a:bodyPr wrap="square" lIns="25400" tIns="25400" rIns="25400" bIns="25400" rtlCol="0" anchor="ctr">
            <a:normAutofit/>
          </a:bodyPr>
          <a:lstStyle/>
          <a:p>
            <a:pPr algn="ctr" indent="0" marL="0">
              <a:lnSpc>
                <a:spcPct val="155000"/>
              </a:lnSpc>
              <a:buNone/>
            </a:pPr>
            <a:r>
              <a:rPr lang="en-US" sz="1125" b="1" dirty="0">
                <a:solidFill>
                  <a:srgbClr val="3730A3"/>
                </a:solidFill>
                <a:latin typeface="Arial" pitchFamily="34" charset="0"/>
                <a:ea typeface="Arial" pitchFamily="34" charset="-122"/>
                <a:cs typeface="Arial" pitchFamily="34" charset="-120"/>
              </a:rPr>
              <a:t>M3</a:t>
            </a:r>
            <a:endParaRPr lang="en-US" sz="1125" dirty="0"/>
          </a:p>
        </p:txBody>
      </p:sp>
      <p:sp>
        <p:nvSpPr>
          <p:cNvPr id="21" name="Text 19"/>
          <p:cNvSpPr/>
          <p:nvPr/>
        </p:nvSpPr>
        <p:spPr>
          <a:xfrm>
            <a:off x="1340167" y="3180397"/>
            <a:ext cx="10238962"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0B1220"/>
                </a:solidFill>
                <a:latin typeface="Arial" pitchFamily="34" charset="0"/>
                <a:ea typeface="Arial" pitchFamily="34" charset="-122"/>
                <a:cs typeface="Arial" pitchFamily="34" charset="-120"/>
              </a:rPr>
              <a:t>Credit scores &amp; what moves them</a:t>
            </a:r>
            <a:endParaRPr lang="en-US" sz="1500" dirty="0"/>
          </a:p>
        </p:txBody>
      </p:sp>
      <p:sp>
        <p:nvSpPr>
          <p:cNvPr id="22" name="Shape 20"/>
          <p:cNvSpPr/>
          <p:nvPr/>
        </p:nvSpPr>
        <p:spPr>
          <a:xfrm>
            <a:off x="10800715" y="3192780"/>
            <a:ext cx="622618" cy="270510"/>
          </a:xfrm>
          <a:prstGeom prst="roundRect">
            <a:avLst>
              <a:gd name="adj" fmla="val 50000"/>
            </a:avLst>
          </a:prstGeom>
          <a:solidFill>
            <a:srgbClr val="F6F7FB"/>
          </a:solidFill>
          <a:ln w="6667">
            <a:solidFill>
              <a:srgbClr val="E5E8F0"/>
            </a:solidFill>
            <a:prstDash val="solid"/>
          </a:ln>
        </p:spPr>
      </p:sp>
      <p:sp>
        <p:nvSpPr>
          <p:cNvPr id="23" name="Text 21"/>
          <p:cNvSpPr/>
          <p:nvPr/>
        </p:nvSpPr>
        <p:spPr>
          <a:xfrm>
            <a:off x="10921683" y="3256598"/>
            <a:ext cx="456883" cy="180975"/>
          </a:xfrm>
          <a:prstGeom prst="rect">
            <a:avLst/>
          </a:prstGeom>
          <a:noFill/>
          <a:ln/>
        </p:spPr>
        <p:txBody>
          <a:bodyPr wrap="none" lIns="25400" tIns="25400" rIns="25400" bIns="25400" rtlCol="0" anchor="ctr">
            <a:normAutofit/>
          </a:bodyPr>
          <a:lstStyle/>
          <a:p>
            <a:pPr algn="l" indent="0" marL="0">
              <a:lnSpc>
                <a:spcPct val="100000"/>
              </a:lnSpc>
              <a:buNone/>
            </a:pPr>
            <a:r>
              <a:rPr lang="en-US" sz="1125" b="1" dirty="0">
                <a:solidFill>
                  <a:srgbClr val="5B6472"/>
                </a:solidFill>
                <a:latin typeface="Arial" pitchFamily="34" charset="0"/>
                <a:ea typeface="Arial" pitchFamily="34" charset="-122"/>
                <a:cs typeface="Arial" pitchFamily="34" charset="-120"/>
              </a:rPr>
              <a:t>8 min</a:t>
            </a:r>
            <a:endParaRPr lang="en-US" sz="1125" dirty="0"/>
          </a:p>
        </p:txBody>
      </p:sp>
      <p:sp>
        <p:nvSpPr>
          <p:cNvPr id="24" name="Shape 22"/>
          <p:cNvSpPr/>
          <p:nvPr/>
        </p:nvSpPr>
        <p:spPr>
          <a:xfrm>
            <a:off x="768667" y="3798570"/>
            <a:ext cx="420053" cy="304800"/>
          </a:xfrm>
          <a:prstGeom prst="roundRect">
            <a:avLst>
              <a:gd name="adj" fmla="val 25000"/>
            </a:avLst>
          </a:prstGeom>
          <a:solidFill>
            <a:srgbClr val="EEF2FF"/>
          </a:solidFill>
          <a:ln/>
        </p:spPr>
      </p:sp>
      <p:sp>
        <p:nvSpPr>
          <p:cNvPr id="25" name="Text 23"/>
          <p:cNvSpPr/>
          <p:nvPr/>
        </p:nvSpPr>
        <p:spPr>
          <a:xfrm>
            <a:off x="825817" y="3798570"/>
            <a:ext cx="305753" cy="342900"/>
          </a:xfrm>
          <a:prstGeom prst="rect">
            <a:avLst/>
          </a:prstGeom>
          <a:noFill/>
          <a:ln/>
        </p:spPr>
        <p:txBody>
          <a:bodyPr wrap="square" lIns="25400" tIns="25400" rIns="25400" bIns="25400" rtlCol="0" anchor="ctr">
            <a:normAutofit/>
          </a:bodyPr>
          <a:lstStyle/>
          <a:p>
            <a:pPr algn="ctr" indent="0" marL="0">
              <a:lnSpc>
                <a:spcPct val="155000"/>
              </a:lnSpc>
              <a:buNone/>
            </a:pPr>
            <a:r>
              <a:rPr lang="en-US" sz="1125" b="1" dirty="0">
                <a:solidFill>
                  <a:srgbClr val="3730A3"/>
                </a:solidFill>
                <a:latin typeface="Arial" pitchFamily="34" charset="0"/>
                <a:ea typeface="Arial" pitchFamily="34" charset="-122"/>
                <a:cs typeface="Arial" pitchFamily="34" charset="-120"/>
              </a:rPr>
              <a:t>M4</a:t>
            </a:r>
            <a:endParaRPr lang="en-US" sz="1125" dirty="0"/>
          </a:p>
        </p:txBody>
      </p:sp>
      <p:sp>
        <p:nvSpPr>
          <p:cNvPr id="26" name="Text 24"/>
          <p:cNvSpPr/>
          <p:nvPr/>
        </p:nvSpPr>
        <p:spPr>
          <a:xfrm>
            <a:off x="1341120" y="3803332"/>
            <a:ext cx="10242280"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0B1220"/>
                </a:solidFill>
                <a:latin typeface="Arial" pitchFamily="34" charset="0"/>
                <a:ea typeface="Arial" pitchFamily="34" charset="-122"/>
                <a:cs typeface="Arial" pitchFamily="34" charset="-120"/>
              </a:rPr>
              <a:t>Your report, inquiries &amp; your rights</a:t>
            </a:r>
            <a:endParaRPr lang="en-US" sz="1500" dirty="0"/>
          </a:p>
        </p:txBody>
      </p:sp>
      <p:sp>
        <p:nvSpPr>
          <p:cNvPr id="27" name="Shape 25"/>
          <p:cNvSpPr/>
          <p:nvPr/>
        </p:nvSpPr>
        <p:spPr>
          <a:xfrm>
            <a:off x="10804684" y="3815715"/>
            <a:ext cx="618649" cy="270510"/>
          </a:xfrm>
          <a:prstGeom prst="roundRect">
            <a:avLst>
              <a:gd name="adj" fmla="val 50000"/>
            </a:avLst>
          </a:prstGeom>
          <a:solidFill>
            <a:srgbClr val="F6F7FB"/>
          </a:solidFill>
          <a:ln w="6667">
            <a:solidFill>
              <a:srgbClr val="E5E8F0"/>
            </a:solidFill>
            <a:prstDash val="solid"/>
          </a:ln>
        </p:spPr>
      </p:sp>
      <p:sp>
        <p:nvSpPr>
          <p:cNvPr id="28" name="Text 26"/>
          <p:cNvSpPr/>
          <p:nvPr/>
        </p:nvSpPr>
        <p:spPr>
          <a:xfrm>
            <a:off x="10925651" y="3879533"/>
            <a:ext cx="452914" cy="180975"/>
          </a:xfrm>
          <a:prstGeom prst="rect">
            <a:avLst/>
          </a:prstGeom>
          <a:noFill/>
          <a:ln/>
        </p:spPr>
        <p:txBody>
          <a:bodyPr wrap="none" lIns="25400" tIns="25400" rIns="25400" bIns="25400" rtlCol="0" anchor="ctr">
            <a:normAutofit/>
          </a:bodyPr>
          <a:lstStyle/>
          <a:p>
            <a:pPr algn="l" indent="0" marL="0">
              <a:lnSpc>
                <a:spcPct val="100000"/>
              </a:lnSpc>
              <a:buNone/>
            </a:pPr>
            <a:r>
              <a:rPr lang="en-US" sz="1125" b="1" dirty="0">
                <a:solidFill>
                  <a:srgbClr val="5B6472"/>
                </a:solidFill>
                <a:latin typeface="Arial" pitchFamily="34" charset="0"/>
                <a:ea typeface="Arial" pitchFamily="34" charset="-122"/>
                <a:cs typeface="Arial" pitchFamily="34" charset="-120"/>
              </a:rPr>
              <a:t>5 min</a:t>
            </a:r>
            <a:endParaRPr lang="en-US" sz="1125" dirty="0"/>
          </a:p>
        </p:txBody>
      </p:sp>
      <p:sp>
        <p:nvSpPr>
          <p:cNvPr id="29" name="Shape 27"/>
          <p:cNvSpPr/>
          <p:nvPr/>
        </p:nvSpPr>
        <p:spPr>
          <a:xfrm>
            <a:off x="768667" y="4421505"/>
            <a:ext cx="419100" cy="304800"/>
          </a:xfrm>
          <a:prstGeom prst="roundRect">
            <a:avLst>
              <a:gd name="adj" fmla="val 25000"/>
            </a:avLst>
          </a:prstGeom>
          <a:solidFill>
            <a:srgbClr val="EEF2FF"/>
          </a:solidFill>
          <a:ln/>
        </p:spPr>
      </p:sp>
      <p:sp>
        <p:nvSpPr>
          <p:cNvPr id="30" name="Text 28"/>
          <p:cNvSpPr/>
          <p:nvPr/>
        </p:nvSpPr>
        <p:spPr>
          <a:xfrm>
            <a:off x="825817" y="4421505"/>
            <a:ext cx="304800" cy="342900"/>
          </a:xfrm>
          <a:prstGeom prst="rect">
            <a:avLst/>
          </a:prstGeom>
          <a:noFill/>
          <a:ln/>
        </p:spPr>
        <p:txBody>
          <a:bodyPr wrap="square" lIns="25400" tIns="25400" rIns="25400" bIns="25400" rtlCol="0" anchor="ctr">
            <a:normAutofit/>
          </a:bodyPr>
          <a:lstStyle/>
          <a:p>
            <a:pPr algn="ctr" indent="0" marL="0">
              <a:lnSpc>
                <a:spcPct val="155000"/>
              </a:lnSpc>
              <a:buNone/>
            </a:pPr>
            <a:r>
              <a:rPr lang="en-US" sz="1125" b="1" dirty="0">
                <a:solidFill>
                  <a:srgbClr val="3730A3"/>
                </a:solidFill>
                <a:latin typeface="Arial" pitchFamily="34" charset="0"/>
                <a:ea typeface="Arial" pitchFamily="34" charset="-122"/>
                <a:cs typeface="Arial" pitchFamily="34" charset="-120"/>
              </a:rPr>
              <a:t>M5</a:t>
            </a:r>
            <a:endParaRPr lang="en-US" sz="1125" dirty="0"/>
          </a:p>
        </p:txBody>
      </p:sp>
      <p:sp>
        <p:nvSpPr>
          <p:cNvPr id="31" name="Text 29"/>
          <p:cNvSpPr/>
          <p:nvPr/>
        </p:nvSpPr>
        <p:spPr>
          <a:xfrm>
            <a:off x="1340167" y="4426268"/>
            <a:ext cx="8702960"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0B1220"/>
                </a:solidFill>
                <a:latin typeface="Arial" pitchFamily="34" charset="0"/>
                <a:ea typeface="Arial" pitchFamily="34" charset="-122"/>
                <a:cs typeface="Arial" pitchFamily="34" charset="-120"/>
              </a:rPr>
              <a:t>Building credit from scratch</a:t>
            </a:r>
            <a:endParaRPr lang="en-US" sz="1500" dirty="0"/>
          </a:p>
        </p:txBody>
      </p:sp>
      <p:sp>
        <p:nvSpPr>
          <p:cNvPr id="32" name="Shape 30"/>
          <p:cNvSpPr/>
          <p:nvPr/>
        </p:nvSpPr>
        <p:spPr>
          <a:xfrm>
            <a:off x="9404350" y="4445318"/>
            <a:ext cx="1329372" cy="257175"/>
          </a:xfrm>
          <a:prstGeom prst="roundRect">
            <a:avLst>
              <a:gd name="adj" fmla="val 50000"/>
            </a:avLst>
          </a:prstGeom>
          <a:solidFill>
            <a:srgbClr val="EEF2FF"/>
          </a:solidFill>
          <a:ln/>
        </p:spPr>
      </p:sp>
      <p:sp>
        <p:nvSpPr>
          <p:cNvPr id="33" name="Text 31"/>
          <p:cNvSpPr/>
          <p:nvPr/>
        </p:nvSpPr>
        <p:spPr>
          <a:xfrm>
            <a:off x="9518650" y="4502468"/>
            <a:ext cx="1176972" cy="180975"/>
          </a:xfrm>
          <a:prstGeom prst="rect">
            <a:avLst/>
          </a:prstGeom>
          <a:noFill/>
          <a:ln/>
        </p:spPr>
        <p:txBody>
          <a:bodyPr wrap="none" lIns="25400" tIns="25400" rIns="25400" bIns="25400" rtlCol="0" anchor="ctr">
            <a:normAutofit/>
          </a:bodyPr>
          <a:lstStyle/>
          <a:p>
            <a:pPr algn="l" indent="0" marL="0">
              <a:lnSpc>
                <a:spcPct val="100000"/>
              </a:lnSpc>
              <a:buNone/>
            </a:pPr>
            <a:r>
              <a:rPr lang="en-US" sz="1125" b="1" dirty="0">
                <a:solidFill>
                  <a:srgbClr val="3730A3"/>
                </a:solidFill>
                <a:latin typeface="Arial" pitchFamily="34" charset="0"/>
                <a:ea typeface="Arial" pitchFamily="34" charset="-122"/>
                <a:cs typeface="Arial" pitchFamily="34" charset="-120"/>
              </a:rPr>
              <a:t>most actionable</a:t>
            </a:r>
            <a:endParaRPr lang="en-US" sz="1125" dirty="0"/>
          </a:p>
        </p:txBody>
      </p:sp>
      <p:sp>
        <p:nvSpPr>
          <p:cNvPr id="34" name="Shape 32"/>
          <p:cNvSpPr/>
          <p:nvPr/>
        </p:nvSpPr>
        <p:spPr>
          <a:xfrm>
            <a:off x="10809923" y="4438650"/>
            <a:ext cx="613410" cy="270510"/>
          </a:xfrm>
          <a:prstGeom prst="roundRect">
            <a:avLst>
              <a:gd name="adj" fmla="val 50000"/>
            </a:avLst>
          </a:prstGeom>
          <a:solidFill>
            <a:srgbClr val="F6F7FB"/>
          </a:solidFill>
          <a:ln w="6667">
            <a:solidFill>
              <a:srgbClr val="E5E8F0"/>
            </a:solidFill>
            <a:prstDash val="solid"/>
          </a:ln>
        </p:spPr>
      </p:sp>
      <p:sp>
        <p:nvSpPr>
          <p:cNvPr id="35" name="Text 33"/>
          <p:cNvSpPr/>
          <p:nvPr/>
        </p:nvSpPr>
        <p:spPr>
          <a:xfrm>
            <a:off x="10930890" y="4502468"/>
            <a:ext cx="447675" cy="180975"/>
          </a:xfrm>
          <a:prstGeom prst="rect">
            <a:avLst/>
          </a:prstGeom>
          <a:noFill/>
          <a:ln/>
        </p:spPr>
        <p:txBody>
          <a:bodyPr wrap="none" lIns="25400" tIns="25400" rIns="25400" bIns="25400" rtlCol="0" anchor="ctr">
            <a:normAutofit/>
          </a:bodyPr>
          <a:lstStyle/>
          <a:p>
            <a:pPr algn="l" indent="0" marL="0">
              <a:lnSpc>
                <a:spcPct val="100000"/>
              </a:lnSpc>
              <a:buNone/>
            </a:pPr>
            <a:r>
              <a:rPr lang="en-US" sz="1125" b="1" dirty="0">
                <a:solidFill>
                  <a:srgbClr val="5B6472"/>
                </a:solidFill>
                <a:latin typeface="Arial" pitchFamily="34" charset="0"/>
                <a:ea typeface="Arial" pitchFamily="34" charset="-122"/>
                <a:cs typeface="Arial" pitchFamily="34" charset="-120"/>
              </a:rPr>
              <a:t>7 min</a:t>
            </a:r>
            <a:endParaRPr lang="en-US" sz="1125" dirty="0"/>
          </a:p>
        </p:txBody>
      </p:sp>
      <p:sp>
        <p:nvSpPr>
          <p:cNvPr id="36" name="Shape 34"/>
          <p:cNvSpPr/>
          <p:nvPr/>
        </p:nvSpPr>
        <p:spPr>
          <a:xfrm>
            <a:off x="768667" y="5044440"/>
            <a:ext cx="419100" cy="304800"/>
          </a:xfrm>
          <a:prstGeom prst="roundRect">
            <a:avLst>
              <a:gd name="adj" fmla="val 25000"/>
            </a:avLst>
          </a:prstGeom>
          <a:solidFill>
            <a:srgbClr val="EEF2FF"/>
          </a:solidFill>
          <a:ln/>
        </p:spPr>
      </p:sp>
      <p:sp>
        <p:nvSpPr>
          <p:cNvPr id="37" name="Text 35"/>
          <p:cNvSpPr/>
          <p:nvPr/>
        </p:nvSpPr>
        <p:spPr>
          <a:xfrm>
            <a:off x="825817" y="5044440"/>
            <a:ext cx="304800" cy="342900"/>
          </a:xfrm>
          <a:prstGeom prst="rect">
            <a:avLst/>
          </a:prstGeom>
          <a:noFill/>
          <a:ln/>
        </p:spPr>
        <p:txBody>
          <a:bodyPr wrap="square" lIns="25400" tIns="25400" rIns="25400" bIns="25400" rtlCol="0" anchor="ctr">
            <a:normAutofit/>
          </a:bodyPr>
          <a:lstStyle/>
          <a:p>
            <a:pPr algn="ctr" indent="0" marL="0">
              <a:lnSpc>
                <a:spcPct val="155000"/>
              </a:lnSpc>
              <a:buNone/>
            </a:pPr>
            <a:r>
              <a:rPr lang="en-US" sz="1125" b="1" dirty="0">
                <a:solidFill>
                  <a:srgbClr val="3730A3"/>
                </a:solidFill>
                <a:latin typeface="Arial" pitchFamily="34" charset="0"/>
                <a:ea typeface="Arial" pitchFamily="34" charset="-122"/>
                <a:cs typeface="Arial" pitchFamily="34" charset="-120"/>
              </a:rPr>
              <a:t>M6</a:t>
            </a:r>
            <a:endParaRPr lang="en-US" sz="1125" dirty="0"/>
          </a:p>
        </p:txBody>
      </p:sp>
      <p:sp>
        <p:nvSpPr>
          <p:cNvPr id="38" name="Text 36"/>
          <p:cNvSpPr/>
          <p:nvPr/>
        </p:nvSpPr>
        <p:spPr>
          <a:xfrm>
            <a:off x="1340167" y="5049202"/>
            <a:ext cx="10243328"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0B1220"/>
                </a:solidFill>
                <a:latin typeface="Arial" pitchFamily="34" charset="0"/>
                <a:ea typeface="Arial" pitchFamily="34" charset="-122"/>
                <a:cs typeface="Arial" pitchFamily="34" charset="-120"/>
              </a:rPr>
              <a:t>Borrowing with others &amp; qualifying</a:t>
            </a:r>
            <a:endParaRPr lang="en-US" sz="1500" dirty="0"/>
          </a:p>
        </p:txBody>
      </p:sp>
      <p:sp>
        <p:nvSpPr>
          <p:cNvPr id="39" name="Shape 37"/>
          <p:cNvSpPr/>
          <p:nvPr/>
        </p:nvSpPr>
        <p:spPr>
          <a:xfrm>
            <a:off x="10804684" y="5061585"/>
            <a:ext cx="618649" cy="270510"/>
          </a:xfrm>
          <a:prstGeom prst="roundRect">
            <a:avLst>
              <a:gd name="adj" fmla="val 50000"/>
            </a:avLst>
          </a:prstGeom>
          <a:solidFill>
            <a:srgbClr val="F6F7FB"/>
          </a:solidFill>
          <a:ln w="6667">
            <a:solidFill>
              <a:srgbClr val="E5E8F0"/>
            </a:solidFill>
            <a:prstDash val="solid"/>
          </a:ln>
        </p:spPr>
      </p:sp>
      <p:sp>
        <p:nvSpPr>
          <p:cNvPr id="40" name="Text 38"/>
          <p:cNvSpPr/>
          <p:nvPr/>
        </p:nvSpPr>
        <p:spPr>
          <a:xfrm>
            <a:off x="10925651" y="5125403"/>
            <a:ext cx="452914" cy="180975"/>
          </a:xfrm>
          <a:prstGeom prst="rect">
            <a:avLst/>
          </a:prstGeom>
          <a:noFill/>
          <a:ln/>
        </p:spPr>
        <p:txBody>
          <a:bodyPr wrap="none" lIns="25400" tIns="25400" rIns="25400" bIns="25400" rtlCol="0" anchor="ctr">
            <a:normAutofit/>
          </a:bodyPr>
          <a:lstStyle/>
          <a:p>
            <a:pPr algn="l" indent="0" marL="0">
              <a:lnSpc>
                <a:spcPct val="100000"/>
              </a:lnSpc>
              <a:buNone/>
            </a:pPr>
            <a:r>
              <a:rPr lang="en-US" sz="1125" b="1" dirty="0">
                <a:solidFill>
                  <a:srgbClr val="5B6472"/>
                </a:solidFill>
                <a:latin typeface="Arial" pitchFamily="34" charset="0"/>
                <a:ea typeface="Arial" pitchFamily="34" charset="-122"/>
                <a:cs typeface="Arial" pitchFamily="34" charset="-120"/>
              </a:rPr>
              <a:t>5 min</a:t>
            </a:r>
            <a:endParaRPr lang="en-US" sz="1125" dirty="0"/>
          </a:p>
        </p:txBody>
      </p:sp>
      <p:sp>
        <p:nvSpPr>
          <p:cNvPr id="41" name="Shape 39"/>
          <p:cNvSpPr/>
          <p:nvPr/>
        </p:nvSpPr>
        <p:spPr>
          <a:xfrm>
            <a:off x="768667" y="5667375"/>
            <a:ext cx="419100" cy="304800"/>
          </a:xfrm>
          <a:prstGeom prst="roundRect">
            <a:avLst>
              <a:gd name="adj" fmla="val 25000"/>
            </a:avLst>
          </a:prstGeom>
          <a:solidFill>
            <a:srgbClr val="EEF2FF"/>
          </a:solidFill>
          <a:ln/>
        </p:spPr>
      </p:sp>
      <p:sp>
        <p:nvSpPr>
          <p:cNvPr id="42" name="Text 40"/>
          <p:cNvSpPr/>
          <p:nvPr/>
        </p:nvSpPr>
        <p:spPr>
          <a:xfrm>
            <a:off x="825817" y="5667375"/>
            <a:ext cx="304800" cy="342900"/>
          </a:xfrm>
          <a:prstGeom prst="rect">
            <a:avLst/>
          </a:prstGeom>
          <a:noFill/>
          <a:ln/>
        </p:spPr>
        <p:txBody>
          <a:bodyPr wrap="square" lIns="25400" tIns="25400" rIns="25400" bIns="25400" rtlCol="0" anchor="ctr">
            <a:normAutofit/>
          </a:bodyPr>
          <a:lstStyle/>
          <a:p>
            <a:pPr algn="ctr" indent="0" marL="0">
              <a:lnSpc>
                <a:spcPct val="155000"/>
              </a:lnSpc>
              <a:buNone/>
            </a:pPr>
            <a:r>
              <a:rPr lang="en-US" sz="1125" b="1" dirty="0">
                <a:solidFill>
                  <a:srgbClr val="3730A3"/>
                </a:solidFill>
                <a:latin typeface="Arial" pitchFamily="34" charset="0"/>
                <a:ea typeface="Arial" pitchFamily="34" charset="-122"/>
                <a:cs typeface="Arial" pitchFamily="34" charset="-120"/>
              </a:rPr>
              <a:t>M7</a:t>
            </a:r>
            <a:endParaRPr lang="en-US" sz="1125" dirty="0"/>
          </a:p>
        </p:txBody>
      </p:sp>
      <p:sp>
        <p:nvSpPr>
          <p:cNvPr id="43" name="Text 41"/>
          <p:cNvSpPr/>
          <p:nvPr/>
        </p:nvSpPr>
        <p:spPr>
          <a:xfrm>
            <a:off x="1340167" y="5672138"/>
            <a:ext cx="9161177"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0B1220"/>
                </a:solidFill>
                <a:latin typeface="Arial" pitchFamily="34" charset="0"/>
                <a:ea typeface="Arial" pitchFamily="34" charset="-122"/>
                <a:cs typeface="Arial" pitchFamily="34" charset="-120"/>
              </a:rPr>
              <a:t>Credit beyond you — bond ratings</a:t>
            </a:r>
            <a:endParaRPr lang="en-US" sz="1500" dirty="0"/>
          </a:p>
        </p:txBody>
      </p:sp>
      <p:sp>
        <p:nvSpPr>
          <p:cNvPr id="44" name="Shape 42"/>
          <p:cNvSpPr/>
          <p:nvPr/>
        </p:nvSpPr>
        <p:spPr>
          <a:xfrm>
            <a:off x="9820910" y="5691188"/>
            <a:ext cx="903605" cy="257175"/>
          </a:xfrm>
          <a:prstGeom prst="roundRect">
            <a:avLst>
              <a:gd name="adj" fmla="val 50000"/>
            </a:avLst>
          </a:prstGeom>
          <a:solidFill>
            <a:srgbClr val="EEF2FF"/>
          </a:solidFill>
          <a:ln/>
        </p:spPr>
      </p:sp>
      <p:sp>
        <p:nvSpPr>
          <p:cNvPr id="45" name="Text 43"/>
          <p:cNvSpPr/>
          <p:nvPr/>
        </p:nvSpPr>
        <p:spPr>
          <a:xfrm>
            <a:off x="9935210" y="5748338"/>
            <a:ext cx="751205" cy="180975"/>
          </a:xfrm>
          <a:prstGeom prst="rect">
            <a:avLst/>
          </a:prstGeom>
          <a:noFill/>
          <a:ln/>
        </p:spPr>
        <p:txBody>
          <a:bodyPr wrap="none" lIns="25400" tIns="25400" rIns="25400" bIns="25400" rtlCol="0" anchor="ctr">
            <a:normAutofit/>
          </a:bodyPr>
          <a:lstStyle/>
          <a:p>
            <a:pPr algn="l" indent="0" marL="0">
              <a:lnSpc>
                <a:spcPct val="100000"/>
              </a:lnSpc>
              <a:buNone/>
            </a:pPr>
            <a:r>
              <a:rPr lang="en-US" sz="1125" b="1" dirty="0">
                <a:solidFill>
                  <a:srgbClr val="3730A3"/>
                </a:solidFill>
                <a:latin typeface="Arial" pitchFamily="34" charset="0"/>
                <a:ea typeface="Arial" pitchFamily="34" charset="-122"/>
                <a:cs typeface="Arial" pitchFamily="34" charset="-120"/>
              </a:rPr>
              <a:t>deep dive</a:t>
            </a:r>
            <a:endParaRPr lang="en-US" sz="1125" dirty="0"/>
          </a:p>
        </p:txBody>
      </p:sp>
      <p:sp>
        <p:nvSpPr>
          <p:cNvPr id="46" name="Shape 44"/>
          <p:cNvSpPr/>
          <p:nvPr/>
        </p:nvSpPr>
        <p:spPr>
          <a:xfrm>
            <a:off x="10800715" y="5684520"/>
            <a:ext cx="622618" cy="270510"/>
          </a:xfrm>
          <a:prstGeom prst="roundRect">
            <a:avLst>
              <a:gd name="adj" fmla="val 50000"/>
            </a:avLst>
          </a:prstGeom>
          <a:solidFill>
            <a:srgbClr val="F6F7FB"/>
          </a:solidFill>
          <a:ln w="6667">
            <a:solidFill>
              <a:srgbClr val="E5E8F0"/>
            </a:solidFill>
            <a:prstDash val="solid"/>
          </a:ln>
        </p:spPr>
      </p:sp>
      <p:sp>
        <p:nvSpPr>
          <p:cNvPr id="47" name="Text 45"/>
          <p:cNvSpPr/>
          <p:nvPr/>
        </p:nvSpPr>
        <p:spPr>
          <a:xfrm>
            <a:off x="10921683" y="5748337"/>
            <a:ext cx="456883" cy="180975"/>
          </a:xfrm>
          <a:prstGeom prst="rect">
            <a:avLst/>
          </a:prstGeom>
          <a:noFill/>
          <a:ln/>
        </p:spPr>
        <p:txBody>
          <a:bodyPr wrap="none" lIns="25400" tIns="25400" rIns="25400" bIns="25400" rtlCol="0" anchor="ctr">
            <a:normAutofit/>
          </a:bodyPr>
          <a:lstStyle/>
          <a:p>
            <a:pPr algn="l" indent="0" marL="0">
              <a:lnSpc>
                <a:spcPct val="100000"/>
              </a:lnSpc>
              <a:buNone/>
            </a:pPr>
            <a:r>
              <a:rPr lang="en-US" sz="1125" b="1" dirty="0">
                <a:solidFill>
                  <a:srgbClr val="5B6472"/>
                </a:solidFill>
                <a:latin typeface="Arial" pitchFamily="34" charset="0"/>
                <a:ea typeface="Arial" pitchFamily="34" charset="-122"/>
                <a:cs typeface="Arial" pitchFamily="34" charset="-120"/>
              </a:rPr>
              <a:t>8 min</a:t>
            </a:r>
            <a:endParaRPr lang="en-US" sz="1125" dirty="0"/>
          </a:p>
        </p:txBody>
      </p:sp>
      <p:sp>
        <p:nvSpPr>
          <p:cNvPr id="48" name="Text 46"/>
          <p:cNvSpPr/>
          <p:nvPr/>
        </p:nvSpPr>
        <p:spPr>
          <a:xfrm>
            <a:off x="10684511" y="6056471"/>
            <a:ext cx="97409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1 · Credit</a:t>
            </a:r>
            <a:endParaRPr lang="en-US" sz="9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1220"/>
          </a:solidFill>
          <a:ln/>
        </p:spPr>
      </p:sp>
      <p:sp>
        <p:nvSpPr>
          <p:cNvPr id="3" name="Text 1"/>
          <p:cNvSpPr/>
          <p:nvPr/>
        </p:nvSpPr>
        <p:spPr>
          <a:xfrm>
            <a:off x="609600" y="2187416"/>
            <a:ext cx="12070080" cy="451485"/>
          </a:xfrm>
          <a:prstGeom prst="rect">
            <a:avLst/>
          </a:prstGeom>
          <a:noFill/>
          <a:ln/>
        </p:spPr>
        <p:txBody>
          <a:bodyPr wrap="square" lIns="25400" tIns="25400" rIns="25400" bIns="25400" rtlCol="0" anchor="t">
            <a:normAutofit/>
          </a:bodyPr>
          <a:lstStyle/>
          <a:p>
            <a:pPr algn="l" indent="0" marL="0">
              <a:lnSpc>
                <a:spcPct val="155000"/>
              </a:lnSpc>
              <a:buNone/>
            </a:pPr>
            <a:r>
              <a:rPr lang="en-US" sz="2100" b="1" spc="42" kern="0" dirty="0">
                <a:solidFill>
                  <a:srgbClr val="C7D2FE"/>
                </a:solidFill>
                <a:latin typeface="Arial" pitchFamily="34" charset="0"/>
                <a:ea typeface="Arial" pitchFamily="34" charset="-122"/>
                <a:cs typeface="Arial" pitchFamily="34" charset="-120"/>
              </a:rPr>
              <a:t>M1</a:t>
            </a:r>
            <a:endParaRPr lang="en-US" sz="2100" dirty="0"/>
          </a:p>
        </p:txBody>
      </p:sp>
      <p:sp>
        <p:nvSpPr>
          <p:cNvPr id="4" name="Text 2"/>
          <p:cNvSpPr/>
          <p:nvPr/>
        </p:nvSpPr>
        <p:spPr>
          <a:xfrm>
            <a:off x="609600" y="2715101"/>
            <a:ext cx="7308056" cy="598170"/>
          </a:xfrm>
          <a:prstGeom prst="rect">
            <a:avLst/>
          </a:prstGeom>
          <a:noFill/>
          <a:ln/>
        </p:spPr>
        <p:txBody>
          <a:bodyPr wrap="square" lIns="25400" tIns="25400" rIns="25400" bIns="25400" rtlCol="0" anchor="t">
            <a:normAutofit/>
          </a:bodyPr>
          <a:lstStyle/>
          <a:p>
            <a:pPr algn="l" indent="0" marL="0">
              <a:lnSpc>
                <a:spcPct val="105000"/>
              </a:lnSpc>
              <a:buNone/>
            </a:pPr>
            <a:r>
              <a:rPr lang="en-US" sz="4200" b="1" spc="-84" kern="0" dirty="0">
                <a:solidFill>
                  <a:srgbClr val="FFFFFF"/>
                </a:solidFill>
                <a:latin typeface="Arial" pitchFamily="34" charset="0"/>
                <a:ea typeface="Arial" pitchFamily="34" charset="-122"/>
                <a:cs typeface="Arial" pitchFamily="34" charset="-120"/>
              </a:rPr>
              <a:t>Credit 101</a:t>
            </a:r>
            <a:endParaRPr lang="en-US" sz="4200" dirty="0"/>
          </a:p>
        </p:txBody>
      </p:sp>
      <p:sp>
        <p:nvSpPr>
          <p:cNvPr id="5" name="Text 3"/>
          <p:cNvSpPr/>
          <p:nvPr/>
        </p:nvSpPr>
        <p:spPr>
          <a:xfrm>
            <a:off x="609600" y="3503771"/>
            <a:ext cx="6436506"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FFFFFF">
                    <a:alpha val="70000"/>
                  </a:srgbClr>
                </a:solidFill>
                <a:latin typeface="Arial" pitchFamily="34" charset="0"/>
                <a:ea typeface="Arial" pitchFamily="34" charset="-122"/>
                <a:cs typeface="Arial" pitchFamily="34" charset="-120"/>
              </a:rPr>
              <a:t>What credit actually is — and the two distinctions that explain everything else.</a:t>
            </a:r>
            <a:endParaRPr lang="en-US" sz="1500" dirty="0"/>
          </a:p>
        </p:txBody>
      </p:sp>
      <p:sp>
        <p:nvSpPr>
          <p:cNvPr id="6" name="Shape 4"/>
          <p:cNvSpPr/>
          <p:nvPr/>
        </p:nvSpPr>
        <p:spPr>
          <a:xfrm>
            <a:off x="609600" y="4413409"/>
            <a:ext cx="609282" cy="257175"/>
          </a:xfrm>
          <a:prstGeom prst="roundRect">
            <a:avLst>
              <a:gd name="adj" fmla="val 50000"/>
            </a:avLst>
          </a:prstGeom>
          <a:solidFill>
            <a:srgbClr val="EEF2FF"/>
          </a:solidFill>
          <a:ln/>
        </p:spPr>
      </p:sp>
      <p:sp>
        <p:nvSpPr>
          <p:cNvPr id="7" name="Text 5"/>
          <p:cNvSpPr/>
          <p:nvPr/>
        </p:nvSpPr>
        <p:spPr>
          <a:xfrm>
            <a:off x="723900" y="4470559"/>
            <a:ext cx="456882" cy="180975"/>
          </a:xfrm>
          <a:prstGeom prst="rect">
            <a:avLst/>
          </a:prstGeom>
          <a:noFill/>
          <a:ln/>
        </p:spPr>
        <p:txBody>
          <a:bodyPr wrap="none" lIns="25400" tIns="25400" rIns="25400" bIns="25400" rtlCol="0" anchor="ctr">
            <a:normAutofit/>
          </a:bodyPr>
          <a:lstStyle/>
          <a:p>
            <a:pPr algn="l" indent="0" marL="0">
              <a:lnSpc>
                <a:spcPct val="100000"/>
              </a:lnSpc>
              <a:buNone/>
            </a:pPr>
            <a:r>
              <a:rPr lang="en-US" sz="1125" b="1" dirty="0">
                <a:solidFill>
                  <a:srgbClr val="3730A3"/>
                </a:solidFill>
                <a:latin typeface="Arial" pitchFamily="34" charset="0"/>
                <a:ea typeface="Arial" pitchFamily="34" charset="-122"/>
                <a:cs typeface="Arial" pitchFamily="34" charset="-120"/>
              </a:rPr>
              <a:t>6 min</a:t>
            </a:r>
            <a:endParaRPr lang="en-US" sz="11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1318419"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M1 · CREDIT 101</a:t>
            </a:r>
            <a:endParaRPr lang="en-US" sz="975" dirty="0"/>
          </a:p>
        </p:txBody>
      </p:sp>
      <p:sp>
        <p:nvSpPr>
          <p:cNvPr id="8" name="Text 6"/>
          <p:cNvSpPr/>
          <p:nvPr/>
        </p:nvSpPr>
        <p:spPr>
          <a:xfrm>
            <a:off x="609600" y="989647"/>
            <a:ext cx="6215951" cy="514350"/>
          </a:xfrm>
          <a:prstGeom prst="rect">
            <a:avLst/>
          </a:prstGeom>
          <a:noFill/>
          <a:ln/>
        </p:spPr>
        <p:txBody>
          <a:bodyPr wrap="square" lIns="25400" tIns="25400" rIns="25400" bIns="25400" rtlCol="0" anchor="t">
            <a:normAutofit/>
          </a:bodyPr>
          <a:lstStyle/>
          <a:p>
            <a:pPr algn="l" indent="0" marL="0">
              <a:lnSpc>
                <a:spcPct val="125000"/>
              </a:lnSpc>
              <a:buNone/>
            </a:pPr>
            <a:r>
              <a:rPr lang="en-US" sz="3000" b="1" spc="-60" kern="0" dirty="0">
                <a:solidFill>
                  <a:srgbClr val="0B1220"/>
                </a:solidFill>
                <a:latin typeface="Arial" pitchFamily="34" charset="0"/>
                <a:ea typeface="Arial" pitchFamily="34" charset="-122"/>
                <a:cs typeface="Arial" pitchFamily="34" charset="-120"/>
              </a:rPr>
              <a:t>What credit actually is</a:t>
            </a:r>
            <a:endParaRPr lang="en-US" sz="3000" dirty="0"/>
          </a:p>
        </p:txBody>
      </p:sp>
      <p:sp>
        <p:nvSpPr>
          <p:cNvPr id="9" name="Text 7"/>
          <p:cNvSpPr/>
          <p:nvPr/>
        </p:nvSpPr>
        <p:spPr>
          <a:xfrm>
            <a:off x="609600" y="1618297"/>
            <a:ext cx="6931622"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5B6472"/>
                </a:solidFill>
                <a:latin typeface="Arial" pitchFamily="34" charset="0"/>
                <a:ea typeface="Arial" pitchFamily="34" charset="-122"/>
                <a:cs typeface="Arial" pitchFamily="34" charset="-120"/>
              </a:rPr>
              <a:t>Credit = access to money or goods now, in exchange for a promise to repay later — almost always with interest.</a:t>
            </a:r>
            <a:endParaRPr lang="en-US" sz="1500" dirty="0"/>
          </a:p>
        </p:txBody>
      </p:sp>
      <p:sp>
        <p:nvSpPr>
          <p:cNvPr id="10" name="Shape 8"/>
          <p:cNvSpPr/>
          <p:nvPr/>
        </p:nvSpPr>
        <p:spPr>
          <a:xfrm>
            <a:off x="609600" y="2607945"/>
            <a:ext cx="85725" cy="85725"/>
          </a:xfrm>
          <a:prstGeom prst="roundRect">
            <a:avLst>
              <a:gd name="adj" fmla="val 33333"/>
            </a:avLst>
          </a:prstGeom>
          <a:solidFill>
            <a:srgbClr val="4F46E5"/>
          </a:solidFill>
          <a:ln/>
        </p:spPr>
      </p:sp>
      <p:sp>
        <p:nvSpPr>
          <p:cNvPr id="11" name="Text 9"/>
          <p:cNvSpPr/>
          <p:nvPr/>
        </p:nvSpPr>
        <p:spPr>
          <a:xfrm>
            <a:off x="809625" y="2513647"/>
            <a:ext cx="9159081" cy="303848"/>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Two broad worlds: consumer credit (you) and business / institutional credit (companies, governments).</a:t>
            </a:r>
            <a:endParaRPr lang="en-US" sz="1350" dirty="0"/>
          </a:p>
        </p:txBody>
      </p:sp>
      <p:sp>
        <p:nvSpPr>
          <p:cNvPr id="12" name="Shape 10"/>
          <p:cNvSpPr/>
          <p:nvPr/>
        </p:nvSpPr>
        <p:spPr>
          <a:xfrm>
            <a:off x="609600" y="3026093"/>
            <a:ext cx="85725" cy="85725"/>
          </a:xfrm>
          <a:prstGeom prst="roundRect">
            <a:avLst>
              <a:gd name="adj" fmla="val 33333"/>
            </a:avLst>
          </a:prstGeom>
          <a:solidFill>
            <a:srgbClr val="4F46E5"/>
          </a:solidFill>
          <a:ln/>
        </p:spPr>
      </p:sp>
      <p:sp>
        <p:nvSpPr>
          <p:cNvPr id="13" name="Text 11"/>
          <p:cNvSpPr/>
          <p:nvPr/>
        </p:nvSpPr>
        <p:spPr>
          <a:xfrm>
            <a:off x="809625" y="2961322"/>
            <a:ext cx="8727234" cy="244793"/>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A line of credit makes a set amount available to draw on as needed — not handed over all at once.</a:t>
            </a:r>
            <a:endParaRPr lang="en-US" sz="1350" dirty="0"/>
          </a:p>
        </p:txBody>
      </p:sp>
      <p:sp>
        <p:nvSpPr>
          <p:cNvPr id="14" name="Text 12"/>
          <p:cNvSpPr/>
          <p:nvPr/>
        </p:nvSpPr>
        <p:spPr>
          <a:xfrm>
            <a:off x="708025" y="3273743"/>
            <a:ext cx="8111649"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Credit card, HELOC, personal line, overdraft line, securities-backed lending</a:t>
            </a:r>
            <a:endParaRPr lang="en-US" sz="1125" dirty="0"/>
          </a:p>
        </p:txBody>
      </p:sp>
      <p:sp>
        <p:nvSpPr>
          <p:cNvPr id="15" name="Shape 13"/>
          <p:cNvSpPr/>
          <p:nvPr/>
        </p:nvSpPr>
        <p:spPr>
          <a:xfrm>
            <a:off x="609600" y="3741896"/>
            <a:ext cx="85725" cy="85725"/>
          </a:xfrm>
          <a:prstGeom prst="roundRect">
            <a:avLst>
              <a:gd name="adj" fmla="val 33333"/>
            </a:avLst>
          </a:prstGeom>
          <a:solidFill>
            <a:srgbClr val="4F46E5"/>
          </a:solidFill>
          <a:ln/>
        </p:spPr>
      </p:sp>
      <p:sp>
        <p:nvSpPr>
          <p:cNvPr id="16" name="Text 14"/>
          <p:cNvSpPr/>
          <p:nvPr/>
        </p:nvSpPr>
        <p:spPr>
          <a:xfrm>
            <a:off x="809625" y="3647599"/>
            <a:ext cx="9618345" cy="303848"/>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The consumer staples: car loans, mortgages, personal loans, lines of credit, and Buy Now Pay Later (BNPL).</a:t>
            </a:r>
            <a:endParaRPr lang="en-US" sz="1350" dirty="0"/>
          </a:p>
        </p:txBody>
      </p:sp>
      <p:sp>
        <p:nvSpPr>
          <p:cNvPr id="17" name="Text 15"/>
          <p:cNvSpPr/>
          <p:nvPr/>
        </p:nvSpPr>
        <p:spPr>
          <a:xfrm>
            <a:off x="10684511" y="6056471"/>
            <a:ext cx="97409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1 · Credit</a:t>
            </a:r>
            <a:endParaRPr lang="en-US" sz="9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1875472"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M1 · TYPES OF CREDIT</a:t>
            </a:r>
            <a:endParaRPr lang="en-US" sz="975" dirty="0"/>
          </a:p>
        </p:txBody>
      </p:sp>
      <p:sp>
        <p:nvSpPr>
          <p:cNvPr id="8" name="Text 6"/>
          <p:cNvSpPr/>
          <p:nvPr/>
        </p:nvSpPr>
        <p:spPr>
          <a:xfrm>
            <a:off x="609600" y="989647"/>
            <a:ext cx="12070080" cy="628650"/>
          </a:xfrm>
          <a:prstGeom prst="rect">
            <a:avLst/>
          </a:prstGeom>
          <a:noFill/>
          <a:ln/>
        </p:spPr>
        <p:txBody>
          <a:bodyPr wrap="square" lIns="25400" tIns="25400" rIns="25400" bIns="25400" rtlCol="0" anchor="t">
            <a:normAutofit/>
          </a:bodyPr>
          <a:lstStyle/>
          <a:p>
            <a:pPr algn="l" indent="0" marL="0">
              <a:lnSpc>
                <a:spcPct val="155000"/>
              </a:lnSpc>
              <a:buNone/>
            </a:pPr>
            <a:r>
              <a:rPr lang="en-US" sz="3000" b="1" spc="-60" kern="0" dirty="0">
                <a:solidFill>
                  <a:srgbClr val="0B1220"/>
                </a:solidFill>
                <a:latin typeface="Arial" pitchFamily="34" charset="0"/>
                <a:ea typeface="Arial" pitchFamily="34" charset="-122"/>
                <a:cs typeface="Arial" pitchFamily="34" charset="-120"/>
              </a:rPr>
              <a:t>Two shapes credit takes</a:t>
            </a:r>
            <a:endParaRPr lang="en-US" sz="3000" dirty="0"/>
          </a:p>
        </p:txBody>
      </p:sp>
      <p:sp>
        <p:nvSpPr>
          <p:cNvPr id="9" name="Shape 7"/>
          <p:cNvSpPr/>
          <p:nvPr/>
        </p:nvSpPr>
        <p:spPr>
          <a:xfrm>
            <a:off x="609600" y="1808797"/>
            <a:ext cx="5372100" cy="3645218"/>
          </a:xfrm>
          <a:prstGeom prst="roundRect">
            <a:avLst>
              <a:gd name="adj" fmla="val 3136"/>
            </a:avLst>
          </a:prstGeom>
          <a:solidFill>
            <a:srgbClr val="EEF2FF"/>
          </a:solidFill>
          <a:ln w="6667">
            <a:solidFill>
              <a:srgbClr val="C7D2FE"/>
            </a:solidFill>
            <a:prstDash val="solid"/>
          </a:ln>
        </p:spPr>
      </p:sp>
      <p:sp>
        <p:nvSpPr>
          <p:cNvPr id="10" name="Text 8"/>
          <p:cNvSpPr/>
          <p:nvPr/>
        </p:nvSpPr>
        <p:spPr>
          <a:xfrm>
            <a:off x="844867" y="2044065"/>
            <a:ext cx="995045"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dirty="0">
                <a:solidFill>
                  <a:srgbClr val="3730A3"/>
                </a:solidFill>
                <a:latin typeface="Arial" pitchFamily="34" charset="0"/>
                <a:ea typeface="Arial" pitchFamily="34" charset="-122"/>
                <a:cs typeface="Arial" pitchFamily="34" charset="-120"/>
              </a:rPr>
              <a:t>Revolving</a:t>
            </a:r>
            <a:endParaRPr lang="en-US" sz="1500" dirty="0"/>
          </a:p>
        </p:txBody>
      </p:sp>
      <p:sp>
        <p:nvSpPr>
          <p:cNvPr id="11" name="Text 9"/>
          <p:cNvSpPr/>
          <p:nvPr/>
        </p:nvSpPr>
        <p:spPr>
          <a:xfrm>
            <a:off x="844867" y="2415540"/>
            <a:ext cx="5391721"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no end date — borrow, repay, reuse</a:t>
            </a:r>
            <a:endParaRPr lang="en-US" sz="1125" dirty="0"/>
          </a:p>
        </p:txBody>
      </p:sp>
      <p:sp>
        <p:nvSpPr>
          <p:cNvPr id="12" name="Text 10"/>
          <p:cNvSpPr/>
          <p:nvPr/>
        </p:nvSpPr>
        <p:spPr>
          <a:xfrm>
            <a:off x="743267" y="2789396"/>
            <a:ext cx="5079365" cy="1095375"/>
          </a:xfrm>
          <a:prstGeom prst="rect">
            <a:avLst/>
          </a:prstGeom>
          <a:noFill/>
          <a:ln/>
        </p:spPr>
        <p:txBody>
          <a:bodyPr wrap="square" lIns="25400" tIns="25400" rIns="25400" bIns="25400" rtlCol="0" anchor="t">
            <a:normAutofit/>
          </a:bodyPr>
          <a:lstStyle/>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Credit cards, HELOCs, lines of credit</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Available credit replenishes as you pay down</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A credit limit caps how much you can borrow</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Utilization is what shows up on your score</a:t>
            </a:r>
            <a:endParaRPr lang="en-US" sz="1125" dirty="0"/>
          </a:p>
        </p:txBody>
      </p:sp>
      <p:sp>
        <p:nvSpPr>
          <p:cNvPr id="13" name="Shape 11"/>
          <p:cNvSpPr/>
          <p:nvPr/>
        </p:nvSpPr>
        <p:spPr>
          <a:xfrm>
            <a:off x="6210300" y="1808797"/>
            <a:ext cx="5372100" cy="3645218"/>
          </a:xfrm>
          <a:prstGeom prst="roundRect">
            <a:avLst>
              <a:gd name="adj" fmla="val 3136"/>
            </a:avLst>
          </a:prstGeom>
          <a:solidFill>
            <a:srgbClr val="FFFFFF"/>
          </a:solidFill>
          <a:ln w="6667">
            <a:solidFill>
              <a:srgbClr val="E5E8F0"/>
            </a:solidFill>
            <a:prstDash val="solid"/>
          </a:ln>
        </p:spPr>
      </p:sp>
      <p:sp>
        <p:nvSpPr>
          <p:cNvPr id="14" name="Text 12"/>
          <p:cNvSpPr/>
          <p:nvPr/>
        </p:nvSpPr>
        <p:spPr>
          <a:xfrm>
            <a:off x="6445568" y="2044065"/>
            <a:ext cx="1115219"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dirty="0">
                <a:solidFill>
                  <a:srgbClr val="0B1220"/>
                </a:solidFill>
                <a:latin typeface="Arial" pitchFamily="34" charset="0"/>
                <a:ea typeface="Arial" pitchFamily="34" charset="-122"/>
                <a:cs typeface="Arial" pitchFamily="34" charset="-120"/>
              </a:rPr>
              <a:t>Installment</a:t>
            </a:r>
            <a:endParaRPr lang="en-US" sz="1500" dirty="0"/>
          </a:p>
        </p:txBody>
      </p:sp>
      <p:sp>
        <p:nvSpPr>
          <p:cNvPr id="15" name="Text 13"/>
          <p:cNvSpPr/>
          <p:nvPr/>
        </p:nvSpPr>
        <p:spPr>
          <a:xfrm>
            <a:off x="6445568" y="2415540"/>
            <a:ext cx="5391721"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fixed term, fixed end date</a:t>
            </a:r>
            <a:endParaRPr lang="en-US" sz="1125" dirty="0"/>
          </a:p>
        </p:txBody>
      </p:sp>
      <p:sp>
        <p:nvSpPr>
          <p:cNvPr id="16" name="Text 14"/>
          <p:cNvSpPr/>
          <p:nvPr/>
        </p:nvSpPr>
        <p:spPr>
          <a:xfrm>
            <a:off x="6343968" y="2789396"/>
            <a:ext cx="5079365" cy="1095375"/>
          </a:xfrm>
          <a:prstGeom prst="rect">
            <a:avLst/>
          </a:prstGeom>
          <a:noFill/>
          <a:ln/>
        </p:spPr>
        <p:txBody>
          <a:bodyPr wrap="square" lIns="25400" tIns="25400" rIns="25400" bIns="25400" rtlCol="0" anchor="t">
            <a:normAutofit/>
          </a:bodyPr>
          <a:lstStyle/>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Mortgages, auto, personal &amp; student loans</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A set number of equal payments</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Ends on a scheduled payoff date</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Builds steady payment history</a:t>
            </a:r>
            <a:endParaRPr lang="en-US" sz="1125" dirty="0"/>
          </a:p>
        </p:txBody>
      </p:sp>
      <p:sp>
        <p:nvSpPr>
          <p:cNvPr id="17" name="Text 15"/>
          <p:cNvSpPr/>
          <p:nvPr/>
        </p:nvSpPr>
        <p:spPr>
          <a:xfrm>
            <a:off x="609600" y="5682615"/>
            <a:ext cx="12070080"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What your score cares about: revolving balances drive utilization; installment loans build payment history.</a:t>
            </a:r>
            <a:endParaRPr lang="en-US" sz="1125" dirty="0"/>
          </a:p>
        </p:txBody>
      </p:sp>
      <p:sp>
        <p:nvSpPr>
          <p:cNvPr id="18" name="Text 16"/>
          <p:cNvSpPr/>
          <p:nvPr/>
        </p:nvSpPr>
        <p:spPr>
          <a:xfrm>
            <a:off x="10684511" y="6056471"/>
            <a:ext cx="97409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1 · Credit</a:t>
            </a:r>
            <a:endParaRPr lang="en-US" sz="9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1685306"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M1 · RISK &amp; PRICING</a:t>
            </a:r>
            <a:endParaRPr lang="en-US" sz="975" dirty="0"/>
          </a:p>
        </p:txBody>
      </p:sp>
      <p:sp>
        <p:nvSpPr>
          <p:cNvPr id="8" name="Text 6"/>
          <p:cNvSpPr/>
          <p:nvPr/>
        </p:nvSpPr>
        <p:spPr>
          <a:xfrm>
            <a:off x="609600" y="989647"/>
            <a:ext cx="12070080" cy="628650"/>
          </a:xfrm>
          <a:prstGeom prst="rect">
            <a:avLst/>
          </a:prstGeom>
          <a:noFill/>
          <a:ln/>
        </p:spPr>
        <p:txBody>
          <a:bodyPr wrap="square" lIns="25400" tIns="25400" rIns="25400" bIns="25400" rtlCol="0" anchor="t">
            <a:normAutofit/>
          </a:bodyPr>
          <a:lstStyle/>
          <a:p>
            <a:pPr algn="l" indent="0" marL="0">
              <a:lnSpc>
                <a:spcPct val="155000"/>
              </a:lnSpc>
              <a:buNone/>
            </a:pPr>
            <a:r>
              <a:rPr lang="en-US" sz="3000" b="1" spc="-60" kern="0" dirty="0">
                <a:solidFill>
                  <a:srgbClr val="0B1220"/>
                </a:solidFill>
                <a:latin typeface="Arial" pitchFamily="34" charset="0"/>
                <a:ea typeface="Arial" pitchFamily="34" charset="-122"/>
                <a:cs typeface="Arial" pitchFamily="34" charset="-120"/>
              </a:rPr>
              <a:t>Secured vs. unsecured</a:t>
            </a:r>
            <a:endParaRPr lang="en-US" sz="3000" dirty="0"/>
          </a:p>
        </p:txBody>
      </p:sp>
      <p:sp>
        <p:nvSpPr>
          <p:cNvPr id="9" name="Shape 7"/>
          <p:cNvSpPr/>
          <p:nvPr/>
        </p:nvSpPr>
        <p:spPr>
          <a:xfrm>
            <a:off x="609600" y="1808797"/>
            <a:ext cx="5372100" cy="3645218"/>
          </a:xfrm>
          <a:prstGeom prst="roundRect">
            <a:avLst>
              <a:gd name="adj" fmla="val 3136"/>
            </a:avLst>
          </a:prstGeom>
          <a:solidFill>
            <a:srgbClr val="EEF2FF"/>
          </a:solidFill>
          <a:ln w="6667">
            <a:solidFill>
              <a:srgbClr val="C7D2FE"/>
            </a:solidFill>
            <a:prstDash val="solid"/>
          </a:ln>
        </p:spPr>
      </p:sp>
      <p:sp>
        <p:nvSpPr>
          <p:cNvPr id="10" name="Text 8"/>
          <p:cNvSpPr/>
          <p:nvPr/>
        </p:nvSpPr>
        <p:spPr>
          <a:xfrm>
            <a:off x="844867" y="2044065"/>
            <a:ext cx="851694"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dirty="0">
                <a:solidFill>
                  <a:srgbClr val="3730A3"/>
                </a:solidFill>
                <a:latin typeface="Arial" pitchFamily="34" charset="0"/>
                <a:ea typeface="Arial" pitchFamily="34" charset="-122"/>
                <a:cs typeface="Arial" pitchFamily="34" charset="-120"/>
              </a:rPr>
              <a:t>Secured</a:t>
            </a:r>
            <a:endParaRPr lang="en-US" sz="1500" dirty="0"/>
          </a:p>
        </p:txBody>
      </p:sp>
      <p:sp>
        <p:nvSpPr>
          <p:cNvPr id="11" name="Text 9"/>
          <p:cNvSpPr/>
          <p:nvPr/>
        </p:nvSpPr>
        <p:spPr>
          <a:xfrm>
            <a:off x="844867" y="2415540"/>
            <a:ext cx="5391721"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backed by collateral</a:t>
            </a:r>
            <a:endParaRPr lang="en-US" sz="1125" dirty="0"/>
          </a:p>
        </p:txBody>
      </p:sp>
      <p:sp>
        <p:nvSpPr>
          <p:cNvPr id="12" name="Text 10"/>
          <p:cNvSpPr/>
          <p:nvPr/>
        </p:nvSpPr>
        <p:spPr>
          <a:xfrm>
            <a:off x="743267" y="2789396"/>
            <a:ext cx="5079365" cy="1095375"/>
          </a:xfrm>
          <a:prstGeom prst="rect">
            <a:avLst/>
          </a:prstGeom>
          <a:noFill/>
          <a:ln/>
        </p:spPr>
        <p:txBody>
          <a:bodyPr wrap="square" lIns="25400" tIns="25400" rIns="25400" bIns="25400" rtlCol="0" anchor="t">
            <a:normAutofit/>
          </a:bodyPr>
          <a:lstStyle/>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Mortgage, auto, HELOC, secured card</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Lower APR — the lender can recover losses</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Default → repossession / foreclosure</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A lien is the lender's claim until you repay</a:t>
            </a:r>
            <a:endParaRPr lang="en-US" sz="1125" dirty="0"/>
          </a:p>
        </p:txBody>
      </p:sp>
      <p:sp>
        <p:nvSpPr>
          <p:cNvPr id="13" name="Shape 11"/>
          <p:cNvSpPr/>
          <p:nvPr/>
        </p:nvSpPr>
        <p:spPr>
          <a:xfrm>
            <a:off x="6210300" y="1808797"/>
            <a:ext cx="5372100" cy="3645218"/>
          </a:xfrm>
          <a:prstGeom prst="roundRect">
            <a:avLst>
              <a:gd name="adj" fmla="val 3136"/>
            </a:avLst>
          </a:prstGeom>
          <a:solidFill>
            <a:srgbClr val="FFFFFF"/>
          </a:solidFill>
          <a:ln w="6667">
            <a:solidFill>
              <a:srgbClr val="E5E8F0"/>
            </a:solidFill>
            <a:prstDash val="solid"/>
          </a:ln>
        </p:spPr>
      </p:sp>
      <p:sp>
        <p:nvSpPr>
          <p:cNvPr id="14" name="Text 12"/>
          <p:cNvSpPr/>
          <p:nvPr/>
        </p:nvSpPr>
        <p:spPr>
          <a:xfrm>
            <a:off x="6445568" y="2044065"/>
            <a:ext cx="1091724"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dirty="0">
                <a:solidFill>
                  <a:srgbClr val="0B1220"/>
                </a:solidFill>
                <a:latin typeface="Arial" pitchFamily="34" charset="0"/>
                <a:ea typeface="Arial" pitchFamily="34" charset="-122"/>
                <a:cs typeface="Arial" pitchFamily="34" charset="-120"/>
              </a:rPr>
              <a:t>Unsecured</a:t>
            </a:r>
            <a:endParaRPr lang="en-US" sz="1500" dirty="0"/>
          </a:p>
        </p:txBody>
      </p:sp>
      <p:sp>
        <p:nvSpPr>
          <p:cNvPr id="15" name="Text 13"/>
          <p:cNvSpPr/>
          <p:nvPr/>
        </p:nvSpPr>
        <p:spPr>
          <a:xfrm>
            <a:off x="6445568" y="2415540"/>
            <a:ext cx="5391721"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no collateral, just your promise</a:t>
            </a:r>
            <a:endParaRPr lang="en-US" sz="1125" dirty="0"/>
          </a:p>
        </p:txBody>
      </p:sp>
      <p:sp>
        <p:nvSpPr>
          <p:cNvPr id="16" name="Text 14"/>
          <p:cNvSpPr/>
          <p:nvPr/>
        </p:nvSpPr>
        <p:spPr>
          <a:xfrm>
            <a:off x="6343968" y="2789396"/>
            <a:ext cx="5079365" cy="1095375"/>
          </a:xfrm>
          <a:prstGeom prst="rect">
            <a:avLst/>
          </a:prstGeom>
          <a:noFill/>
          <a:ln/>
        </p:spPr>
        <p:txBody>
          <a:bodyPr wrap="square" lIns="25400" tIns="25400" rIns="25400" bIns="25400" rtlCol="0" anchor="t">
            <a:normAutofit/>
          </a:bodyPr>
          <a:lstStyle/>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Most cards, personal &amp; student loans</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Higher APR — recourse is collections &amp; courts</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Default → charge-off after ~120–180 days</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Charge-offs &amp; repos stay on file 7 years</a:t>
            </a:r>
            <a:endParaRPr lang="en-US" sz="1125" dirty="0"/>
          </a:p>
        </p:txBody>
      </p:sp>
      <p:sp>
        <p:nvSpPr>
          <p:cNvPr id="17" name="Text 15"/>
          <p:cNvSpPr/>
          <p:nvPr/>
        </p:nvSpPr>
        <p:spPr>
          <a:xfrm>
            <a:off x="609600" y="5682615"/>
            <a:ext cx="12070080"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Same $12,000 used car: ~$2,440 interest as a secured auto loan (7.52%) vs. ~$3,800 unsecured (11.40%) — a ~$1,360 premium for not pledging the car.</a:t>
            </a:r>
            <a:endParaRPr lang="en-US" sz="1125" dirty="0"/>
          </a:p>
        </p:txBody>
      </p:sp>
      <p:sp>
        <p:nvSpPr>
          <p:cNvPr id="18" name="Text 16"/>
          <p:cNvSpPr/>
          <p:nvPr/>
        </p:nvSpPr>
        <p:spPr>
          <a:xfrm>
            <a:off x="10684511" y="6056471"/>
            <a:ext cx="97409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1 · Credit</a:t>
            </a:r>
            <a:endParaRPr lang="en-US" sz="9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2103358"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M1 · THE EXPENSIVE END</a:t>
            </a:r>
            <a:endParaRPr lang="en-US" sz="975" dirty="0"/>
          </a:p>
        </p:txBody>
      </p:sp>
      <p:sp>
        <p:nvSpPr>
          <p:cNvPr id="8" name="Text 6"/>
          <p:cNvSpPr/>
          <p:nvPr/>
        </p:nvSpPr>
        <p:spPr>
          <a:xfrm>
            <a:off x="609600" y="989647"/>
            <a:ext cx="6215951" cy="514350"/>
          </a:xfrm>
          <a:prstGeom prst="rect">
            <a:avLst/>
          </a:prstGeom>
          <a:noFill/>
          <a:ln/>
        </p:spPr>
        <p:txBody>
          <a:bodyPr wrap="square" lIns="25400" tIns="25400" rIns="25400" bIns="25400" rtlCol="0" anchor="t">
            <a:normAutofit/>
          </a:bodyPr>
          <a:lstStyle/>
          <a:p>
            <a:pPr algn="l" indent="0" marL="0">
              <a:lnSpc>
                <a:spcPct val="125000"/>
              </a:lnSpc>
              <a:buNone/>
            </a:pPr>
            <a:r>
              <a:rPr lang="en-US" sz="3000" b="1" spc="-60" kern="0" dirty="0">
                <a:solidFill>
                  <a:srgbClr val="0B1220"/>
                </a:solidFill>
                <a:latin typeface="Arial" pitchFamily="34" charset="0"/>
                <a:ea typeface="Arial" pitchFamily="34" charset="-122"/>
                <a:cs typeface="Arial" pitchFamily="34" charset="-120"/>
              </a:rPr>
              <a:t>Payday &amp; title loans, defined</a:t>
            </a:r>
            <a:endParaRPr lang="en-US" sz="3000" dirty="0"/>
          </a:p>
        </p:txBody>
      </p:sp>
      <p:sp>
        <p:nvSpPr>
          <p:cNvPr id="9" name="Text 7"/>
          <p:cNvSpPr/>
          <p:nvPr/>
        </p:nvSpPr>
        <p:spPr>
          <a:xfrm>
            <a:off x="609600" y="1618297"/>
            <a:ext cx="6931622"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5B6472"/>
                </a:solidFill>
                <a:latin typeface="Arial" pitchFamily="34" charset="0"/>
                <a:ea typeface="Arial" pitchFamily="34" charset="-122"/>
                <a:cs typeface="Arial" pitchFamily="34" charset="-120"/>
              </a:rPr>
              <a:t>Two short-term, high-cost loans worth knowing by name — and the watchdog that tracks them.</a:t>
            </a:r>
            <a:endParaRPr lang="en-US" sz="1500" dirty="0"/>
          </a:p>
        </p:txBody>
      </p:sp>
      <p:sp>
        <p:nvSpPr>
          <p:cNvPr id="10" name="Shape 8"/>
          <p:cNvSpPr/>
          <p:nvPr/>
        </p:nvSpPr>
        <p:spPr>
          <a:xfrm>
            <a:off x="609600" y="2607945"/>
            <a:ext cx="85725" cy="85725"/>
          </a:xfrm>
          <a:prstGeom prst="roundRect">
            <a:avLst>
              <a:gd name="adj" fmla="val 33333"/>
            </a:avLst>
          </a:prstGeom>
          <a:solidFill>
            <a:srgbClr val="4F46E5"/>
          </a:solidFill>
          <a:ln/>
        </p:spPr>
      </p:sp>
      <p:sp>
        <p:nvSpPr>
          <p:cNvPr id="11" name="Text 9"/>
          <p:cNvSpPr/>
          <p:nvPr/>
        </p:nvSpPr>
        <p:spPr>
          <a:xfrm>
            <a:off x="809625" y="2543175"/>
            <a:ext cx="6985000" cy="244792"/>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Payday loan — a small loan due in full on your next payday (about two weeks).</a:t>
            </a:r>
            <a:endParaRPr lang="en-US" sz="1350" dirty="0"/>
          </a:p>
        </p:txBody>
      </p:sp>
      <p:sp>
        <p:nvSpPr>
          <p:cNvPr id="12" name="Text 10"/>
          <p:cNvSpPr/>
          <p:nvPr/>
        </p:nvSpPr>
        <p:spPr>
          <a:xfrm>
            <a:off x="708025" y="2855595"/>
            <a:ext cx="7441724"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You leave a post-dated check or authorize a debit for the amount plus a fee, often $15 per $100 borrowed</a:t>
            </a:r>
            <a:endParaRPr lang="en-US" sz="1125" dirty="0"/>
          </a:p>
        </p:txBody>
      </p:sp>
      <p:sp>
        <p:nvSpPr>
          <p:cNvPr id="13" name="Shape 11"/>
          <p:cNvSpPr/>
          <p:nvPr/>
        </p:nvSpPr>
        <p:spPr>
          <a:xfrm>
            <a:off x="609600" y="3323749"/>
            <a:ext cx="85725" cy="85725"/>
          </a:xfrm>
          <a:prstGeom prst="roundRect">
            <a:avLst>
              <a:gd name="adj" fmla="val 33333"/>
            </a:avLst>
          </a:prstGeom>
          <a:solidFill>
            <a:srgbClr val="4F46E5"/>
          </a:solidFill>
          <a:ln/>
        </p:spPr>
      </p:sp>
      <p:sp>
        <p:nvSpPr>
          <p:cNvPr id="14" name="Text 12"/>
          <p:cNvSpPr/>
          <p:nvPr/>
        </p:nvSpPr>
        <p:spPr>
          <a:xfrm>
            <a:off x="809625" y="3258979"/>
            <a:ext cx="8837422" cy="244793"/>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Single-payment car-title loan — you pledge your car's title as collateral and repay in one lump sum.</a:t>
            </a:r>
            <a:endParaRPr lang="en-US" sz="1350" dirty="0"/>
          </a:p>
        </p:txBody>
      </p:sp>
      <p:sp>
        <p:nvSpPr>
          <p:cNvPr id="15" name="Text 13"/>
          <p:cNvSpPr/>
          <p:nvPr/>
        </p:nvSpPr>
        <p:spPr>
          <a:xfrm>
            <a:off x="708025" y="3571399"/>
            <a:ext cx="8211820"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You keep driving the car, but the lender can repossess it if you miss the payment</a:t>
            </a:r>
            <a:endParaRPr lang="en-US" sz="1125" dirty="0"/>
          </a:p>
        </p:txBody>
      </p:sp>
      <p:sp>
        <p:nvSpPr>
          <p:cNvPr id="16" name="Shape 14"/>
          <p:cNvSpPr/>
          <p:nvPr/>
        </p:nvSpPr>
        <p:spPr>
          <a:xfrm>
            <a:off x="609600" y="4039553"/>
            <a:ext cx="85725" cy="85725"/>
          </a:xfrm>
          <a:prstGeom prst="roundRect">
            <a:avLst>
              <a:gd name="adj" fmla="val 33333"/>
            </a:avLst>
          </a:prstGeom>
          <a:solidFill>
            <a:srgbClr val="4F46E5"/>
          </a:solidFill>
          <a:ln/>
        </p:spPr>
      </p:sp>
      <p:sp>
        <p:nvSpPr>
          <p:cNvPr id="17" name="Text 15"/>
          <p:cNvSpPr/>
          <p:nvPr/>
        </p:nvSpPr>
        <p:spPr>
          <a:xfrm>
            <a:off x="809625" y="3974782"/>
            <a:ext cx="9301051" cy="244792"/>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CFPB — the Consumer Financial Protection Bureau, the U.S. government's consumer-finance watchdog.</a:t>
            </a:r>
            <a:endParaRPr lang="en-US" sz="1350" dirty="0"/>
          </a:p>
        </p:txBody>
      </p:sp>
      <p:sp>
        <p:nvSpPr>
          <p:cNvPr id="18" name="Text 16"/>
          <p:cNvSpPr/>
          <p:nvPr/>
        </p:nvSpPr>
        <p:spPr>
          <a:xfrm>
            <a:off x="708025" y="4287203"/>
            <a:ext cx="8633301"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A federal agency created after the 2008 crisis; it publishes the research behind the next slide</a:t>
            </a:r>
            <a:endParaRPr lang="en-US" sz="1125" dirty="0"/>
          </a:p>
        </p:txBody>
      </p:sp>
      <p:sp>
        <p:nvSpPr>
          <p:cNvPr id="19" name="Text 17"/>
          <p:cNvSpPr/>
          <p:nvPr/>
        </p:nvSpPr>
        <p:spPr>
          <a:xfrm>
            <a:off x="10684511" y="6056471"/>
            <a:ext cx="97409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1 · Credit</a:t>
            </a:r>
            <a:endParaRPr lang="en-US" sz="9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7FB"/>
          </a:solidFill>
          <a:ln/>
        </p:spPr>
      </p:sp>
      <p:sp>
        <p:nvSpPr>
          <p:cNvPr id="3" name="Shape 1"/>
          <p:cNvSpPr/>
          <p:nvPr/>
        </p:nvSpPr>
        <p:spPr>
          <a:xfrm>
            <a:off x="11410950" y="609600"/>
            <a:ext cx="171450" cy="17145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2103358"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M1 · THE EXPENSIVE END</a:t>
            </a:r>
            <a:endParaRPr lang="en-US" sz="975" dirty="0"/>
          </a:p>
        </p:txBody>
      </p:sp>
      <p:sp>
        <p:nvSpPr>
          <p:cNvPr id="8" name="Text 6"/>
          <p:cNvSpPr/>
          <p:nvPr/>
        </p:nvSpPr>
        <p:spPr>
          <a:xfrm>
            <a:off x="609600" y="989647"/>
            <a:ext cx="6781038" cy="628650"/>
          </a:xfrm>
          <a:prstGeom prst="rect">
            <a:avLst/>
          </a:prstGeom>
          <a:noFill/>
          <a:ln/>
        </p:spPr>
        <p:txBody>
          <a:bodyPr wrap="square" lIns="25400" tIns="25400" rIns="25400" bIns="25400" rtlCol="0" anchor="t">
            <a:normAutofit/>
          </a:bodyPr>
          <a:lstStyle/>
          <a:p>
            <a:pPr algn="l" indent="0" marL="0">
              <a:lnSpc>
                <a:spcPct val="155000"/>
              </a:lnSpc>
              <a:buNone/>
            </a:pPr>
            <a:r>
              <a:rPr lang="en-US" sz="3000" b="1" spc="-60" kern="0" dirty="0">
                <a:solidFill>
                  <a:srgbClr val="0B1220"/>
                </a:solidFill>
                <a:latin typeface="Arial" pitchFamily="34" charset="0"/>
                <a:ea typeface="Arial" pitchFamily="34" charset="-122"/>
                <a:cs typeface="Arial" pitchFamily="34" charset="-120"/>
              </a:rPr>
              <a:t>A 'small' fee, a triple-digit APR</a:t>
            </a:r>
            <a:endParaRPr lang="en-US" sz="3000" dirty="0"/>
          </a:p>
        </p:txBody>
      </p:sp>
      <p:sp>
        <p:nvSpPr>
          <p:cNvPr id="9" name="Shape 7"/>
          <p:cNvSpPr/>
          <p:nvPr/>
        </p:nvSpPr>
        <p:spPr>
          <a:xfrm>
            <a:off x="609600" y="1884997"/>
            <a:ext cx="3505200" cy="4019074"/>
          </a:xfrm>
          <a:prstGeom prst="roundRect">
            <a:avLst>
              <a:gd name="adj" fmla="val 3261"/>
            </a:avLst>
          </a:prstGeom>
          <a:solidFill>
            <a:srgbClr val="FFFFFF"/>
          </a:solidFill>
          <a:ln w="6667">
            <a:solidFill>
              <a:srgbClr val="E5E8F0"/>
            </a:solidFill>
            <a:prstDash val="solid"/>
          </a:ln>
          <a:effectLst>
            <a:outerShdw sx="100000" sy="100000" kx="0" ky="0" algn="bl" rotWithShape="0" blurRad="19050" dist="9525" dir="5400000">
              <a:srgbClr val="0B1220">
                <a:alpha val="6000"/>
              </a:srgbClr>
            </a:outerShdw>
          </a:effectLst>
        </p:spPr>
      </p:sp>
      <p:sp>
        <p:nvSpPr>
          <p:cNvPr id="10" name="Text 8"/>
          <p:cNvSpPr/>
          <p:nvPr/>
        </p:nvSpPr>
        <p:spPr>
          <a:xfrm>
            <a:off x="921067" y="3303746"/>
            <a:ext cx="3170492" cy="495300"/>
          </a:xfrm>
          <a:prstGeom prst="rect">
            <a:avLst/>
          </a:prstGeom>
          <a:noFill/>
          <a:ln/>
        </p:spPr>
        <p:txBody>
          <a:bodyPr wrap="square" lIns="25400" tIns="25400" rIns="25400" bIns="25400" rtlCol="0" anchor="t">
            <a:normAutofit/>
          </a:bodyPr>
          <a:lstStyle/>
          <a:p>
            <a:pPr algn="l" indent="0" marL="0">
              <a:lnSpc>
                <a:spcPct val="100000"/>
              </a:lnSpc>
              <a:buNone/>
            </a:pPr>
            <a:r>
              <a:rPr lang="en-US" sz="3600" b="1" spc="-72" kern="0" dirty="0">
                <a:solidFill>
                  <a:srgbClr val="0B1220"/>
                </a:solidFill>
                <a:latin typeface="Arial" pitchFamily="34" charset="0"/>
                <a:ea typeface="Arial" pitchFamily="34" charset="-122"/>
                <a:cs typeface="Arial" pitchFamily="34" charset="-120"/>
              </a:rPr>
              <a:t>~391%</a:t>
            </a:r>
            <a:endParaRPr lang="en-US" sz="3600" dirty="0"/>
          </a:p>
        </p:txBody>
      </p:sp>
      <p:sp>
        <p:nvSpPr>
          <p:cNvPr id="11" name="Text 9"/>
          <p:cNvSpPr/>
          <p:nvPr/>
        </p:nvSpPr>
        <p:spPr>
          <a:xfrm>
            <a:off x="921067" y="3837146"/>
            <a:ext cx="3170492" cy="303847"/>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1E293B"/>
                </a:solidFill>
                <a:latin typeface="Arial" pitchFamily="34" charset="0"/>
                <a:ea typeface="Arial" pitchFamily="34" charset="-122"/>
                <a:cs typeface="Arial" pitchFamily="34" charset="-120"/>
              </a:rPr>
              <a:t>true APR on a typical payday loan</a:t>
            </a:r>
            <a:endParaRPr lang="en-US" sz="1350" dirty="0"/>
          </a:p>
        </p:txBody>
      </p:sp>
      <p:sp>
        <p:nvSpPr>
          <p:cNvPr id="12" name="Text 10"/>
          <p:cNvSpPr/>
          <p:nvPr/>
        </p:nvSpPr>
        <p:spPr>
          <a:xfrm>
            <a:off x="921067" y="4293394"/>
            <a:ext cx="3170492"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$15 per $100, due in 14 days</a:t>
            </a:r>
            <a:endParaRPr lang="en-US" sz="975" dirty="0"/>
          </a:p>
        </p:txBody>
      </p:sp>
      <p:sp>
        <p:nvSpPr>
          <p:cNvPr id="13" name="Shape 11"/>
          <p:cNvSpPr/>
          <p:nvPr/>
        </p:nvSpPr>
        <p:spPr>
          <a:xfrm>
            <a:off x="4343400" y="1884997"/>
            <a:ext cx="3505200" cy="4019074"/>
          </a:xfrm>
          <a:prstGeom prst="roundRect">
            <a:avLst>
              <a:gd name="adj" fmla="val 3261"/>
            </a:avLst>
          </a:prstGeom>
          <a:solidFill>
            <a:srgbClr val="FFFFFF"/>
          </a:solidFill>
          <a:ln w="6667">
            <a:solidFill>
              <a:srgbClr val="E5E8F0"/>
            </a:solidFill>
            <a:prstDash val="solid"/>
          </a:ln>
          <a:effectLst>
            <a:outerShdw sx="100000" sy="100000" kx="0" ky="0" algn="bl" rotWithShape="0" blurRad="19050" dist="9525" dir="5400000">
              <a:srgbClr val="0B1220">
                <a:alpha val="6000"/>
              </a:srgbClr>
            </a:outerShdw>
          </a:effectLst>
        </p:spPr>
      </p:sp>
      <p:sp>
        <p:nvSpPr>
          <p:cNvPr id="14" name="Text 12"/>
          <p:cNvSpPr/>
          <p:nvPr/>
        </p:nvSpPr>
        <p:spPr>
          <a:xfrm>
            <a:off x="4654868" y="3170872"/>
            <a:ext cx="3170492" cy="495300"/>
          </a:xfrm>
          <a:prstGeom prst="rect">
            <a:avLst/>
          </a:prstGeom>
          <a:noFill/>
          <a:ln/>
        </p:spPr>
        <p:txBody>
          <a:bodyPr wrap="square" lIns="25400" tIns="25400" rIns="25400" bIns="25400" rtlCol="0" anchor="t">
            <a:normAutofit/>
          </a:bodyPr>
          <a:lstStyle/>
          <a:p>
            <a:pPr algn="l" indent="0" marL="0">
              <a:lnSpc>
                <a:spcPct val="100000"/>
              </a:lnSpc>
              <a:buNone/>
            </a:pPr>
            <a:r>
              <a:rPr lang="en-US" sz="3600" b="1" spc="-72" kern="0" dirty="0">
                <a:solidFill>
                  <a:srgbClr val="0B1220"/>
                </a:solidFill>
                <a:latin typeface="Arial" pitchFamily="34" charset="0"/>
                <a:ea typeface="Arial" pitchFamily="34" charset="-122"/>
                <a:cs typeface="Arial" pitchFamily="34" charset="-120"/>
              </a:rPr>
              <a:t>~300%</a:t>
            </a:r>
            <a:endParaRPr lang="en-US" sz="3600" dirty="0"/>
          </a:p>
        </p:txBody>
      </p:sp>
      <p:sp>
        <p:nvSpPr>
          <p:cNvPr id="15" name="Text 13"/>
          <p:cNvSpPr/>
          <p:nvPr/>
        </p:nvSpPr>
        <p:spPr>
          <a:xfrm>
            <a:off x="4654868" y="3704272"/>
            <a:ext cx="2968733"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1E293B"/>
                </a:solidFill>
                <a:latin typeface="Arial" pitchFamily="34" charset="0"/>
                <a:ea typeface="Arial" pitchFamily="34" charset="-122"/>
                <a:cs typeface="Arial" pitchFamily="34" charset="-120"/>
              </a:rPr>
              <a:t>APR on a single-payment car-title loan</a:t>
            </a:r>
            <a:endParaRPr lang="en-US" sz="1350" dirty="0"/>
          </a:p>
        </p:txBody>
      </p:sp>
      <p:sp>
        <p:nvSpPr>
          <p:cNvPr id="16" name="Text 14"/>
          <p:cNvSpPr/>
          <p:nvPr/>
        </p:nvSpPr>
        <p:spPr>
          <a:xfrm>
            <a:off x="4654868" y="4426268"/>
            <a:ext cx="3170492"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~$700 borrowed</a:t>
            </a:r>
            <a:endParaRPr lang="en-US" sz="975" dirty="0"/>
          </a:p>
        </p:txBody>
      </p:sp>
      <p:sp>
        <p:nvSpPr>
          <p:cNvPr id="17" name="Shape 15"/>
          <p:cNvSpPr/>
          <p:nvPr/>
        </p:nvSpPr>
        <p:spPr>
          <a:xfrm>
            <a:off x="8077200" y="1884997"/>
            <a:ext cx="3505200" cy="4019074"/>
          </a:xfrm>
          <a:prstGeom prst="roundRect">
            <a:avLst>
              <a:gd name="adj" fmla="val 3261"/>
            </a:avLst>
          </a:prstGeom>
          <a:solidFill>
            <a:srgbClr val="FFFFFF"/>
          </a:solidFill>
          <a:ln w="6667">
            <a:solidFill>
              <a:srgbClr val="E5E8F0"/>
            </a:solidFill>
            <a:prstDash val="solid"/>
          </a:ln>
          <a:effectLst>
            <a:outerShdw sx="100000" sy="100000" kx="0" ky="0" algn="bl" rotWithShape="0" blurRad="19050" dist="9525" dir="5400000">
              <a:srgbClr val="0B1220">
                <a:alpha val="6000"/>
              </a:srgbClr>
            </a:outerShdw>
          </a:effectLst>
        </p:spPr>
      </p:sp>
      <p:sp>
        <p:nvSpPr>
          <p:cNvPr id="18" name="Text 16"/>
          <p:cNvSpPr/>
          <p:nvPr/>
        </p:nvSpPr>
        <p:spPr>
          <a:xfrm>
            <a:off x="8388668" y="3037999"/>
            <a:ext cx="3170492" cy="495300"/>
          </a:xfrm>
          <a:prstGeom prst="rect">
            <a:avLst/>
          </a:prstGeom>
          <a:noFill/>
          <a:ln/>
        </p:spPr>
        <p:txBody>
          <a:bodyPr wrap="square" lIns="25400" tIns="25400" rIns="25400" bIns="25400" rtlCol="0" anchor="t">
            <a:normAutofit/>
          </a:bodyPr>
          <a:lstStyle/>
          <a:p>
            <a:pPr algn="l" indent="0" marL="0">
              <a:lnSpc>
                <a:spcPct val="100000"/>
              </a:lnSpc>
              <a:buNone/>
            </a:pPr>
            <a:r>
              <a:rPr lang="en-US" sz="3600" b="1" spc="-72" kern="0" dirty="0">
                <a:solidFill>
                  <a:srgbClr val="0B1220"/>
                </a:solidFill>
                <a:latin typeface="Arial" pitchFamily="34" charset="0"/>
                <a:ea typeface="Arial" pitchFamily="34" charset="-122"/>
                <a:cs typeface="Arial" pitchFamily="34" charset="-120"/>
              </a:rPr>
              <a:t>1 in 5</a:t>
            </a:r>
            <a:endParaRPr lang="en-US" sz="3600" dirty="0"/>
          </a:p>
        </p:txBody>
      </p:sp>
      <p:sp>
        <p:nvSpPr>
          <p:cNvPr id="19" name="Text 17"/>
          <p:cNvSpPr/>
          <p:nvPr/>
        </p:nvSpPr>
        <p:spPr>
          <a:xfrm>
            <a:off x="8388668" y="3571399"/>
            <a:ext cx="2968733" cy="835342"/>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1E293B"/>
                </a:solidFill>
                <a:latin typeface="Arial" pitchFamily="34" charset="0"/>
                <a:ea typeface="Arial" pitchFamily="34" charset="-122"/>
                <a:cs typeface="Arial" pitchFamily="34" charset="-120"/>
              </a:rPr>
              <a:t>single-payment title-loan borrowers have the car repossessed</a:t>
            </a:r>
            <a:endParaRPr lang="en-US" sz="1350" dirty="0"/>
          </a:p>
        </p:txBody>
      </p:sp>
      <p:sp>
        <p:nvSpPr>
          <p:cNvPr id="20" name="Text 18"/>
          <p:cNvSpPr/>
          <p:nvPr/>
        </p:nvSpPr>
        <p:spPr>
          <a:xfrm>
            <a:off x="8388668" y="4559141"/>
            <a:ext cx="3170492"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CFPB</a:t>
            </a:r>
            <a:endParaRPr lang="en-US" sz="975" dirty="0"/>
          </a:p>
        </p:txBody>
      </p:sp>
      <p:sp>
        <p:nvSpPr>
          <p:cNvPr id="21" name="Text 19"/>
          <p:cNvSpPr/>
          <p:nvPr/>
        </p:nvSpPr>
        <p:spPr>
          <a:xfrm>
            <a:off x="10684511" y="6056471"/>
            <a:ext cx="97409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1 · Credit</a:t>
            </a:r>
            <a:endParaRPr lang="en-US" sz="9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1220"/>
          </a:solidFill>
          <a:ln/>
        </p:spPr>
      </p:sp>
      <p:sp>
        <p:nvSpPr>
          <p:cNvPr id="3" name="Text 1"/>
          <p:cNvSpPr/>
          <p:nvPr/>
        </p:nvSpPr>
        <p:spPr>
          <a:xfrm>
            <a:off x="609600" y="2187416"/>
            <a:ext cx="12070080" cy="451485"/>
          </a:xfrm>
          <a:prstGeom prst="rect">
            <a:avLst/>
          </a:prstGeom>
          <a:noFill/>
          <a:ln/>
        </p:spPr>
        <p:txBody>
          <a:bodyPr wrap="square" lIns="25400" tIns="25400" rIns="25400" bIns="25400" rtlCol="0" anchor="t">
            <a:normAutofit/>
          </a:bodyPr>
          <a:lstStyle/>
          <a:p>
            <a:pPr algn="l" indent="0" marL="0">
              <a:lnSpc>
                <a:spcPct val="155000"/>
              </a:lnSpc>
              <a:buNone/>
            </a:pPr>
            <a:r>
              <a:rPr lang="en-US" sz="2100" b="1" spc="42" kern="0" dirty="0">
                <a:solidFill>
                  <a:srgbClr val="C7D2FE"/>
                </a:solidFill>
                <a:latin typeface="Arial" pitchFamily="34" charset="0"/>
                <a:ea typeface="Arial" pitchFamily="34" charset="-122"/>
                <a:cs typeface="Arial" pitchFamily="34" charset="-120"/>
              </a:rPr>
              <a:t>M2</a:t>
            </a:r>
            <a:endParaRPr lang="en-US" sz="2100" dirty="0"/>
          </a:p>
        </p:txBody>
      </p:sp>
      <p:sp>
        <p:nvSpPr>
          <p:cNvPr id="4" name="Text 2"/>
          <p:cNvSpPr/>
          <p:nvPr/>
        </p:nvSpPr>
        <p:spPr>
          <a:xfrm>
            <a:off x="609600" y="2715101"/>
            <a:ext cx="7308056" cy="598170"/>
          </a:xfrm>
          <a:prstGeom prst="rect">
            <a:avLst/>
          </a:prstGeom>
          <a:noFill/>
          <a:ln/>
        </p:spPr>
        <p:txBody>
          <a:bodyPr wrap="square" lIns="25400" tIns="25400" rIns="25400" bIns="25400" rtlCol="0" anchor="t">
            <a:normAutofit/>
          </a:bodyPr>
          <a:lstStyle/>
          <a:p>
            <a:pPr algn="l" indent="0" marL="0">
              <a:lnSpc>
                <a:spcPct val="105000"/>
              </a:lnSpc>
              <a:buNone/>
            </a:pPr>
            <a:r>
              <a:rPr lang="en-US" sz="4200" b="1" spc="-84" kern="0" dirty="0">
                <a:solidFill>
                  <a:srgbClr val="FFFFFF"/>
                </a:solidFill>
                <a:latin typeface="Arial" pitchFamily="34" charset="0"/>
                <a:ea typeface="Arial" pitchFamily="34" charset="-122"/>
                <a:cs typeface="Arial" pitchFamily="34" charset="-120"/>
              </a:rPr>
              <a:t>The cost of credit</a:t>
            </a:r>
            <a:endParaRPr lang="en-US" sz="4200" dirty="0"/>
          </a:p>
        </p:txBody>
      </p:sp>
      <p:sp>
        <p:nvSpPr>
          <p:cNvPr id="5" name="Text 3"/>
          <p:cNvSpPr/>
          <p:nvPr/>
        </p:nvSpPr>
        <p:spPr>
          <a:xfrm>
            <a:off x="609600" y="3503771"/>
            <a:ext cx="6436506"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FFFFFF">
                    <a:alpha val="70000"/>
                  </a:srgbClr>
                </a:solidFill>
                <a:latin typeface="Arial" pitchFamily="34" charset="0"/>
                <a:ea typeface="Arial" pitchFamily="34" charset="-122"/>
                <a:cs typeface="Arial" pitchFamily="34" charset="-120"/>
              </a:rPr>
              <a:t>Interest, APR, and why the minimum payment is the most expensive way to repay.</a:t>
            </a:r>
            <a:endParaRPr lang="en-US" sz="1500" dirty="0"/>
          </a:p>
        </p:txBody>
      </p:sp>
      <p:sp>
        <p:nvSpPr>
          <p:cNvPr id="6" name="Shape 4"/>
          <p:cNvSpPr/>
          <p:nvPr/>
        </p:nvSpPr>
        <p:spPr>
          <a:xfrm>
            <a:off x="609600" y="4413409"/>
            <a:ext cx="600075" cy="257175"/>
          </a:xfrm>
          <a:prstGeom prst="roundRect">
            <a:avLst>
              <a:gd name="adj" fmla="val 50000"/>
            </a:avLst>
          </a:prstGeom>
          <a:solidFill>
            <a:srgbClr val="EEF2FF"/>
          </a:solidFill>
          <a:ln/>
        </p:spPr>
      </p:sp>
      <p:sp>
        <p:nvSpPr>
          <p:cNvPr id="7" name="Text 5"/>
          <p:cNvSpPr/>
          <p:nvPr/>
        </p:nvSpPr>
        <p:spPr>
          <a:xfrm>
            <a:off x="723900" y="4470559"/>
            <a:ext cx="447675" cy="180975"/>
          </a:xfrm>
          <a:prstGeom prst="rect">
            <a:avLst/>
          </a:prstGeom>
          <a:noFill/>
          <a:ln/>
        </p:spPr>
        <p:txBody>
          <a:bodyPr wrap="none" lIns="25400" tIns="25400" rIns="25400" bIns="25400" rtlCol="0" anchor="ctr">
            <a:normAutofit/>
          </a:bodyPr>
          <a:lstStyle/>
          <a:p>
            <a:pPr algn="l" indent="0" marL="0">
              <a:lnSpc>
                <a:spcPct val="100000"/>
              </a:lnSpc>
              <a:buNone/>
            </a:pPr>
            <a:r>
              <a:rPr lang="en-US" sz="1125" b="1" dirty="0">
                <a:solidFill>
                  <a:srgbClr val="3730A3"/>
                </a:solidFill>
                <a:latin typeface="Arial" pitchFamily="34" charset="0"/>
                <a:ea typeface="Arial" pitchFamily="34" charset="-122"/>
                <a:cs typeface="Arial" pitchFamily="34" charset="-120"/>
              </a:rPr>
              <a:t>7 min</a:t>
            </a:r>
            <a:endParaRPr lang="en-US" sz="11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1781873"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M2 · INTEREST &amp; APR</a:t>
            </a:r>
            <a:endParaRPr lang="en-US" sz="975" dirty="0"/>
          </a:p>
        </p:txBody>
      </p:sp>
      <p:sp>
        <p:nvSpPr>
          <p:cNvPr id="8" name="Text 6"/>
          <p:cNvSpPr/>
          <p:nvPr/>
        </p:nvSpPr>
        <p:spPr>
          <a:xfrm>
            <a:off x="609600" y="989647"/>
            <a:ext cx="6215951" cy="514350"/>
          </a:xfrm>
          <a:prstGeom prst="rect">
            <a:avLst/>
          </a:prstGeom>
          <a:noFill/>
          <a:ln/>
        </p:spPr>
        <p:txBody>
          <a:bodyPr wrap="square" lIns="25400" tIns="25400" rIns="25400" bIns="25400" rtlCol="0" anchor="t">
            <a:normAutofit/>
          </a:bodyPr>
          <a:lstStyle/>
          <a:p>
            <a:pPr algn="l" indent="0" marL="0">
              <a:lnSpc>
                <a:spcPct val="125000"/>
              </a:lnSpc>
              <a:buNone/>
            </a:pPr>
            <a:r>
              <a:rPr lang="en-US" sz="3000" b="1" spc="-60" kern="0" dirty="0">
                <a:solidFill>
                  <a:srgbClr val="0B1220"/>
                </a:solidFill>
                <a:latin typeface="Arial" pitchFamily="34" charset="0"/>
                <a:ea typeface="Arial" pitchFamily="34" charset="-122"/>
                <a:cs typeface="Arial" pitchFamily="34" charset="-120"/>
              </a:rPr>
              <a:t>APR, the periodic rate &amp; APY</a:t>
            </a:r>
            <a:endParaRPr lang="en-US" sz="3000" dirty="0"/>
          </a:p>
        </p:txBody>
      </p:sp>
      <p:sp>
        <p:nvSpPr>
          <p:cNvPr id="9" name="Text 7"/>
          <p:cNvSpPr/>
          <p:nvPr/>
        </p:nvSpPr>
        <p:spPr>
          <a:xfrm>
            <a:off x="609600" y="1618297"/>
            <a:ext cx="6931622"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5B6472"/>
                </a:solidFill>
                <a:latin typeface="Arial" pitchFamily="34" charset="0"/>
                <a:ea typeface="Arial" pitchFamily="34" charset="-122"/>
                <a:cs typeface="Arial" pitchFamily="34" charset="-120"/>
              </a:rPr>
              <a:t>APR (Annual Percentage Rate) is the yearly price of borrowing — but it isn't quite what you actually pay.</a:t>
            </a:r>
            <a:endParaRPr lang="en-US" sz="1500" dirty="0"/>
          </a:p>
        </p:txBody>
      </p:sp>
      <p:sp>
        <p:nvSpPr>
          <p:cNvPr id="10" name="Shape 8"/>
          <p:cNvSpPr/>
          <p:nvPr/>
        </p:nvSpPr>
        <p:spPr>
          <a:xfrm>
            <a:off x="609600" y="2607945"/>
            <a:ext cx="85725" cy="85725"/>
          </a:xfrm>
          <a:prstGeom prst="roundRect">
            <a:avLst>
              <a:gd name="adj" fmla="val 33333"/>
            </a:avLst>
          </a:prstGeom>
          <a:solidFill>
            <a:srgbClr val="4F46E5"/>
          </a:solidFill>
          <a:ln/>
        </p:spPr>
      </p:sp>
      <p:sp>
        <p:nvSpPr>
          <p:cNvPr id="11" name="Text 9"/>
          <p:cNvSpPr/>
          <p:nvPr/>
        </p:nvSpPr>
        <p:spPr>
          <a:xfrm>
            <a:off x="809625" y="2543175"/>
            <a:ext cx="5787596" cy="244792"/>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Card interest is applied by a periodic rate, then compounds daily.</a:t>
            </a:r>
            <a:endParaRPr lang="en-US" sz="1350" dirty="0"/>
          </a:p>
        </p:txBody>
      </p:sp>
      <p:sp>
        <p:nvSpPr>
          <p:cNvPr id="12" name="Text 10"/>
          <p:cNvSpPr/>
          <p:nvPr/>
        </p:nvSpPr>
        <p:spPr>
          <a:xfrm>
            <a:off x="708025" y="2855595"/>
            <a:ext cx="5439251"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Daily periodic rate (DPR) = APR ÷ 365 — a 21.52% APR ≈ 0.059% a day</a:t>
            </a:r>
            <a:endParaRPr lang="en-US" sz="1125" dirty="0"/>
          </a:p>
        </p:txBody>
      </p:sp>
      <p:sp>
        <p:nvSpPr>
          <p:cNvPr id="13" name="Shape 11"/>
          <p:cNvSpPr/>
          <p:nvPr/>
        </p:nvSpPr>
        <p:spPr>
          <a:xfrm>
            <a:off x="609600" y="3323749"/>
            <a:ext cx="85725" cy="85725"/>
          </a:xfrm>
          <a:prstGeom prst="roundRect">
            <a:avLst>
              <a:gd name="adj" fmla="val 33333"/>
            </a:avLst>
          </a:prstGeom>
          <a:solidFill>
            <a:srgbClr val="4F46E5"/>
          </a:solidFill>
          <a:ln/>
        </p:spPr>
      </p:sp>
      <p:sp>
        <p:nvSpPr>
          <p:cNvPr id="14" name="Text 12"/>
          <p:cNvSpPr/>
          <p:nvPr/>
        </p:nvSpPr>
        <p:spPr>
          <a:xfrm>
            <a:off x="809625" y="3229451"/>
            <a:ext cx="5220764" cy="303847"/>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APR is nominal — it ignores compounding. APY includes it.</a:t>
            </a:r>
            <a:endParaRPr lang="en-US" sz="1350" dirty="0"/>
          </a:p>
        </p:txBody>
      </p:sp>
      <p:sp>
        <p:nvSpPr>
          <p:cNvPr id="15" name="Shape 13"/>
          <p:cNvSpPr/>
          <p:nvPr/>
        </p:nvSpPr>
        <p:spPr>
          <a:xfrm>
            <a:off x="609600" y="3741896"/>
            <a:ext cx="85725" cy="85725"/>
          </a:xfrm>
          <a:prstGeom prst="roundRect">
            <a:avLst>
              <a:gd name="adj" fmla="val 33333"/>
            </a:avLst>
          </a:prstGeom>
          <a:solidFill>
            <a:srgbClr val="4F46E5"/>
          </a:solidFill>
          <a:ln/>
        </p:spPr>
      </p:sp>
      <p:sp>
        <p:nvSpPr>
          <p:cNvPr id="16" name="Text 14"/>
          <p:cNvSpPr/>
          <p:nvPr/>
        </p:nvSpPr>
        <p:spPr>
          <a:xfrm>
            <a:off x="809625" y="3677126"/>
            <a:ext cx="7139718" cy="244792"/>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Because card interest compounds daily, the effective rate beats the sticker APR.</a:t>
            </a:r>
            <a:endParaRPr lang="en-US" sz="1350" dirty="0"/>
          </a:p>
        </p:txBody>
      </p:sp>
      <p:sp>
        <p:nvSpPr>
          <p:cNvPr id="17" name="Text 15"/>
          <p:cNvSpPr/>
          <p:nvPr/>
        </p:nvSpPr>
        <p:spPr>
          <a:xfrm>
            <a:off x="708025" y="3989546"/>
            <a:ext cx="6668453"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21.52% APR → ~24.0% effective APY</a:t>
            </a:r>
            <a:endParaRPr lang="en-US" sz="1125" dirty="0"/>
          </a:p>
        </p:txBody>
      </p:sp>
      <p:sp>
        <p:nvSpPr>
          <p:cNvPr id="18" name="Text 16"/>
          <p:cNvSpPr/>
          <p:nvPr/>
        </p:nvSpPr>
        <p:spPr>
          <a:xfrm>
            <a:off x="10684511" y="6056471"/>
            <a:ext cx="97409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1 · Credit</a:t>
            </a:r>
            <a:endParaRPr lang="en-US" sz="9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1781873"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M2 · INTEREST &amp; APR</a:t>
            </a:r>
            <a:endParaRPr lang="en-US" sz="975" dirty="0"/>
          </a:p>
        </p:txBody>
      </p:sp>
      <p:sp>
        <p:nvSpPr>
          <p:cNvPr id="8" name="Text 6"/>
          <p:cNvSpPr/>
          <p:nvPr/>
        </p:nvSpPr>
        <p:spPr>
          <a:xfrm>
            <a:off x="609600" y="989647"/>
            <a:ext cx="5820391" cy="990600"/>
          </a:xfrm>
          <a:prstGeom prst="rect">
            <a:avLst/>
          </a:prstGeom>
          <a:noFill/>
          <a:ln/>
        </p:spPr>
        <p:txBody>
          <a:bodyPr wrap="square" lIns="25400" tIns="25400" rIns="25400" bIns="25400" rtlCol="0" anchor="t">
            <a:normAutofit/>
          </a:bodyPr>
          <a:lstStyle/>
          <a:p>
            <a:pPr algn="l" indent="0" marL="0">
              <a:lnSpc>
                <a:spcPct val="125000"/>
              </a:lnSpc>
              <a:buNone/>
            </a:pPr>
            <a:r>
              <a:rPr lang="en-US" sz="3000" b="1" spc="-60" kern="0" dirty="0">
                <a:solidFill>
                  <a:srgbClr val="0B1220"/>
                </a:solidFill>
                <a:latin typeface="Arial" pitchFamily="34" charset="0"/>
                <a:ea typeface="Arial" pitchFamily="34" charset="-122"/>
                <a:cs typeface="Arial" pitchFamily="34" charset="-120"/>
              </a:rPr>
              <a:t>The grace period — and why your rate moves</a:t>
            </a:r>
            <a:endParaRPr lang="en-US" sz="3000" dirty="0"/>
          </a:p>
        </p:txBody>
      </p:sp>
      <p:sp>
        <p:nvSpPr>
          <p:cNvPr id="9" name="Text 7"/>
          <p:cNvSpPr/>
          <p:nvPr/>
        </p:nvSpPr>
        <p:spPr>
          <a:xfrm>
            <a:off x="609600" y="2094547"/>
            <a:ext cx="6931622"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5B6472"/>
                </a:solidFill>
                <a:latin typeface="Arial" pitchFamily="34" charset="0"/>
                <a:ea typeface="Arial" pitchFamily="34" charset="-122"/>
                <a:cs typeface="Arial" pitchFamily="34" charset="-120"/>
              </a:rPr>
              <a:t>Pay the statement balance in full by the due date and new purchases cost $0 in interest.</a:t>
            </a:r>
            <a:endParaRPr lang="en-US" sz="1500" dirty="0"/>
          </a:p>
        </p:txBody>
      </p:sp>
      <p:sp>
        <p:nvSpPr>
          <p:cNvPr id="10" name="Shape 8"/>
          <p:cNvSpPr/>
          <p:nvPr/>
        </p:nvSpPr>
        <p:spPr>
          <a:xfrm>
            <a:off x="609600" y="3084195"/>
            <a:ext cx="85725" cy="85725"/>
          </a:xfrm>
          <a:prstGeom prst="roundRect">
            <a:avLst>
              <a:gd name="adj" fmla="val 33333"/>
            </a:avLst>
          </a:prstGeom>
          <a:solidFill>
            <a:srgbClr val="4F46E5"/>
          </a:solidFill>
          <a:ln/>
        </p:spPr>
      </p:sp>
      <p:sp>
        <p:nvSpPr>
          <p:cNvPr id="11" name="Text 9"/>
          <p:cNvSpPr/>
          <p:nvPr/>
        </p:nvSpPr>
        <p:spPr>
          <a:xfrm>
            <a:off x="809625" y="2989897"/>
            <a:ext cx="8756047" cy="303848"/>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Carry any balance and you lose the grace period — interest then hits old and new purchases alike.</a:t>
            </a:r>
            <a:endParaRPr lang="en-US" sz="1350" dirty="0"/>
          </a:p>
        </p:txBody>
      </p:sp>
      <p:sp>
        <p:nvSpPr>
          <p:cNvPr id="12" name="Shape 10"/>
          <p:cNvSpPr/>
          <p:nvPr/>
        </p:nvSpPr>
        <p:spPr>
          <a:xfrm>
            <a:off x="609600" y="3502343"/>
            <a:ext cx="85725" cy="85725"/>
          </a:xfrm>
          <a:prstGeom prst="roundRect">
            <a:avLst>
              <a:gd name="adj" fmla="val 33333"/>
            </a:avLst>
          </a:prstGeom>
          <a:solidFill>
            <a:srgbClr val="4F46E5"/>
          </a:solidFill>
          <a:ln/>
        </p:spPr>
      </p:sp>
      <p:sp>
        <p:nvSpPr>
          <p:cNvPr id="13" name="Text 11"/>
          <p:cNvSpPr/>
          <p:nvPr/>
        </p:nvSpPr>
        <p:spPr>
          <a:xfrm>
            <a:off x="809625" y="3437572"/>
            <a:ext cx="6225556" cy="244793"/>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Almost all card APRs are variable: Prime + a margin set by your credit.</a:t>
            </a:r>
            <a:endParaRPr lang="en-US" sz="1350" dirty="0"/>
          </a:p>
        </p:txBody>
      </p:sp>
      <p:sp>
        <p:nvSpPr>
          <p:cNvPr id="14" name="Text 12"/>
          <p:cNvSpPr/>
          <p:nvPr/>
        </p:nvSpPr>
        <p:spPr>
          <a:xfrm>
            <a:off x="708025" y="3749993"/>
            <a:ext cx="5837396"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Prime = 6.75% today; a 'Prime + 17.25%' card = 24.00% APR</a:t>
            </a:r>
            <a:endParaRPr lang="en-US" sz="1125" dirty="0"/>
          </a:p>
        </p:txBody>
      </p:sp>
      <p:sp>
        <p:nvSpPr>
          <p:cNvPr id="15" name="Shape 13"/>
          <p:cNvSpPr/>
          <p:nvPr/>
        </p:nvSpPr>
        <p:spPr>
          <a:xfrm>
            <a:off x="609600" y="4218146"/>
            <a:ext cx="85725" cy="85725"/>
          </a:xfrm>
          <a:prstGeom prst="roundRect">
            <a:avLst>
              <a:gd name="adj" fmla="val 33333"/>
            </a:avLst>
          </a:prstGeom>
          <a:solidFill>
            <a:srgbClr val="4F46E5"/>
          </a:solidFill>
          <a:ln/>
        </p:spPr>
      </p:sp>
      <p:sp>
        <p:nvSpPr>
          <p:cNvPr id="16" name="Text 14"/>
          <p:cNvSpPr/>
          <p:nvPr/>
        </p:nvSpPr>
        <p:spPr>
          <a:xfrm>
            <a:off x="809625" y="4123849"/>
            <a:ext cx="10698400" cy="303848"/>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One card holds several APRs — purchase, balance transfer, cash advance, penalty. Cash advances get no grace period.</a:t>
            </a:r>
            <a:endParaRPr lang="en-US" sz="1350" dirty="0"/>
          </a:p>
        </p:txBody>
      </p:sp>
      <p:sp>
        <p:nvSpPr>
          <p:cNvPr id="17" name="Text 15"/>
          <p:cNvSpPr/>
          <p:nvPr/>
        </p:nvSpPr>
        <p:spPr>
          <a:xfrm>
            <a:off x="10684511" y="6056471"/>
            <a:ext cx="97409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1 · Credit</a:t>
            </a:r>
            <a:endParaRPr lang="en-US" sz="9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1738567"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M2 · THE REAL COST</a:t>
            </a:r>
            <a:endParaRPr lang="en-US" sz="975" dirty="0"/>
          </a:p>
        </p:txBody>
      </p:sp>
      <p:sp>
        <p:nvSpPr>
          <p:cNvPr id="8" name="Text 6"/>
          <p:cNvSpPr/>
          <p:nvPr/>
        </p:nvSpPr>
        <p:spPr>
          <a:xfrm>
            <a:off x="609600" y="989647"/>
            <a:ext cx="6215951" cy="514350"/>
          </a:xfrm>
          <a:prstGeom prst="rect">
            <a:avLst/>
          </a:prstGeom>
          <a:noFill/>
          <a:ln/>
        </p:spPr>
        <p:txBody>
          <a:bodyPr wrap="square" lIns="25400" tIns="25400" rIns="25400" bIns="25400" rtlCol="0" anchor="t">
            <a:normAutofit/>
          </a:bodyPr>
          <a:lstStyle/>
          <a:p>
            <a:pPr algn="l" indent="0" marL="0">
              <a:lnSpc>
                <a:spcPct val="125000"/>
              </a:lnSpc>
              <a:buNone/>
            </a:pPr>
            <a:r>
              <a:rPr lang="en-US" sz="3000" b="1" spc="-60" kern="0" dirty="0">
                <a:solidFill>
                  <a:srgbClr val="0B1220"/>
                </a:solidFill>
                <a:latin typeface="Arial" pitchFamily="34" charset="0"/>
                <a:ea typeface="Arial" pitchFamily="34" charset="-122"/>
                <a:cs typeface="Arial" pitchFamily="34" charset="-120"/>
              </a:rPr>
              <a:t>The minimum-payment trap</a:t>
            </a:r>
            <a:endParaRPr lang="en-US" sz="3000" dirty="0"/>
          </a:p>
        </p:txBody>
      </p:sp>
      <p:sp>
        <p:nvSpPr>
          <p:cNvPr id="9" name="Text 7"/>
          <p:cNvSpPr/>
          <p:nvPr/>
        </p:nvSpPr>
        <p:spPr>
          <a:xfrm>
            <a:off x="609600" y="1618297"/>
            <a:ext cx="6931622"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5B6472"/>
                </a:solidFill>
                <a:latin typeface="Arial" pitchFamily="34" charset="0"/>
                <a:ea typeface="Arial" pitchFamily="34" charset="-122"/>
                <a:cs typeface="Arial" pitchFamily="34" charset="-120"/>
              </a:rPr>
              <a:t>A $1,500 student-card balance at 24% APR, paying only the minimum (≈ 1% of balance + interest).</a:t>
            </a:r>
            <a:endParaRPr lang="en-US" sz="1500" dirty="0"/>
          </a:p>
        </p:txBody>
      </p:sp>
      <p:sp>
        <p:nvSpPr>
          <p:cNvPr id="10" name="Shape 8"/>
          <p:cNvSpPr/>
          <p:nvPr/>
        </p:nvSpPr>
        <p:spPr>
          <a:xfrm>
            <a:off x="609600" y="2607945"/>
            <a:ext cx="85725" cy="85725"/>
          </a:xfrm>
          <a:prstGeom prst="roundRect">
            <a:avLst>
              <a:gd name="adj" fmla="val 33333"/>
            </a:avLst>
          </a:prstGeom>
          <a:solidFill>
            <a:srgbClr val="4F46E5"/>
          </a:solidFill>
          <a:ln/>
        </p:spPr>
      </p:sp>
      <p:sp>
        <p:nvSpPr>
          <p:cNvPr id="11" name="Text 9"/>
          <p:cNvSpPr/>
          <p:nvPr/>
        </p:nvSpPr>
        <p:spPr>
          <a:xfrm>
            <a:off x="809625" y="2513647"/>
            <a:ext cx="6986571" cy="303848"/>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First payment ≈ $45 — about $30 is pure interest, only ~$15 touches principal.</a:t>
            </a:r>
            <a:endParaRPr lang="en-US" sz="1350" dirty="0"/>
          </a:p>
        </p:txBody>
      </p:sp>
      <p:sp>
        <p:nvSpPr>
          <p:cNvPr id="12" name="Shape 10"/>
          <p:cNvSpPr/>
          <p:nvPr/>
        </p:nvSpPr>
        <p:spPr>
          <a:xfrm>
            <a:off x="609600" y="3026093"/>
            <a:ext cx="85725" cy="85725"/>
          </a:xfrm>
          <a:prstGeom prst="roundRect">
            <a:avLst>
              <a:gd name="adj" fmla="val 33333"/>
            </a:avLst>
          </a:prstGeom>
          <a:solidFill>
            <a:srgbClr val="4F46E5"/>
          </a:solidFill>
          <a:ln/>
        </p:spPr>
      </p:sp>
      <p:sp>
        <p:nvSpPr>
          <p:cNvPr id="13" name="Text 11"/>
          <p:cNvSpPr/>
          <p:nvPr/>
        </p:nvSpPr>
        <p:spPr>
          <a:xfrm>
            <a:off x="809625" y="2961322"/>
            <a:ext cx="8090376" cy="244793"/>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Result: ~6.7 years to clear it and ~$1,400 in interest — nearly doubling what you borrowed.</a:t>
            </a:r>
            <a:endParaRPr lang="en-US" sz="1350" dirty="0"/>
          </a:p>
        </p:txBody>
      </p:sp>
      <p:sp>
        <p:nvSpPr>
          <p:cNvPr id="14" name="Text 12"/>
          <p:cNvSpPr/>
          <p:nvPr/>
        </p:nvSpPr>
        <p:spPr>
          <a:xfrm>
            <a:off x="708025" y="3273743"/>
            <a:ext cx="7532688"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Total repaid ≈ $2,940</a:t>
            </a:r>
            <a:endParaRPr lang="en-US" sz="1125" dirty="0"/>
          </a:p>
        </p:txBody>
      </p:sp>
      <p:sp>
        <p:nvSpPr>
          <p:cNvPr id="15" name="Shape 13"/>
          <p:cNvSpPr/>
          <p:nvPr/>
        </p:nvSpPr>
        <p:spPr>
          <a:xfrm>
            <a:off x="609600" y="3741896"/>
            <a:ext cx="85725" cy="85725"/>
          </a:xfrm>
          <a:prstGeom prst="roundRect">
            <a:avLst>
              <a:gd name="adj" fmla="val 33333"/>
            </a:avLst>
          </a:prstGeom>
          <a:solidFill>
            <a:srgbClr val="4F46E5"/>
          </a:solidFill>
          <a:ln/>
        </p:spPr>
      </p:sp>
      <p:sp>
        <p:nvSpPr>
          <p:cNvPr id="16" name="Text 14"/>
          <p:cNvSpPr/>
          <p:nvPr/>
        </p:nvSpPr>
        <p:spPr>
          <a:xfrm>
            <a:off x="809625" y="3647599"/>
            <a:ext cx="6699314" cy="303848"/>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Pay a fixed $100/month instead → gone in ~18 months with ~$300 interest.</a:t>
            </a:r>
            <a:endParaRPr lang="en-US" sz="1350" dirty="0"/>
          </a:p>
        </p:txBody>
      </p:sp>
      <p:sp>
        <p:nvSpPr>
          <p:cNvPr id="17" name="Text 15"/>
          <p:cNvSpPr/>
          <p:nvPr/>
        </p:nvSpPr>
        <p:spPr>
          <a:xfrm>
            <a:off x="10684511" y="6056471"/>
            <a:ext cx="97409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1 · Credit</a:t>
            </a:r>
            <a:endParaRPr lang="en-US" sz="9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2014823"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M2 · PROMO FINE PRINT</a:t>
            </a:r>
            <a:endParaRPr lang="en-US" sz="975" dirty="0"/>
          </a:p>
        </p:txBody>
      </p:sp>
      <p:sp>
        <p:nvSpPr>
          <p:cNvPr id="8" name="Text 6"/>
          <p:cNvSpPr/>
          <p:nvPr/>
        </p:nvSpPr>
        <p:spPr>
          <a:xfrm>
            <a:off x="609600" y="989647"/>
            <a:ext cx="12070080" cy="628650"/>
          </a:xfrm>
          <a:prstGeom prst="rect">
            <a:avLst/>
          </a:prstGeom>
          <a:noFill/>
          <a:ln/>
        </p:spPr>
        <p:txBody>
          <a:bodyPr wrap="square" lIns="25400" tIns="25400" rIns="25400" bIns="25400" rtlCol="0" anchor="t">
            <a:normAutofit/>
          </a:bodyPr>
          <a:lstStyle/>
          <a:p>
            <a:pPr algn="l" indent="0" marL="0">
              <a:lnSpc>
                <a:spcPct val="155000"/>
              </a:lnSpc>
              <a:buNone/>
            </a:pPr>
            <a:r>
              <a:rPr lang="en-US" sz="3000" b="1" spc="-60" kern="0" dirty="0">
                <a:solidFill>
                  <a:srgbClr val="0B1220"/>
                </a:solidFill>
                <a:latin typeface="Arial" pitchFamily="34" charset="0"/>
                <a:ea typeface="Arial" pitchFamily="34" charset="-122"/>
                <a:cs typeface="Arial" pitchFamily="34" charset="-120"/>
              </a:rPr>
              <a:t>0% intro APR vs. deferred interest</a:t>
            </a:r>
            <a:endParaRPr lang="en-US" sz="3000" dirty="0"/>
          </a:p>
        </p:txBody>
      </p:sp>
      <p:sp>
        <p:nvSpPr>
          <p:cNvPr id="9" name="Shape 7"/>
          <p:cNvSpPr/>
          <p:nvPr/>
        </p:nvSpPr>
        <p:spPr>
          <a:xfrm>
            <a:off x="609600" y="1808797"/>
            <a:ext cx="5372100" cy="3645218"/>
          </a:xfrm>
          <a:prstGeom prst="roundRect">
            <a:avLst>
              <a:gd name="adj" fmla="val 3136"/>
            </a:avLst>
          </a:prstGeom>
          <a:solidFill>
            <a:srgbClr val="FFFFFF"/>
          </a:solidFill>
          <a:ln w="6667">
            <a:solidFill>
              <a:srgbClr val="E5E8F0"/>
            </a:solidFill>
            <a:prstDash val="solid"/>
          </a:ln>
        </p:spPr>
      </p:sp>
      <p:sp>
        <p:nvSpPr>
          <p:cNvPr id="10" name="Text 8"/>
          <p:cNvSpPr/>
          <p:nvPr/>
        </p:nvSpPr>
        <p:spPr>
          <a:xfrm>
            <a:off x="844867" y="2044065"/>
            <a:ext cx="1874250"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dirty="0">
                <a:solidFill>
                  <a:srgbClr val="0A7F5B"/>
                </a:solidFill>
                <a:latin typeface="Arial" pitchFamily="34" charset="0"/>
                <a:ea typeface="Arial" pitchFamily="34" charset="-122"/>
                <a:cs typeface="Arial" pitchFamily="34" charset="-120"/>
              </a:rPr>
              <a:t>True 0% intro APR</a:t>
            </a:r>
            <a:endParaRPr lang="en-US" sz="1500" dirty="0"/>
          </a:p>
        </p:txBody>
      </p:sp>
      <p:sp>
        <p:nvSpPr>
          <p:cNvPr id="11" name="Text 9"/>
          <p:cNvSpPr/>
          <p:nvPr/>
        </p:nvSpPr>
        <p:spPr>
          <a:xfrm>
            <a:off x="844867" y="2415540"/>
            <a:ext cx="5391721"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what it sounds like</a:t>
            </a:r>
            <a:endParaRPr lang="en-US" sz="1125" dirty="0"/>
          </a:p>
        </p:txBody>
      </p:sp>
      <p:sp>
        <p:nvSpPr>
          <p:cNvPr id="12" name="Text 10"/>
          <p:cNvSpPr/>
          <p:nvPr/>
        </p:nvSpPr>
        <p:spPr>
          <a:xfrm>
            <a:off x="743267" y="2789396"/>
            <a:ext cx="5079365" cy="802481"/>
          </a:xfrm>
          <a:prstGeom prst="rect">
            <a:avLst/>
          </a:prstGeom>
          <a:noFill/>
          <a:ln/>
        </p:spPr>
        <p:txBody>
          <a:bodyPr wrap="square" lIns="25400" tIns="25400" rIns="25400" bIns="25400" rtlCol="0" anchor="t">
            <a:normAutofit/>
          </a:bodyPr>
          <a:lstStyle/>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Interest is genuinely $0 during the promo</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When it ends, the normal APR hits only what's left</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Never charged retroactively</a:t>
            </a:r>
            <a:endParaRPr lang="en-US" sz="1125" dirty="0"/>
          </a:p>
        </p:txBody>
      </p:sp>
      <p:sp>
        <p:nvSpPr>
          <p:cNvPr id="13" name="Shape 11"/>
          <p:cNvSpPr/>
          <p:nvPr/>
        </p:nvSpPr>
        <p:spPr>
          <a:xfrm>
            <a:off x="6210300" y="1808797"/>
            <a:ext cx="5372100" cy="3645218"/>
          </a:xfrm>
          <a:prstGeom prst="roundRect">
            <a:avLst>
              <a:gd name="adj" fmla="val 3136"/>
            </a:avLst>
          </a:prstGeom>
          <a:solidFill>
            <a:srgbClr val="FFFFFF"/>
          </a:solidFill>
          <a:ln w="6667">
            <a:solidFill>
              <a:srgbClr val="E5E8F0"/>
            </a:solidFill>
            <a:prstDash val="solid"/>
          </a:ln>
        </p:spPr>
      </p:sp>
      <p:sp>
        <p:nvSpPr>
          <p:cNvPr id="14" name="Text 12"/>
          <p:cNvSpPr/>
          <p:nvPr/>
        </p:nvSpPr>
        <p:spPr>
          <a:xfrm>
            <a:off x="6445568" y="2044065"/>
            <a:ext cx="1739614"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dirty="0">
                <a:solidFill>
                  <a:srgbClr val="B3261E"/>
                </a:solidFill>
                <a:latin typeface="Arial" pitchFamily="34" charset="0"/>
                <a:ea typeface="Arial" pitchFamily="34" charset="-122"/>
                <a:cs typeface="Arial" pitchFamily="34" charset="-120"/>
              </a:rPr>
              <a:t>Deferred interest</a:t>
            </a:r>
            <a:endParaRPr lang="en-US" sz="1500" dirty="0"/>
          </a:p>
        </p:txBody>
      </p:sp>
      <p:sp>
        <p:nvSpPr>
          <p:cNvPr id="15" name="Text 13"/>
          <p:cNvSpPr/>
          <p:nvPr/>
        </p:nvSpPr>
        <p:spPr>
          <a:xfrm>
            <a:off x="6445568" y="2415540"/>
            <a:ext cx="5391721"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'no interest if paid in full' — store cards</a:t>
            </a:r>
            <a:endParaRPr lang="en-US" sz="1125" dirty="0"/>
          </a:p>
        </p:txBody>
      </p:sp>
      <p:sp>
        <p:nvSpPr>
          <p:cNvPr id="16" name="Text 14"/>
          <p:cNvSpPr/>
          <p:nvPr/>
        </p:nvSpPr>
        <p:spPr>
          <a:xfrm>
            <a:off x="6343968" y="2789396"/>
            <a:ext cx="5079365" cy="802481"/>
          </a:xfrm>
          <a:prstGeom prst="rect">
            <a:avLst/>
          </a:prstGeom>
          <a:noFill/>
          <a:ln/>
        </p:spPr>
        <p:txBody>
          <a:bodyPr wrap="square" lIns="25400" tIns="25400" rIns="25400" bIns="25400" rtlCol="0" anchor="t">
            <a:normAutofit/>
          </a:bodyPr>
          <a:lstStyle/>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Interest accrues from day one</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Waived only if you clear the full balance in time</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Miss it → all the back interest, to the purchase date</a:t>
            </a:r>
            <a:endParaRPr lang="en-US" sz="1125" dirty="0"/>
          </a:p>
        </p:txBody>
      </p:sp>
      <p:sp>
        <p:nvSpPr>
          <p:cNvPr id="17" name="Text 15"/>
          <p:cNvSpPr/>
          <p:nvPr/>
        </p:nvSpPr>
        <p:spPr>
          <a:xfrm>
            <a:off x="609600" y="5682615"/>
            <a:ext cx="12070080"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Balance transfers usually cost a 3–5% fee up front — and only the transferred balance gets the 0%.</a:t>
            </a:r>
            <a:endParaRPr lang="en-US" sz="1125" dirty="0"/>
          </a:p>
        </p:txBody>
      </p:sp>
      <p:sp>
        <p:nvSpPr>
          <p:cNvPr id="18" name="Text 16"/>
          <p:cNvSpPr/>
          <p:nvPr/>
        </p:nvSpPr>
        <p:spPr>
          <a:xfrm>
            <a:off x="10684511" y="6056471"/>
            <a:ext cx="97409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1 · Credit</a:t>
            </a:r>
            <a:endParaRPr lang="en-US" sz="9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1220"/>
          </a:solidFill>
          <a:ln/>
        </p:spPr>
      </p:sp>
      <p:sp>
        <p:nvSpPr>
          <p:cNvPr id="3" name="Text 1"/>
          <p:cNvSpPr/>
          <p:nvPr/>
        </p:nvSpPr>
        <p:spPr>
          <a:xfrm>
            <a:off x="609600" y="1907381"/>
            <a:ext cx="12070080" cy="451485"/>
          </a:xfrm>
          <a:prstGeom prst="rect">
            <a:avLst/>
          </a:prstGeom>
          <a:noFill/>
          <a:ln/>
        </p:spPr>
        <p:txBody>
          <a:bodyPr wrap="square" lIns="25400" tIns="25400" rIns="25400" bIns="25400" rtlCol="0" anchor="t">
            <a:normAutofit/>
          </a:bodyPr>
          <a:lstStyle/>
          <a:p>
            <a:pPr algn="l" indent="0" marL="0">
              <a:lnSpc>
                <a:spcPct val="155000"/>
              </a:lnSpc>
              <a:buNone/>
            </a:pPr>
            <a:r>
              <a:rPr lang="en-US" sz="2100" b="1" spc="42" kern="0" dirty="0">
                <a:solidFill>
                  <a:srgbClr val="C7D2FE"/>
                </a:solidFill>
                <a:latin typeface="Arial" pitchFamily="34" charset="0"/>
                <a:ea typeface="Arial" pitchFamily="34" charset="-122"/>
                <a:cs typeface="Arial" pitchFamily="34" charset="-120"/>
              </a:rPr>
              <a:t>M3</a:t>
            </a:r>
            <a:endParaRPr lang="en-US" sz="2100" dirty="0"/>
          </a:p>
        </p:txBody>
      </p:sp>
      <p:sp>
        <p:nvSpPr>
          <p:cNvPr id="4" name="Text 2"/>
          <p:cNvSpPr/>
          <p:nvPr/>
        </p:nvSpPr>
        <p:spPr>
          <a:xfrm>
            <a:off x="609600" y="2435066"/>
            <a:ext cx="6842998" cy="1158240"/>
          </a:xfrm>
          <a:prstGeom prst="rect">
            <a:avLst/>
          </a:prstGeom>
          <a:noFill/>
          <a:ln/>
        </p:spPr>
        <p:txBody>
          <a:bodyPr wrap="square" lIns="25400" tIns="25400" rIns="25400" bIns="25400" rtlCol="0" anchor="t">
            <a:normAutofit/>
          </a:bodyPr>
          <a:lstStyle/>
          <a:p>
            <a:pPr algn="l" indent="0" marL="0">
              <a:lnSpc>
                <a:spcPct val="105000"/>
              </a:lnSpc>
              <a:buNone/>
            </a:pPr>
            <a:r>
              <a:rPr lang="en-US" sz="4200" b="1" spc="-84" kern="0" dirty="0">
                <a:solidFill>
                  <a:srgbClr val="FFFFFF"/>
                </a:solidFill>
                <a:latin typeface="Arial" pitchFamily="34" charset="0"/>
                <a:ea typeface="Arial" pitchFamily="34" charset="-122"/>
                <a:cs typeface="Arial" pitchFamily="34" charset="-120"/>
              </a:rPr>
              <a:t>Credit scores &amp; what moves them</a:t>
            </a:r>
            <a:endParaRPr lang="en-US" sz="4200" dirty="0"/>
          </a:p>
        </p:txBody>
      </p:sp>
      <p:sp>
        <p:nvSpPr>
          <p:cNvPr id="5" name="Text 3"/>
          <p:cNvSpPr/>
          <p:nvPr/>
        </p:nvSpPr>
        <p:spPr>
          <a:xfrm>
            <a:off x="609600" y="3783806"/>
            <a:ext cx="6436506"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FFFFFF">
                    <a:alpha val="70000"/>
                  </a:srgbClr>
                </a:solidFill>
                <a:latin typeface="Arial" pitchFamily="34" charset="0"/>
                <a:ea typeface="Arial" pitchFamily="34" charset="-122"/>
                <a:cs typeface="Arial" pitchFamily="34" charset="-120"/>
              </a:rPr>
              <a:t>FICO, VantageScore, and the five things that actually move the number.</a:t>
            </a:r>
            <a:endParaRPr lang="en-US" sz="1500" dirty="0"/>
          </a:p>
        </p:txBody>
      </p:sp>
      <p:sp>
        <p:nvSpPr>
          <p:cNvPr id="6" name="Shape 4"/>
          <p:cNvSpPr/>
          <p:nvPr/>
        </p:nvSpPr>
        <p:spPr>
          <a:xfrm>
            <a:off x="609600" y="4693444"/>
            <a:ext cx="609282" cy="257175"/>
          </a:xfrm>
          <a:prstGeom prst="roundRect">
            <a:avLst>
              <a:gd name="adj" fmla="val 50000"/>
            </a:avLst>
          </a:prstGeom>
          <a:solidFill>
            <a:srgbClr val="EEF2FF"/>
          </a:solidFill>
          <a:ln/>
        </p:spPr>
      </p:sp>
      <p:sp>
        <p:nvSpPr>
          <p:cNvPr id="7" name="Text 5"/>
          <p:cNvSpPr/>
          <p:nvPr/>
        </p:nvSpPr>
        <p:spPr>
          <a:xfrm>
            <a:off x="723900" y="4750594"/>
            <a:ext cx="456882" cy="180975"/>
          </a:xfrm>
          <a:prstGeom prst="rect">
            <a:avLst/>
          </a:prstGeom>
          <a:noFill/>
          <a:ln/>
        </p:spPr>
        <p:txBody>
          <a:bodyPr wrap="none" lIns="25400" tIns="25400" rIns="25400" bIns="25400" rtlCol="0" anchor="ctr">
            <a:normAutofit/>
          </a:bodyPr>
          <a:lstStyle/>
          <a:p>
            <a:pPr algn="l" indent="0" marL="0">
              <a:lnSpc>
                <a:spcPct val="100000"/>
              </a:lnSpc>
              <a:buNone/>
            </a:pPr>
            <a:r>
              <a:rPr lang="en-US" sz="1125" b="1" dirty="0">
                <a:solidFill>
                  <a:srgbClr val="3730A3"/>
                </a:solidFill>
                <a:latin typeface="Arial" pitchFamily="34" charset="0"/>
                <a:ea typeface="Arial" pitchFamily="34" charset="-122"/>
                <a:cs typeface="Arial" pitchFamily="34" charset="-120"/>
              </a:rPr>
              <a:t>8 min</a:t>
            </a:r>
            <a:endParaRPr lang="en-US" sz="11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09600"/>
            <a:ext cx="1207008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M3 · CREDIT SCORES</a:t>
            </a:r>
            <a:endParaRPr lang="en-US" sz="975" dirty="0"/>
          </a:p>
        </p:txBody>
      </p:sp>
      <p:sp>
        <p:nvSpPr>
          <p:cNvPr id="8" name="Text 6"/>
          <p:cNvSpPr/>
          <p:nvPr/>
        </p:nvSpPr>
        <p:spPr>
          <a:xfrm>
            <a:off x="609600" y="858679"/>
            <a:ext cx="12070080" cy="398145"/>
          </a:xfrm>
          <a:prstGeom prst="rect">
            <a:avLst/>
          </a:prstGeom>
          <a:noFill/>
          <a:ln/>
        </p:spPr>
        <p:txBody>
          <a:bodyPr wrap="square" lIns="25400" tIns="25400" rIns="25400" bIns="25400" rtlCol="0" anchor="t">
            <a:normAutofit/>
          </a:bodyPr>
          <a:lstStyle/>
          <a:p>
            <a:pPr algn="l" indent="0" marL="0">
              <a:lnSpc>
                <a:spcPct val="105000"/>
              </a:lnSpc>
              <a:buNone/>
            </a:pPr>
            <a:r>
              <a:rPr lang="en-US" sz="2700" b="1" spc="-54" kern="0" dirty="0">
                <a:solidFill>
                  <a:srgbClr val="0B1220"/>
                </a:solidFill>
                <a:latin typeface="Arial" pitchFamily="34" charset="0"/>
                <a:ea typeface="Arial" pitchFamily="34" charset="-122"/>
                <a:cs typeface="Arial" pitchFamily="34" charset="-120"/>
              </a:rPr>
              <a:t>Where Americans actually fall</a:t>
            </a:r>
            <a:endParaRPr lang="en-US" sz="2700" dirty="0"/>
          </a:p>
        </p:txBody>
      </p:sp>
      <p:sp>
        <p:nvSpPr>
          <p:cNvPr id="9" name="Text 7"/>
          <p:cNvSpPr/>
          <p:nvPr/>
        </p:nvSpPr>
        <p:spPr>
          <a:xfrm>
            <a:off x="609600" y="1275874"/>
            <a:ext cx="12070080"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dirty="0">
                <a:solidFill>
                  <a:srgbClr val="5B6472"/>
                </a:solidFill>
                <a:latin typeface="Arial" pitchFamily="34" charset="0"/>
                <a:ea typeface="Arial" pitchFamily="34" charset="-122"/>
                <a:cs typeface="Arial" pitchFamily="34" charset="-120"/>
              </a:rPr>
              <a:t>Bar </a:t>
            </a:r>
            <a:pPr algn="l" indent="0" marL="0">
              <a:lnSpc>
                <a:spcPct val="155000"/>
              </a:lnSpc>
              <a:buNone/>
            </a:pPr>
            <a:r>
              <a:rPr lang="en-US" sz="1275" b="1" dirty="0">
                <a:solidFill>
                  <a:srgbClr val="0B1220"/>
                </a:solidFill>
                <a:latin typeface="Arial" pitchFamily="34" charset="0"/>
                <a:ea typeface="Arial" pitchFamily="34" charset="-122"/>
                <a:cs typeface="Arial" pitchFamily="34" charset="-120"/>
              </a:rPr>
              <a:t>height </a:t>
            </a:r>
            <a:pPr algn="l" indent="0" marL="0">
              <a:lnSpc>
                <a:spcPct val="155000"/>
              </a:lnSpc>
              <a:buNone/>
            </a:pPr>
            <a:r>
              <a:rPr lang="en-US" sz="1275" dirty="0">
                <a:solidFill>
                  <a:srgbClr val="5B6472"/>
                </a:solidFill>
                <a:latin typeface="Arial" pitchFamily="34" charset="0"/>
                <a:ea typeface="Arial" pitchFamily="34" charset="-122"/>
                <a:cs typeface="Arial" pitchFamily="34" charset="-120"/>
              </a:rPr>
              <a:t>= share of Americans in the range; bar </a:t>
            </a:r>
            <a:pPr algn="l" indent="0" marL="0">
              <a:lnSpc>
                <a:spcPct val="155000"/>
              </a:lnSpc>
              <a:buNone/>
            </a:pPr>
            <a:r>
              <a:rPr lang="en-US" sz="1275" b="1" dirty="0">
                <a:solidFill>
                  <a:srgbClr val="0B1220"/>
                </a:solidFill>
                <a:latin typeface="Arial" pitchFamily="34" charset="0"/>
                <a:ea typeface="Arial" pitchFamily="34" charset="-122"/>
                <a:cs typeface="Arial" pitchFamily="34" charset="-120"/>
              </a:rPr>
              <a:t>width </a:t>
            </a:r>
            <a:pPr algn="l" indent="0" marL="0">
              <a:lnSpc>
                <a:spcPct val="155000"/>
              </a:lnSpc>
              <a:buNone/>
            </a:pPr>
            <a:r>
              <a:rPr lang="en-US" sz="1275" dirty="0">
                <a:solidFill>
                  <a:srgbClr val="5B6472"/>
                </a:solidFill>
                <a:latin typeface="Arial" pitchFamily="34" charset="0"/>
                <a:ea typeface="Arial" pitchFamily="34" charset="-122"/>
                <a:cs typeface="Arial" pitchFamily="34" charset="-120"/>
              </a:rPr>
              <a:t>= how wide that score band is. A slice has no score at all.</a:t>
            </a:r>
            <a:endParaRPr lang="en-US" sz="1275" dirty="0"/>
          </a:p>
        </p:txBody>
      </p:sp>
      <p:sp>
        <p:nvSpPr>
          <p:cNvPr id="10" name="Text 8"/>
          <p:cNvSpPr/>
          <p:nvPr/>
        </p:nvSpPr>
        <p:spPr>
          <a:xfrm>
            <a:off x="609600" y="1603058"/>
            <a:ext cx="12070080"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b="1" dirty="0">
                <a:solidFill>
                  <a:srgbClr val="0B1220"/>
                </a:solidFill>
                <a:latin typeface="Arial" pitchFamily="34" charset="0"/>
                <a:ea typeface="Arial" pitchFamily="34" charset="-122"/>
                <a:cs typeface="Arial" pitchFamily="34" charset="-120"/>
              </a:rPr>
              <a:t>FICO</a:t>
            </a:r>
            <a:endParaRPr lang="en-US" sz="1275" dirty="0"/>
          </a:p>
        </p:txBody>
      </p:sp>
      <p:sp>
        <p:nvSpPr>
          <p:cNvPr id="11" name="Text 9"/>
          <p:cNvSpPr/>
          <p:nvPr/>
        </p:nvSpPr>
        <p:spPr>
          <a:xfrm>
            <a:off x="588169" y="1968341"/>
            <a:ext cx="326231" cy="208121"/>
          </a:xfrm>
          <a:prstGeom prst="rect">
            <a:avLst/>
          </a:prstGeom>
          <a:noFill/>
          <a:ln/>
        </p:spPr>
        <p:txBody>
          <a:bodyPr wrap="square" lIns="25400" tIns="25400" rIns="25400" bIns="25400" rtlCol="0" anchor="t">
            <a:normAutofit/>
          </a:bodyPr>
          <a:lstStyle/>
          <a:p>
            <a:pPr algn="l" indent="0" marL="0">
              <a:lnSpc>
                <a:spcPct val="154948"/>
              </a:lnSpc>
              <a:buNone/>
            </a:pPr>
            <a:r>
              <a:rPr lang="en-US" sz="864" dirty="0">
                <a:solidFill>
                  <a:srgbClr val="94A3B8"/>
                </a:solidFill>
                <a:latin typeface="Arial" pitchFamily="34" charset="0"/>
                <a:ea typeface="Arial" pitchFamily="34" charset="-122"/>
                <a:cs typeface="Arial" pitchFamily="34" charset="-120"/>
              </a:rPr>
              <a:t>40%</a:t>
            </a:r>
            <a:endParaRPr lang="en-US" sz="864" dirty="0"/>
          </a:p>
        </p:txBody>
      </p:sp>
      <p:sp>
        <p:nvSpPr>
          <p:cNvPr id="12" name="Text 10"/>
          <p:cNvSpPr/>
          <p:nvPr/>
        </p:nvSpPr>
        <p:spPr>
          <a:xfrm>
            <a:off x="588169" y="2577941"/>
            <a:ext cx="326231" cy="208121"/>
          </a:xfrm>
          <a:prstGeom prst="rect">
            <a:avLst/>
          </a:prstGeom>
          <a:noFill/>
          <a:ln/>
        </p:spPr>
        <p:txBody>
          <a:bodyPr wrap="square" lIns="25400" tIns="25400" rIns="25400" bIns="25400" rtlCol="0" anchor="t">
            <a:normAutofit/>
          </a:bodyPr>
          <a:lstStyle/>
          <a:p>
            <a:pPr algn="l" indent="0" marL="0">
              <a:lnSpc>
                <a:spcPct val="154948"/>
              </a:lnSpc>
              <a:buNone/>
            </a:pPr>
            <a:r>
              <a:rPr lang="en-US" sz="864" dirty="0">
                <a:solidFill>
                  <a:srgbClr val="94A3B8"/>
                </a:solidFill>
                <a:latin typeface="Arial" pitchFamily="34" charset="0"/>
                <a:ea typeface="Arial" pitchFamily="34" charset="-122"/>
                <a:cs typeface="Arial" pitchFamily="34" charset="-120"/>
              </a:rPr>
              <a:t>20%</a:t>
            </a:r>
            <a:endParaRPr lang="en-US" sz="864" dirty="0"/>
          </a:p>
        </p:txBody>
      </p:sp>
      <p:sp>
        <p:nvSpPr>
          <p:cNvPr id="13" name="Text 11"/>
          <p:cNvSpPr/>
          <p:nvPr/>
        </p:nvSpPr>
        <p:spPr>
          <a:xfrm>
            <a:off x="659289" y="3141345"/>
            <a:ext cx="255111" cy="208121"/>
          </a:xfrm>
          <a:prstGeom prst="rect">
            <a:avLst/>
          </a:prstGeom>
          <a:noFill/>
          <a:ln/>
        </p:spPr>
        <p:txBody>
          <a:bodyPr wrap="square" lIns="25400" tIns="25400" rIns="25400" bIns="25400" rtlCol="0" anchor="t">
            <a:normAutofit/>
          </a:bodyPr>
          <a:lstStyle/>
          <a:p>
            <a:pPr algn="l" indent="0" marL="0">
              <a:lnSpc>
                <a:spcPct val="154948"/>
              </a:lnSpc>
              <a:buNone/>
            </a:pPr>
            <a:r>
              <a:rPr lang="en-US" sz="864" dirty="0">
                <a:solidFill>
                  <a:srgbClr val="94A3B8"/>
                </a:solidFill>
                <a:latin typeface="Arial" pitchFamily="34" charset="0"/>
                <a:ea typeface="Arial" pitchFamily="34" charset="-122"/>
                <a:cs typeface="Arial" pitchFamily="34" charset="-120"/>
              </a:rPr>
              <a:t>0%</a:t>
            </a:r>
            <a:endParaRPr lang="en-US" sz="864" dirty="0"/>
          </a:p>
        </p:txBody>
      </p:sp>
      <p:sp>
        <p:nvSpPr>
          <p:cNvPr id="14" name="Shape 12"/>
          <p:cNvSpPr/>
          <p:nvPr/>
        </p:nvSpPr>
        <p:spPr>
          <a:xfrm>
            <a:off x="952500" y="3231356"/>
            <a:ext cx="10629900" cy="13335"/>
          </a:xfrm>
          <a:prstGeom prst="rect">
            <a:avLst/>
          </a:prstGeom>
          <a:solidFill>
            <a:srgbClr val="E5E8F0"/>
          </a:solidFill>
          <a:ln/>
        </p:spPr>
      </p:sp>
      <p:sp>
        <p:nvSpPr>
          <p:cNvPr id="15" name="Shape 13"/>
          <p:cNvSpPr/>
          <p:nvPr/>
        </p:nvSpPr>
        <p:spPr>
          <a:xfrm>
            <a:off x="952500" y="1911191"/>
            <a:ext cx="13335" cy="1333500"/>
          </a:xfrm>
          <a:prstGeom prst="rect">
            <a:avLst/>
          </a:prstGeom>
          <a:solidFill>
            <a:srgbClr val="E5E8F0"/>
          </a:solidFill>
          <a:ln/>
        </p:spPr>
      </p:sp>
      <p:sp>
        <p:nvSpPr>
          <p:cNvPr id="16" name="Text 14"/>
          <p:cNvSpPr/>
          <p:nvPr/>
        </p:nvSpPr>
        <p:spPr>
          <a:xfrm>
            <a:off x="1408589" y="2420938"/>
            <a:ext cx="376872" cy="238919"/>
          </a:xfrm>
          <a:prstGeom prst="rect">
            <a:avLst/>
          </a:prstGeom>
          <a:noFill/>
          <a:ln/>
        </p:spPr>
        <p:txBody>
          <a:bodyPr wrap="square" lIns="25400" tIns="25400" rIns="25400" bIns="25400" rtlCol="0" anchor="t">
            <a:normAutofit/>
          </a:bodyPr>
          <a:lstStyle/>
          <a:p>
            <a:pPr algn="l" indent="0" marL="0">
              <a:lnSpc>
                <a:spcPct val="155024"/>
              </a:lnSpc>
              <a:buNone/>
            </a:pPr>
            <a:r>
              <a:rPr lang="en-US" sz="1020" b="1" dirty="0">
                <a:solidFill>
                  <a:srgbClr val="0B1220"/>
                </a:solidFill>
                <a:latin typeface="Arial" pitchFamily="34" charset="0"/>
                <a:ea typeface="Arial" pitchFamily="34" charset="-122"/>
                <a:cs typeface="Arial" pitchFamily="34" charset="-120"/>
              </a:rPr>
              <a:t>19%</a:t>
            </a:r>
            <a:endParaRPr lang="en-US" sz="1020" dirty="0"/>
          </a:p>
        </p:txBody>
      </p:sp>
      <p:sp>
        <p:nvSpPr>
          <p:cNvPr id="17" name="Shape 15"/>
          <p:cNvSpPr/>
          <p:nvPr/>
        </p:nvSpPr>
        <p:spPr>
          <a:xfrm>
            <a:off x="1022985" y="2650331"/>
            <a:ext cx="1071880" cy="581025"/>
          </a:xfrm>
          <a:prstGeom prst="roundRect">
            <a:avLst>
              <a:gd name="adj" fmla="val 6557"/>
            </a:avLst>
          </a:prstGeom>
          <a:solidFill>
            <a:srgbClr val="94A3B8"/>
          </a:solidFill>
          <a:ln/>
        </p:spPr>
      </p:sp>
      <p:sp>
        <p:nvSpPr>
          <p:cNvPr id="18" name="Text 16"/>
          <p:cNvSpPr/>
          <p:nvPr/>
        </p:nvSpPr>
        <p:spPr>
          <a:xfrm>
            <a:off x="4338003" y="2544763"/>
            <a:ext cx="376872" cy="238919"/>
          </a:xfrm>
          <a:prstGeom prst="rect">
            <a:avLst/>
          </a:prstGeom>
          <a:noFill/>
          <a:ln/>
        </p:spPr>
        <p:txBody>
          <a:bodyPr wrap="square" lIns="25400" tIns="25400" rIns="25400" bIns="25400" rtlCol="0" anchor="t">
            <a:normAutofit/>
          </a:bodyPr>
          <a:lstStyle/>
          <a:p>
            <a:pPr algn="l" indent="0" marL="0">
              <a:lnSpc>
                <a:spcPct val="155024"/>
              </a:lnSpc>
              <a:buNone/>
            </a:pPr>
            <a:r>
              <a:rPr lang="en-US" sz="1020" b="1" dirty="0">
                <a:solidFill>
                  <a:srgbClr val="0B1220"/>
                </a:solidFill>
                <a:latin typeface="Arial" pitchFamily="34" charset="0"/>
                <a:ea typeface="Arial" pitchFamily="34" charset="-122"/>
                <a:cs typeface="Arial" pitchFamily="34" charset="-120"/>
              </a:rPr>
              <a:t>15%</a:t>
            </a:r>
            <a:endParaRPr lang="en-US" sz="1020" dirty="0"/>
          </a:p>
        </p:txBody>
      </p:sp>
      <p:sp>
        <p:nvSpPr>
          <p:cNvPr id="19" name="Shape 17"/>
          <p:cNvSpPr/>
          <p:nvPr/>
        </p:nvSpPr>
        <p:spPr>
          <a:xfrm>
            <a:off x="2152015" y="2774156"/>
            <a:ext cx="4672647" cy="457200"/>
          </a:xfrm>
          <a:prstGeom prst="roundRect">
            <a:avLst>
              <a:gd name="adj" fmla="val 8333"/>
            </a:avLst>
          </a:prstGeom>
          <a:solidFill>
            <a:srgbClr val="EF4444"/>
          </a:solidFill>
          <a:ln/>
        </p:spPr>
      </p:sp>
      <p:sp>
        <p:nvSpPr>
          <p:cNvPr id="20" name="Text 18"/>
          <p:cNvSpPr/>
          <p:nvPr/>
        </p:nvSpPr>
        <p:spPr>
          <a:xfrm>
            <a:off x="7476808" y="2544763"/>
            <a:ext cx="376873" cy="238919"/>
          </a:xfrm>
          <a:prstGeom prst="rect">
            <a:avLst/>
          </a:prstGeom>
          <a:noFill/>
          <a:ln/>
        </p:spPr>
        <p:txBody>
          <a:bodyPr wrap="square" lIns="25400" tIns="25400" rIns="25400" bIns="25400" rtlCol="0" anchor="t">
            <a:normAutofit/>
          </a:bodyPr>
          <a:lstStyle/>
          <a:p>
            <a:pPr algn="l" indent="0" marL="0">
              <a:lnSpc>
                <a:spcPct val="155024"/>
              </a:lnSpc>
              <a:buNone/>
            </a:pPr>
            <a:r>
              <a:rPr lang="en-US" sz="1020" b="1" dirty="0">
                <a:solidFill>
                  <a:srgbClr val="0B1220"/>
                </a:solidFill>
                <a:latin typeface="Arial" pitchFamily="34" charset="0"/>
                <a:ea typeface="Arial" pitchFamily="34" charset="-122"/>
                <a:cs typeface="Arial" pitchFamily="34" charset="-120"/>
              </a:rPr>
              <a:t>15%</a:t>
            </a:r>
            <a:endParaRPr lang="en-US" sz="1020" dirty="0"/>
          </a:p>
        </p:txBody>
      </p:sp>
      <p:sp>
        <p:nvSpPr>
          <p:cNvPr id="21" name="Shape 19"/>
          <p:cNvSpPr/>
          <p:nvPr/>
        </p:nvSpPr>
        <p:spPr>
          <a:xfrm>
            <a:off x="6881813" y="2774156"/>
            <a:ext cx="1490663" cy="457200"/>
          </a:xfrm>
          <a:prstGeom prst="roundRect">
            <a:avLst>
              <a:gd name="adj" fmla="val 8333"/>
            </a:avLst>
          </a:prstGeom>
          <a:solidFill>
            <a:srgbClr val="F59E0B"/>
          </a:solidFill>
          <a:ln/>
        </p:spPr>
      </p:sp>
      <p:sp>
        <p:nvSpPr>
          <p:cNvPr id="22" name="Text 20"/>
          <p:cNvSpPr/>
          <p:nvPr/>
        </p:nvSpPr>
        <p:spPr>
          <a:xfrm>
            <a:off x="8857138" y="2363788"/>
            <a:ext cx="376872" cy="238919"/>
          </a:xfrm>
          <a:prstGeom prst="rect">
            <a:avLst/>
          </a:prstGeom>
          <a:noFill/>
          <a:ln/>
        </p:spPr>
        <p:txBody>
          <a:bodyPr wrap="square" lIns="25400" tIns="25400" rIns="25400" bIns="25400" rtlCol="0" anchor="t">
            <a:normAutofit/>
          </a:bodyPr>
          <a:lstStyle/>
          <a:p>
            <a:pPr algn="l" indent="0" marL="0">
              <a:lnSpc>
                <a:spcPct val="155024"/>
              </a:lnSpc>
              <a:buNone/>
            </a:pPr>
            <a:r>
              <a:rPr lang="en-US" sz="1020" b="1" dirty="0">
                <a:solidFill>
                  <a:srgbClr val="0B1220"/>
                </a:solidFill>
                <a:latin typeface="Arial" pitchFamily="34" charset="0"/>
                <a:ea typeface="Arial" pitchFamily="34" charset="-122"/>
                <a:cs typeface="Arial" pitchFamily="34" charset="-120"/>
              </a:rPr>
              <a:t>21%</a:t>
            </a:r>
            <a:endParaRPr lang="en-US" sz="1020" dirty="0"/>
          </a:p>
        </p:txBody>
      </p:sp>
      <p:sp>
        <p:nvSpPr>
          <p:cNvPr id="23" name="Shape 21"/>
          <p:cNvSpPr/>
          <p:nvPr/>
        </p:nvSpPr>
        <p:spPr>
          <a:xfrm>
            <a:off x="8429625" y="2593181"/>
            <a:ext cx="1155700" cy="638175"/>
          </a:xfrm>
          <a:prstGeom prst="roundRect">
            <a:avLst>
              <a:gd name="adj" fmla="val 5970"/>
            </a:avLst>
          </a:prstGeom>
          <a:solidFill>
            <a:srgbClr val="A3B818"/>
          </a:solidFill>
          <a:ln/>
        </p:spPr>
      </p:sp>
      <p:sp>
        <p:nvSpPr>
          <p:cNvPr id="24" name="Text 22"/>
          <p:cNvSpPr/>
          <p:nvPr/>
        </p:nvSpPr>
        <p:spPr>
          <a:xfrm>
            <a:off x="9986168" y="2211388"/>
            <a:ext cx="376872" cy="238919"/>
          </a:xfrm>
          <a:prstGeom prst="rect">
            <a:avLst/>
          </a:prstGeom>
          <a:noFill/>
          <a:ln/>
        </p:spPr>
        <p:txBody>
          <a:bodyPr wrap="square" lIns="25400" tIns="25400" rIns="25400" bIns="25400" rtlCol="0" anchor="t">
            <a:normAutofit/>
          </a:bodyPr>
          <a:lstStyle/>
          <a:p>
            <a:pPr algn="l" indent="0" marL="0">
              <a:lnSpc>
                <a:spcPct val="155024"/>
              </a:lnSpc>
              <a:buNone/>
            </a:pPr>
            <a:r>
              <a:rPr lang="en-US" sz="1020" b="1" dirty="0">
                <a:solidFill>
                  <a:srgbClr val="0B1220"/>
                </a:solidFill>
                <a:latin typeface="Arial" pitchFamily="34" charset="0"/>
                <a:ea typeface="Arial" pitchFamily="34" charset="-122"/>
                <a:cs typeface="Arial" pitchFamily="34" charset="-120"/>
              </a:rPr>
              <a:t>26%</a:t>
            </a:r>
            <a:endParaRPr lang="en-US" sz="1020" dirty="0"/>
          </a:p>
        </p:txBody>
      </p:sp>
      <p:sp>
        <p:nvSpPr>
          <p:cNvPr id="25" name="Shape 23"/>
          <p:cNvSpPr/>
          <p:nvPr/>
        </p:nvSpPr>
        <p:spPr>
          <a:xfrm>
            <a:off x="9642475" y="2440781"/>
            <a:ext cx="988219" cy="790575"/>
          </a:xfrm>
          <a:prstGeom prst="roundRect">
            <a:avLst>
              <a:gd name="adj" fmla="val 4819"/>
            </a:avLst>
          </a:prstGeom>
          <a:solidFill>
            <a:srgbClr val="10B981"/>
          </a:solidFill>
          <a:ln/>
        </p:spPr>
      </p:sp>
      <p:sp>
        <p:nvSpPr>
          <p:cNvPr id="26" name="Text 24"/>
          <p:cNvSpPr/>
          <p:nvPr/>
        </p:nvSpPr>
        <p:spPr>
          <a:xfrm>
            <a:off x="10956131" y="2297113"/>
            <a:ext cx="376872" cy="238919"/>
          </a:xfrm>
          <a:prstGeom prst="rect">
            <a:avLst/>
          </a:prstGeom>
          <a:noFill/>
          <a:ln/>
        </p:spPr>
        <p:txBody>
          <a:bodyPr wrap="square" lIns="25400" tIns="25400" rIns="25400" bIns="25400" rtlCol="0" anchor="t">
            <a:normAutofit/>
          </a:bodyPr>
          <a:lstStyle/>
          <a:p>
            <a:pPr algn="l" indent="0" marL="0">
              <a:lnSpc>
                <a:spcPct val="155024"/>
              </a:lnSpc>
              <a:buNone/>
            </a:pPr>
            <a:r>
              <a:rPr lang="en-US" sz="1020" b="1" dirty="0">
                <a:solidFill>
                  <a:srgbClr val="0B1220"/>
                </a:solidFill>
                <a:latin typeface="Arial" pitchFamily="34" charset="0"/>
                <a:ea typeface="Arial" pitchFamily="34" charset="-122"/>
                <a:cs typeface="Arial" pitchFamily="34" charset="-120"/>
              </a:rPr>
              <a:t>23%</a:t>
            </a:r>
            <a:endParaRPr lang="en-US" sz="1020" dirty="0"/>
          </a:p>
        </p:txBody>
      </p:sp>
      <p:sp>
        <p:nvSpPr>
          <p:cNvPr id="27" name="Shape 25"/>
          <p:cNvSpPr/>
          <p:nvPr/>
        </p:nvSpPr>
        <p:spPr>
          <a:xfrm>
            <a:off x="10687844" y="2526506"/>
            <a:ext cx="837406" cy="704850"/>
          </a:xfrm>
          <a:prstGeom prst="roundRect">
            <a:avLst>
              <a:gd name="adj" fmla="val 5405"/>
            </a:avLst>
          </a:prstGeom>
          <a:solidFill>
            <a:srgbClr val="4F46E5"/>
          </a:solidFill>
          <a:ln/>
        </p:spPr>
      </p:sp>
      <p:sp>
        <p:nvSpPr>
          <p:cNvPr id="28" name="Text 26"/>
          <p:cNvSpPr/>
          <p:nvPr/>
        </p:nvSpPr>
        <p:spPr>
          <a:xfrm>
            <a:off x="990600" y="3301841"/>
            <a:ext cx="1153478" cy="168910"/>
          </a:xfrm>
          <a:prstGeom prst="rect">
            <a:avLst/>
          </a:prstGeom>
          <a:noFill/>
          <a:ln/>
        </p:spPr>
        <p:txBody>
          <a:bodyPr wrap="square" lIns="25400" tIns="25400" rIns="25400" bIns="25400" rtlCol="0" anchor="t">
            <a:normAutofit/>
          </a:bodyPr>
          <a:lstStyle/>
          <a:p>
            <a:pPr algn="ctr" indent="0" marL="0">
              <a:lnSpc>
                <a:spcPct val="110042"/>
              </a:lnSpc>
              <a:buNone/>
            </a:pPr>
            <a:r>
              <a:rPr lang="en-US" sz="936" b="1" dirty="0">
                <a:solidFill>
                  <a:srgbClr val="0B1220"/>
                </a:solidFill>
                <a:latin typeface="Arial" pitchFamily="34" charset="0"/>
                <a:ea typeface="Arial" pitchFamily="34" charset="-122"/>
                <a:cs typeface="Arial" pitchFamily="34" charset="-120"/>
              </a:rPr>
              <a:t>Credit invisible</a:t>
            </a:r>
            <a:endParaRPr lang="en-US" sz="936" dirty="0"/>
          </a:p>
        </p:txBody>
      </p:sp>
      <p:sp>
        <p:nvSpPr>
          <p:cNvPr id="29" name="Text 27"/>
          <p:cNvSpPr/>
          <p:nvPr/>
        </p:nvSpPr>
        <p:spPr>
          <a:xfrm>
            <a:off x="990600" y="3442176"/>
            <a:ext cx="1153478" cy="208121"/>
          </a:xfrm>
          <a:prstGeom prst="rect">
            <a:avLst/>
          </a:prstGeom>
          <a:noFill/>
          <a:ln/>
        </p:spPr>
        <p:txBody>
          <a:bodyPr wrap="square" lIns="25400" tIns="25400" rIns="25400" bIns="25400" rtlCol="0" anchor="t">
            <a:normAutofit/>
          </a:bodyPr>
          <a:lstStyle/>
          <a:p>
            <a:pPr algn="ctr" indent="0" marL="0">
              <a:lnSpc>
                <a:spcPct val="154948"/>
              </a:lnSpc>
              <a:buNone/>
            </a:pPr>
            <a:r>
              <a:rPr lang="en-US" sz="864" dirty="0">
                <a:solidFill>
                  <a:srgbClr val="5B6472"/>
                </a:solidFill>
                <a:latin typeface="Arial" pitchFamily="34" charset="0"/>
                <a:ea typeface="Arial" pitchFamily="34" charset="-122"/>
                <a:cs typeface="Arial" pitchFamily="34" charset="-120"/>
              </a:rPr>
              <a:t>no file</a:t>
            </a:r>
            <a:endParaRPr lang="en-US" sz="864" dirty="0"/>
          </a:p>
        </p:txBody>
      </p:sp>
      <p:sp>
        <p:nvSpPr>
          <p:cNvPr id="30" name="Text 28"/>
          <p:cNvSpPr/>
          <p:nvPr/>
        </p:nvSpPr>
        <p:spPr>
          <a:xfrm>
            <a:off x="1928313" y="3301841"/>
            <a:ext cx="5165931" cy="168910"/>
          </a:xfrm>
          <a:prstGeom prst="rect">
            <a:avLst/>
          </a:prstGeom>
          <a:noFill/>
          <a:ln/>
        </p:spPr>
        <p:txBody>
          <a:bodyPr wrap="square" lIns="25400" tIns="25400" rIns="25400" bIns="25400" rtlCol="0" anchor="t">
            <a:normAutofit/>
          </a:bodyPr>
          <a:lstStyle/>
          <a:p>
            <a:pPr algn="ctr" indent="0" marL="0">
              <a:lnSpc>
                <a:spcPct val="110042"/>
              </a:lnSpc>
              <a:buNone/>
            </a:pPr>
            <a:r>
              <a:rPr lang="en-US" sz="936" b="1" dirty="0">
                <a:solidFill>
                  <a:srgbClr val="0B1220"/>
                </a:solidFill>
                <a:latin typeface="Arial" pitchFamily="34" charset="0"/>
                <a:ea typeface="Arial" pitchFamily="34" charset="-122"/>
                <a:cs typeface="Arial" pitchFamily="34" charset="-120"/>
              </a:rPr>
              <a:t>Poor</a:t>
            </a:r>
            <a:endParaRPr lang="en-US" sz="936" dirty="0"/>
          </a:p>
        </p:txBody>
      </p:sp>
      <p:sp>
        <p:nvSpPr>
          <p:cNvPr id="31" name="Text 29"/>
          <p:cNvSpPr/>
          <p:nvPr/>
        </p:nvSpPr>
        <p:spPr>
          <a:xfrm>
            <a:off x="1928313" y="3442176"/>
            <a:ext cx="5165931" cy="208121"/>
          </a:xfrm>
          <a:prstGeom prst="rect">
            <a:avLst/>
          </a:prstGeom>
          <a:noFill/>
          <a:ln/>
        </p:spPr>
        <p:txBody>
          <a:bodyPr wrap="square" lIns="25400" tIns="25400" rIns="25400" bIns="25400" rtlCol="0" anchor="t">
            <a:normAutofit/>
          </a:bodyPr>
          <a:lstStyle/>
          <a:p>
            <a:pPr algn="ctr" indent="0" marL="0">
              <a:lnSpc>
                <a:spcPct val="154948"/>
              </a:lnSpc>
              <a:buNone/>
            </a:pPr>
            <a:r>
              <a:rPr lang="en-US" sz="864" dirty="0">
                <a:solidFill>
                  <a:srgbClr val="5B6472"/>
                </a:solidFill>
                <a:latin typeface="Arial" pitchFamily="34" charset="0"/>
                <a:ea typeface="Arial" pitchFamily="34" charset="-122"/>
                <a:cs typeface="Arial" pitchFamily="34" charset="-120"/>
              </a:rPr>
              <a:t>300–579</a:t>
            </a:r>
            <a:endParaRPr lang="en-US" sz="864" dirty="0"/>
          </a:p>
        </p:txBody>
      </p:sp>
      <p:sp>
        <p:nvSpPr>
          <p:cNvPr id="32" name="Text 30"/>
          <p:cNvSpPr/>
          <p:nvPr/>
        </p:nvSpPr>
        <p:spPr>
          <a:xfrm>
            <a:off x="6841673" y="3301841"/>
            <a:ext cx="1647936" cy="168910"/>
          </a:xfrm>
          <a:prstGeom prst="rect">
            <a:avLst/>
          </a:prstGeom>
          <a:noFill/>
          <a:ln/>
        </p:spPr>
        <p:txBody>
          <a:bodyPr wrap="square" lIns="25400" tIns="25400" rIns="25400" bIns="25400" rtlCol="0" anchor="t">
            <a:normAutofit/>
          </a:bodyPr>
          <a:lstStyle/>
          <a:p>
            <a:pPr algn="ctr" indent="0" marL="0">
              <a:lnSpc>
                <a:spcPct val="110042"/>
              </a:lnSpc>
              <a:buNone/>
            </a:pPr>
            <a:r>
              <a:rPr lang="en-US" sz="936" b="1" dirty="0">
                <a:solidFill>
                  <a:srgbClr val="0B1220"/>
                </a:solidFill>
                <a:latin typeface="Arial" pitchFamily="34" charset="0"/>
                <a:ea typeface="Arial" pitchFamily="34" charset="-122"/>
                <a:cs typeface="Arial" pitchFamily="34" charset="-120"/>
              </a:rPr>
              <a:t>Fair</a:t>
            </a:r>
            <a:endParaRPr lang="en-US" sz="936" dirty="0"/>
          </a:p>
        </p:txBody>
      </p:sp>
      <p:sp>
        <p:nvSpPr>
          <p:cNvPr id="33" name="Text 31"/>
          <p:cNvSpPr/>
          <p:nvPr/>
        </p:nvSpPr>
        <p:spPr>
          <a:xfrm>
            <a:off x="6841673" y="3442176"/>
            <a:ext cx="1647936" cy="208121"/>
          </a:xfrm>
          <a:prstGeom prst="rect">
            <a:avLst/>
          </a:prstGeom>
          <a:noFill/>
          <a:ln/>
        </p:spPr>
        <p:txBody>
          <a:bodyPr wrap="square" lIns="25400" tIns="25400" rIns="25400" bIns="25400" rtlCol="0" anchor="t">
            <a:normAutofit/>
          </a:bodyPr>
          <a:lstStyle/>
          <a:p>
            <a:pPr algn="ctr" indent="0" marL="0">
              <a:lnSpc>
                <a:spcPct val="154948"/>
              </a:lnSpc>
              <a:buNone/>
            </a:pPr>
            <a:r>
              <a:rPr lang="en-US" sz="864" dirty="0">
                <a:solidFill>
                  <a:srgbClr val="5B6472"/>
                </a:solidFill>
                <a:latin typeface="Arial" pitchFamily="34" charset="0"/>
                <a:ea typeface="Arial" pitchFamily="34" charset="-122"/>
                <a:cs typeface="Arial" pitchFamily="34" charset="-120"/>
              </a:rPr>
              <a:t>580–669</a:t>
            </a:r>
            <a:endParaRPr lang="en-US" sz="864" dirty="0"/>
          </a:p>
        </p:txBody>
      </p:sp>
      <p:sp>
        <p:nvSpPr>
          <p:cNvPr id="34" name="Text 32"/>
          <p:cNvSpPr/>
          <p:nvPr/>
        </p:nvSpPr>
        <p:spPr>
          <a:xfrm>
            <a:off x="8433753" y="3301841"/>
            <a:ext cx="1237615" cy="168910"/>
          </a:xfrm>
          <a:prstGeom prst="rect">
            <a:avLst/>
          </a:prstGeom>
          <a:noFill/>
          <a:ln/>
        </p:spPr>
        <p:txBody>
          <a:bodyPr wrap="square" lIns="25400" tIns="25400" rIns="25400" bIns="25400" rtlCol="0" anchor="t">
            <a:normAutofit/>
          </a:bodyPr>
          <a:lstStyle/>
          <a:p>
            <a:pPr algn="ctr" indent="0" marL="0">
              <a:lnSpc>
                <a:spcPct val="110042"/>
              </a:lnSpc>
              <a:buNone/>
            </a:pPr>
            <a:r>
              <a:rPr lang="en-US" sz="936" b="1" dirty="0">
                <a:solidFill>
                  <a:srgbClr val="0B1220"/>
                </a:solidFill>
                <a:latin typeface="Arial" pitchFamily="34" charset="0"/>
                <a:ea typeface="Arial" pitchFamily="34" charset="-122"/>
                <a:cs typeface="Arial" pitchFamily="34" charset="-120"/>
              </a:rPr>
              <a:t>Good</a:t>
            </a:r>
            <a:endParaRPr lang="en-US" sz="936" dirty="0"/>
          </a:p>
        </p:txBody>
      </p:sp>
      <p:sp>
        <p:nvSpPr>
          <p:cNvPr id="35" name="Text 33"/>
          <p:cNvSpPr/>
          <p:nvPr/>
        </p:nvSpPr>
        <p:spPr>
          <a:xfrm>
            <a:off x="8433753" y="3442176"/>
            <a:ext cx="1237615" cy="208121"/>
          </a:xfrm>
          <a:prstGeom prst="rect">
            <a:avLst/>
          </a:prstGeom>
          <a:noFill/>
          <a:ln/>
        </p:spPr>
        <p:txBody>
          <a:bodyPr wrap="square" lIns="25400" tIns="25400" rIns="25400" bIns="25400" rtlCol="0" anchor="t">
            <a:normAutofit/>
          </a:bodyPr>
          <a:lstStyle/>
          <a:p>
            <a:pPr algn="ctr" indent="0" marL="0">
              <a:lnSpc>
                <a:spcPct val="154948"/>
              </a:lnSpc>
              <a:buNone/>
            </a:pPr>
            <a:r>
              <a:rPr lang="en-US" sz="864" dirty="0">
                <a:solidFill>
                  <a:srgbClr val="5B6472"/>
                </a:solidFill>
                <a:latin typeface="Arial" pitchFamily="34" charset="0"/>
                <a:ea typeface="Arial" pitchFamily="34" charset="-122"/>
                <a:cs typeface="Arial" pitchFamily="34" charset="-120"/>
              </a:rPr>
              <a:t>670–739</a:t>
            </a:r>
            <a:endParaRPr lang="en-US" sz="864" dirty="0"/>
          </a:p>
        </p:txBody>
      </p:sp>
      <p:sp>
        <p:nvSpPr>
          <p:cNvPr id="36" name="Text 34"/>
          <p:cNvSpPr/>
          <p:nvPr/>
        </p:nvSpPr>
        <p:spPr>
          <a:xfrm>
            <a:off x="9652318" y="3301841"/>
            <a:ext cx="1069340" cy="168910"/>
          </a:xfrm>
          <a:prstGeom prst="rect">
            <a:avLst/>
          </a:prstGeom>
          <a:noFill/>
          <a:ln/>
        </p:spPr>
        <p:txBody>
          <a:bodyPr wrap="square" lIns="25400" tIns="25400" rIns="25400" bIns="25400" rtlCol="0" anchor="t">
            <a:normAutofit/>
          </a:bodyPr>
          <a:lstStyle/>
          <a:p>
            <a:pPr algn="ctr" indent="0" marL="0">
              <a:lnSpc>
                <a:spcPct val="110042"/>
              </a:lnSpc>
              <a:buNone/>
            </a:pPr>
            <a:r>
              <a:rPr lang="en-US" sz="936" b="1" dirty="0">
                <a:solidFill>
                  <a:srgbClr val="0B1220"/>
                </a:solidFill>
                <a:latin typeface="Arial" pitchFamily="34" charset="0"/>
                <a:ea typeface="Arial" pitchFamily="34" charset="-122"/>
                <a:cs typeface="Arial" pitchFamily="34" charset="-120"/>
              </a:rPr>
              <a:t>Very good</a:t>
            </a:r>
            <a:endParaRPr lang="en-US" sz="936" dirty="0"/>
          </a:p>
        </p:txBody>
      </p:sp>
      <p:sp>
        <p:nvSpPr>
          <p:cNvPr id="37" name="Text 35"/>
          <p:cNvSpPr/>
          <p:nvPr/>
        </p:nvSpPr>
        <p:spPr>
          <a:xfrm>
            <a:off x="9652318" y="3442176"/>
            <a:ext cx="1069340" cy="208121"/>
          </a:xfrm>
          <a:prstGeom prst="rect">
            <a:avLst/>
          </a:prstGeom>
          <a:noFill/>
          <a:ln/>
        </p:spPr>
        <p:txBody>
          <a:bodyPr wrap="square" lIns="25400" tIns="25400" rIns="25400" bIns="25400" rtlCol="0" anchor="t">
            <a:normAutofit/>
          </a:bodyPr>
          <a:lstStyle/>
          <a:p>
            <a:pPr algn="ctr" indent="0" marL="0">
              <a:lnSpc>
                <a:spcPct val="154948"/>
              </a:lnSpc>
              <a:buNone/>
            </a:pPr>
            <a:r>
              <a:rPr lang="en-US" sz="864" dirty="0">
                <a:solidFill>
                  <a:srgbClr val="5B6472"/>
                </a:solidFill>
                <a:latin typeface="Arial" pitchFamily="34" charset="0"/>
                <a:ea typeface="Arial" pitchFamily="34" charset="-122"/>
                <a:cs typeface="Arial" pitchFamily="34" charset="-120"/>
              </a:rPr>
              <a:t>740–799</a:t>
            </a:r>
            <a:endParaRPr lang="en-US" sz="864" dirty="0"/>
          </a:p>
        </p:txBody>
      </p:sp>
      <p:sp>
        <p:nvSpPr>
          <p:cNvPr id="38" name="Text 36"/>
          <p:cNvSpPr/>
          <p:nvPr/>
        </p:nvSpPr>
        <p:spPr>
          <a:xfrm>
            <a:off x="10702607" y="3301841"/>
            <a:ext cx="917893" cy="168910"/>
          </a:xfrm>
          <a:prstGeom prst="rect">
            <a:avLst/>
          </a:prstGeom>
          <a:noFill/>
          <a:ln/>
        </p:spPr>
        <p:txBody>
          <a:bodyPr wrap="square" lIns="25400" tIns="25400" rIns="25400" bIns="25400" rtlCol="0" anchor="t">
            <a:normAutofit/>
          </a:bodyPr>
          <a:lstStyle/>
          <a:p>
            <a:pPr algn="ctr" indent="0" marL="0">
              <a:lnSpc>
                <a:spcPct val="110042"/>
              </a:lnSpc>
              <a:buNone/>
            </a:pPr>
            <a:r>
              <a:rPr lang="en-US" sz="936" b="1" dirty="0">
                <a:solidFill>
                  <a:srgbClr val="0B1220"/>
                </a:solidFill>
                <a:latin typeface="Arial" pitchFamily="34" charset="0"/>
                <a:ea typeface="Arial" pitchFamily="34" charset="-122"/>
                <a:cs typeface="Arial" pitchFamily="34" charset="-120"/>
              </a:rPr>
              <a:t>Exceptional</a:t>
            </a:r>
            <a:endParaRPr lang="en-US" sz="936" dirty="0"/>
          </a:p>
        </p:txBody>
      </p:sp>
      <p:sp>
        <p:nvSpPr>
          <p:cNvPr id="39" name="Text 37"/>
          <p:cNvSpPr/>
          <p:nvPr/>
        </p:nvSpPr>
        <p:spPr>
          <a:xfrm>
            <a:off x="10702607" y="3442176"/>
            <a:ext cx="917893" cy="208121"/>
          </a:xfrm>
          <a:prstGeom prst="rect">
            <a:avLst/>
          </a:prstGeom>
          <a:noFill/>
          <a:ln/>
        </p:spPr>
        <p:txBody>
          <a:bodyPr wrap="square" lIns="25400" tIns="25400" rIns="25400" bIns="25400" rtlCol="0" anchor="t">
            <a:normAutofit/>
          </a:bodyPr>
          <a:lstStyle/>
          <a:p>
            <a:pPr algn="ctr" indent="0" marL="0">
              <a:lnSpc>
                <a:spcPct val="154948"/>
              </a:lnSpc>
              <a:buNone/>
            </a:pPr>
            <a:r>
              <a:rPr lang="en-US" sz="864" dirty="0">
                <a:solidFill>
                  <a:srgbClr val="5B6472"/>
                </a:solidFill>
                <a:latin typeface="Arial" pitchFamily="34" charset="0"/>
                <a:ea typeface="Arial" pitchFamily="34" charset="-122"/>
                <a:cs typeface="Arial" pitchFamily="34" charset="-120"/>
              </a:rPr>
              <a:t>800–850</a:t>
            </a:r>
            <a:endParaRPr lang="en-US" sz="864" dirty="0"/>
          </a:p>
        </p:txBody>
      </p:sp>
      <p:sp>
        <p:nvSpPr>
          <p:cNvPr id="40" name="Text 38"/>
          <p:cNvSpPr/>
          <p:nvPr/>
        </p:nvSpPr>
        <p:spPr>
          <a:xfrm>
            <a:off x="609600" y="3764598"/>
            <a:ext cx="12070080"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b="1" dirty="0">
                <a:solidFill>
                  <a:srgbClr val="0B1220"/>
                </a:solidFill>
                <a:latin typeface="Arial" pitchFamily="34" charset="0"/>
                <a:ea typeface="Arial" pitchFamily="34" charset="-122"/>
                <a:cs typeface="Arial" pitchFamily="34" charset="-120"/>
              </a:rPr>
              <a:t>VantageScore</a:t>
            </a:r>
            <a:endParaRPr lang="en-US" sz="1275" dirty="0"/>
          </a:p>
        </p:txBody>
      </p:sp>
      <p:sp>
        <p:nvSpPr>
          <p:cNvPr id="41" name="Text 39"/>
          <p:cNvSpPr/>
          <p:nvPr/>
        </p:nvSpPr>
        <p:spPr>
          <a:xfrm>
            <a:off x="588169" y="4129881"/>
            <a:ext cx="326231" cy="208121"/>
          </a:xfrm>
          <a:prstGeom prst="rect">
            <a:avLst/>
          </a:prstGeom>
          <a:noFill/>
          <a:ln/>
        </p:spPr>
        <p:txBody>
          <a:bodyPr wrap="square" lIns="25400" tIns="25400" rIns="25400" bIns="25400" rtlCol="0" anchor="t">
            <a:normAutofit/>
          </a:bodyPr>
          <a:lstStyle/>
          <a:p>
            <a:pPr algn="l" indent="0" marL="0">
              <a:lnSpc>
                <a:spcPct val="154948"/>
              </a:lnSpc>
              <a:buNone/>
            </a:pPr>
            <a:r>
              <a:rPr lang="en-US" sz="864" dirty="0">
                <a:solidFill>
                  <a:srgbClr val="94A3B8"/>
                </a:solidFill>
                <a:latin typeface="Arial" pitchFamily="34" charset="0"/>
                <a:ea typeface="Arial" pitchFamily="34" charset="-122"/>
                <a:cs typeface="Arial" pitchFamily="34" charset="-120"/>
              </a:rPr>
              <a:t>40%</a:t>
            </a:r>
            <a:endParaRPr lang="en-US" sz="864" dirty="0"/>
          </a:p>
        </p:txBody>
      </p:sp>
      <p:sp>
        <p:nvSpPr>
          <p:cNvPr id="42" name="Text 40"/>
          <p:cNvSpPr/>
          <p:nvPr/>
        </p:nvSpPr>
        <p:spPr>
          <a:xfrm>
            <a:off x="588169" y="4739481"/>
            <a:ext cx="326231" cy="208121"/>
          </a:xfrm>
          <a:prstGeom prst="rect">
            <a:avLst/>
          </a:prstGeom>
          <a:noFill/>
          <a:ln/>
        </p:spPr>
        <p:txBody>
          <a:bodyPr wrap="square" lIns="25400" tIns="25400" rIns="25400" bIns="25400" rtlCol="0" anchor="t">
            <a:normAutofit/>
          </a:bodyPr>
          <a:lstStyle/>
          <a:p>
            <a:pPr algn="l" indent="0" marL="0">
              <a:lnSpc>
                <a:spcPct val="154948"/>
              </a:lnSpc>
              <a:buNone/>
            </a:pPr>
            <a:r>
              <a:rPr lang="en-US" sz="864" dirty="0">
                <a:solidFill>
                  <a:srgbClr val="94A3B8"/>
                </a:solidFill>
                <a:latin typeface="Arial" pitchFamily="34" charset="0"/>
                <a:ea typeface="Arial" pitchFamily="34" charset="-122"/>
                <a:cs typeface="Arial" pitchFamily="34" charset="-120"/>
              </a:rPr>
              <a:t>20%</a:t>
            </a:r>
            <a:endParaRPr lang="en-US" sz="864" dirty="0"/>
          </a:p>
        </p:txBody>
      </p:sp>
      <p:sp>
        <p:nvSpPr>
          <p:cNvPr id="43" name="Text 41"/>
          <p:cNvSpPr/>
          <p:nvPr/>
        </p:nvSpPr>
        <p:spPr>
          <a:xfrm>
            <a:off x="659289" y="5302885"/>
            <a:ext cx="255111" cy="208121"/>
          </a:xfrm>
          <a:prstGeom prst="rect">
            <a:avLst/>
          </a:prstGeom>
          <a:noFill/>
          <a:ln/>
        </p:spPr>
        <p:txBody>
          <a:bodyPr wrap="square" lIns="25400" tIns="25400" rIns="25400" bIns="25400" rtlCol="0" anchor="t">
            <a:normAutofit/>
          </a:bodyPr>
          <a:lstStyle/>
          <a:p>
            <a:pPr algn="l" indent="0" marL="0">
              <a:lnSpc>
                <a:spcPct val="154948"/>
              </a:lnSpc>
              <a:buNone/>
            </a:pPr>
            <a:r>
              <a:rPr lang="en-US" sz="864" dirty="0">
                <a:solidFill>
                  <a:srgbClr val="94A3B8"/>
                </a:solidFill>
                <a:latin typeface="Arial" pitchFamily="34" charset="0"/>
                <a:ea typeface="Arial" pitchFamily="34" charset="-122"/>
                <a:cs typeface="Arial" pitchFamily="34" charset="-120"/>
              </a:rPr>
              <a:t>0%</a:t>
            </a:r>
            <a:endParaRPr lang="en-US" sz="864" dirty="0"/>
          </a:p>
        </p:txBody>
      </p:sp>
      <p:sp>
        <p:nvSpPr>
          <p:cNvPr id="44" name="Shape 42"/>
          <p:cNvSpPr/>
          <p:nvPr/>
        </p:nvSpPr>
        <p:spPr>
          <a:xfrm>
            <a:off x="952500" y="5392896"/>
            <a:ext cx="10629900" cy="13335"/>
          </a:xfrm>
          <a:prstGeom prst="rect">
            <a:avLst/>
          </a:prstGeom>
          <a:solidFill>
            <a:srgbClr val="E5E8F0"/>
          </a:solidFill>
          <a:ln/>
        </p:spPr>
      </p:sp>
      <p:sp>
        <p:nvSpPr>
          <p:cNvPr id="45" name="Shape 43"/>
          <p:cNvSpPr/>
          <p:nvPr/>
        </p:nvSpPr>
        <p:spPr>
          <a:xfrm>
            <a:off x="952500" y="4072731"/>
            <a:ext cx="13335" cy="1333500"/>
          </a:xfrm>
          <a:prstGeom prst="rect">
            <a:avLst/>
          </a:prstGeom>
          <a:solidFill>
            <a:srgbClr val="E5E8F0"/>
          </a:solidFill>
          <a:ln/>
        </p:spPr>
      </p:sp>
      <p:sp>
        <p:nvSpPr>
          <p:cNvPr id="46" name="Text 44"/>
          <p:cNvSpPr/>
          <p:nvPr/>
        </p:nvSpPr>
        <p:spPr>
          <a:xfrm>
            <a:off x="1452563" y="5011102"/>
            <a:ext cx="293211" cy="238919"/>
          </a:xfrm>
          <a:prstGeom prst="rect">
            <a:avLst/>
          </a:prstGeom>
          <a:noFill/>
          <a:ln/>
        </p:spPr>
        <p:txBody>
          <a:bodyPr wrap="square" lIns="25400" tIns="25400" rIns="25400" bIns="25400" rtlCol="0" anchor="t">
            <a:normAutofit/>
          </a:bodyPr>
          <a:lstStyle/>
          <a:p>
            <a:pPr algn="l" indent="0" marL="0">
              <a:lnSpc>
                <a:spcPct val="155024"/>
              </a:lnSpc>
              <a:buNone/>
            </a:pPr>
            <a:r>
              <a:rPr lang="en-US" sz="1020" b="1" dirty="0">
                <a:solidFill>
                  <a:srgbClr val="0B1220"/>
                </a:solidFill>
                <a:latin typeface="Arial" pitchFamily="34" charset="0"/>
                <a:ea typeface="Arial" pitchFamily="34" charset="-122"/>
                <a:cs typeface="Arial" pitchFamily="34" charset="-120"/>
              </a:rPr>
              <a:t>5%</a:t>
            </a:r>
            <a:endParaRPr lang="en-US" sz="1020" dirty="0"/>
          </a:p>
        </p:txBody>
      </p:sp>
      <p:sp>
        <p:nvSpPr>
          <p:cNvPr id="47" name="Shape 45"/>
          <p:cNvSpPr/>
          <p:nvPr/>
        </p:nvSpPr>
        <p:spPr>
          <a:xfrm>
            <a:off x="1022985" y="5240496"/>
            <a:ext cx="1076166" cy="152400"/>
          </a:xfrm>
          <a:prstGeom prst="roundRect">
            <a:avLst>
              <a:gd name="adj" fmla="val 25000"/>
            </a:avLst>
          </a:prstGeom>
          <a:solidFill>
            <a:srgbClr val="94A3B8"/>
          </a:solidFill>
          <a:ln/>
        </p:spPr>
      </p:sp>
      <p:sp>
        <p:nvSpPr>
          <p:cNvPr id="48" name="Text 46"/>
          <p:cNvSpPr/>
          <p:nvPr/>
        </p:nvSpPr>
        <p:spPr>
          <a:xfrm>
            <a:off x="4528185" y="4553903"/>
            <a:ext cx="376872" cy="238919"/>
          </a:xfrm>
          <a:prstGeom prst="rect">
            <a:avLst/>
          </a:prstGeom>
          <a:noFill/>
          <a:ln/>
        </p:spPr>
        <p:txBody>
          <a:bodyPr wrap="square" lIns="25400" tIns="25400" rIns="25400" bIns="25400" rtlCol="0" anchor="t">
            <a:normAutofit/>
          </a:bodyPr>
          <a:lstStyle/>
          <a:p>
            <a:pPr algn="l" indent="0" marL="0">
              <a:lnSpc>
                <a:spcPct val="155024"/>
              </a:lnSpc>
              <a:buNone/>
            </a:pPr>
            <a:r>
              <a:rPr lang="en-US" sz="1020" b="1" dirty="0">
                <a:solidFill>
                  <a:srgbClr val="0B1220"/>
                </a:solidFill>
                <a:latin typeface="Arial" pitchFamily="34" charset="0"/>
                <a:ea typeface="Arial" pitchFamily="34" charset="-122"/>
                <a:cs typeface="Arial" pitchFamily="34" charset="-120"/>
              </a:rPr>
              <a:t>20%</a:t>
            </a:r>
            <a:endParaRPr lang="en-US" sz="1020" dirty="0"/>
          </a:p>
        </p:txBody>
      </p:sp>
      <p:sp>
        <p:nvSpPr>
          <p:cNvPr id="49" name="Shape 47"/>
          <p:cNvSpPr/>
          <p:nvPr/>
        </p:nvSpPr>
        <p:spPr>
          <a:xfrm>
            <a:off x="2156301" y="4783296"/>
            <a:ext cx="5044440" cy="609600"/>
          </a:xfrm>
          <a:prstGeom prst="roundRect">
            <a:avLst>
              <a:gd name="adj" fmla="val 6250"/>
            </a:avLst>
          </a:prstGeom>
          <a:solidFill>
            <a:srgbClr val="EF4444"/>
          </a:solidFill>
          <a:ln/>
        </p:spPr>
      </p:sp>
      <p:sp>
        <p:nvSpPr>
          <p:cNvPr id="50" name="Text 48"/>
          <p:cNvSpPr/>
          <p:nvPr/>
        </p:nvSpPr>
        <p:spPr>
          <a:xfrm>
            <a:off x="7603490" y="4582478"/>
            <a:ext cx="376872" cy="238919"/>
          </a:xfrm>
          <a:prstGeom prst="rect">
            <a:avLst/>
          </a:prstGeom>
          <a:noFill/>
          <a:ln/>
        </p:spPr>
        <p:txBody>
          <a:bodyPr wrap="square" lIns="25400" tIns="25400" rIns="25400" bIns="25400" rtlCol="0" anchor="t">
            <a:normAutofit/>
          </a:bodyPr>
          <a:lstStyle/>
          <a:p>
            <a:pPr algn="l" indent="0" marL="0">
              <a:lnSpc>
                <a:spcPct val="155024"/>
              </a:lnSpc>
              <a:buNone/>
            </a:pPr>
            <a:r>
              <a:rPr lang="en-US" sz="1020" b="1" dirty="0">
                <a:solidFill>
                  <a:srgbClr val="0B1220"/>
                </a:solidFill>
                <a:latin typeface="Arial" pitchFamily="34" charset="0"/>
                <a:ea typeface="Arial" pitchFamily="34" charset="-122"/>
                <a:cs typeface="Arial" pitchFamily="34" charset="-120"/>
              </a:rPr>
              <a:t>19%</a:t>
            </a:r>
            <a:endParaRPr lang="en-US" sz="1020" dirty="0"/>
          </a:p>
        </p:txBody>
      </p:sp>
      <p:sp>
        <p:nvSpPr>
          <p:cNvPr id="51" name="Shape 49"/>
          <p:cNvSpPr/>
          <p:nvPr/>
        </p:nvSpPr>
        <p:spPr>
          <a:xfrm>
            <a:off x="7257891" y="4811871"/>
            <a:ext cx="992029" cy="581025"/>
          </a:xfrm>
          <a:prstGeom prst="roundRect">
            <a:avLst>
              <a:gd name="adj" fmla="val 6557"/>
            </a:avLst>
          </a:prstGeom>
          <a:solidFill>
            <a:srgbClr val="F59E0B"/>
          </a:solidFill>
          <a:ln/>
        </p:spPr>
      </p:sp>
      <p:sp>
        <p:nvSpPr>
          <p:cNvPr id="52" name="Text 50"/>
          <p:cNvSpPr/>
          <p:nvPr/>
        </p:nvSpPr>
        <p:spPr>
          <a:xfrm>
            <a:off x="9157176" y="4072731"/>
            <a:ext cx="376872" cy="238919"/>
          </a:xfrm>
          <a:prstGeom prst="rect">
            <a:avLst/>
          </a:prstGeom>
          <a:noFill/>
          <a:ln/>
        </p:spPr>
        <p:txBody>
          <a:bodyPr wrap="square" lIns="25400" tIns="25400" rIns="25400" bIns="25400" rtlCol="0" anchor="t">
            <a:normAutofit/>
          </a:bodyPr>
          <a:lstStyle/>
          <a:p>
            <a:pPr algn="l" indent="0" marL="0">
              <a:lnSpc>
                <a:spcPct val="155024"/>
              </a:lnSpc>
              <a:buNone/>
            </a:pPr>
            <a:r>
              <a:rPr lang="en-US" sz="1020" b="1" dirty="0">
                <a:solidFill>
                  <a:srgbClr val="0B1220"/>
                </a:solidFill>
                <a:latin typeface="Arial" pitchFamily="34" charset="0"/>
                <a:ea typeface="Arial" pitchFamily="34" charset="-122"/>
                <a:cs typeface="Arial" pitchFamily="34" charset="-120"/>
              </a:rPr>
              <a:t>38%</a:t>
            </a:r>
            <a:endParaRPr lang="en-US" sz="1020" dirty="0"/>
          </a:p>
        </p:txBody>
      </p:sp>
      <p:sp>
        <p:nvSpPr>
          <p:cNvPr id="53" name="Shape 51"/>
          <p:cNvSpPr/>
          <p:nvPr/>
        </p:nvSpPr>
        <p:spPr>
          <a:xfrm>
            <a:off x="8307070" y="4302125"/>
            <a:ext cx="2000885" cy="1090771"/>
          </a:xfrm>
          <a:prstGeom prst="roundRect">
            <a:avLst>
              <a:gd name="adj" fmla="val 3493"/>
            </a:avLst>
          </a:prstGeom>
          <a:solidFill>
            <a:srgbClr val="10B981"/>
          </a:solidFill>
          <a:ln/>
        </p:spPr>
      </p:sp>
      <p:sp>
        <p:nvSpPr>
          <p:cNvPr id="54" name="Text 52"/>
          <p:cNvSpPr/>
          <p:nvPr/>
        </p:nvSpPr>
        <p:spPr>
          <a:xfrm>
            <a:off x="10794841" y="4458653"/>
            <a:ext cx="376872" cy="238919"/>
          </a:xfrm>
          <a:prstGeom prst="rect">
            <a:avLst/>
          </a:prstGeom>
          <a:noFill/>
          <a:ln/>
        </p:spPr>
        <p:txBody>
          <a:bodyPr wrap="square" lIns="25400" tIns="25400" rIns="25400" bIns="25400" rtlCol="0" anchor="t">
            <a:normAutofit/>
          </a:bodyPr>
          <a:lstStyle/>
          <a:p>
            <a:pPr algn="l" indent="0" marL="0">
              <a:lnSpc>
                <a:spcPct val="155024"/>
              </a:lnSpc>
              <a:buNone/>
            </a:pPr>
            <a:r>
              <a:rPr lang="en-US" sz="1020" b="1" dirty="0">
                <a:solidFill>
                  <a:srgbClr val="0B1220"/>
                </a:solidFill>
                <a:latin typeface="Arial" pitchFamily="34" charset="0"/>
                <a:ea typeface="Arial" pitchFamily="34" charset="-122"/>
                <a:cs typeface="Arial" pitchFamily="34" charset="-120"/>
              </a:rPr>
              <a:t>23%</a:t>
            </a:r>
            <a:endParaRPr lang="en-US" sz="1020" dirty="0"/>
          </a:p>
        </p:txBody>
      </p:sp>
      <p:sp>
        <p:nvSpPr>
          <p:cNvPr id="55" name="Shape 53"/>
          <p:cNvSpPr/>
          <p:nvPr/>
        </p:nvSpPr>
        <p:spPr>
          <a:xfrm>
            <a:off x="10365105" y="4688046"/>
            <a:ext cx="1160145" cy="704850"/>
          </a:xfrm>
          <a:prstGeom prst="roundRect">
            <a:avLst>
              <a:gd name="adj" fmla="val 5405"/>
            </a:avLst>
          </a:prstGeom>
          <a:solidFill>
            <a:srgbClr val="4F46E5"/>
          </a:solidFill>
          <a:ln/>
        </p:spPr>
      </p:sp>
      <p:sp>
        <p:nvSpPr>
          <p:cNvPr id="56" name="Text 54"/>
          <p:cNvSpPr/>
          <p:nvPr/>
        </p:nvSpPr>
        <p:spPr>
          <a:xfrm>
            <a:off x="990600" y="5463381"/>
            <a:ext cx="1157764" cy="168910"/>
          </a:xfrm>
          <a:prstGeom prst="rect">
            <a:avLst/>
          </a:prstGeom>
          <a:noFill/>
          <a:ln/>
        </p:spPr>
        <p:txBody>
          <a:bodyPr wrap="square" lIns="25400" tIns="25400" rIns="25400" bIns="25400" rtlCol="0" anchor="t">
            <a:normAutofit/>
          </a:bodyPr>
          <a:lstStyle/>
          <a:p>
            <a:pPr algn="ctr" indent="0" marL="0">
              <a:lnSpc>
                <a:spcPct val="110042"/>
              </a:lnSpc>
              <a:buNone/>
            </a:pPr>
            <a:r>
              <a:rPr lang="en-US" sz="936" b="1" dirty="0">
                <a:solidFill>
                  <a:srgbClr val="0B1220"/>
                </a:solidFill>
                <a:latin typeface="Arial" pitchFamily="34" charset="0"/>
                <a:ea typeface="Arial" pitchFamily="34" charset="-122"/>
                <a:cs typeface="Arial" pitchFamily="34" charset="-120"/>
              </a:rPr>
              <a:t>Credit invisible</a:t>
            </a:r>
            <a:endParaRPr lang="en-US" sz="936" dirty="0"/>
          </a:p>
        </p:txBody>
      </p:sp>
      <p:sp>
        <p:nvSpPr>
          <p:cNvPr id="57" name="Text 55"/>
          <p:cNvSpPr/>
          <p:nvPr/>
        </p:nvSpPr>
        <p:spPr>
          <a:xfrm>
            <a:off x="990600" y="5603716"/>
            <a:ext cx="1157764" cy="208121"/>
          </a:xfrm>
          <a:prstGeom prst="rect">
            <a:avLst/>
          </a:prstGeom>
          <a:noFill/>
          <a:ln/>
        </p:spPr>
        <p:txBody>
          <a:bodyPr wrap="square" lIns="25400" tIns="25400" rIns="25400" bIns="25400" rtlCol="0" anchor="t">
            <a:normAutofit/>
          </a:bodyPr>
          <a:lstStyle/>
          <a:p>
            <a:pPr algn="ctr" indent="0" marL="0">
              <a:lnSpc>
                <a:spcPct val="154948"/>
              </a:lnSpc>
              <a:buNone/>
            </a:pPr>
            <a:r>
              <a:rPr lang="en-US" sz="864" dirty="0">
                <a:solidFill>
                  <a:srgbClr val="5B6472"/>
                </a:solidFill>
                <a:latin typeface="Arial" pitchFamily="34" charset="0"/>
                <a:ea typeface="Arial" pitchFamily="34" charset="-122"/>
                <a:cs typeface="Arial" pitchFamily="34" charset="-120"/>
              </a:rPr>
              <a:t>no file</a:t>
            </a:r>
            <a:endParaRPr lang="en-US" sz="864" dirty="0"/>
          </a:p>
        </p:txBody>
      </p:sp>
      <p:sp>
        <p:nvSpPr>
          <p:cNvPr id="58" name="Text 56"/>
          <p:cNvSpPr/>
          <p:nvPr/>
        </p:nvSpPr>
        <p:spPr>
          <a:xfrm>
            <a:off x="1913938" y="5463381"/>
            <a:ext cx="5576475" cy="168910"/>
          </a:xfrm>
          <a:prstGeom prst="rect">
            <a:avLst/>
          </a:prstGeom>
          <a:noFill/>
          <a:ln/>
        </p:spPr>
        <p:txBody>
          <a:bodyPr wrap="square" lIns="25400" tIns="25400" rIns="25400" bIns="25400" rtlCol="0" anchor="t">
            <a:normAutofit/>
          </a:bodyPr>
          <a:lstStyle/>
          <a:p>
            <a:pPr algn="ctr" indent="0" marL="0">
              <a:lnSpc>
                <a:spcPct val="110042"/>
              </a:lnSpc>
              <a:buNone/>
            </a:pPr>
            <a:r>
              <a:rPr lang="en-US" sz="936" b="1" dirty="0">
                <a:solidFill>
                  <a:srgbClr val="0B1220"/>
                </a:solidFill>
                <a:latin typeface="Arial" pitchFamily="34" charset="0"/>
                <a:ea typeface="Arial" pitchFamily="34" charset="-122"/>
                <a:cs typeface="Arial" pitchFamily="34" charset="-120"/>
              </a:rPr>
              <a:t>Subprime</a:t>
            </a:r>
            <a:endParaRPr lang="en-US" sz="936" dirty="0"/>
          </a:p>
        </p:txBody>
      </p:sp>
      <p:sp>
        <p:nvSpPr>
          <p:cNvPr id="59" name="Text 57"/>
          <p:cNvSpPr/>
          <p:nvPr/>
        </p:nvSpPr>
        <p:spPr>
          <a:xfrm>
            <a:off x="1913938" y="5603716"/>
            <a:ext cx="5576475" cy="208121"/>
          </a:xfrm>
          <a:prstGeom prst="rect">
            <a:avLst/>
          </a:prstGeom>
          <a:noFill/>
          <a:ln/>
        </p:spPr>
        <p:txBody>
          <a:bodyPr wrap="square" lIns="25400" tIns="25400" rIns="25400" bIns="25400" rtlCol="0" anchor="t">
            <a:normAutofit/>
          </a:bodyPr>
          <a:lstStyle/>
          <a:p>
            <a:pPr algn="ctr" indent="0" marL="0">
              <a:lnSpc>
                <a:spcPct val="154948"/>
              </a:lnSpc>
              <a:buNone/>
            </a:pPr>
            <a:r>
              <a:rPr lang="en-US" sz="864" dirty="0">
                <a:solidFill>
                  <a:srgbClr val="5B6472"/>
                </a:solidFill>
                <a:latin typeface="Arial" pitchFamily="34" charset="0"/>
                <a:ea typeface="Arial" pitchFamily="34" charset="-122"/>
                <a:cs typeface="Arial" pitchFamily="34" charset="-120"/>
              </a:rPr>
              <a:t>300–600</a:t>
            </a:r>
            <a:endParaRPr lang="en-US" sz="864" dirty="0"/>
          </a:p>
        </p:txBody>
      </p:sp>
      <p:sp>
        <p:nvSpPr>
          <p:cNvPr id="60" name="Text 58"/>
          <p:cNvSpPr/>
          <p:nvPr/>
        </p:nvSpPr>
        <p:spPr>
          <a:xfrm>
            <a:off x="7255986" y="5463381"/>
            <a:ext cx="1073309" cy="168910"/>
          </a:xfrm>
          <a:prstGeom prst="rect">
            <a:avLst/>
          </a:prstGeom>
          <a:noFill/>
          <a:ln/>
        </p:spPr>
        <p:txBody>
          <a:bodyPr wrap="square" lIns="25400" tIns="25400" rIns="25400" bIns="25400" rtlCol="0" anchor="t">
            <a:normAutofit/>
          </a:bodyPr>
          <a:lstStyle/>
          <a:p>
            <a:pPr algn="ctr" indent="0" marL="0">
              <a:lnSpc>
                <a:spcPct val="110042"/>
              </a:lnSpc>
              <a:buNone/>
            </a:pPr>
            <a:r>
              <a:rPr lang="en-US" sz="936" b="1" dirty="0">
                <a:solidFill>
                  <a:srgbClr val="0B1220"/>
                </a:solidFill>
                <a:latin typeface="Arial" pitchFamily="34" charset="0"/>
                <a:ea typeface="Arial" pitchFamily="34" charset="-122"/>
                <a:cs typeface="Arial" pitchFamily="34" charset="-120"/>
              </a:rPr>
              <a:t>Near prime</a:t>
            </a:r>
            <a:endParaRPr lang="en-US" sz="936" dirty="0"/>
          </a:p>
        </p:txBody>
      </p:sp>
      <p:sp>
        <p:nvSpPr>
          <p:cNvPr id="61" name="Text 59"/>
          <p:cNvSpPr/>
          <p:nvPr/>
        </p:nvSpPr>
        <p:spPr>
          <a:xfrm>
            <a:off x="7255986" y="5603716"/>
            <a:ext cx="1073309" cy="208121"/>
          </a:xfrm>
          <a:prstGeom prst="rect">
            <a:avLst/>
          </a:prstGeom>
          <a:noFill/>
          <a:ln/>
        </p:spPr>
        <p:txBody>
          <a:bodyPr wrap="square" lIns="25400" tIns="25400" rIns="25400" bIns="25400" rtlCol="0" anchor="t">
            <a:normAutofit/>
          </a:bodyPr>
          <a:lstStyle/>
          <a:p>
            <a:pPr algn="ctr" indent="0" marL="0">
              <a:lnSpc>
                <a:spcPct val="154948"/>
              </a:lnSpc>
              <a:buNone/>
            </a:pPr>
            <a:r>
              <a:rPr lang="en-US" sz="864" dirty="0">
                <a:solidFill>
                  <a:srgbClr val="5B6472"/>
                </a:solidFill>
                <a:latin typeface="Arial" pitchFamily="34" charset="0"/>
                <a:ea typeface="Arial" pitchFamily="34" charset="-122"/>
                <a:cs typeface="Arial" pitchFamily="34" charset="-120"/>
              </a:rPr>
              <a:t>601–660</a:t>
            </a:r>
            <a:endParaRPr lang="en-US" sz="864" dirty="0"/>
          </a:p>
        </p:txBody>
      </p:sp>
      <p:sp>
        <p:nvSpPr>
          <p:cNvPr id="62" name="Text 60"/>
          <p:cNvSpPr/>
          <p:nvPr/>
        </p:nvSpPr>
        <p:spPr>
          <a:xfrm>
            <a:off x="8247801" y="5463381"/>
            <a:ext cx="2211975" cy="168910"/>
          </a:xfrm>
          <a:prstGeom prst="rect">
            <a:avLst/>
          </a:prstGeom>
          <a:noFill/>
          <a:ln/>
        </p:spPr>
        <p:txBody>
          <a:bodyPr wrap="square" lIns="25400" tIns="25400" rIns="25400" bIns="25400" rtlCol="0" anchor="t">
            <a:normAutofit/>
          </a:bodyPr>
          <a:lstStyle/>
          <a:p>
            <a:pPr algn="ctr" indent="0" marL="0">
              <a:lnSpc>
                <a:spcPct val="110042"/>
              </a:lnSpc>
              <a:buNone/>
            </a:pPr>
            <a:r>
              <a:rPr lang="en-US" sz="936" b="1" dirty="0">
                <a:solidFill>
                  <a:srgbClr val="0B1220"/>
                </a:solidFill>
                <a:latin typeface="Arial" pitchFamily="34" charset="0"/>
                <a:ea typeface="Arial" pitchFamily="34" charset="-122"/>
                <a:cs typeface="Arial" pitchFamily="34" charset="-120"/>
              </a:rPr>
              <a:t>Prime</a:t>
            </a:r>
            <a:endParaRPr lang="en-US" sz="936" dirty="0"/>
          </a:p>
        </p:txBody>
      </p:sp>
      <p:sp>
        <p:nvSpPr>
          <p:cNvPr id="63" name="Text 61"/>
          <p:cNvSpPr/>
          <p:nvPr/>
        </p:nvSpPr>
        <p:spPr>
          <a:xfrm>
            <a:off x="8247801" y="5603716"/>
            <a:ext cx="2211975" cy="208121"/>
          </a:xfrm>
          <a:prstGeom prst="rect">
            <a:avLst/>
          </a:prstGeom>
          <a:noFill/>
          <a:ln/>
        </p:spPr>
        <p:txBody>
          <a:bodyPr wrap="square" lIns="25400" tIns="25400" rIns="25400" bIns="25400" rtlCol="0" anchor="t">
            <a:normAutofit/>
          </a:bodyPr>
          <a:lstStyle/>
          <a:p>
            <a:pPr algn="ctr" indent="0" marL="0">
              <a:lnSpc>
                <a:spcPct val="154948"/>
              </a:lnSpc>
              <a:buNone/>
            </a:pPr>
            <a:r>
              <a:rPr lang="en-US" sz="864" dirty="0">
                <a:solidFill>
                  <a:srgbClr val="5B6472"/>
                </a:solidFill>
                <a:latin typeface="Arial" pitchFamily="34" charset="0"/>
                <a:ea typeface="Arial" pitchFamily="34" charset="-122"/>
                <a:cs typeface="Arial" pitchFamily="34" charset="-120"/>
              </a:rPr>
              <a:t>661–780</a:t>
            </a:r>
            <a:endParaRPr lang="en-US" sz="864" dirty="0"/>
          </a:p>
        </p:txBody>
      </p:sp>
      <p:sp>
        <p:nvSpPr>
          <p:cNvPr id="64" name="Text 62"/>
          <p:cNvSpPr/>
          <p:nvPr/>
        </p:nvSpPr>
        <p:spPr>
          <a:xfrm>
            <a:off x="10378282" y="5463381"/>
            <a:ext cx="1242219" cy="168910"/>
          </a:xfrm>
          <a:prstGeom prst="rect">
            <a:avLst/>
          </a:prstGeom>
          <a:noFill/>
          <a:ln/>
        </p:spPr>
        <p:txBody>
          <a:bodyPr wrap="square" lIns="25400" tIns="25400" rIns="25400" bIns="25400" rtlCol="0" anchor="t">
            <a:normAutofit/>
          </a:bodyPr>
          <a:lstStyle/>
          <a:p>
            <a:pPr algn="ctr" indent="0" marL="0">
              <a:lnSpc>
                <a:spcPct val="110042"/>
              </a:lnSpc>
              <a:buNone/>
            </a:pPr>
            <a:r>
              <a:rPr lang="en-US" sz="936" b="1" dirty="0">
                <a:solidFill>
                  <a:srgbClr val="0B1220"/>
                </a:solidFill>
                <a:latin typeface="Arial" pitchFamily="34" charset="0"/>
                <a:ea typeface="Arial" pitchFamily="34" charset="-122"/>
                <a:cs typeface="Arial" pitchFamily="34" charset="-120"/>
              </a:rPr>
              <a:t>Super prime</a:t>
            </a:r>
            <a:endParaRPr lang="en-US" sz="936" dirty="0"/>
          </a:p>
        </p:txBody>
      </p:sp>
      <p:sp>
        <p:nvSpPr>
          <p:cNvPr id="65" name="Text 63"/>
          <p:cNvSpPr/>
          <p:nvPr/>
        </p:nvSpPr>
        <p:spPr>
          <a:xfrm>
            <a:off x="10378282" y="5603716"/>
            <a:ext cx="1242219" cy="208121"/>
          </a:xfrm>
          <a:prstGeom prst="rect">
            <a:avLst/>
          </a:prstGeom>
          <a:noFill/>
          <a:ln/>
        </p:spPr>
        <p:txBody>
          <a:bodyPr wrap="square" lIns="25400" tIns="25400" rIns="25400" bIns="25400" rtlCol="0" anchor="t">
            <a:normAutofit/>
          </a:bodyPr>
          <a:lstStyle/>
          <a:p>
            <a:pPr algn="ctr" indent="0" marL="0">
              <a:lnSpc>
                <a:spcPct val="154948"/>
              </a:lnSpc>
              <a:buNone/>
            </a:pPr>
            <a:r>
              <a:rPr lang="en-US" sz="864" dirty="0">
                <a:solidFill>
                  <a:srgbClr val="5B6472"/>
                </a:solidFill>
                <a:latin typeface="Arial" pitchFamily="34" charset="0"/>
                <a:ea typeface="Arial" pitchFamily="34" charset="-122"/>
                <a:cs typeface="Arial" pitchFamily="34" charset="-120"/>
              </a:rPr>
              <a:t>781–850</a:t>
            </a:r>
            <a:endParaRPr lang="en-US" sz="864" dirty="0"/>
          </a:p>
        </p:txBody>
      </p:sp>
      <p:sp>
        <p:nvSpPr>
          <p:cNvPr id="66" name="Text 64"/>
          <p:cNvSpPr/>
          <p:nvPr/>
        </p:nvSpPr>
        <p:spPr>
          <a:xfrm>
            <a:off x="609600" y="5888038"/>
            <a:ext cx="12070080"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94A3B8"/>
                </a:solidFill>
                <a:latin typeface="Arial" pitchFamily="34" charset="0"/>
                <a:ea typeface="Arial" pitchFamily="34" charset="-122"/>
                <a:cs typeface="Arial" pitchFamily="34" charset="-120"/>
              </a:rPr>
              <a:t>FICO bands: Experian, 2025 · VantageScore bands: LendingTree / VantageScore, 2024 · Credit-invisible: CFPB. Heights are approximate shares.</a:t>
            </a:r>
            <a:endParaRPr lang="en-US" sz="1125" dirty="0"/>
          </a:p>
        </p:txBody>
      </p:sp>
      <p:sp>
        <p:nvSpPr>
          <p:cNvPr id="67" name="Text 65"/>
          <p:cNvSpPr/>
          <p:nvPr/>
        </p:nvSpPr>
        <p:spPr>
          <a:xfrm>
            <a:off x="10684511" y="6056471"/>
            <a:ext cx="97409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1 · Credit</a:t>
            </a:r>
            <a:endParaRPr lang="en-US" sz="97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09600"/>
            <a:ext cx="1207008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M3 · CREDIT SCORES</a:t>
            </a:r>
            <a:endParaRPr lang="en-US" sz="975" dirty="0"/>
          </a:p>
        </p:txBody>
      </p:sp>
      <p:sp>
        <p:nvSpPr>
          <p:cNvPr id="8" name="Text 6"/>
          <p:cNvSpPr/>
          <p:nvPr/>
        </p:nvSpPr>
        <p:spPr>
          <a:xfrm>
            <a:off x="609600" y="915829"/>
            <a:ext cx="12070080"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60" kern="0" dirty="0">
                <a:solidFill>
                  <a:srgbClr val="0B1220"/>
                </a:solidFill>
                <a:latin typeface="Arial" pitchFamily="34" charset="0"/>
                <a:ea typeface="Arial" pitchFamily="34" charset="-122"/>
                <a:cs typeface="Arial" pitchFamily="34" charset="-120"/>
              </a:rPr>
              <a:t>What moves each score</a:t>
            </a:r>
            <a:endParaRPr lang="en-US" sz="3000" dirty="0"/>
          </a:p>
        </p:txBody>
      </p:sp>
      <p:sp>
        <p:nvSpPr>
          <p:cNvPr id="9" name="Text 7"/>
          <p:cNvSpPr/>
          <p:nvPr/>
        </p:nvSpPr>
        <p:spPr>
          <a:xfrm>
            <a:off x="3029903" y="1430179"/>
            <a:ext cx="531336"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dirty="0">
                <a:solidFill>
                  <a:srgbClr val="0B1220"/>
                </a:solidFill>
                <a:latin typeface="Arial" pitchFamily="34" charset="0"/>
                <a:ea typeface="Arial" pitchFamily="34" charset="-122"/>
                <a:cs typeface="Arial" pitchFamily="34" charset="-120"/>
              </a:rPr>
              <a:t>FICO</a:t>
            </a:r>
            <a:endParaRPr lang="en-US" sz="1500" dirty="0"/>
          </a:p>
        </p:txBody>
      </p:sp>
      <p:pic>
        <p:nvPicPr>
          <p:cNvPr id="1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381250" y="1801654"/>
            <a:ext cx="1752600" cy="1752600"/>
          </a:xfrm>
          <a:prstGeom prst="rect">
            <a:avLst/>
          </a:prstGeom>
        </p:spPr>
      </p:pic>
      <p:sp>
        <p:nvSpPr>
          <p:cNvPr id="11" name="Shape 8"/>
          <p:cNvSpPr/>
          <p:nvPr/>
        </p:nvSpPr>
        <p:spPr>
          <a:xfrm>
            <a:off x="1638300" y="3774916"/>
            <a:ext cx="114300" cy="114300"/>
          </a:xfrm>
          <a:prstGeom prst="roundRect">
            <a:avLst>
              <a:gd name="adj" fmla="val 25000"/>
            </a:avLst>
          </a:prstGeom>
          <a:solidFill>
            <a:srgbClr val="4F46E5"/>
          </a:solidFill>
          <a:ln/>
        </p:spPr>
      </p:sp>
      <p:sp>
        <p:nvSpPr>
          <p:cNvPr id="12" name="Text 9"/>
          <p:cNvSpPr/>
          <p:nvPr/>
        </p:nvSpPr>
        <p:spPr>
          <a:xfrm>
            <a:off x="1847850" y="3706654"/>
            <a:ext cx="495300"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b="1" dirty="0">
                <a:solidFill>
                  <a:srgbClr val="4F46E5"/>
                </a:solidFill>
                <a:latin typeface="Arial" pitchFamily="34" charset="0"/>
                <a:ea typeface="Arial" pitchFamily="34" charset="-122"/>
                <a:cs typeface="Arial" pitchFamily="34" charset="-120"/>
              </a:rPr>
              <a:t>35%</a:t>
            </a:r>
            <a:endParaRPr lang="en-US" sz="1275" dirty="0"/>
          </a:p>
        </p:txBody>
      </p:sp>
      <p:sp>
        <p:nvSpPr>
          <p:cNvPr id="13" name="Text 10"/>
          <p:cNvSpPr/>
          <p:nvPr/>
        </p:nvSpPr>
        <p:spPr>
          <a:xfrm>
            <a:off x="2362200" y="3713956"/>
            <a:ext cx="1240631" cy="274320"/>
          </a:xfrm>
          <a:prstGeom prst="rect">
            <a:avLst/>
          </a:prstGeom>
          <a:noFill/>
          <a:ln/>
        </p:spPr>
        <p:txBody>
          <a:bodyPr wrap="square" lIns="25400" tIns="25400" rIns="25400" bIns="25400" rtlCol="0" anchor="t">
            <a:normAutofit/>
          </a:bodyPr>
          <a:lstStyle/>
          <a:p>
            <a:pPr algn="l" indent="0" marL="0">
              <a:lnSpc>
                <a:spcPct val="155000"/>
              </a:lnSpc>
              <a:buNone/>
            </a:pPr>
            <a:r>
              <a:rPr lang="en-US" sz="1200" dirty="0">
                <a:solidFill>
                  <a:srgbClr val="0B1220"/>
                </a:solidFill>
                <a:latin typeface="Arial" pitchFamily="34" charset="0"/>
                <a:ea typeface="Arial" pitchFamily="34" charset="-122"/>
                <a:cs typeface="Arial" pitchFamily="34" charset="-120"/>
              </a:rPr>
              <a:t>Payment history</a:t>
            </a:r>
            <a:endParaRPr lang="en-US" sz="1200" dirty="0"/>
          </a:p>
        </p:txBody>
      </p:sp>
      <p:sp>
        <p:nvSpPr>
          <p:cNvPr id="14" name="Shape 11"/>
          <p:cNvSpPr/>
          <p:nvPr/>
        </p:nvSpPr>
        <p:spPr>
          <a:xfrm>
            <a:off x="1638300" y="4102100"/>
            <a:ext cx="114300" cy="114300"/>
          </a:xfrm>
          <a:prstGeom prst="roundRect">
            <a:avLst>
              <a:gd name="adj" fmla="val 25000"/>
            </a:avLst>
          </a:prstGeom>
          <a:solidFill>
            <a:srgbClr val="10B981"/>
          </a:solidFill>
          <a:ln/>
        </p:spPr>
      </p:sp>
      <p:sp>
        <p:nvSpPr>
          <p:cNvPr id="15" name="Text 12"/>
          <p:cNvSpPr/>
          <p:nvPr/>
        </p:nvSpPr>
        <p:spPr>
          <a:xfrm>
            <a:off x="1847850" y="4033837"/>
            <a:ext cx="495300"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b="1" dirty="0">
                <a:solidFill>
                  <a:srgbClr val="10B981"/>
                </a:solidFill>
                <a:latin typeface="Arial" pitchFamily="34" charset="0"/>
                <a:ea typeface="Arial" pitchFamily="34" charset="-122"/>
                <a:cs typeface="Arial" pitchFamily="34" charset="-120"/>
              </a:rPr>
              <a:t>30%</a:t>
            </a:r>
            <a:endParaRPr lang="en-US" sz="1275" dirty="0"/>
          </a:p>
        </p:txBody>
      </p:sp>
      <p:sp>
        <p:nvSpPr>
          <p:cNvPr id="16" name="Text 13"/>
          <p:cNvSpPr/>
          <p:nvPr/>
        </p:nvSpPr>
        <p:spPr>
          <a:xfrm>
            <a:off x="2362200" y="4041140"/>
            <a:ext cx="2109470" cy="274320"/>
          </a:xfrm>
          <a:prstGeom prst="rect">
            <a:avLst/>
          </a:prstGeom>
          <a:noFill/>
          <a:ln/>
        </p:spPr>
        <p:txBody>
          <a:bodyPr wrap="square" lIns="25400" tIns="25400" rIns="25400" bIns="25400" rtlCol="0" anchor="t">
            <a:normAutofit/>
          </a:bodyPr>
          <a:lstStyle/>
          <a:p>
            <a:pPr algn="l" indent="0" marL="0">
              <a:lnSpc>
                <a:spcPct val="155000"/>
              </a:lnSpc>
              <a:buNone/>
            </a:pPr>
            <a:r>
              <a:rPr lang="en-US" sz="1200" dirty="0">
                <a:solidFill>
                  <a:srgbClr val="0B1220"/>
                </a:solidFill>
                <a:latin typeface="Arial" pitchFamily="34" charset="0"/>
                <a:ea typeface="Arial" pitchFamily="34" charset="-122"/>
                <a:cs typeface="Arial" pitchFamily="34" charset="-120"/>
              </a:rPr>
              <a:t>Amounts owed (utilization)</a:t>
            </a:r>
            <a:endParaRPr lang="en-US" sz="1200" dirty="0"/>
          </a:p>
        </p:txBody>
      </p:sp>
      <p:sp>
        <p:nvSpPr>
          <p:cNvPr id="17" name="Shape 14"/>
          <p:cNvSpPr/>
          <p:nvPr/>
        </p:nvSpPr>
        <p:spPr>
          <a:xfrm>
            <a:off x="1638300" y="4429284"/>
            <a:ext cx="114300" cy="114300"/>
          </a:xfrm>
          <a:prstGeom prst="roundRect">
            <a:avLst>
              <a:gd name="adj" fmla="val 25000"/>
            </a:avLst>
          </a:prstGeom>
          <a:solidFill>
            <a:srgbClr val="F59E0B"/>
          </a:solidFill>
          <a:ln/>
        </p:spPr>
      </p:sp>
      <p:sp>
        <p:nvSpPr>
          <p:cNvPr id="18" name="Text 15"/>
          <p:cNvSpPr/>
          <p:nvPr/>
        </p:nvSpPr>
        <p:spPr>
          <a:xfrm>
            <a:off x="1847850" y="4361021"/>
            <a:ext cx="495300"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b="1" dirty="0">
                <a:solidFill>
                  <a:srgbClr val="F59E0B"/>
                </a:solidFill>
                <a:latin typeface="Arial" pitchFamily="34" charset="0"/>
                <a:ea typeface="Arial" pitchFamily="34" charset="-122"/>
                <a:cs typeface="Arial" pitchFamily="34" charset="-120"/>
              </a:rPr>
              <a:t>15%</a:t>
            </a:r>
            <a:endParaRPr lang="en-US" sz="1275" dirty="0"/>
          </a:p>
        </p:txBody>
      </p:sp>
      <p:sp>
        <p:nvSpPr>
          <p:cNvPr id="19" name="Text 16"/>
          <p:cNvSpPr/>
          <p:nvPr/>
        </p:nvSpPr>
        <p:spPr>
          <a:xfrm>
            <a:off x="2362200" y="4368324"/>
            <a:ext cx="1347581" cy="274320"/>
          </a:xfrm>
          <a:prstGeom prst="rect">
            <a:avLst/>
          </a:prstGeom>
          <a:noFill/>
          <a:ln/>
        </p:spPr>
        <p:txBody>
          <a:bodyPr wrap="square" lIns="25400" tIns="25400" rIns="25400" bIns="25400" rtlCol="0" anchor="t">
            <a:normAutofit/>
          </a:bodyPr>
          <a:lstStyle/>
          <a:p>
            <a:pPr algn="l" indent="0" marL="0">
              <a:lnSpc>
                <a:spcPct val="155000"/>
              </a:lnSpc>
              <a:buNone/>
            </a:pPr>
            <a:r>
              <a:rPr lang="en-US" sz="1200" dirty="0">
                <a:solidFill>
                  <a:srgbClr val="0B1220"/>
                </a:solidFill>
                <a:latin typeface="Arial" pitchFamily="34" charset="0"/>
                <a:ea typeface="Arial" pitchFamily="34" charset="-122"/>
                <a:cs typeface="Arial" pitchFamily="34" charset="-120"/>
              </a:rPr>
              <a:t>Length of history</a:t>
            </a:r>
            <a:endParaRPr lang="en-US" sz="1200" dirty="0"/>
          </a:p>
        </p:txBody>
      </p:sp>
      <p:sp>
        <p:nvSpPr>
          <p:cNvPr id="20" name="Shape 17"/>
          <p:cNvSpPr/>
          <p:nvPr/>
        </p:nvSpPr>
        <p:spPr>
          <a:xfrm>
            <a:off x="1638300" y="4756468"/>
            <a:ext cx="114300" cy="114300"/>
          </a:xfrm>
          <a:prstGeom prst="roundRect">
            <a:avLst>
              <a:gd name="adj" fmla="val 25000"/>
            </a:avLst>
          </a:prstGeom>
          <a:solidFill>
            <a:srgbClr val="0EA5E9"/>
          </a:solidFill>
          <a:ln/>
        </p:spPr>
      </p:sp>
      <p:sp>
        <p:nvSpPr>
          <p:cNvPr id="21" name="Text 18"/>
          <p:cNvSpPr/>
          <p:nvPr/>
        </p:nvSpPr>
        <p:spPr>
          <a:xfrm>
            <a:off x="1847850" y="4688205"/>
            <a:ext cx="495300"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b="1" dirty="0">
                <a:solidFill>
                  <a:srgbClr val="0EA5E9"/>
                </a:solidFill>
                <a:latin typeface="Arial" pitchFamily="34" charset="0"/>
                <a:ea typeface="Arial" pitchFamily="34" charset="-122"/>
                <a:cs typeface="Arial" pitchFamily="34" charset="-120"/>
              </a:rPr>
              <a:t>10%</a:t>
            </a:r>
            <a:endParaRPr lang="en-US" sz="1275" dirty="0"/>
          </a:p>
        </p:txBody>
      </p:sp>
      <p:sp>
        <p:nvSpPr>
          <p:cNvPr id="22" name="Text 19"/>
          <p:cNvSpPr/>
          <p:nvPr/>
        </p:nvSpPr>
        <p:spPr>
          <a:xfrm>
            <a:off x="2362200" y="4695508"/>
            <a:ext cx="855662" cy="274320"/>
          </a:xfrm>
          <a:prstGeom prst="rect">
            <a:avLst/>
          </a:prstGeom>
          <a:noFill/>
          <a:ln/>
        </p:spPr>
        <p:txBody>
          <a:bodyPr wrap="square" lIns="25400" tIns="25400" rIns="25400" bIns="25400" rtlCol="0" anchor="t">
            <a:normAutofit/>
          </a:bodyPr>
          <a:lstStyle/>
          <a:p>
            <a:pPr algn="l" indent="0" marL="0">
              <a:lnSpc>
                <a:spcPct val="155000"/>
              </a:lnSpc>
              <a:buNone/>
            </a:pPr>
            <a:r>
              <a:rPr lang="en-US" sz="1200" dirty="0">
                <a:solidFill>
                  <a:srgbClr val="0B1220"/>
                </a:solidFill>
                <a:latin typeface="Arial" pitchFamily="34" charset="0"/>
                <a:ea typeface="Arial" pitchFamily="34" charset="-122"/>
                <a:cs typeface="Arial" pitchFamily="34" charset="-120"/>
              </a:rPr>
              <a:t>New credit</a:t>
            </a:r>
            <a:endParaRPr lang="en-US" sz="1200" dirty="0"/>
          </a:p>
        </p:txBody>
      </p:sp>
      <p:sp>
        <p:nvSpPr>
          <p:cNvPr id="23" name="Shape 20"/>
          <p:cNvSpPr/>
          <p:nvPr/>
        </p:nvSpPr>
        <p:spPr>
          <a:xfrm>
            <a:off x="1638300" y="5083651"/>
            <a:ext cx="114300" cy="114300"/>
          </a:xfrm>
          <a:prstGeom prst="roundRect">
            <a:avLst>
              <a:gd name="adj" fmla="val 25000"/>
            </a:avLst>
          </a:prstGeom>
          <a:solidFill>
            <a:srgbClr val="A855F7"/>
          </a:solidFill>
          <a:ln/>
        </p:spPr>
      </p:sp>
      <p:sp>
        <p:nvSpPr>
          <p:cNvPr id="24" name="Text 21"/>
          <p:cNvSpPr/>
          <p:nvPr/>
        </p:nvSpPr>
        <p:spPr>
          <a:xfrm>
            <a:off x="1847850" y="5015389"/>
            <a:ext cx="495300"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b="1" dirty="0">
                <a:solidFill>
                  <a:srgbClr val="A855F7"/>
                </a:solidFill>
                <a:latin typeface="Arial" pitchFamily="34" charset="0"/>
                <a:ea typeface="Arial" pitchFamily="34" charset="-122"/>
                <a:cs typeface="Arial" pitchFamily="34" charset="-120"/>
              </a:rPr>
              <a:t>10%</a:t>
            </a:r>
            <a:endParaRPr lang="en-US" sz="1275" dirty="0"/>
          </a:p>
        </p:txBody>
      </p:sp>
      <p:sp>
        <p:nvSpPr>
          <p:cNvPr id="25" name="Text 22"/>
          <p:cNvSpPr/>
          <p:nvPr/>
        </p:nvSpPr>
        <p:spPr>
          <a:xfrm>
            <a:off x="2362200" y="5022691"/>
            <a:ext cx="808037" cy="274320"/>
          </a:xfrm>
          <a:prstGeom prst="rect">
            <a:avLst/>
          </a:prstGeom>
          <a:noFill/>
          <a:ln/>
        </p:spPr>
        <p:txBody>
          <a:bodyPr wrap="square" lIns="25400" tIns="25400" rIns="25400" bIns="25400" rtlCol="0" anchor="t">
            <a:normAutofit/>
          </a:bodyPr>
          <a:lstStyle/>
          <a:p>
            <a:pPr algn="l" indent="0" marL="0">
              <a:lnSpc>
                <a:spcPct val="155000"/>
              </a:lnSpc>
              <a:buNone/>
            </a:pPr>
            <a:r>
              <a:rPr lang="en-US" sz="1200" dirty="0">
                <a:solidFill>
                  <a:srgbClr val="0B1220"/>
                </a:solidFill>
                <a:latin typeface="Arial" pitchFamily="34" charset="0"/>
                <a:ea typeface="Arial" pitchFamily="34" charset="-122"/>
                <a:cs typeface="Arial" pitchFamily="34" charset="-120"/>
              </a:rPr>
              <a:t>Credit mix</a:t>
            </a:r>
            <a:endParaRPr lang="en-US" sz="1200" dirty="0"/>
          </a:p>
        </p:txBody>
      </p:sp>
      <p:sp>
        <p:nvSpPr>
          <p:cNvPr id="26" name="Text 23"/>
          <p:cNvSpPr/>
          <p:nvPr/>
        </p:nvSpPr>
        <p:spPr>
          <a:xfrm>
            <a:off x="8086725" y="1430179"/>
            <a:ext cx="1864995"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dirty="0">
                <a:solidFill>
                  <a:srgbClr val="0B1220"/>
                </a:solidFill>
                <a:latin typeface="Arial" pitchFamily="34" charset="0"/>
                <a:ea typeface="Arial" pitchFamily="34" charset="-122"/>
                <a:cs typeface="Arial" pitchFamily="34" charset="-120"/>
              </a:rPr>
              <a:t>VantageScore 4.0</a:t>
            </a:r>
            <a:endParaRPr lang="en-US" sz="1500" dirty="0"/>
          </a:p>
        </p:txBody>
      </p:sp>
      <p:pic>
        <p:nvPicPr>
          <p:cNvPr id="2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58150" y="1801654"/>
            <a:ext cx="1752600" cy="1752600"/>
          </a:xfrm>
          <a:prstGeom prst="rect">
            <a:avLst/>
          </a:prstGeom>
        </p:spPr>
      </p:pic>
      <p:sp>
        <p:nvSpPr>
          <p:cNvPr id="28" name="Shape 24"/>
          <p:cNvSpPr/>
          <p:nvPr/>
        </p:nvSpPr>
        <p:spPr>
          <a:xfrm>
            <a:off x="7219950" y="3774916"/>
            <a:ext cx="114300" cy="114300"/>
          </a:xfrm>
          <a:prstGeom prst="roundRect">
            <a:avLst>
              <a:gd name="adj" fmla="val 25000"/>
            </a:avLst>
          </a:prstGeom>
          <a:solidFill>
            <a:srgbClr val="4F46E5"/>
          </a:solidFill>
          <a:ln/>
        </p:spPr>
      </p:sp>
      <p:sp>
        <p:nvSpPr>
          <p:cNvPr id="29" name="Text 25"/>
          <p:cNvSpPr/>
          <p:nvPr/>
        </p:nvSpPr>
        <p:spPr>
          <a:xfrm>
            <a:off x="7429500" y="3706654"/>
            <a:ext cx="495300"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b="1" dirty="0">
                <a:solidFill>
                  <a:srgbClr val="4F46E5"/>
                </a:solidFill>
                <a:latin typeface="Arial" pitchFamily="34" charset="0"/>
                <a:ea typeface="Arial" pitchFamily="34" charset="-122"/>
                <a:cs typeface="Arial" pitchFamily="34" charset="-120"/>
              </a:rPr>
              <a:t>41%</a:t>
            </a:r>
            <a:endParaRPr lang="en-US" sz="1275" dirty="0"/>
          </a:p>
        </p:txBody>
      </p:sp>
      <p:sp>
        <p:nvSpPr>
          <p:cNvPr id="30" name="Text 26"/>
          <p:cNvSpPr/>
          <p:nvPr/>
        </p:nvSpPr>
        <p:spPr>
          <a:xfrm>
            <a:off x="7943850" y="3713956"/>
            <a:ext cx="1240631" cy="274320"/>
          </a:xfrm>
          <a:prstGeom prst="rect">
            <a:avLst/>
          </a:prstGeom>
          <a:noFill/>
          <a:ln/>
        </p:spPr>
        <p:txBody>
          <a:bodyPr wrap="square" lIns="25400" tIns="25400" rIns="25400" bIns="25400" rtlCol="0" anchor="t">
            <a:normAutofit/>
          </a:bodyPr>
          <a:lstStyle/>
          <a:p>
            <a:pPr algn="l" indent="0" marL="0">
              <a:lnSpc>
                <a:spcPct val="155000"/>
              </a:lnSpc>
              <a:buNone/>
            </a:pPr>
            <a:r>
              <a:rPr lang="en-US" sz="1200" dirty="0">
                <a:solidFill>
                  <a:srgbClr val="0B1220"/>
                </a:solidFill>
                <a:latin typeface="Arial" pitchFamily="34" charset="0"/>
                <a:ea typeface="Arial" pitchFamily="34" charset="-122"/>
                <a:cs typeface="Arial" pitchFamily="34" charset="-120"/>
              </a:rPr>
              <a:t>Payment history</a:t>
            </a:r>
            <a:endParaRPr lang="en-US" sz="1200" dirty="0"/>
          </a:p>
        </p:txBody>
      </p:sp>
      <p:sp>
        <p:nvSpPr>
          <p:cNvPr id="31" name="Shape 27"/>
          <p:cNvSpPr/>
          <p:nvPr/>
        </p:nvSpPr>
        <p:spPr>
          <a:xfrm>
            <a:off x="7219950" y="4102100"/>
            <a:ext cx="114300" cy="114300"/>
          </a:xfrm>
          <a:prstGeom prst="roundRect">
            <a:avLst>
              <a:gd name="adj" fmla="val 25000"/>
            </a:avLst>
          </a:prstGeom>
          <a:solidFill>
            <a:srgbClr val="F59E0B"/>
          </a:solidFill>
          <a:ln/>
        </p:spPr>
      </p:sp>
      <p:sp>
        <p:nvSpPr>
          <p:cNvPr id="32" name="Text 28"/>
          <p:cNvSpPr/>
          <p:nvPr/>
        </p:nvSpPr>
        <p:spPr>
          <a:xfrm>
            <a:off x="7429500" y="4033837"/>
            <a:ext cx="495300"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b="1" dirty="0">
                <a:solidFill>
                  <a:srgbClr val="F59E0B"/>
                </a:solidFill>
                <a:latin typeface="Arial" pitchFamily="34" charset="0"/>
                <a:ea typeface="Arial" pitchFamily="34" charset="-122"/>
                <a:cs typeface="Arial" pitchFamily="34" charset="-120"/>
              </a:rPr>
              <a:t>20%</a:t>
            </a:r>
            <a:endParaRPr lang="en-US" sz="1275" dirty="0"/>
          </a:p>
        </p:txBody>
      </p:sp>
      <p:sp>
        <p:nvSpPr>
          <p:cNvPr id="33" name="Text 29"/>
          <p:cNvSpPr/>
          <p:nvPr/>
        </p:nvSpPr>
        <p:spPr>
          <a:xfrm>
            <a:off x="7943850" y="4041140"/>
            <a:ext cx="1153001" cy="274320"/>
          </a:xfrm>
          <a:prstGeom prst="rect">
            <a:avLst/>
          </a:prstGeom>
          <a:noFill/>
          <a:ln/>
        </p:spPr>
        <p:txBody>
          <a:bodyPr wrap="square" lIns="25400" tIns="25400" rIns="25400" bIns="25400" rtlCol="0" anchor="t">
            <a:normAutofit/>
          </a:bodyPr>
          <a:lstStyle/>
          <a:p>
            <a:pPr algn="l" indent="0" marL="0">
              <a:lnSpc>
                <a:spcPct val="155000"/>
              </a:lnSpc>
              <a:buNone/>
            </a:pPr>
            <a:r>
              <a:rPr lang="en-US" sz="1200" dirty="0">
                <a:solidFill>
                  <a:srgbClr val="0B1220"/>
                </a:solidFill>
                <a:latin typeface="Arial" pitchFamily="34" charset="0"/>
                <a:ea typeface="Arial" pitchFamily="34" charset="-122"/>
                <a:cs typeface="Arial" pitchFamily="34" charset="-120"/>
              </a:rPr>
              <a:t>Depth of credit</a:t>
            </a:r>
            <a:endParaRPr lang="en-US" sz="1200" dirty="0"/>
          </a:p>
        </p:txBody>
      </p:sp>
      <p:sp>
        <p:nvSpPr>
          <p:cNvPr id="34" name="Shape 30"/>
          <p:cNvSpPr/>
          <p:nvPr/>
        </p:nvSpPr>
        <p:spPr>
          <a:xfrm>
            <a:off x="7219950" y="4429284"/>
            <a:ext cx="114300" cy="114300"/>
          </a:xfrm>
          <a:prstGeom prst="roundRect">
            <a:avLst>
              <a:gd name="adj" fmla="val 25000"/>
            </a:avLst>
          </a:prstGeom>
          <a:solidFill>
            <a:srgbClr val="10B981"/>
          </a:solidFill>
          <a:ln/>
        </p:spPr>
      </p:sp>
      <p:sp>
        <p:nvSpPr>
          <p:cNvPr id="35" name="Text 31"/>
          <p:cNvSpPr/>
          <p:nvPr/>
        </p:nvSpPr>
        <p:spPr>
          <a:xfrm>
            <a:off x="7429500" y="4361021"/>
            <a:ext cx="495300"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b="1" dirty="0">
                <a:solidFill>
                  <a:srgbClr val="10B981"/>
                </a:solidFill>
                <a:latin typeface="Arial" pitchFamily="34" charset="0"/>
                <a:ea typeface="Arial" pitchFamily="34" charset="-122"/>
                <a:cs typeface="Arial" pitchFamily="34" charset="-120"/>
              </a:rPr>
              <a:t>20%</a:t>
            </a:r>
            <a:endParaRPr lang="en-US" sz="1275" dirty="0"/>
          </a:p>
        </p:txBody>
      </p:sp>
      <p:sp>
        <p:nvSpPr>
          <p:cNvPr id="36" name="Text 32"/>
          <p:cNvSpPr/>
          <p:nvPr/>
        </p:nvSpPr>
        <p:spPr>
          <a:xfrm>
            <a:off x="7943850" y="4368324"/>
            <a:ext cx="1243330" cy="274320"/>
          </a:xfrm>
          <a:prstGeom prst="rect">
            <a:avLst/>
          </a:prstGeom>
          <a:noFill/>
          <a:ln/>
        </p:spPr>
        <p:txBody>
          <a:bodyPr wrap="square" lIns="25400" tIns="25400" rIns="25400" bIns="25400" rtlCol="0" anchor="t">
            <a:normAutofit/>
          </a:bodyPr>
          <a:lstStyle/>
          <a:p>
            <a:pPr algn="l" indent="0" marL="0">
              <a:lnSpc>
                <a:spcPct val="155000"/>
              </a:lnSpc>
              <a:buNone/>
            </a:pPr>
            <a:r>
              <a:rPr lang="en-US" sz="1200" dirty="0">
                <a:solidFill>
                  <a:srgbClr val="0B1220"/>
                </a:solidFill>
                <a:latin typeface="Arial" pitchFamily="34" charset="0"/>
                <a:ea typeface="Arial" pitchFamily="34" charset="-122"/>
                <a:cs typeface="Arial" pitchFamily="34" charset="-120"/>
              </a:rPr>
              <a:t>Credit utilization</a:t>
            </a:r>
            <a:endParaRPr lang="en-US" sz="1200" dirty="0"/>
          </a:p>
        </p:txBody>
      </p:sp>
      <p:sp>
        <p:nvSpPr>
          <p:cNvPr id="37" name="Shape 33"/>
          <p:cNvSpPr/>
          <p:nvPr/>
        </p:nvSpPr>
        <p:spPr>
          <a:xfrm>
            <a:off x="7219950" y="4756468"/>
            <a:ext cx="114300" cy="114300"/>
          </a:xfrm>
          <a:prstGeom prst="roundRect">
            <a:avLst>
              <a:gd name="adj" fmla="val 25000"/>
            </a:avLst>
          </a:prstGeom>
          <a:solidFill>
            <a:srgbClr val="0EA5E9"/>
          </a:solidFill>
          <a:ln/>
        </p:spPr>
      </p:sp>
      <p:sp>
        <p:nvSpPr>
          <p:cNvPr id="38" name="Text 34"/>
          <p:cNvSpPr/>
          <p:nvPr/>
        </p:nvSpPr>
        <p:spPr>
          <a:xfrm>
            <a:off x="7429500" y="4688205"/>
            <a:ext cx="495300"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b="1" dirty="0">
                <a:solidFill>
                  <a:srgbClr val="0EA5E9"/>
                </a:solidFill>
                <a:latin typeface="Arial" pitchFamily="34" charset="0"/>
                <a:ea typeface="Arial" pitchFamily="34" charset="-122"/>
                <a:cs typeface="Arial" pitchFamily="34" charset="-120"/>
              </a:rPr>
              <a:t>11%</a:t>
            </a:r>
            <a:endParaRPr lang="en-US" sz="1275" dirty="0"/>
          </a:p>
        </p:txBody>
      </p:sp>
      <p:sp>
        <p:nvSpPr>
          <p:cNvPr id="39" name="Text 35"/>
          <p:cNvSpPr/>
          <p:nvPr/>
        </p:nvSpPr>
        <p:spPr>
          <a:xfrm>
            <a:off x="7943850" y="4695508"/>
            <a:ext cx="1786938" cy="274320"/>
          </a:xfrm>
          <a:prstGeom prst="rect">
            <a:avLst/>
          </a:prstGeom>
          <a:noFill/>
          <a:ln/>
        </p:spPr>
        <p:txBody>
          <a:bodyPr wrap="square" lIns="25400" tIns="25400" rIns="25400" bIns="25400" rtlCol="0" anchor="t">
            <a:normAutofit/>
          </a:bodyPr>
          <a:lstStyle/>
          <a:p>
            <a:pPr algn="l" indent="0" marL="0">
              <a:lnSpc>
                <a:spcPct val="155000"/>
              </a:lnSpc>
              <a:buNone/>
            </a:pPr>
            <a:r>
              <a:rPr lang="en-US" sz="1200" dirty="0">
                <a:solidFill>
                  <a:srgbClr val="0B1220"/>
                </a:solidFill>
                <a:latin typeface="Arial" pitchFamily="34" charset="0"/>
                <a:ea typeface="Arial" pitchFamily="34" charset="-122"/>
                <a:cs typeface="Arial" pitchFamily="34" charset="-120"/>
              </a:rPr>
              <a:t>Recent credit behavior</a:t>
            </a:r>
            <a:endParaRPr lang="en-US" sz="1200" dirty="0"/>
          </a:p>
        </p:txBody>
      </p:sp>
      <p:sp>
        <p:nvSpPr>
          <p:cNvPr id="40" name="Shape 36"/>
          <p:cNvSpPr/>
          <p:nvPr/>
        </p:nvSpPr>
        <p:spPr>
          <a:xfrm>
            <a:off x="7219950" y="5083651"/>
            <a:ext cx="114300" cy="114300"/>
          </a:xfrm>
          <a:prstGeom prst="roundRect">
            <a:avLst>
              <a:gd name="adj" fmla="val 25000"/>
            </a:avLst>
          </a:prstGeom>
          <a:solidFill>
            <a:srgbClr val="EC4899"/>
          </a:solidFill>
          <a:ln/>
        </p:spPr>
      </p:sp>
      <p:sp>
        <p:nvSpPr>
          <p:cNvPr id="41" name="Text 37"/>
          <p:cNvSpPr/>
          <p:nvPr/>
        </p:nvSpPr>
        <p:spPr>
          <a:xfrm>
            <a:off x="7429500" y="5015389"/>
            <a:ext cx="495300"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b="1" dirty="0">
                <a:solidFill>
                  <a:srgbClr val="EC4899"/>
                </a:solidFill>
                <a:latin typeface="Arial" pitchFamily="34" charset="0"/>
                <a:ea typeface="Arial" pitchFamily="34" charset="-122"/>
                <a:cs typeface="Arial" pitchFamily="34" charset="-120"/>
              </a:rPr>
              <a:t>6%</a:t>
            </a:r>
            <a:endParaRPr lang="en-US" sz="1275" dirty="0"/>
          </a:p>
        </p:txBody>
      </p:sp>
      <p:sp>
        <p:nvSpPr>
          <p:cNvPr id="42" name="Text 38"/>
          <p:cNvSpPr/>
          <p:nvPr/>
        </p:nvSpPr>
        <p:spPr>
          <a:xfrm>
            <a:off x="7943850" y="5022691"/>
            <a:ext cx="1119505" cy="274320"/>
          </a:xfrm>
          <a:prstGeom prst="rect">
            <a:avLst/>
          </a:prstGeom>
          <a:noFill/>
          <a:ln/>
        </p:spPr>
        <p:txBody>
          <a:bodyPr wrap="square" lIns="25400" tIns="25400" rIns="25400" bIns="25400" rtlCol="0" anchor="t">
            <a:normAutofit/>
          </a:bodyPr>
          <a:lstStyle/>
          <a:p>
            <a:pPr algn="l" indent="0" marL="0">
              <a:lnSpc>
                <a:spcPct val="155000"/>
              </a:lnSpc>
              <a:buNone/>
            </a:pPr>
            <a:r>
              <a:rPr lang="en-US" sz="1200" dirty="0">
                <a:solidFill>
                  <a:srgbClr val="0B1220"/>
                </a:solidFill>
                <a:latin typeface="Arial" pitchFamily="34" charset="0"/>
                <a:ea typeface="Arial" pitchFamily="34" charset="-122"/>
                <a:cs typeface="Arial" pitchFamily="34" charset="-120"/>
              </a:rPr>
              <a:t>Total balances</a:t>
            </a:r>
            <a:endParaRPr lang="en-US" sz="1200" dirty="0"/>
          </a:p>
        </p:txBody>
      </p:sp>
      <p:sp>
        <p:nvSpPr>
          <p:cNvPr id="43" name="Shape 39"/>
          <p:cNvSpPr/>
          <p:nvPr/>
        </p:nvSpPr>
        <p:spPr>
          <a:xfrm>
            <a:off x="7219950" y="5410835"/>
            <a:ext cx="114300" cy="114300"/>
          </a:xfrm>
          <a:prstGeom prst="roundRect">
            <a:avLst>
              <a:gd name="adj" fmla="val 25000"/>
            </a:avLst>
          </a:prstGeom>
          <a:solidFill>
            <a:srgbClr val="94A3B8"/>
          </a:solidFill>
          <a:ln/>
        </p:spPr>
      </p:sp>
      <p:sp>
        <p:nvSpPr>
          <p:cNvPr id="44" name="Text 40"/>
          <p:cNvSpPr/>
          <p:nvPr/>
        </p:nvSpPr>
        <p:spPr>
          <a:xfrm>
            <a:off x="7429500" y="5342573"/>
            <a:ext cx="495300"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b="1" dirty="0">
                <a:solidFill>
                  <a:srgbClr val="94A3B8"/>
                </a:solidFill>
                <a:latin typeface="Arial" pitchFamily="34" charset="0"/>
                <a:ea typeface="Arial" pitchFamily="34" charset="-122"/>
                <a:cs typeface="Arial" pitchFamily="34" charset="-120"/>
              </a:rPr>
              <a:t>2%</a:t>
            </a:r>
            <a:endParaRPr lang="en-US" sz="1275" dirty="0"/>
          </a:p>
        </p:txBody>
      </p:sp>
      <p:sp>
        <p:nvSpPr>
          <p:cNvPr id="45" name="Text 41"/>
          <p:cNvSpPr/>
          <p:nvPr/>
        </p:nvSpPr>
        <p:spPr>
          <a:xfrm>
            <a:off x="7943850" y="5349875"/>
            <a:ext cx="1174115" cy="274320"/>
          </a:xfrm>
          <a:prstGeom prst="rect">
            <a:avLst/>
          </a:prstGeom>
          <a:noFill/>
          <a:ln/>
        </p:spPr>
        <p:txBody>
          <a:bodyPr wrap="square" lIns="25400" tIns="25400" rIns="25400" bIns="25400" rtlCol="0" anchor="t">
            <a:normAutofit/>
          </a:bodyPr>
          <a:lstStyle/>
          <a:p>
            <a:pPr algn="l" indent="0" marL="0">
              <a:lnSpc>
                <a:spcPct val="155000"/>
              </a:lnSpc>
              <a:buNone/>
            </a:pPr>
            <a:r>
              <a:rPr lang="en-US" sz="1200" dirty="0">
                <a:solidFill>
                  <a:srgbClr val="0B1220"/>
                </a:solidFill>
                <a:latin typeface="Arial" pitchFamily="34" charset="0"/>
                <a:ea typeface="Arial" pitchFamily="34" charset="-122"/>
                <a:cs typeface="Arial" pitchFamily="34" charset="-120"/>
              </a:rPr>
              <a:t>Available credit</a:t>
            </a:r>
            <a:endParaRPr lang="en-US" sz="1200" dirty="0"/>
          </a:p>
        </p:txBody>
      </p:sp>
      <p:sp>
        <p:nvSpPr>
          <p:cNvPr id="46" name="Text 42"/>
          <p:cNvSpPr/>
          <p:nvPr/>
        </p:nvSpPr>
        <p:spPr>
          <a:xfrm>
            <a:off x="609600" y="5669756"/>
            <a:ext cx="12070080"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dirty="0">
                <a:solidFill>
                  <a:srgbClr val="5B6472"/>
                </a:solidFill>
                <a:latin typeface="Arial" pitchFamily="34" charset="0"/>
                <a:ea typeface="Arial" pitchFamily="34" charset="-122"/>
                <a:cs typeface="Arial" pitchFamily="34" charset="-120"/>
              </a:rPr>
              <a:t>Both are dominated by </a:t>
            </a:r>
            <a:pPr algn="l" indent="0" marL="0">
              <a:lnSpc>
                <a:spcPct val="155000"/>
              </a:lnSpc>
              <a:buNone/>
            </a:pPr>
            <a:r>
              <a:rPr lang="en-US" sz="1275" b="1" dirty="0">
                <a:solidFill>
                  <a:srgbClr val="0B1220"/>
                </a:solidFill>
                <a:latin typeface="Arial" pitchFamily="34" charset="0"/>
                <a:ea typeface="Arial" pitchFamily="34" charset="-122"/>
                <a:cs typeface="Arial" pitchFamily="34" charset="-120"/>
              </a:rPr>
              <a:t>payment history </a:t>
            </a:r>
            <a:pPr algn="l" indent="0" marL="0">
              <a:lnSpc>
                <a:spcPct val="155000"/>
              </a:lnSpc>
              <a:buNone/>
            </a:pPr>
            <a:r>
              <a:rPr lang="en-US" sz="1275" dirty="0">
                <a:solidFill>
                  <a:srgbClr val="5B6472"/>
                </a:solidFill>
                <a:latin typeface="Arial" pitchFamily="34" charset="0"/>
                <a:ea typeface="Arial" pitchFamily="34" charset="-122"/>
                <a:cs typeface="Arial" pitchFamily="34" charset="-120"/>
              </a:rPr>
              <a:t>and </a:t>
            </a:r>
            <a:pPr algn="l" indent="0" marL="0">
              <a:lnSpc>
                <a:spcPct val="155000"/>
              </a:lnSpc>
              <a:buNone/>
            </a:pPr>
            <a:r>
              <a:rPr lang="en-US" sz="1275" b="1" dirty="0">
                <a:solidFill>
                  <a:srgbClr val="0B1220"/>
                </a:solidFill>
                <a:latin typeface="Arial" pitchFamily="34" charset="0"/>
                <a:ea typeface="Arial" pitchFamily="34" charset="-122"/>
                <a:cs typeface="Arial" pitchFamily="34" charset="-120"/>
              </a:rPr>
              <a:t>utilization </a:t>
            </a:r>
            <a:pPr algn="l" indent="0" marL="0">
              <a:lnSpc>
                <a:spcPct val="155000"/>
              </a:lnSpc>
              <a:buNone/>
            </a:pPr>
            <a:r>
              <a:rPr lang="en-US" sz="1275" dirty="0">
                <a:solidFill>
                  <a:srgbClr val="5B6472"/>
                </a:solidFill>
                <a:latin typeface="Arial" pitchFamily="34" charset="0"/>
                <a:ea typeface="Arial" pitchFamily="34" charset="-122"/>
                <a:cs typeface="Arial" pitchFamily="34" charset="-120"/>
              </a:rPr>
              <a:t>— the two habits you control.</a:t>
            </a:r>
            <a:endParaRPr lang="en-US" sz="1275" dirty="0"/>
          </a:p>
        </p:txBody>
      </p:sp>
      <p:sp>
        <p:nvSpPr>
          <p:cNvPr id="47" name="Text 43"/>
          <p:cNvSpPr/>
          <p:nvPr/>
        </p:nvSpPr>
        <p:spPr>
          <a:xfrm>
            <a:off x="10684511" y="6056471"/>
            <a:ext cx="97409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1 · Credit</a:t>
            </a:r>
            <a:endParaRPr lang="en-US" sz="97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09600"/>
            <a:ext cx="1207008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M3 · CREDIT SCORES</a:t>
            </a:r>
            <a:endParaRPr lang="en-US" sz="975" dirty="0"/>
          </a:p>
        </p:txBody>
      </p:sp>
      <p:sp>
        <p:nvSpPr>
          <p:cNvPr id="8" name="Text 6"/>
          <p:cNvSpPr/>
          <p:nvPr/>
        </p:nvSpPr>
        <p:spPr>
          <a:xfrm>
            <a:off x="609600" y="915829"/>
            <a:ext cx="12070080"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60" kern="0" dirty="0">
                <a:solidFill>
                  <a:srgbClr val="0B1220"/>
                </a:solidFill>
                <a:latin typeface="Arial" pitchFamily="34" charset="0"/>
                <a:ea typeface="Arial" pitchFamily="34" charset="-122"/>
                <a:cs typeface="Arial" pitchFamily="34" charset="-120"/>
              </a:rPr>
              <a:t>Keep your utilization low</a:t>
            </a:r>
            <a:endParaRPr lang="en-US" sz="3000" dirty="0"/>
          </a:p>
        </p:txBody>
      </p:sp>
      <p:sp>
        <p:nvSpPr>
          <p:cNvPr id="9" name="Text 7"/>
          <p:cNvSpPr/>
          <p:nvPr/>
        </p:nvSpPr>
        <p:spPr>
          <a:xfrm>
            <a:off x="1141889" y="1525429"/>
            <a:ext cx="493395" cy="289084"/>
          </a:xfrm>
          <a:prstGeom prst="rect">
            <a:avLst/>
          </a:prstGeom>
          <a:noFill/>
          <a:ln/>
        </p:spPr>
        <p:txBody>
          <a:bodyPr wrap="square" lIns="25400" tIns="25400" rIns="25400" bIns="25400" rtlCol="0" anchor="t">
            <a:normAutofit/>
          </a:bodyPr>
          <a:lstStyle/>
          <a:p>
            <a:pPr algn="ctr" indent="0" marL="0">
              <a:lnSpc>
                <a:spcPct val="155000"/>
              </a:lnSpc>
              <a:buNone/>
            </a:pPr>
            <a:r>
              <a:rPr lang="en-US" sz="1275" b="1" dirty="0">
                <a:solidFill>
                  <a:srgbClr val="10B981"/>
                </a:solidFill>
                <a:latin typeface="Arial" pitchFamily="34" charset="0"/>
                <a:ea typeface="Arial" pitchFamily="34" charset="-122"/>
                <a:cs typeface="Arial" pitchFamily="34" charset="-120"/>
              </a:rPr>
              <a:t>7.1%</a:t>
            </a:r>
            <a:endParaRPr lang="en-US" sz="1275" dirty="0"/>
          </a:p>
        </p:txBody>
      </p:sp>
      <p:sp>
        <p:nvSpPr>
          <p:cNvPr id="10" name="Shape 8"/>
          <p:cNvSpPr/>
          <p:nvPr/>
        </p:nvSpPr>
        <p:spPr>
          <a:xfrm>
            <a:off x="1379061" y="1795463"/>
            <a:ext cx="19050" cy="133350"/>
          </a:xfrm>
          <a:prstGeom prst="rect">
            <a:avLst/>
          </a:prstGeom>
          <a:solidFill>
            <a:srgbClr val="10B981"/>
          </a:solidFill>
          <a:ln/>
        </p:spPr>
      </p:sp>
      <p:sp>
        <p:nvSpPr>
          <p:cNvPr id="11" name="Text 9"/>
          <p:cNvSpPr/>
          <p:nvPr/>
        </p:nvSpPr>
        <p:spPr>
          <a:xfrm>
            <a:off x="3676491" y="1525429"/>
            <a:ext cx="449897" cy="289084"/>
          </a:xfrm>
          <a:prstGeom prst="rect">
            <a:avLst/>
          </a:prstGeom>
          <a:noFill/>
          <a:ln/>
        </p:spPr>
        <p:txBody>
          <a:bodyPr wrap="square" lIns="25400" tIns="25400" rIns="25400" bIns="25400" rtlCol="0" anchor="t">
            <a:normAutofit/>
          </a:bodyPr>
          <a:lstStyle/>
          <a:p>
            <a:pPr algn="ctr" indent="0" marL="0">
              <a:lnSpc>
                <a:spcPct val="155000"/>
              </a:lnSpc>
              <a:buNone/>
            </a:pPr>
            <a:r>
              <a:rPr lang="en-US" sz="1275" b="1" dirty="0">
                <a:solidFill>
                  <a:srgbClr val="0B1220"/>
                </a:solidFill>
                <a:latin typeface="Arial" pitchFamily="34" charset="0"/>
                <a:ea typeface="Arial" pitchFamily="34" charset="-122"/>
                <a:cs typeface="Arial" pitchFamily="34" charset="-120"/>
              </a:rPr>
              <a:t>30%</a:t>
            </a:r>
            <a:endParaRPr lang="en-US" sz="1275" dirty="0"/>
          </a:p>
        </p:txBody>
      </p:sp>
      <p:sp>
        <p:nvSpPr>
          <p:cNvPr id="12" name="Shape 10"/>
          <p:cNvSpPr/>
          <p:nvPr/>
        </p:nvSpPr>
        <p:spPr>
          <a:xfrm>
            <a:off x="3891915" y="1795463"/>
            <a:ext cx="19050" cy="133350"/>
          </a:xfrm>
          <a:prstGeom prst="rect">
            <a:avLst/>
          </a:prstGeom>
          <a:solidFill>
            <a:srgbClr val="0B1220"/>
          </a:solidFill>
          <a:ln/>
        </p:spPr>
      </p:sp>
      <p:sp>
        <p:nvSpPr>
          <p:cNvPr id="13" name="Shape 11"/>
          <p:cNvSpPr/>
          <p:nvPr/>
        </p:nvSpPr>
        <p:spPr>
          <a:xfrm>
            <a:off x="609600" y="1849279"/>
            <a:ext cx="1097280" cy="495300"/>
          </a:xfrm>
          <a:prstGeom prst="rect">
            <a:avLst/>
          </a:prstGeom>
          <a:solidFill>
            <a:srgbClr val="10B981"/>
          </a:solidFill>
          <a:ln/>
        </p:spPr>
      </p:sp>
      <p:sp>
        <p:nvSpPr>
          <p:cNvPr id="14" name="Shape 12"/>
          <p:cNvSpPr/>
          <p:nvPr/>
        </p:nvSpPr>
        <p:spPr>
          <a:xfrm>
            <a:off x="1706880" y="1849279"/>
            <a:ext cx="2194560" cy="495300"/>
          </a:xfrm>
          <a:prstGeom prst="rect">
            <a:avLst/>
          </a:prstGeom>
          <a:solidFill>
            <a:srgbClr val="4F46E5"/>
          </a:solidFill>
          <a:ln/>
        </p:spPr>
      </p:sp>
      <p:sp>
        <p:nvSpPr>
          <p:cNvPr id="15" name="Shape 13"/>
          <p:cNvSpPr/>
          <p:nvPr/>
        </p:nvSpPr>
        <p:spPr>
          <a:xfrm>
            <a:off x="3901440" y="1849279"/>
            <a:ext cx="7680960" cy="495300"/>
          </a:xfrm>
          <a:prstGeom prst="rect">
            <a:avLst/>
          </a:prstGeom>
          <a:gradFill rotWithShape="1">
            <a:gsLst>
              <a:gs pos="0">
                <a:srgbClr val="F59E0B">
                  <a:alpha val="100000"/>
                </a:srgbClr>
              </a:gs>
              <a:gs pos="100000">
                <a:srgbClr val="EF4444">
                  <a:alpha val="100000"/>
                </a:srgbClr>
              </a:gs>
            </a:gsLst>
            <a:lin ang="0" scaled="0"/>
          </a:gradFill>
          <a:ln/>
        </p:spPr>
      </p:sp>
      <p:sp>
        <p:nvSpPr>
          <p:cNvPr id="16" name="Text 14"/>
          <p:cNvSpPr/>
          <p:nvPr/>
        </p:nvSpPr>
        <p:spPr>
          <a:xfrm>
            <a:off x="609600" y="2439829"/>
            <a:ext cx="308928"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0%</a:t>
            </a:r>
            <a:endParaRPr lang="en-US" sz="1125" dirty="0"/>
          </a:p>
        </p:txBody>
      </p:sp>
      <p:sp>
        <p:nvSpPr>
          <p:cNvPr id="17" name="Text 15"/>
          <p:cNvSpPr/>
          <p:nvPr/>
        </p:nvSpPr>
        <p:spPr>
          <a:xfrm>
            <a:off x="5840730" y="2439829"/>
            <a:ext cx="401479"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50%</a:t>
            </a:r>
            <a:endParaRPr lang="en-US" sz="1125" dirty="0"/>
          </a:p>
        </p:txBody>
      </p:sp>
      <p:sp>
        <p:nvSpPr>
          <p:cNvPr id="18" name="Text 16"/>
          <p:cNvSpPr/>
          <p:nvPr/>
        </p:nvSpPr>
        <p:spPr>
          <a:xfrm>
            <a:off x="11164570" y="2439829"/>
            <a:ext cx="494030"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100%</a:t>
            </a:r>
            <a:endParaRPr lang="en-US" sz="1125" dirty="0"/>
          </a:p>
        </p:txBody>
      </p:sp>
      <p:sp>
        <p:nvSpPr>
          <p:cNvPr id="19" name="Text 17"/>
          <p:cNvSpPr/>
          <p:nvPr/>
        </p:nvSpPr>
        <p:spPr>
          <a:xfrm>
            <a:off x="609600" y="2718435"/>
            <a:ext cx="1374823" cy="274320"/>
          </a:xfrm>
          <a:prstGeom prst="rect">
            <a:avLst/>
          </a:prstGeom>
          <a:noFill/>
          <a:ln/>
        </p:spPr>
        <p:txBody>
          <a:bodyPr wrap="square" lIns="25400" tIns="25400" rIns="25400" bIns="25400" rtlCol="0" anchor="t">
            <a:normAutofit/>
          </a:bodyPr>
          <a:lstStyle/>
          <a:p>
            <a:pPr algn="l" indent="0" marL="0">
              <a:lnSpc>
                <a:spcPct val="155000"/>
              </a:lnSpc>
              <a:buNone/>
            </a:pPr>
            <a:r>
              <a:rPr lang="en-US" sz="1200" b="1" dirty="0">
                <a:solidFill>
                  <a:srgbClr val="10B981"/>
                </a:solidFill>
                <a:latin typeface="Arial" pitchFamily="34" charset="0"/>
                <a:ea typeface="Arial" pitchFamily="34" charset="-122"/>
                <a:cs typeface="Arial" pitchFamily="34" charset="-120"/>
              </a:rPr>
              <a:t>◀ Lower is better</a:t>
            </a:r>
            <a:endParaRPr lang="en-US" sz="1200" dirty="0"/>
          </a:p>
        </p:txBody>
      </p:sp>
      <p:sp>
        <p:nvSpPr>
          <p:cNvPr id="20" name="Text 18"/>
          <p:cNvSpPr/>
          <p:nvPr/>
        </p:nvSpPr>
        <p:spPr>
          <a:xfrm>
            <a:off x="9651841" y="2718435"/>
            <a:ext cx="2123615" cy="274320"/>
          </a:xfrm>
          <a:prstGeom prst="rect">
            <a:avLst/>
          </a:prstGeom>
          <a:noFill/>
          <a:ln/>
        </p:spPr>
        <p:txBody>
          <a:bodyPr wrap="square" lIns="25400" tIns="25400" rIns="25400" bIns="25400" rtlCol="0" anchor="t">
            <a:normAutofit/>
          </a:bodyPr>
          <a:lstStyle/>
          <a:p>
            <a:pPr algn="l" indent="0" marL="0">
              <a:lnSpc>
                <a:spcPct val="155000"/>
              </a:lnSpc>
              <a:buNone/>
            </a:pPr>
            <a:r>
              <a:rPr lang="en-US" sz="1200" b="1" dirty="0">
                <a:solidFill>
                  <a:srgbClr val="EF4444"/>
                </a:solidFill>
                <a:latin typeface="Arial" pitchFamily="34" charset="0"/>
                <a:ea typeface="Arial" pitchFamily="34" charset="-122"/>
                <a:cs typeface="Arial" pitchFamily="34" charset="-120"/>
              </a:rPr>
              <a:t>Higher drags your score ▶</a:t>
            </a:r>
            <a:endParaRPr lang="en-US" sz="1200" dirty="0"/>
          </a:p>
        </p:txBody>
      </p:sp>
      <p:sp>
        <p:nvSpPr>
          <p:cNvPr id="21" name="Shape 19"/>
          <p:cNvSpPr/>
          <p:nvPr/>
        </p:nvSpPr>
        <p:spPr>
          <a:xfrm>
            <a:off x="609600" y="4704397"/>
            <a:ext cx="3505200" cy="1199674"/>
          </a:xfrm>
          <a:prstGeom prst="roundRect">
            <a:avLst>
              <a:gd name="adj" fmla="val 9528"/>
            </a:avLst>
          </a:prstGeom>
          <a:solidFill>
            <a:srgbClr val="F6F7FB"/>
          </a:solidFill>
          <a:ln/>
        </p:spPr>
      </p:sp>
      <p:sp>
        <p:nvSpPr>
          <p:cNvPr id="22" name="Text 20"/>
          <p:cNvSpPr/>
          <p:nvPr/>
        </p:nvSpPr>
        <p:spPr>
          <a:xfrm>
            <a:off x="819150" y="4913948"/>
            <a:ext cx="3394710"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b="1" dirty="0">
                <a:solidFill>
                  <a:srgbClr val="0B1220"/>
                </a:solidFill>
                <a:latin typeface="Arial" pitchFamily="34" charset="0"/>
                <a:ea typeface="Arial" pitchFamily="34" charset="-122"/>
                <a:cs typeface="Arial" pitchFamily="34" charset="-120"/>
              </a:rPr>
              <a:t>Per-card AND overall</a:t>
            </a:r>
            <a:endParaRPr lang="en-US" sz="1275" dirty="0"/>
          </a:p>
        </p:txBody>
      </p:sp>
      <p:sp>
        <p:nvSpPr>
          <p:cNvPr id="23" name="Text 21"/>
          <p:cNvSpPr/>
          <p:nvPr/>
        </p:nvSpPr>
        <p:spPr>
          <a:xfrm>
            <a:off x="819150" y="5222081"/>
            <a:ext cx="3178683" cy="510540"/>
          </a:xfrm>
          <a:prstGeom prst="rect">
            <a:avLst/>
          </a:prstGeom>
          <a:noFill/>
          <a:ln/>
        </p:spPr>
        <p:txBody>
          <a:bodyPr wrap="square" lIns="25400" tIns="25400" rIns="25400" bIns="25400" rtlCol="0" anchor="t">
            <a:normAutofit/>
          </a:bodyPr>
          <a:lstStyle/>
          <a:p>
            <a:pPr algn="l" indent="0" marL="0">
              <a:lnSpc>
                <a:spcPct val="155000"/>
              </a:lnSpc>
              <a:buNone/>
            </a:pPr>
            <a:r>
              <a:rPr lang="en-US" sz="1200" dirty="0">
                <a:solidFill>
                  <a:srgbClr val="5B6472"/>
                </a:solidFill>
                <a:latin typeface="Arial" pitchFamily="34" charset="0"/>
                <a:ea typeface="Arial" pitchFamily="34" charset="-122"/>
                <a:cs typeface="Arial" pitchFamily="34" charset="-120"/>
              </a:rPr>
              <a:t>Maxing one card hurts even if your total use is low.</a:t>
            </a:r>
            <a:endParaRPr lang="en-US" sz="1200" dirty="0"/>
          </a:p>
        </p:txBody>
      </p:sp>
      <p:sp>
        <p:nvSpPr>
          <p:cNvPr id="24" name="Shape 22"/>
          <p:cNvSpPr/>
          <p:nvPr/>
        </p:nvSpPr>
        <p:spPr>
          <a:xfrm>
            <a:off x="4343400" y="4704397"/>
            <a:ext cx="3505200" cy="1199674"/>
          </a:xfrm>
          <a:prstGeom prst="roundRect">
            <a:avLst>
              <a:gd name="adj" fmla="val 9528"/>
            </a:avLst>
          </a:prstGeom>
          <a:solidFill>
            <a:srgbClr val="F6F7FB"/>
          </a:solidFill>
          <a:ln/>
        </p:spPr>
      </p:sp>
      <p:sp>
        <p:nvSpPr>
          <p:cNvPr id="25" name="Text 23"/>
          <p:cNvSpPr/>
          <p:nvPr/>
        </p:nvSpPr>
        <p:spPr>
          <a:xfrm>
            <a:off x="4552950" y="4913948"/>
            <a:ext cx="3394710"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b="1" dirty="0">
                <a:solidFill>
                  <a:srgbClr val="0B1220"/>
                </a:solidFill>
                <a:latin typeface="Arial" pitchFamily="34" charset="0"/>
                <a:ea typeface="Arial" pitchFamily="34" charset="-122"/>
                <a:cs typeface="Arial" pitchFamily="34" charset="-120"/>
              </a:rPr>
              <a:t>It reads the statement</a:t>
            </a:r>
            <a:endParaRPr lang="en-US" sz="1275" dirty="0"/>
          </a:p>
        </p:txBody>
      </p:sp>
      <p:sp>
        <p:nvSpPr>
          <p:cNvPr id="26" name="Text 24"/>
          <p:cNvSpPr/>
          <p:nvPr/>
        </p:nvSpPr>
        <p:spPr>
          <a:xfrm>
            <a:off x="4552950" y="5222081"/>
            <a:ext cx="3178683" cy="510540"/>
          </a:xfrm>
          <a:prstGeom prst="rect">
            <a:avLst/>
          </a:prstGeom>
          <a:noFill/>
          <a:ln/>
        </p:spPr>
        <p:txBody>
          <a:bodyPr wrap="square" lIns="25400" tIns="25400" rIns="25400" bIns="25400" rtlCol="0" anchor="t">
            <a:normAutofit/>
          </a:bodyPr>
          <a:lstStyle/>
          <a:p>
            <a:pPr algn="l" indent="0" marL="0">
              <a:lnSpc>
                <a:spcPct val="155000"/>
              </a:lnSpc>
              <a:buNone/>
            </a:pPr>
            <a:r>
              <a:rPr lang="en-US" sz="1200" dirty="0">
                <a:solidFill>
                  <a:srgbClr val="5B6472"/>
                </a:solidFill>
                <a:latin typeface="Arial" pitchFamily="34" charset="0"/>
                <a:ea typeface="Arial" pitchFamily="34" charset="-122"/>
                <a:cs typeface="Arial" pitchFamily="34" charset="-120"/>
              </a:rPr>
              <a:t>Pay before the statement cuts so a low number reports.</a:t>
            </a:r>
            <a:endParaRPr lang="en-US" sz="1200" dirty="0"/>
          </a:p>
        </p:txBody>
      </p:sp>
      <p:sp>
        <p:nvSpPr>
          <p:cNvPr id="27" name="Shape 25"/>
          <p:cNvSpPr/>
          <p:nvPr/>
        </p:nvSpPr>
        <p:spPr>
          <a:xfrm>
            <a:off x="8077200" y="4704397"/>
            <a:ext cx="3505200" cy="1199674"/>
          </a:xfrm>
          <a:prstGeom prst="roundRect">
            <a:avLst>
              <a:gd name="adj" fmla="val 9528"/>
            </a:avLst>
          </a:prstGeom>
          <a:solidFill>
            <a:srgbClr val="F6F7FB"/>
          </a:solidFill>
          <a:ln/>
        </p:spPr>
      </p:sp>
      <p:sp>
        <p:nvSpPr>
          <p:cNvPr id="28" name="Text 26"/>
          <p:cNvSpPr/>
          <p:nvPr/>
        </p:nvSpPr>
        <p:spPr>
          <a:xfrm>
            <a:off x="8286750" y="4913948"/>
            <a:ext cx="3394710"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b="1" dirty="0">
                <a:solidFill>
                  <a:srgbClr val="0B1220"/>
                </a:solidFill>
                <a:latin typeface="Arial" pitchFamily="34" charset="0"/>
                <a:ea typeface="Arial" pitchFamily="34" charset="-122"/>
                <a:cs typeface="Arial" pitchFamily="34" charset="-120"/>
              </a:rPr>
              <a:t>$1,000 of $5,000</a:t>
            </a:r>
            <a:endParaRPr lang="en-US" sz="1275" dirty="0"/>
          </a:p>
        </p:txBody>
      </p:sp>
      <p:sp>
        <p:nvSpPr>
          <p:cNvPr id="29" name="Text 27"/>
          <p:cNvSpPr/>
          <p:nvPr/>
        </p:nvSpPr>
        <p:spPr>
          <a:xfrm>
            <a:off x="8286750" y="5222081"/>
            <a:ext cx="3394710" cy="274320"/>
          </a:xfrm>
          <a:prstGeom prst="rect">
            <a:avLst/>
          </a:prstGeom>
          <a:noFill/>
          <a:ln/>
        </p:spPr>
        <p:txBody>
          <a:bodyPr wrap="square" lIns="25400" tIns="25400" rIns="25400" bIns="25400" rtlCol="0" anchor="t">
            <a:normAutofit/>
          </a:bodyPr>
          <a:lstStyle/>
          <a:p>
            <a:pPr algn="l" indent="0" marL="0">
              <a:lnSpc>
                <a:spcPct val="155000"/>
              </a:lnSpc>
              <a:buNone/>
            </a:pPr>
            <a:r>
              <a:rPr lang="en-US" sz="1200" dirty="0">
                <a:solidFill>
                  <a:srgbClr val="5B6472"/>
                </a:solidFill>
                <a:latin typeface="Arial" pitchFamily="34" charset="0"/>
                <a:ea typeface="Arial" pitchFamily="34" charset="-122"/>
                <a:cs typeface="Arial" pitchFamily="34" charset="-120"/>
              </a:rPr>
              <a:t>= 20% utilization. Simple ratio, big effect.</a:t>
            </a:r>
            <a:endParaRPr lang="en-US" sz="1200" dirty="0"/>
          </a:p>
        </p:txBody>
      </p:sp>
      <p:sp>
        <p:nvSpPr>
          <p:cNvPr id="30" name="Text 28"/>
          <p:cNvSpPr/>
          <p:nvPr/>
        </p:nvSpPr>
        <p:spPr>
          <a:xfrm>
            <a:off x="10684511" y="6056471"/>
            <a:ext cx="97409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1 · Credit</a:t>
            </a:r>
            <a:endParaRPr lang="en-US" sz="97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2442480"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M3 · TWO SCORING FAMILIES</a:t>
            </a:r>
            <a:endParaRPr lang="en-US" sz="975" dirty="0"/>
          </a:p>
        </p:txBody>
      </p:sp>
      <p:sp>
        <p:nvSpPr>
          <p:cNvPr id="8" name="Text 6"/>
          <p:cNvSpPr/>
          <p:nvPr/>
        </p:nvSpPr>
        <p:spPr>
          <a:xfrm>
            <a:off x="609600" y="989647"/>
            <a:ext cx="12070080" cy="628650"/>
          </a:xfrm>
          <a:prstGeom prst="rect">
            <a:avLst/>
          </a:prstGeom>
          <a:noFill/>
          <a:ln/>
        </p:spPr>
        <p:txBody>
          <a:bodyPr wrap="square" lIns="25400" tIns="25400" rIns="25400" bIns="25400" rtlCol="0" anchor="t">
            <a:normAutofit/>
          </a:bodyPr>
          <a:lstStyle/>
          <a:p>
            <a:pPr algn="l" indent="0" marL="0">
              <a:lnSpc>
                <a:spcPct val="155000"/>
              </a:lnSpc>
              <a:buNone/>
            </a:pPr>
            <a:r>
              <a:rPr lang="en-US" sz="3000" b="1" spc="-60" kern="0" dirty="0">
                <a:solidFill>
                  <a:srgbClr val="0B1220"/>
                </a:solidFill>
                <a:latin typeface="Arial" pitchFamily="34" charset="0"/>
                <a:ea typeface="Arial" pitchFamily="34" charset="-122"/>
                <a:cs typeface="Arial" pitchFamily="34" charset="-120"/>
              </a:rPr>
              <a:t>FICO vs. VantageScore</a:t>
            </a:r>
            <a:endParaRPr lang="en-US" sz="3000" dirty="0"/>
          </a:p>
        </p:txBody>
      </p:sp>
      <p:sp>
        <p:nvSpPr>
          <p:cNvPr id="9" name="Shape 7"/>
          <p:cNvSpPr/>
          <p:nvPr/>
        </p:nvSpPr>
        <p:spPr>
          <a:xfrm>
            <a:off x="609600" y="1808797"/>
            <a:ext cx="5372100" cy="3645218"/>
          </a:xfrm>
          <a:prstGeom prst="roundRect">
            <a:avLst>
              <a:gd name="adj" fmla="val 3136"/>
            </a:avLst>
          </a:prstGeom>
          <a:solidFill>
            <a:srgbClr val="EEF2FF"/>
          </a:solidFill>
          <a:ln w="6667">
            <a:solidFill>
              <a:srgbClr val="C7D2FE"/>
            </a:solidFill>
            <a:prstDash val="solid"/>
          </a:ln>
        </p:spPr>
      </p:sp>
      <p:sp>
        <p:nvSpPr>
          <p:cNvPr id="10" name="Text 8"/>
          <p:cNvSpPr/>
          <p:nvPr/>
        </p:nvSpPr>
        <p:spPr>
          <a:xfrm>
            <a:off x="844867" y="2044065"/>
            <a:ext cx="529272"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dirty="0">
                <a:solidFill>
                  <a:srgbClr val="3730A3"/>
                </a:solidFill>
                <a:latin typeface="Arial" pitchFamily="34" charset="0"/>
                <a:ea typeface="Arial" pitchFamily="34" charset="-122"/>
                <a:cs typeface="Arial" pitchFamily="34" charset="-120"/>
              </a:rPr>
              <a:t>FICO</a:t>
            </a:r>
            <a:endParaRPr lang="en-US" sz="1500" dirty="0"/>
          </a:p>
        </p:txBody>
      </p:sp>
      <p:sp>
        <p:nvSpPr>
          <p:cNvPr id="11" name="Text 9"/>
          <p:cNvSpPr/>
          <p:nvPr/>
        </p:nvSpPr>
        <p:spPr>
          <a:xfrm>
            <a:off x="844867" y="2415540"/>
            <a:ext cx="5391721"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the lender default</a:t>
            </a:r>
            <a:endParaRPr lang="en-US" sz="1125" dirty="0"/>
          </a:p>
        </p:txBody>
      </p:sp>
      <p:sp>
        <p:nvSpPr>
          <p:cNvPr id="12" name="Text 10"/>
          <p:cNvSpPr/>
          <p:nvPr/>
        </p:nvSpPr>
        <p:spPr>
          <a:xfrm>
            <a:off x="743267" y="2789396"/>
            <a:ext cx="5079365" cy="1095375"/>
          </a:xfrm>
          <a:prstGeom prst="rect">
            <a:avLst/>
          </a:prstGeom>
          <a:noFill/>
          <a:ln/>
        </p:spPr>
        <p:txBody>
          <a:bodyPr wrap="square" lIns="25400" tIns="25400" rIns="25400" bIns="25400" rtlCol="0" anchor="t">
            <a:normAutofit/>
          </a:bodyPr>
          <a:lstStyle/>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Range 300–850; FICO 8 most widely used</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Needs an account 6+ months old &amp; active</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FICO 8 still counts paid &amp; medical collections</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Mortgages use classic FICO 2 / 5 / 4</a:t>
            </a:r>
            <a:endParaRPr lang="en-US" sz="1125" dirty="0"/>
          </a:p>
        </p:txBody>
      </p:sp>
      <p:sp>
        <p:nvSpPr>
          <p:cNvPr id="13" name="Shape 11"/>
          <p:cNvSpPr/>
          <p:nvPr/>
        </p:nvSpPr>
        <p:spPr>
          <a:xfrm>
            <a:off x="6210300" y="1808797"/>
            <a:ext cx="5372100" cy="3645218"/>
          </a:xfrm>
          <a:prstGeom prst="roundRect">
            <a:avLst>
              <a:gd name="adj" fmla="val 3136"/>
            </a:avLst>
          </a:prstGeom>
          <a:solidFill>
            <a:srgbClr val="FFFFFF"/>
          </a:solidFill>
          <a:ln w="6667">
            <a:solidFill>
              <a:srgbClr val="E5E8F0"/>
            </a:solidFill>
            <a:prstDash val="solid"/>
          </a:ln>
        </p:spPr>
      </p:sp>
      <p:sp>
        <p:nvSpPr>
          <p:cNvPr id="14" name="Text 12"/>
          <p:cNvSpPr/>
          <p:nvPr/>
        </p:nvSpPr>
        <p:spPr>
          <a:xfrm>
            <a:off x="6445568" y="2044065"/>
            <a:ext cx="1446943"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dirty="0">
                <a:solidFill>
                  <a:srgbClr val="0B1220"/>
                </a:solidFill>
                <a:latin typeface="Arial" pitchFamily="34" charset="0"/>
                <a:ea typeface="Arial" pitchFamily="34" charset="-122"/>
                <a:cs typeface="Arial" pitchFamily="34" charset="-120"/>
              </a:rPr>
              <a:t>VantageScore</a:t>
            </a:r>
            <a:endParaRPr lang="en-US" sz="1500" dirty="0"/>
          </a:p>
        </p:txBody>
      </p:sp>
      <p:sp>
        <p:nvSpPr>
          <p:cNvPr id="15" name="Text 13"/>
          <p:cNvSpPr/>
          <p:nvPr/>
        </p:nvSpPr>
        <p:spPr>
          <a:xfrm>
            <a:off x="6445568" y="2415540"/>
            <a:ext cx="5391721"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scores thinner files</a:t>
            </a:r>
            <a:endParaRPr lang="en-US" sz="1125" dirty="0"/>
          </a:p>
        </p:txBody>
      </p:sp>
      <p:sp>
        <p:nvSpPr>
          <p:cNvPr id="16" name="Text 14"/>
          <p:cNvSpPr/>
          <p:nvPr/>
        </p:nvSpPr>
        <p:spPr>
          <a:xfrm>
            <a:off x="6343968" y="2789396"/>
            <a:ext cx="5079365" cy="1095375"/>
          </a:xfrm>
          <a:prstGeom prst="rect">
            <a:avLst/>
          </a:prstGeom>
          <a:noFill/>
          <a:ln/>
        </p:spPr>
        <p:txBody>
          <a:bodyPr wrap="square" lIns="25400" tIns="25400" rIns="25400" bIns="25400" rtlCol="0" anchor="t">
            <a:normAutofit/>
          </a:bodyPr>
          <a:lstStyle/>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Range 300–850; 4.0 is the published model</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Scores you with ~1 month of history</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Ignores medical AND paid collections</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Uses trended data — direction of balances, not a snapshot</a:t>
            </a:r>
            <a:endParaRPr lang="en-US" sz="1125" dirty="0"/>
          </a:p>
        </p:txBody>
      </p:sp>
      <p:sp>
        <p:nvSpPr>
          <p:cNvPr id="17" name="Text 15"/>
          <p:cNvSpPr/>
          <p:nvPr/>
        </p:nvSpPr>
        <p:spPr>
          <a:xfrm>
            <a:off x="609600" y="5682615"/>
            <a:ext cx="12070080"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Same person, many scores — they vary by bureau, model, and loan type. Know which one a given lender pulls.</a:t>
            </a:r>
            <a:endParaRPr lang="en-US" sz="1125" dirty="0"/>
          </a:p>
        </p:txBody>
      </p:sp>
      <p:sp>
        <p:nvSpPr>
          <p:cNvPr id="18" name="Text 16"/>
          <p:cNvSpPr/>
          <p:nvPr/>
        </p:nvSpPr>
        <p:spPr>
          <a:xfrm>
            <a:off x="10684511" y="6056471"/>
            <a:ext cx="97409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1 · Credit</a:t>
            </a:r>
            <a:endParaRPr lang="en-US" sz="97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2507790"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M3 · WHICH NUMBER COUNTS</a:t>
            </a:r>
            <a:endParaRPr lang="en-US" sz="975" dirty="0"/>
          </a:p>
        </p:txBody>
      </p:sp>
      <p:sp>
        <p:nvSpPr>
          <p:cNvPr id="8" name="Text 6"/>
          <p:cNvSpPr/>
          <p:nvPr/>
        </p:nvSpPr>
        <p:spPr>
          <a:xfrm>
            <a:off x="609600" y="989647"/>
            <a:ext cx="5820391" cy="990600"/>
          </a:xfrm>
          <a:prstGeom prst="rect">
            <a:avLst/>
          </a:prstGeom>
          <a:noFill/>
          <a:ln/>
        </p:spPr>
        <p:txBody>
          <a:bodyPr wrap="square" lIns="25400" tIns="25400" rIns="25400" bIns="25400" rtlCol="0" anchor="t">
            <a:normAutofit/>
          </a:bodyPr>
          <a:lstStyle/>
          <a:p>
            <a:pPr algn="l" indent="0" marL="0">
              <a:lnSpc>
                <a:spcPct val="125000"/>
              </a:lnSpc>
              <a:buNone/>
            </a:pPr>
            <a:r>
              <a:rPr lang="en-US" sz="3000" b="1" spc="-60" kern="0" dirty="0">
                <a:solidFill>
                  <a:srgbClr val="0B1220"/>
                </a:solidFill>
                <a:latin typeface="Arial" pitchFamily="34" charset="0"/>
                <a:ea typeface="Arial" pitchFamily="34" charset="-122"/>
                <a:cs typeface="Arial" pitchFamily="34" charset="-120"/>
              </a:rPr>
              <a:t>The score a lender pulls is older than the newest model</a:t>
            </a:r>
            <a:endParaRPr lang="en-US" sz="3000" dirty="0"/>
          </a:p>
        </p:txBody>
      </p:sp>
      <p:sp>
        <p:nvSpPr>
          <p:cNvPr id="9" name="Text 7"/>
          <p:cNvSpPr/>
          <p:nvPr/>
        </p:nvSpPr>
        <p:spPr>
          <a:xfrm>
            <a:off x="609600" y="2094547"/>
            <a:ext cx="6931622"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5B6472"/>
                </a:solidFill>
                <a:latin typeface="Arial" pitchFamily="34" charset="0"/>
                <a:ea typeface="Arial" pitchFamily="34" charset="-122"/>
                <a:cs typeface="Arial" pitchFamily="34" charset="-120"/>
              </a:rPr>
              <a:t>There isn't one score — and the newest version usually isn't the one being used.</a:t>
            </a:r>
            <a:endParaRPr lang="en-US" sz="1500" dirty="0"/>
          </a:p>
        </p:txBody>
      </p:sp>
      <p:sp>
        <p:nvSpPr>
          <p:cNvPr id="10" name="Shape 8"/>
          <p:cNvSpPr/>
          <p:nvPr/>
        </p:nvSpPr>
        <p:spPr>
          <a:xfrm>
            <a:off x="609600" y="3084195"/>
            <a:ext cx="85725" cy="85725"/>
          </a:xfrm>
          <a:prstGeom prst="roundRect">
            <a:avLst>
              <a:gd name="adj" fmla="val 33333"/>
            </a:avLst>
          </a:prstGeom>
          <a:solidFill>
            <a:srgbClr val="4F46E5"/>
          </a:solidFill>
          <a:ln/>
        </p:spPr>
      </p:sp>
      <p:sp>
        <p:nvSpPr>
          <p:cNvPr id="11" name="Text 9"/>
          <p:cNvSpPr/>
          <p:nvPr/>
        </p:nvSpPr>
        <p:spPr>
          <a:xfrm>
            <a:off x="809625" y="3019425"/>
            <a:ext cx="5816409" cy="244792"/>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FICO 8 (2009) is still the most-used version for everyday lending.</a:t>
            </a:r>
            <a:endParaRPr lang="en-US" sz="1350" dirty="0"/>
          </a:p>
        </p:txBody>
      </p:sp>
      <p:sp>
        <p:nvSpPr>
          <p:cNvPr id="12" name="Text 10"/>
          <p:cNvSpPr/>
          <p:nvPr/>
        </p:nvSpPr>
        <p:spPr>
          <a:xfrm>
            <a:off x="708025" y="3331845"/>
            <a:ext cx="5465445"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FICO 10 / 10T added trended data in 2020 but lag in adoption</a:t>
            </a:r>
            <a:endParaRPr lang="en-US" sz="1125" dirty="0"/>
          </a:p>
        </p:txBody>
      </p:sp>
      <p:sp>
        <p:nvSpPr>
          <p:cNvPr id="13" name="Shape 11"/>
          <p:cNvSpPr/>
          <p:nvPr/>
        </p:nvSpPr>
        <p:spPr>
          <a:xfrm>
            <a:off x="609600" y="3799999"/>
            <a:ext cx="85725" cy="85725"/>
          </a:xfrm>
          <a:prstGeom prst="roundRect">
            <a:avLst>
              <a:gd name="adj" fmla="val 33333"/>
            </a:avLst>
          </a:prstGeom>
          <a:solidFill>
            <a:srgbClr val="4F46E5"/>
          </a:solidFill>
          <a:ln/>
        </p:spPr>
      </p:sp>
      <p:sp>
        <p:nvSpPr>
          <p:cNvPr id="14" name="Text 12"/>
          <p:cNvSpPr/>
          <p:nvPr/>
        </p:nvSpPr>
        <p:spPr>
          <a:xfrm>
            <a:off x="809625" y="3705701"/>
            <a:ext cx="8160226" cy="303847"/>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Mortgages run on classic models by bureau: FICO 2 (Experian), 5 (Equifax), 4 (TransUnion).</a:t>
            </a:r>
            <a:endParaRPr lang="en-US" sz="1350" dirty="0"/>
          </a:p>
        </p:txBody>
      </p:sp>
      <p:sp>
        <p:nvSpPr>
          <p:cNvPr id="15" name="Shape 13"/>
          <p:cNvSpPr/>
          <p:nvPr/>
        </p:nvSpPr>
        <p:spPr>
          <a:xfrm>
            <a:off x="609600" y="4218146"/>
            <a:ext cx="85725" cy="85725"/>
          </a:xfrm>
          <a:prstGeom prst="roundRect">
            <a:avLst>
              <a:gd name="adj" fmla="val 33333"/>
            </a:avLst>
          </a:prstGeom>
          <a:solidFill>
            <a:srgbClr val="4F46E5"/>
          </a:solidFill>
          <a:ln/>
        </p:spPr>
      </p:sp>
      <p:sp>
        <p:nvSpPr>
          <p:cNvPr id="16" name="Text 14"/>
          <p:cNvSpPr/>
          <p:nvPr/>
        </p:nvSpPr>
        <p:spPr>
          <a:xfrm>
            <a:off x="809625" y="4153376"/>
            <a:ext cx="10882979" cy="244792"/>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Modernization is phased: Fannie Mae &amp; Freddie Mac now allow VantageScore 4.0; FICO 10T is validated but not yet in use.</a:t>
            </a:r>
            <a:endParaRPr lang="en-US" sz="1350" dirty="0"/>
          </a:p>
        </p:txBody>
      </p:sp>
      <p:sp>
        <p:nvSpPr>
          <p:cNvPr id="17" name="Text 15"/>
          <p:cNvSpPr/>
          <p:nvPr/>
        </p:nvSpPr>
        <p:spPr>
          <a:xfrm>
            <a:off x="708025" y="4465796"/>
            <a:ext cx="10071417"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Fannie &amp; Freddie — government-sponsored companies that buy most U.S. mortgages and set the rules lenders must follow</a:t>
            </a:r>
            <a:endParaRPr lang="en-US" sz="1125" dirty="0"/>
          </a:p>
        </p:txBody>
      </p:sp>
      <p:sp>
        <p:nvSpPr>
          <p:cNvPr id="18" name="Text 16"/>
          <p:cNvSpPr/>
          <p:nvPr/>
        </p:nvSpPr>
        <p:spPr>
          <a:xfrm>
            <a:off x="10684511" y="6056471"/>
            <a:ext cx="97409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1 · Credit</a:t>
            </a:r>
            <a:endParaRPr lang="en-US" sz="97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1220"/>
          </a:solidFill>
          <a:ln/>
        </p:spPr>
      </p:sp>
      <p:sp>
        <p:nvSpPr>
          <p:cNvPr id="3" name="Text 1"/>
          <p:cNvSpPr/>
          <p:nvPr/>
        </p:nvSpPr>
        <p:spPr>
          <a:xfrm>
            <a:off x="609600" y="1907381"/>
            <a:ext cx="12070080" cy="451485"/>
          </a:xfrm>
          <a:prstGeom prst="rect">
            <a:avLst/>
          </a:prstGeom>
          <a:noFill/>
          <a:ln/>
        </p:spPr>
        <p:txBody>
          <a:bodyPr wrap="square" lIns="25400" tIns="25400" rIns="25400" bIns="25400" rtlCol="0" anchor="t">
            <a:normAutofit/>
          </a:bodyPr>
          <a:lstStyle/>
          <a:p>
            <a:pPr algn="l" indent="0" marL="0">
              <a:lnSpc>
                <a:spcPct val="155000"/>
              </a:lnSpc>
              <a:buNone/>
            </a:pPr>
            <a:r>
              <a:rPr lang="en-US" sz="2100" b="1" spc="42" kern="0" dirty="0">
                <a:solidFill>
                  <a:srgbClr val="C7D2FE"/>
                </a:solidFill>
                <a:latin typeface="Arial" pitchFamily="34" charset="0"/>
                <a:ea typeface="Arial" pitchFamily="34" charset="-122"/>
                <a:cs typeface="Arial" pitchFamily="34" charset="-120"/>
              </a:rPr>
              <a:t>M4</a:t>
            </a:r>
            <a:endParaRPr lang="en-US" sz="2100" dirty="0"/>
          </a:p>
        </p:txBody>
      </p:sp>
      <p:sp>
        <p:nvSpPr>
          <p:cNvPr id="4" name="Text 2"/>
          <p:cNvSpPr/>
          <p:nvPr/>
        </p:nvSpPr>
        <p:spPr>
          <a:xfrm>
            <a:off x="609600" y="2435066"/>
            <a:ext cx="6842998" cy="1158240"/>
          </a:xfrm>
          <a:prstGeom prst="rect">
            <a:avLst/>
          </a:prstGeom>
          <a:noFill/>
          <a:ln/>
        </p:spPr>
        <p:txBody>
          <a:bodyPr wrap="square" lIns="25400" tIns="25400" rIns="25400" bIns="25400" rtlCol="0" anchor="t">
            <a:normAutofit/>
          </a:bodyPr>
          <a:lstStyle/>
          <a:p>
            <a:pPr algn="l" indent="0" marL="0">
              <a:lnSpc>
                <a:spcPct val="105000"/>
              </a:lnSpc>
              <a:buNone/>
            </a:pPr>
            <a:r>
              <a:rPr lang="en-US" sz="4200" b="1" spc="-84" kern="0" dirty="0">
                <a:solidFill>
                  <a:srgbClr val="FFFFFF"/>
                </a:solidFill>
                <a:latin typeface="Arial" pitchFamily="34" charset="0"/>
                <a:ea typeface="Arial" pitchFamily="34" charset="-122"/>
                <a:cs typeface="Arial" pitchFamily="34" charset="-120"/>
              </a:rPr>
              <a:t>Your report, inquiries &amp; your rights</a:t>
            </a:r>
            <a:endParaRPr lang="en-US" sz="4200" dirty="0"/>
          </a:p>
        </p:txBody>
      </p:sp>
      <p:sp>
        <p:nvSpPr>
          <p:cNvPr id="5" name="Text 3"/>
          <p:cNvSpPr/>
          <p:nvPr/>
        </p:nvSpPr>
        <p:spPr>
          <a:xfrm>
            <a:off x="609600" y="3783806"/>
            <a:ext cx="6436506"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FFFFFF">
                    <a:alpha val="70000"/>
                  </a:srgbClr>
                </a:solidFill>
                <a:latin typeface="Arial" pitchFamily="34" charset="0"/>
                <a:ea typeface="Arial" pitchFamily="34" charset="-122"/>
                <a:cs typeface="Arial" pitchFamily="34" charset="-120"/>
              </a:rPr>
              <a:t>What's in your file, how long it lasts, and the free tools you already have.</a:t>
            </a:r>
            <a:endParaRPr lang="en-US" sz="1500" dirty="0"/>
          </a:p>
        </p:txBody>
      </p:sp>
      <p:sp>
        <p:nvSpPr>
          <p:cNvPr id="6" name="Shape 4"/>
          <p:cNvSpPr/>
          <p:nvPr/>
        </p:nvSpPr>
        <p:spPr>
          <a:xfrm>
            <a:off x="609600" y="4693444"/>
            <a:ext cx="605314" cy="257175"/>
          </a:xfrm>
          <a:prstGeom prst="roundRect">
            <a:avLst>
              <a:gd name="adj" fmla="val 50000"/>
            </a:avLst>
          </a:prstGeom>
          <a:solidFill>
            <a:srgbClr val="EEF2FF"/>
          </a:solidFill>
          <a:ln/>
        </p:spPr>
      </p:sp>
      <p:sp>
        <p:nvSpPr>
          <p:cNvPr id="7" name="Text 5"/>
          <p:cNvSpPr/>
          <p:nvPr/>
        </p:nvSpPr>
        <p:spPr>
          <a:xfrm>
            <a:off x="723900" y="4750594"/>
            <a:ext cx="452914" cy="180975"/>
          </a:xfrm>
          <a:prstGeom prst="rect">
            <a:avLst/>
          </a:prstGeom>
          <a:noFill/>
          <a:ln/>
        </p:spPr>
        <p:txBody>
          <a:bodyPr wrap="none" lIns="25400" tIns="25400" rIns="25400" bIns="25400" rtlCol="0" anchor="ctr">
            <a:normAutofit/>
          </a:bodyPr>
          <a:lstStyle/>
          <a:p>
            <a:pPr algn="l" indent="0" marL="0">
              <a:lnSpc>
                <a:spcPct val="100000"/>
              </a:lnSpc>
              <a:buNone/>
            </a:pPr>
            <a:r>
              <a:rPr lang="en-US" sz="1125" b="1" dirty="0">
                <a:solidFill>
                  <a:srgbClr val="3730A3"/>
                </a:solidFill>
                <a:latin typeface="Arial" pitchFamily="34" charset="0"/>
                <a:ea typeface="Arial" pitchFamily="34" charset="-122"/>
                <a:cs typeface="Arial" pitchFamily="34" charset="-120"/>
              </a:rPr>
              <a:t>5 min</a:t>
            </a:r>
            <a:endParaRPr lang="en-US" sz="112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2026523"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M4 · REPORTS &amp; RIGHTS</a:t>
            </a:r>
            <a:endParaRPr lang="en-US" sz="975" dirty="0"/>
          </a:p>
        </p:txBody>
      </p:sp>
      <p:sp>
        <p:nvSpPr>
          <p:cNvPr id="8" name="Text 6"/>
          <p:cNvSpPr/>
          <p:nvPr/>
        </p:nvSpPr>
        <p:spPr>
          <a:xfrm>
            <a:off x="609600" y="989647"/>
            <a:ext cx="5820391" cy="990600"/>
          </a:xfrm>
          <a:prstGeom prst="rect">
            <a:avLst/>
          </a:prstGeom>
          <a:noFill/>
          <a:ln/>
        </p:spPr>
        <p:txBody>
          <a:bodyPr wrap="square" lIns="25400" tIns="25400" rIns="25400" bIns="25400" rtlCol="0" anchor="t">
            <a:normAutofit/>
          </a:bodyPr>
          <a:lstStyle/>
          <a:p>
            <a:pPr algn="l" indent="0" marL="0">
              <a:lnSpc>
                <a:spcPct val="125000"/>
              </a:lnSpc>
              <a:buNone/>
            </a:pPr>
            <a:r>
              <a:rPr lang="en-US" sz="3000" b="1" spc="-60" kern="0" dirty="0">
                <a:solidFill>
                  <a:srgbClr val="0B1220"/>
                </a:solidFill>
                <a:latin typeface="Arial" pitchFamily="34" charset="0"/>
                <a:ea typeface="Arial" pitchFamily="34" charset="-122"/>
                <a:cs typeface="Arial" pitchFamily="34" charset="-120"/>
              </a:rPr>
              <a:t>Report vs. score — and who keeps it</a:t>
            </a:r>
            <a:endParaRPr lang="en-US" sz="3000" dirty="0"/>
          </a:p>
        </p:txBody>
      </p:sp>
      <p:sp>
        <p:nvSpPr>
          <p:cNvPr id="9" name="Text 7"/>
          <p:cNvSpPr/>
          <p:nvPr/>
        </p:nvSpPr>
        <p:spPr>
          <a:xfrm>
            <a:off x="609600" y="2094547"/>
            <a:ext cx="6931622"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5B6472"/>
                </a:solidFill>
                <a:latin typeface="Arial" pitchFamily="34" charset="0"/>
                <a:ea typeface="Arial" pitchFamily="34" charset="-122"/>
                <a:cs typeface="Arial" pitchFamily="34" charset="-120"/>
              </a:rPr>
              <a:t>Your credit report is the record; your score is a single number calculated from it.</a:t>
            </a:r>
            <a:endParaRPr lang="en-US" sz="1500" dirty="0"/>
          </a:p>
        </p:txBody>
      </p:sp>
      <p:sp>
        <p:nvSpPr>
          <p:cNvPr id="10" name="Shape 8"/>
          <p:cNvSpPr/>
          <p:nvPr/>
        </p:nvSpPr>
        <p:spPr>
          <a:xfrm>
            <a:off x="609600" y="3084195"/>
            <a:ext cx="85725" cy="85725"/>
          </a:xfrm>
          <a:prstGeom prst="roundRect">
            <a:avLst>
              <a:gd name="adj" fmla="val 33333"/>
            </a:avLst>
          </a:prstGeom>
          <a:solidFill>
            <a:srgbClr val="4F46E5"/>
          </a:solidFill>
          <a:ln/>
        </p:spPr>
      </p:sp>
      <p:sp>
        <p:nvSpPr>
          <p:cNvPr id="11" name="Text 9"/>
          <p:cNvSpPr/>
          <p:nvPr/>
        </p:nvSpPr>
        <p:spPr>
          <a:xfrm>
            <a:off x="809625" y="3019425"/>
            <a:ext cx="6652165" cy="244792"/>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Three bureaus each hold a separate report: Experian, Equifax, TransUnion.</a:t>
            </a:r>
            <a:endParaRPr lang="en-US" sz="1350" dirty="0"/>
          </a:p>
        </p:txBody>
      </p:sp>
      <p:sp>
        <p:nvSpPr>
          <p:cNvPr id="12" name="Text 10"/>
          <p:cNvSpPr/>
          <p:nvPr/>
        </p:nvSpPr>
        <p:spPr>
          <a:xfrm>
            <a:off x="708025" y="3331845"/>
            <a:ext cx="6537801"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Lenders 'furnish' data voluntarily — so an account can show on one bureau and not another</a:t>
            </a:r>
            <a:endParaRPr lang="en-US" sz="1125" dirty="0"/>
          </a:p>
        </p:txBody>
      </p:sp>
      <p:sp>
        <p:nvSpPr>
          <p:cNvPr id="13" name="Shape 11"/>
          <p:cNvSpPr/>
          <p:nvPr/>
        </p:nvSpPr>
        <p:spPr>
          <a:xfrm>
            <a:off x="609600" y="3799999"/>
            <a:ext cx="85725" cy="85725"/>
          </a:xfrm>
          <a:prstGeom prst="roundRect">
            <a:avLst>
              <a:gd name="adj" fmla="val 33333"/>
            </a:avLst>
          </a:prstGeom>
          <a:solidFill>
            <a:srgbClr val="4F46E5"/>
          </a:solidFill>
          <a:ln/>
        </p:spPr>
      </p:sp>
      <p:sp>
        <p:nvSpPr>
          <p:cNvPr id="14" name="Text 12"/>
          <p:cNvSpPr/>
          <p:nvPr/>
        </p:nvSpPr>
        <p:spPr>
          <a:xfrm>
            <a:off x="809625" y="3705701"/>
            <a:ext cx="8460407" cy="303847"/>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Inside the report: your info, every account (tradeline), inquiries, public records, and collections.</a:t>
            </a:r>
            <a:endParaRPr lang="en-US" sz="1350" dirty="0"/>
          </a:p>
        </p:txBody>
      </p:sp>
      <p:sp>
        <p:nvSpPr>
          <p:cNvPr id="15" name="Shape 13"/>
          <p:cNvSpPr/>
          <p:nvPr/>
        </p:nvSpPr>
        <p:spPr>
          <a:xfrm>
            <a:off x="609600" y="4218146"/>
            <a:ext cx="85725" cy="85725"/>
          </a:xfrm>
          <a:prstGeom prst="roundRect">
            <a:avLst>
              <a:gd name="adj" fmla="val 33333"/>
            </a:avLst>
          </a:prstGeom>
          <a:solidFill>
            <a:srgbClr val="4F46E5"/>
          </a:solidFill>
          <a:ln/>
        </p:spPr>
      </p:sp>
      <p:sp>
        <p:nvSpPr>
          <p:cNvPr id="16" name="Text 14"/>
          <p:cNvSpPr/>
          <p:nvPr/>
        </p:nvSpPr>
        <p:spPr>
          <a:xfrm>
            <a:off x="809625" y="4153376"/>
            <a:ext cx="8401732" cy="244792"/>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AnnualCreditReport.com is the only federally authorized site — now free weekly from all three.</a:t>
            </a:r>
            <a:endParaRPr lang="en-US" sz="1350" dirty="0"/>
          </a:p>
        </p:txBody>
      </p:sp>
      <p:sp>
        <p:nvSpPr>
          <p:cNvPr id="17" name="Text 15"/>
          <p:cNvSpPr/>
          <p:nvPr/>
        </p:nvSpPr>
        <p:spPr>
          <a:xfrm>
            <a:off x="708025" y="4465796"/>
            <a:ext cx="7815738"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These are reports, not scores — the number comes from a card app, bank, or paid service</a:t>
            </a:r>
            <a:endParaRPr lang="en-US" sz="1125" dirty="0"/>
          </a:p>
        </p:txBody>
      </p:sp>
      <p:sp>
        <p:nvSpPr>
          <p:cNvPr id="18" name="Text 16"/>
          <p:cNvSpPr/>
          <p:nvPr/>
        </p:nvSpPr>
        <p:spPr>
          <a:xfrm>
            <a:off x="10684511" y="6056471"/>
            <a:ext cx="97409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1 · Credit</a:t>
            </a:r>
            <a:endParaRPr lang="en-US" sz="97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09600"/>
            <a:ext cx="1207008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M4 · REPORTS &amp; RIGHTS</a:t>
            </a:r>
            <a:endParaRPr lang="en-US" sz="975" dirty="0"/>
          </a:p>
        </p:txBody>
      </p:sp>
      <p:sp>
        <p:nvSpPr>
          <p:cNvPr id="8" name="Text 6"/>
          <p:cNvSpPr/>
          <p:nvPr/>
        </p:nvSpPr>
        <p:spPr>
          <a:xfrm>
            <a:off x="609600" y="915829"/>
            <a:ext cx="12070080"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60" kern="0" dirty="0">
                <a:solidFill>
                  <a:srgbClr val="0B1220"/>
                </a:solidFill>
                <a:latin typeface="Arial" pitchFamily="34" charset="0"/>
                <a:ea typeface="Arial" pitchFamily="34" charset="-122"/>
                <a:cs typeface="Arial" pitchFamily="34" charset="-120"/>
              </a:rPr>
              <a:t>How long it stays on your report</a:t>
            </a:r>
            <a:endParaRPr lang="en-US" sz="3000" dirty="0"/>
          </a:p>
        </p:txBody>
      </p:sp>
      <p:sp>
        <p:nvSpPr>
          <p:cNvPr id="9" name="Shape 7"/>
          <p:cNvSpPr/>
          <p:nvPr/>
        </p:nvSpPr>
        <p:spPr>
          <a:xfrm>
            <a:off x="4861560" y="1601629"/>
            <a:ext cx="9525" cy="3670459"/>
          </a:xfrm>
          <a:prstGeom prst="rect">
            <a:avLst/>
          </a:prstGeom>
          <a:solidFill>
            <a:srgbClr val="E5E8F0"/>
          </a:solidFill>
          <a:ln/>
        </p:spPr>
      </p:sp>
      <p:sp>
        <p:nvSpPr>
          <p:cNvPr id="10" name="Shape 8"/>
          <p:cNvSpPr/>
          <p:nvPr/>
        </p:nvSpPr>
        <p:spPr>
          <a:xfrm>
            <a:off x="6541770" y="1601629"/>
            <a:ext cx="9525" cy="3670459"/>
          </a:xfrm>
          <a:prstGeom prst="rect">
            <a:avLst/>
          </a:prstGeom>
          <a:solidFill>
            <a:srgbClr val="E5E8F0"/>
          </a:solidFill>
          <a:ln/>
        </p:spPr>
      </p:sp>
      <p:sp>
        <p:nvSpPr>
          <p:cNvPr id="11" name="Shape 9"/>
          <p:cNvSpPr/>
          <p:nvPr/>
        </p:nvSpPr>
        <p:spPr>
          <a:xfrm>
            <a:off x="8221980" y="1601629"/>
            <a:ext cx="9525" cy="3670459"/>
          </a:xfrm>
          <a:prstGeom prst="rect">
            <a:avLst/>
          </a:prstGeom>
          <a:solidFill>
            <a:srgbClr val="E5E8F0"/>
          </a:solidFill>
          <a:ln/>
        </p:spPr>
      </p:sp>
      <p:sp>
        <p:nvSpPr>
          <p:cNvPr id="12" name="Shape 10"/>
          <p:cNvSpPr/>
          <p:nvPr/>
        </p:nvSpPr>
        <p:spPr>
          <a:xfrm>
            <a:off x="9902190" y="1601629"/>
            <a:ext cx="9525" cy="3670459"/>
          </a:xfrm>
          <a:prstGeom prst="rect">
            <a:avLst/>
          </a:prstGeom>
          <a:solidFill>
            <a:srgbClr val="E5E8F0"/>
          </a:solidFill>
          <a:ln/>
        </p:spPr>
      </p:sp>
      <p:sp>
        <p:nvSpPr>
          <p:cNvPr id="13" name="Text 11"/>
          <p:cNvSpPr/>
          <p:nvPr/>
        </p:nvSpPr>
        <p:spPr>
          <a:xfrm>
            <a:off x="352425" y="2302986"/>
            <a:ext cx="2619375" cy="289084"/>
          </a:xfrm>
          <a:prstGeom prst="rect">
            <a:avLst/>
          </a:prstGeom>
          <a:noFill/>
          <a:ln/>
        </p:spPr>
        <p:txBody>
          <a:bodyPr wrap="square" lIns="25400" tIns="25400" rIns="25400" bIns="25400" rtlCol="0" anchor="t">
            <a:normAutofit/>
          </a:bodyPr>
          <a:lstStyle/>
          <a:p>
            <a:pPr algn="r" indent="0" marL="0">
              <a:lnSpc>
                <a:spcPct val="155000"/>
              </a:lnSpc>
              <a:buNone/>
            </a:pPr>
            <a:r>
              <a:rPr lang="en-US" sz="1275" b="1" dirty="0">
                <a:solidFill>
                  <a:srgbClr val="0B1220"/>
                </a:solidFill>
                <a:latin typeface="Arial" pitchFamily="34" charset="0"/>
                <a:ea typeface="Arial" pitchFamily="34" charset="-122"/>
                <a:cs typeface="Arial" pitchFamily="34" charset="-120"/>
              </a:rPr>
              <a:t>Hard inquiries</a:t>
            </a:r>
            <a:endParaRPr lang="en-US" sz="1275" dirty="0"/>
          </a:p>
        </p:txBody>
      </p:sp>
      <p:sp>
        <p:nvSpPr>
          <p:cNvPr id="14" name="Shape 12"/>
          <p:cNvSpPr/>
          <p:nvPr/>
        </p:nvSpPr>
        <p:spPr>
          <a:xfrm>
            <a:off x="3181350" y="2276157"/>
            <a:ext cx="1680210" cy="304800"/>
          </a:xfrm>
          <a:prstGeom prst="roundRect">
            <a:avLst>
              <a:gd name="adj" fmla="val 18750"/>
            </a:avLst>
          </a:prstGeom>
          <a:solidFill>
            <a:srgbClr val="818CF8"/>
          </a:solidFill>
          <a:ln/>
        </p:spPr>
      </p:sp>
      <p:sp>
        <p:nvSpPr>
          <p:cNvPr id="15" name="Text 13"/>
          <p:cNvSpPr/>
          <p:nvPr/>
        </p:nvSpPr>
        <p:spPr>
          <a:xfrm>
            <a:off x="4516120" y="2325211"/>
            <a:ext cx="326390" cy="244792"/>
          </a:xfrm>
          <a:prstGeom prst="rect">
            <a:avLst/>
          </a:prstGeom>
          <a:noFill/>
          <a:ln/>
        </p:spPr>
        <p:txBody>
          <a:bodyPr wrap="square" lIns="25400" tIns="25400" rIns="25400" bIns="25400" rtlCol="0" anchor="t">
            <a:normAutofit/>
          </a:bodyPr>
          <a:lstStyle/>
          <a:p>
            <a:pPr algn="l" indent="0" marL="0">
              <a:lnSpc>
                <a:spcPct val="155000"/>
              </a:lnSpc>
              <a:buNone/>
            </a:pPr>
            <a:r>
              <a:rPr lang="en-US" sz="1050" b="1" dirty="0">
                <a:solidFill>
                  <a:srgbClr val="FFFFFF"/>
                </a:solidFill>
                <a:latin typeface="Arial" pitchFamily="34" charset="0"/>
                <a:ea typeface="Arial" pitchFamily="34" charset="-122"/>
                <a:cs typeface="Arial" pitchFamily="34" charset="-120"/>
              </a:rPr>
              <a:t>2 yr</a:t>
            </a:r>
            <a:endParaRPr lang="en-US" sz="1050" dirty="0"/>
          </a:p>
        </p:txBody>
      </p:sp>
      <p:sp>
        <p:nvSpPr>
          <p:cNvPr id="16" name="Text 14"/>
          <p:cNvSpPr/>
          <p:nvPr/>
        </p:nvSpPr>
        <p:spPr>
          <a:xfrm>
            <a:off x="352425" y="2798286"/>
            <a:ext cx="2619375" cy="289084"/>
          </a:xfrm>
          <a:prstGeom prst="rect">
            <a:avLst/>
          </a:prstGeom>
          <a:noFill/>
          <a:ln/>
        </p:spPr>
        <p:txBody>
          <a:bodyPr wrap="square" lIns="25400" tIns="25400" rIns="25400" bIns="25400" rtlCol="0" anchor="t">
            <a:normAutofit/>
          </a:bodyPr>
          <a:lstStyle/>
          <a:p>
            <a:pPr algn="r" indent="0" marL="0">
              <a:lnSpc>
                <a:spcPct val="155000"/>
              </a:lnSpc>
              <a:buNone/>
            </a:pPr>
            <a:r>
              <a:rPr lang="en-US" sz="1275" b="1" dirty="0">
                <a:solidFill>
                  <a:srgbClr val="0B1220"/>
                </a:solidFill>
                <a:latin typeface="Arial" pitchFamily="34" charset="0"/>
                <a:ea typeface="Arial" pitchFamily="34" charset="-122"/>
                <a:cs typeface="Arial" pitchFamily="34" charset="-120"/>
              </a:rPr>
              <a:t>Late / missed payment</a:t>
            </a:r>
            <a:endParaRPr lang="en-US" sz="1275" dirty="0"/>
          </a:p>
        </p:txBody>
      </p:sp>
      <p:sp>
        <p:nvSpPr>
          <p:cNvPr id="17" name="Shape 15"/>
          <p:cNvSpPr/>
          <p:nvPr/>
        </p:nvSpPr>
        <p:spPr>
          <a:xfrm>
            <a:off x="3181350" y="2771458"/>
            <a:ext cx="5880735" cy="304800"/>
          </a:xfrm>
          <a:prstGeom prst="roundRect">
            <a:avLst>
              <a:gd name="adj" fmla="val 18750"/>
            </a:avLst>
          </a:prstGeom>
          <a:solidFill>
            <a:srgbClr val="F59E0B"/>
          </a:solidFill>
          <a:ln/>
        </p:spPr>
      </p:sp>
      <p:sp>
        <p:nvSpPr>
          <p:cNvPr id="18" name="Text 16"/>
          <p:cNvSpPr/>
          <p:nvPr/>
        </p:nvSpPr>
        <p:spPr>
          <a:xfrm>
            <a:off x="8723154" y="2820511"/>
            <a:ext cx="319881" cy="244792"/>
          </a:xfrm>
          <a:prstGeom prst="rect">
            <a:avLst/>
          </a:prstGeom>
          <a:noFill/>
          <a:ln/>
        </p:spPr>
        <p:txBody>
          <a:bodyPr wrap="square" lIns="25400" tIns="25400" rIns="25400" bIns="25400" rtlCol="0" anchor="t">
            <a:normAutofit/>
          </a:bodyPr>
          <a:lstStyle/>
          <a:p>
            <a:pPr algn="l" indent="0" marL="0">
              <a:lnSpc>
                <a:spcPct val="155000"/>
              </a:lnSpc>
              <a:buNone/>
            </a:pPr>
            <a:r>
              <a:rPr lang="en-US" sz="1050" b="1" dirty="0">
                <a:solidFill>
                  <a:srgbClr val="FFFFFF"/>
                </a:solidFill>
                <a:latin typeface="Arial" pitchFamily="34" charset="0"/>
                <a:ea typeface="Arial" pitchFamily="34" charset="-122"/>
                <a:cs typeface="Arial" pitchFamily="34" charset="-120"/>
              </a:rPr>
              <a:t>7 yr</a:t>
            </a:r>
            <a:endParaRPr lang="en-US" sz="1050" dirty="0"/>
          </a:p>
        </p:txBody>
      </p:sp>
      <p:sp>
        <p:nvSpPr>
          <p:cNvPr id="19" name="Text 17"/>
          <p:cNvSpPr/>
          <p:nvPr/>
        </p:nvSpPr>
        <p:spPr>
          <a:xfrm>
            <a:off x="352425" y="3293586"/>
            <a:ext cx="2619375" cy="289084"/>
          </a:xfrm>
          <a:prstGeom prst="rect">
            <a:avLst/>
          </a:prstGeom>
          <a:noFill/>
          <a:ln/>
        </p:spPr>
        <p:txBody>
          <a:bodyPr wrap="square" lIns="25400" tIns="25400" rIns="25400" bIns="25400" rtlCol="0" anchor="t">
            <a:normAutofit/>
          </a:bodyPr>
          <a:lstStyle/>
          <a:p>
            <a:pPr algn="r" indent="0" marL="0">
              <a:lnSpc>
                <a:spcPct val="155000"/>
              </a:lnSpc>
              <a:buNone/>
            </a:pPr>
            <a:r>
              <a:rPr lang="en-US" sz="1275" b="1" dirty="0">
                <a:solidFill>
                  <a:srgbClr val="0B1220"/>
                </a:solidFill>
                <a:latin typeface="Arial" pitchFamily="34" charset="0"/>
                <a:ea typeface="Arial" pitchFamily="34" charset="-122"/>
                <a:cs typeface="Arial" pitchFamily="34" charset="-120"/>
              </a:rPr>
              <a:t>Collections &amp; charge-offs</a:t>
            </a:r>
            <a:endParaRPr lang="en-US" sz="1275" dirty="0"/>
          </a:p>
        </p:txBody>
      </p:sp>
      <p:sp>
        <p:nvSpPr>
          <p:cNvPr id="20" name="Shape 18"/>
          <p:cNvSpPr/>
          <p:nvPr/>
        </p:nvSpPr>
        <p:spPr>
          <a:xfrm>
            <a:off x="3181350" y="3266758"/>
            <a:ext cx="6300788" cy="304800"/>
          </a:xfrm>
          <a:prstGeom prst="roundRect">
            <a:avLst>
              <a:gd name="adj" fmla="val 18750"/>
            </a:avLst>
          </a:prstGeom>
          <a:solidFill>
            <a:srgbClr val="EF4444"/>
          </a:solidFill>
          <a:ln/>
        </p:spPr>
      </p:sp>
      <p:sp>
        <p:nvSpPr>
          <p:cNvPr id="21" name="Text 19"/>
          <p:cNvSpPr/>
          <p:nvPr/>
        </p:nvSpPr>
        <p:spPr>
          <a:xfrm>
            <a:off x="8946515" y="3315811"/>
            <a:ext cx="516573" cy="244792"/>
          </a:xfrm>
          <a:prstGeom prst="rect">
            <a:avLst/>
          </a:prstGeom>
          <a:noFill/>
          <a:ln/>
        </p:spPr>
        <p:txBody>
          <a:bodyPr wrap="square" lIns="25400" tIns="25400" rIns="25400" bIns="25400" rtlCol="0" anchor="t">
            <a:normAutofit/>
          </a:bodyPr>
          <a:lstStyle/>
          <a:p>
            <a:pPr algn="l" indent="0" marL="0">
              <a:lnSpc>
                <a:spcPct val="155000"/>
              </a:lnSpc>
              <a:buNone/>
            </a:pPr>
            <a:r>
              <a:rPr lang="en-US" sz="1050" b="1" dirty="0">
                <a:solidFill>
                  <a:srgbClr val="FFFFFF"/>
                </a:solidFill>
                <a:latin typeface="Arial" pitchFamily="34" charset="0"/>
                <a:ea typeface="Arial" pitchFamily="34" charset="-122"/>
                <a:cs typeface="Arial" pitchFamily="34" charset="-120"/>
              </a:rPr>
              <a:t>~7.5 yr</a:t>
            </a:r>
            <a:endParaRPr lang="en-US" sz="1050" dirty="0"/>
          </a:p>
        </p:txBody>
      </p:sp>
      <p:sp>
        <p:nvSpPr>
          <p:cNvPr id="22" name="Text 20"/>
          <p:cNvSpPr/>
          <p:nvPr/>
        </p:nvSpPr>
        <p:spPr>
          <a:xfrm>
            <a:off x="352425" y="3788886"/>
            <a:ext cx="2619375" cy="289084"/>
          </a:xfrm>
          <a:prstGeom prst="rect">
            <a:avLst/>
          </a:prstGeom>
          <a:noFill/>
          <a:ln/>
        </p:spPr>
        <p:txBody>
          <a:bodyPr wrap="square" lIns="25400" tIns="25400" rIns="25400" bIns="25400" rtlCol="0" anchor="t">
            <a:normAutofit/>
          </a:bodyPr>
          <a:lstStyle/>
          <a:p>
            <a:pPr algn="r" indent="0" marL="0">
              <a:lnSpc>
                <a:spcPct val="155000"/>
              </a:lnSpc>
              <a:buNone/>
            </a:pPr>
            <a:r>
              <a:rPr lang="en-US" sz="1275" b="1" dirty="0">
                <a:solidFill>
                  <a:srgbClr val="0B1220"/>
                </a:solidFill>
                <a:latin typeface="Arial" pitchFamily="34" charset="0"/>
                <a:ea typeface="Arial" pitchFamily="34" charset="-122"/>
                <a:cs typeface="Arial" pitchFamily="34" charset="-120"/>
              </a:rPr>
              <a:t>Foreclosure / Chapter 13</a:t>
            </a:r>
            <a:endParaRPr lang="en-US" sz="1275" dirty="0"/>
          </a:p>
        </p:txBody>
      </p:sp>
      <p:sp>
        <p:nvSpPr>
          <p:cNvPr id="23" name="Shape 21"/>
          <p:cNvSpPr/>
          <p:nvPr/>
        </p:nvSpPr>
        <p:spPr>
          <a:xfrm>
            <a:off x="3181350" y="3762058"/>
            <a:ext cx="5880735" cy="304800"/>
          </a:xfrm>
          <a:prstGeom prst="roundRect">
            <a:avLst>
              <a:gd name="adj" fmla="val 18750"/>
            </a:avLst>
          </a:prstGeom>
          <a:solidFill>
            <a:srgbClr val="EF4444"/>
          </a:solidFill>
          <a:ln/>
        </p:spPr>
      </p:sp>
      <p:sp>
        <p:nvSpPr>
          <p:cNvPr id="24" name="Text 22"/>
          <p:cNvSpPr/>
          <p:nvPr/>
        </p:nvSpPr>
        <p:spPr>
          <a:xfrm>
            <a:off x="8723154" y="3811111"/>
            <a:ext cx="319881" cy="244792"/>
          </a:xfrm>
          <a:prstGeom prst="rect">
            <a:avLst/>
          </a:prstGeom>
          <a:noFill/>
          <a:ln/>
        </p:spPr>
        <p:txBody>
          <a:bodyPr wrap="square" lIns="25400" tIns="25400" rIns="25400" bIns="25400" rtlCol="0" anchor="t">
            <a:normAutofit/>
          </a:bodyPr>
          <a:lstStyle/>
          <a:p>
            <a:pPr algn="l" indent="0" marL="0">
              <a:lnSpc>
                <a:spcPct val="155000"/>
              </a:lnSpc>
              <a:buNone/>
            </a:pPr>
            <a:r>
              <a:rPr lang="en-US" sz="1050" b="1" dirty="0">
                <a:solidFill>
                  <a:srgbClr val="FFFFFF"/>
                </a:solidFill>
                <a:latin typeface="Arial" pitchFamily="34" charset="0"/>
                <a:ea typeface="Arial" pitchFamily="34" charset="-122"/>
                <a:cs typeface="Arial" pitchFamily="34" charset="-120"/>
              </a:rPr>
              <a:t>7 yr</a:t>
            </a:r>
            <a:endParaRPr lang="en-US" sz="1050" dirty="0"/>
          </a:p>
        </p:txBody>
      </p:sp>
      <p:sp>
        <p:nvSpPr>
          <p:cNvPr id="25" name="Text 23"/>
          <p:cNvSpPr/>
          <p:nvPr/>
        </p:nvSpPr>
        <p:spPr>
          <a:xfrm>
            <a:off x="352425" y="4284186"/>
            <a:ext cx="2619375" cy="289084"/>
          </a:xfrm>
          <a:prstGeom prst="rect">
            <a:avLst/>
          </a:prstGeom>
          <a:noFill/>
          <a:ln/>
        </p:spPr>
        <p:txBody>
          <a:bodyPr wrap="square" lIns="25400" tIns="25400" rIns="25400" bIns="25400" rtlCol="0" anchor="t">
            <a:normAutofit/>
          </a:bodyPr>
          <a:lstStyle/>
          <a:p>
            <a:pPr algn="r" indent="0" marL="0">
              <a:lnSpc>
                <a:spcPct val="155000"/>
              </a:lnSpc>
              <a:buNone/>
            </a:pPr>
            <a:r>
              <a:rPr lang="en-US" sz="1275" b="1" dirty="0">
                <a:solidFill>
                  <a:srgbClr val="0B1220"/>
                </a:solidFill>
                <a:latin typeface="Arial" pitchFamily="34" charset="0"/>
                <a:ea typeface="Arial" pitchFamily="34" charset="-122"/>
                <a:cs typeface="Arial" pitchFamily="34" charset="-120"/>
              </a:rPr>
              <a:t>Chapter 7 bankruptcy</a:t>
            </a:r>
            <a:endParaRPr lang="en-US" sz="1275" dirty="0"/>
          </a:p>
        </p:txBody>
      </p:sp>
      <p:sp>
        <p:nvSpPr>
          <p:cNvPr id="26" name="Shape 24"/>
          <p:cNvSpPr/>
          <p:nvPr/>
        </p:nvSpPr>
        <p:spPr>
          <a:xfrm>
            <a:off x="3181350" y="4257358"/>
            <a:ext cx="8401050" cy="304800"/>
          </a:xfrm>
          <a:prstGeom prst="roundRect">
            <a:avLst>
              <a:gd name="adj" fmla="val 18750"/>
            </a:avLst>
          </a:prstGeom>
          <a:solidFill>
            <a:srgbClr val="0B1220"/>
          </a:solidFill>
          <a:ln/>
        </p:spPr>
      </p:sp>
      <p:sp>
        <p:nvSpPr>
          <p:cNvPr id="27" name="Text 25"/>
          <p:cNvSpPr/>
          <p:nvPr/>
        </p:nvSpPr>
        <p:spPr>
          <a:xfrm>
            <a:off x="11173619" y="4306411"/>
            <a:ext cx="389731" cy="244792"/>
          </a:xfrm>
          <a:prstGeom prst="rect">
            <a:avLst/>
          </a:prstGeom>
          <a:noFill/>
          <a:ln/>
        </p:spPr>
        <p:txBody>
          <a:bodyPr wrap="square" lIns="25400" tIns="25400" rIns="25400" bIns="25400" rtlCol="0" anchor="t">
            <a:normAutofit/>
          </a:bodyPr>
          <a:lstStyle/>
          <a:p>
            <a:pPr algn="l" indent="0" marL="0">
              <a:lnSpc>
                <a:spcPct val="155000"/>
              </a:lnSpc>
              <a:buNone/>
            </a:pPr>
            <a:r>
              <a:rPr lang="en-US" sz="1050" b="1" dirty="0">
                <a:solidFill>
                  <a:srgbClr val="FFFFFF"/>
                </a:solidFill>
                <a:latin typeface="Arial" pitchFamily="34" charset="0"/>
                <a:ea typeface="Arial" pitchFamily="34" charset="-122"/>
                <a:cs typeface="Arial" pitchFamily="34" charset="-120"/>
              </a:rPr>
              <a:t>10 yr</a:t>
            </a:r>
            <a:endParaRPr lang="en-US" sz="1050" dirty="0"/>
          </a:p>
        </p:txBody>
      </p:sp>
      <p:sp>
        <p:nvSpPr>
          <p:cNvPr id="28" name="Text 26"/>
          <p:cNvSpPr/>
          <p:nvPr/>
        </p:nvSpPr>
        <p:spPr>
          <a:xfrm>
            <a:off x="3181350" y="4714558"/>
            <a:ext cx="162719" cy="244793"/>
          </a:xfrm>
          <a:prstGeom prst="rect">
            <a:avLst/>
          </a:prstGeom>
          <a:noFill/>
          <a:ln/>
        </p:spPr>
        <p:txBody>
          <a:bodyPr wrap="square" lIns="25400" tIns="25400" rIns="25400" bIns="25400" rtlCol="0" anchor="t">
            <a:normAutofit/>
          </a:bodyPr>
          <a:lstStyle/>
          <a:p>
            <a:pPr algn="l" indent="0" marL="0">
              <a:lnSpc>
                <a:spcPct val="155000"/>
              </a:lnSpc>
              <a:buNone/>
            </a:pPr>
            <a:r>
              <a:rPr lang="en-US" sz="1050" dirty="0">
                <a:solidFill>
                  <a:srgbClr val="5B6472"/>
                </a:solidFill>
                <a:latin typeface="Arial" pitchFamily="34" charset="0"/>
                <a:ea typeface="Arial" pitchFamily="34" charset="-122"/>
                <a:cs typeface="Arial" pitchFamily="34" charset="-120"/>
              </a:rPr>
              <a:t>0</a:t>
            </a:r>
            <a:endParaRPr lang="en-US" sz="1050" dirty="0"/>
          </a:p>
        </p:txBody>
      </p:sp>
      <p:sp>
        <p:nvSpPr>
          <p:cNvPr id="29" name="Text 27"/>
          <p:cNvSpPr/>
          <p:nvPr/>
        </p:nvSpPr>
        <p:spPr>
          <a:xfrm>
            <a:off x="4794726" y="4714558"/>
            <a:ext cx="162719" cy="244793"/>
          </a:xfrm>
          <a:prstGeom prst="rect">
            <a:avLst/>
          </a:prstGeom>
          <a:noFill/>
          <a:ln/>
        </p:spPr>
        <p:txBody>
          <a:bodyPr wrap="square" lIns="25400" tIns="25400" rIns="25400" bIns="25400" rtlCol="0" anchor="t">
            <a:normAutofit/>
          </a:bodyPr>
          <a:lstStyle/>
          <a:p>
            <a:pPr algn="l" indent="0" marL="0">
              <a:lnSpc>
                <a:spcPct val="155000"/>
              </a:lnSpc>
              <a:buNone/>
            </a:pPr>
            <a:r>
              <a:rPr lang="en-US" sz="1050" dirty="0">
                <a:solidFill>
                  <a:srgbClr val="5B6472"/>
                </a:solidFill>
                <a:latin typeface="Arial" pitchFamily="34" charset="0"/>
                <a:ea typeface="Arial" pitchFamily="34" charset="-122"/>
                <a:cs typeface="Arial" pitchFamily="34" charset="-120"/>
              </a:rPr>
              <a:t>2</a:t>
            </a:r>
            <a:endParaRPr lang="en-US" sz="1050" dirty="0"/>
          </a:p>
        </p:txBody>
      </p:sp>
      <p:sp>
        <p:nvSpPr>
          <p:cNvPr id="30" name="Text 28"/>
          <p:cNvSpPr/>
          <p:nvPr/>
        </p:nvSpPr>
        <p:spPr>
          <a:xfrm>
            <a:off x="6408102" y="4714558"/>
            <a:ext cx="162719" cy="244793"/>
          </a:xfrm>
          <a:prstGeom prst="rect">
            <a:avLst/>
          </a:prstGeom>
          <a:noFill/>
          <a:ln/>
        </p:spPr>
        <p:txBody>
          <a:bodyPr wrap="square" lIns="25400" tIns="25400" rIns="25400" bIns="25400" rtlCol="0" anchor="t">
            <a:normAutofit/>
          </a:bodyPr>
          <a:lstStyle/>
          <a:p>
            <a:pPr algn="l" indent="0" marL="0">
              <a:lnSpc>
                <a:spcPct val="155000"/>
              </a:lnSpc>
              <a:buNone/>
            </a:pPr>
            <a:r>
              <a:rPr lang="en-US" sz="1050" dirty="0">
                <a:solidFill>
                  <a:srgbClr val="5B6472"/>
                </a:solidFill>
                <a:latin typeface="Arial" pitchFamily="34" charset="0"/>
                <a:ea typeface="Arial" pitchFamily="34" charset="-122"/>
                <a:cs typeface="Arial" pitchFamily="34" charset="-120"/>
              </a:rPr>
              <a:t>4</a:t>
            </a:r>
            <a:endParaRPr lang="en-US" sz="1050" dirty="0"/>
          </a:p>
        </p:txBody>
      </p:sp>
      <p:sp>
        <p:nvSpPr>
          <p:cNvPr id="31" name="Text 29"/>
          <p:cNvSpPr/>
          <p:nvPr/>
        </p:nvSpPr>
        <p:spPr>
          <a:xfrm>
            <a:off x="8021479" y="4714558"/>
            <a:ext cx="162719" cy="244793"/>
          </a:xfrm>
          <a:prstGeom prst="rect">
            <a:avLst/>
          </a:prstGeom>
          <a:noFill/>
          <a:ln/>
        </p:spPr>
        <p:txBody>
          <a:bodyPr wrap="square" lIns="25400" tIns="25400" rIns="25400" bIns="25400" rtlCol="0" anchor="t">
            <a:normAutofit/>
          </a:bodyPr>
          <a:lstStyle/>
          <a:p>
            <a:pPr algn="l" indent="0" marL="0">
              <a:lnSpc>
                <a:spcPct val="155000"/>
              </a:lnSpc>
              <a:buNone/>
            </a:pPr>
            <a:r>
              <a:rPr lang="en-US" sz="1050" dirty="0">
                <a:solidFill>
                  <a:srgbClr val="5B6472"/>
                </a:solidFill>
                <a:latin typeface="Arial" pitchFamily="34" charset="0"/>
                <a:ea typeface="Arial" pitchFamily="34" charset="-122"/>
                <a:cs typeface="Arial" pitchFamily="34" charset="-120"/>
              </a:rPr>
              <a:t>6</a:t>
            </a:r>
            <a:endParaRPr lang="en-US" sz="1050" dirty="0"/>
          </a:p>
        </p:txBody>
      </p:sp>
      <p:sp>
        <p:nvSpPr>
          <p:cNvPr id="32" name="Text 30"/>
          <p:cNvSpPr/>
          <p:nvPr/>
        </p:nvSpPr>
        <p:spPr>
          <a:xfrm>
            <a:off x="9634855" y="4714558"/>
            <a:ext cx="162719" cy="244793"/>
          </a:xfrm>
          <a:prstGeom prst="rect">
            <a:avLst/>
          </a:prstGeom>
          <a:noFill/>
          <a:ln/>
        </p:spPr>
        <p:txBody>
          <a:bodyPr wrap="square" lIns="25400" tIns="25400" rIns="25400" bIns="25400" rtlCol="0" anchor="t">
            <a:normAutofit/>
          </a:bodyPr>
          <a:lstStyle/>
          <a:p>
            <a:pPr algn="l" indent="0" marL="0">
              <a:lnSpc>
                <a:spcPct val="155000"/>
              </a:lnSpc>
              <a:buNone/>
            </a:pPr>
            <a:r>
              <a:rPr lang="en-US" sz="1050" dirty="0">
                <a:solidFill>
                  <a:srgbClr val="5B6472"/>
                </a:solidFill>
                <a:latin typeface="Arial" pitchFamily="34" charset="0"/>
                <a:ea typeface="Arial" pitchFamily="34" charset="-122"/>
                <a:cs typeface="Arial" pitchFamily="34" charset="-120"/>
              </a:rPr>
              <a:t>8</a:t>
            </a:r>
            <a:endParaRPr lang="en-US" sz="1050" dirty="0"/>
          </a:p>
        </p:txBody>
      </p:sp>
      <p:sp>
        <p:nvSpPr>
          <p:cNvPr id="33" name="Text 31"/>
          <p:cNvSpPr/>
          <p:nvPr/>
        </p:nvSpPr>
        <p:spPr>
          <a:xfrm>
            <a:off x="11248390" y="4714558"/>
            <a:ext cx="410210" cy="244793"/>
          </a:xfrm>
          <a:prstGeom prst="rect">
            <a:avLst/>
          </a:prstGeom>
          <a:noFill/>
          <a:ln/>
        </p:spPr>
        <p:txBody>
          <a:bodyPr wrap="square" lIns="25400" tIns="25400" rIns="25400" bIns="25400" rtlCol="0" anchor="t">
            <a:normAutofit/>
          </a:bodyPr>
          <a:lstStyle/>
          <a:p>
            <a:pPr algn="l" indent="0" marL="0">
              <a:lnSpc>
                <a:spcPct val="155000"/>
              </a:lnSpc>
              <a:buNone/>
            </a:pPr>
            <a:r>
              <a:rPr lang="en-US" sz="1050" dirty="0">
                <a:solidFill>
                  <a:srgbClr val="5B6472"/>
                </a:solidFill>
                <a:latin typeface="Arial" pitchFamily="34" charset="0"/>
                <a:ea typeface="Arial" pitchFamily="34" charset="-122"/>
                <a:cs typeface="Arial" pitchFamily="34" charset="-120"/>
              </a:rPr>
              <a:t>10 yr</a:t>
            </a:r>
            <a:endParaRPr lang="en-US" sz="1050" dirty="0"/>
          </a:p>
        </p:txBody>
      </p:sp>
      <p:sp>
        <p:nvSpPr>
          <p:cNvPr id="34" name="Text 32"/>
          <p:cNvSpPr/>
          <p:nvPr/>
        </p:nvSpPr>
        <p:spPr>
          <a:xfrm>
            <a:off x="609600" y="5653088"/>
            <a:ext cx="12070080"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dirty="0">
                <a:solidFill>
                  <a:srgbClr val="5B6472"/>
                </a:solidFill>
                <a:latin typeface="Arial" pitchFamily="34" charset="0"/>
                <a:ea typeface="Arial" pitchFamily="34" charset="-122"/>
                <a:cs typeface="Arial" pitchFamily="34" charset="-120"/>
              </a:rPr>
              <a:t>Paying a collection marks it </a:t>
            </a:r>
            <a:pPr algn="l" indent="0" marL="0">
              <a:lnSpc>
                <a:spcPct val="155000"/>
              </a:lnSpc>
              <a:buNone/>
            </a:pPr>
            <a:r>
              <a:rPr lang="en-US" sz="1275" b="1" dirty="0">
                <a:solidFill>
                  <a:srgbClr val="0B1220"/>
                </a:solidFill>
                <a:latin typeface="Arial" pitchFamily="34" charset="0"/>
                <a:ea typeface="Arial" pitchFamily="34" charset="-122"/>
                <a:cs typeface="Arial" pitchFamily="34" charset="-120"/>
              </a:rPr>
              <a:t>paid </a:t>
            </a:r>
            <a:pPr algn="l" indent="0" marL="0">
              <a:lnSpc>
                <a:spcPct val="155000"/>
              </a:lnSpc>
              <a:buNone/>
            </a:pPr>
            <a:r>
              <a:rPr lang="en-US" sz="1275" dirty="0">
                <a:solidFill>
                  <a:srgbClr val="5B6472"/>
                </a:solidFill>
                <a:latin typeface="Arial" pitchFamily="34" charset="0"/>
                <a:ea typeface="Arial" pitchFamily="34" charset="-122"/>
                <a:cs typeface="Arial" pitchFamily="34" charset="-120"/>
              </a:rPr>
              <a:t>— it does not reset the 7-year clock.</a:t>
            </a:r>
            <a:endParaRPr lang="en-US" sz="1275" dirty="0"/>
          </a:p>
        </p:txBody>
      </p:sp>
      <p:sp>
        <p:nvSpPr>
          <p:cNvPr id="35" name="Text 33"/>
          <p:cNvSpPr/>
          <p:nvPr/>
        </p:nvSpPr>
        <p:spPr>
          <a:xfrm>
            <a:off x="10684511" y="6056471"/>
            <a:ext cx="97409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1 · Credit</a:t>
            </a:r>
            <a:endParaRPr lang="en-US" sz="97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2419429"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M4 · PROTECTING YOUR FILE</a:t>
            </a:r>
            <a:endParaRPr lang="en-US" sz="975" dirty="0"/>
          </a:p>
        </p:txBody>
      </p:sp>
      <p:sp>
        <p:nvSpPr>
          <p:cNvPr id="8" name="Text 6"/>
          <p:cNvSpPr/>
          <p:nvPr/>
        </p:nvSpPr>
        <p:spPr>
          <a:xfrm>
            <a:off x="609600" y="989647"/>
            <a:ext cx="12070080" cy="628650"/>
          </a:xfrm>
          <a:prstGeom prst="rect">
            <a:avLst/>
          </a:prstGeom>
          <a:noFill/>
          <a:ln/>
        </p:spPr>
        <p:txBody>
          <a:bodyPr wrap="square" lIns="25400" tIns="25400" rIns="25400" bIns="25400" rtlCol="0" anchor="t">
            <a:normAutofit/>
          </a:bodyPr>
          <a:lstStyle/>
          <a:p>
            <a:pPr algn="l" indent="0" marL="0">
              <a:lnSpc>
                <a:spcPct val="155000"/>
              </a:lnSpc>
              <a:buNone/>
            </a:pPr>
            <a:r>
              <a:rPr lang="en-US" sz="3000" b="1" spc="-60" kern="0" dirty="0">
                <a:solidFill>
                  <a:srgbClr val="0B1220"/>
                </a:solidFill>
                <a:latin typeface="Arial" pitchFamily="34" charset="0"/>
                <a:ea typeface="Arial" pitchFamily="34" charset="-122"/>
                <a:cs typeface="Arial" pitchFamily="34" charset="-120"/>
              </a:rPr>
              <a:t>Freeze vs. fraud alert vs. lock</a:t>
            </a:r>
            <a:endParaRPr lang="en-US" sz="3000" dirty="0"/>
          </a:p>
        </p:txBody>
      </p:sp>
      <p:sp>
        <p:nvSpPr>
          <p:cNvPr id="9" name="Shape 7"/>
          <p:cNvSpPr/>
          <p:nvPr/>
        </p:nvSpPr>
        <p:spPr>
          <a:xfrm>
            <a:off x="609600" y="1808797"/>
            <a:ext cx="3505200" cy="3645218"/>
          </a:xfrm>
          <a:prstGeom prst="roundRect">
            <a:avLst>
              <a:gd name="adj" fmla="val 3261"/>
            </a:avLst>
          </a:prstGeom>
          <a:solidFill>
            <a:srgbClr val="EEF2FF"/>
          </a:solidFill>
          <a:ln w="6667">
            <a:solidFill>
              <a:srgbClr val="C7D2FE"/>
            </a:solidFill>
            <a:prstDash val="solid"/>
          </a:ln>
        </p:spPr>
      </p:sp>
      <p:sp>
        <p:nvSpPr>
          <p:cNvPr id="10" name="Text 8"/>
          <p:cNvSpPr/>
          <p:nvPr/>
        </p:nvSpPr>
        <p:spPr>
          <a:xfrm>
            <a:off x="844867" y="2044065"/>
            <a:ext cx="1325404"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dirty="0">
                <a:solidFill>
                  <a:srgbClr val="3730A3"/>
                </a:solidFill>
                <a:latin typeface="Arial" pitchFamily="34" charset="0"/>
                <a:ea typeface="Arial" pitchFamily="34" charset="-122"/>
                <a:cs typeface="Arial" pitchFamily="34" charset="-120"/>
              </a:rPr>
              <a:t>Credit freeze</a:t>
            </a:r>
            <a:endParaRPr lang="en-US" sz="1500" dirty="0"/>
          </a:p>
        </p:txBody>
      </p:sp>
      <p:sp>
        <p:nvSpPr>
          <p:cNvPr id="11" name="Text 9"/>
          <p:cNvSpPr/>
          <p:nvPr/>
        </p:nvSpPr>
        <p:spPr>
          <a:xfrm>
            <a:off x="844867" y="2415540"/>
            <a:ext cx="3338132"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free, by federal law</a:t>
            </a:r>
            <a:endParaRPr lang="en-US" sz="1125" dirty="0"/>
          </a:p>
        </p:txBody>
      </p:sp>
      <p:sp>
        <p:nvSpPr>
          <p:cNvPr id="12" name="Text 10"/>
          <p:cNvSpPr/>
          <p:nvPr/>
        </p:nvSpPr>
        <p:spPr>
          <a:xfrm>
            <a:off x="743267" y="2789396"/>
            <a:ext cx="3212465" cy="1095375"/>
          </a:xfrm>
          <a:prstGeom prst="rect">
            <a:avLst/>
          </a:prstGeom>
          <a:noFill/>
          <a:ln/>
        </p:spPr>
        <p:txBody>
          <a:bodyPr wrap="square" lIns="25400" tIns="25400" rIns="25400" bIns="25400" rtlCol="0" anchor="t">
            <a:normAutofit/>
          </a:bodyPr>
          <a:lstStyle/>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Blocks new creditors from pulling your file</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On within 1 business day, off within 1 hour</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Doesn't affect your score</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Set it at all three bureaus</a:t>
            </a:r>
            <a:endParaRPr lang="en-US" sz="1125" dirty="0"/>
          </a:p>
        </p:txBody>
      </p:sp>
      <p:sp>
        <p:nvSpPr>
          <p:cNvPr id="13" name="Shape 11"/>
          <p:cNvSpPr/>
          <p:nvPr/>
        </p:nvSpPr>
        <p:spPr>
          <a:xfrm>
            <a:off x="4343400" y="1808797"/>
            <a:ext cx="3505200" cy="3645218"/>
          </a:xfrm>
          <a:prstGeom prst="roundRect">
            <a:avLst>
              <a:gd name="adj" fmla="val 3261"/>
            </a:avLst>
          </a:prstGeom>
          <a:solidFill>
            <a:srgbClr val="FFFFFF"/>
          </a:solidFill>
          <a:ln w="6667">
            <a:solidFill>
              <a:srgbClr val="E5E8F0"/>
            </a:solidFill>
            <a:prstDash val="solid"/>
          </a:ln>
        </p:spPr>
      </p:sp>
      <p:sp>
        <p:nvSpPr>
          <p:cNvPr id="14" name="Text 12"/>
          <p:cNvSpPr/>
          <p:nvPr/>
        </p:nvSpPr>
        <p:spPr>
          <a:xfrm>
            <a:off x="4578668" y="2044065"/>
            <a:ext cx="1080611"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dirty="0">
                <a:solidFill>
                  <a:srgbClr val="0B1220"/>
                </a:solidFill>
                <a:latin typeface="Arial" pitchFamily="34" charset="0"/>
                <a:ea typeface="Arial" pitchFamily="34" charset="-122"/>
                <a:cs typeface="Arial" pitchFamily="34" charset="-120"/>
              </a:rPr>
              <a:t>Fraud alert</a:t>
            </a:r>
            <a:endParaRPr lang="en-US" sz="1500" dirty="0"/>
          </a:p>
        </p:txBody>
      </p:sp>
      <p:sp>
        <p:nvSpPr>
          <p:cNvPr id="15" name="Text 13"/>
          <p:cNvSpPr/>
          <p:nvPr/>
        </p:nvSpPr>
        <p:spPr>
          <a:xfrm>
            <a:off x="4578668" y="2415540"/>
            <a:ext cx="3338132"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free</a:t>
            </a:r>
            <a:endParaRPr lang="en-US" sz="1125" dirty="0"/>
          </a:p>
        </p:txBody>
      </p:sp>
      <p:sp>
        <p:nvSpPr>
          <p:cNvPr id="16" name="Text 14"/>
          <p:cNvSpPr/>
          <p:nvPr/>
        </p:nvSpPr>
        <p:spPr>
          <a:xfrm>
            <a:off x="4477068" y="2789396"/>
            <a:ext cx="3212465" cy="1273969"/>
          </a:xfrm>
          <a:prstGeom prst="rect">
            <a:avLst/>
          </a:prstGeom>
          <a:noFill/>
          <a:ln/>
        </p:spPr>
        <p:txBody>
          <a:bodyPr wrap="square" lIns="25400" tIns="25400" rIns="25400" bIns="25400" rtlCol="0" anchor="t">
            <a:normAutofit/>
          </a:bodyPr>
          <a:lstStyle/>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Doesn't block — forces lenders to verify you</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Initial alert lasts 1 year</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Extended (for victims) lasts 7 years</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Tell one bureau; it notifies the others</a:t>
            </a:r>
            <a:endParaRPr lang="en-US" sz="1125" dirty="0"/>
          </a:p>
        </p:txBody>
      </p:sp>
      <p:sp>
        <p:nvSpPr>
          <p:cNvPr id="17" name="Shape 15"/>
          <p:cNvSpPr/>
          <p:nvPr/>
        </p:nvSpPr>
        <p:spPr>
          <a:xfrm>
            <a:off x="8077200" y="1808797"/>
            <a:ext cx="3505200" cy="3645218"/>
          </a:xfrm>
          <a:prstGeom prst="roundRect">
            <a:avLst>
              <a:gd name="adj" fmla="val 3261"/>
            </a:avLst>
          </a:prstGeom>
          <a:solidFill>
            <a:srgbClr val="FFFFFF"/>
          </a:solidFill>
          <a:ln w="6667">
            <a:solidFill>
              <a:srgbClr val="E5E8F0"/>
            </a:solidFill>
            <a:prstDash val="solid"/>
          </a:ln>
        </p:spPr>
      </p:sp>
      <p:sp>
        <p:nvSpPr>
          <p:cNvPr id="18" name="Text 16"/>
          <p:cNvSpPr/>
          <p:nvPr/>
        </p:nvSpPr>
        <p:spPr>
          <a:xfrm>
            <a:off x="8312468" y="2044065"/>
            <a:ext cx="1081246"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dirty="0">
                <a:solidFill>
                  <a:srgbClr val="0B1220"/>
                </a:solidFill>
                <a:latin typeface="Arial" pitchFamily="34" charset="0"/>
                <a:ea typeface="Arial" pitchFamily="34" charset="-122"/>
                <a:cs typeface="Arial" pitchFamily="34" charset="-120"/>
              </a:rPr>
              <a:t>Credit lock</a:t>
            </a:r>
            <a:endParaRPr lang="en-US" sz="1500" dirty="0"/>
          </a:p>
        </p:txBody>
      </p:sp>
      <p:sp>
        <p:nvSpPr>
          <p:cNvPr id="19" name="Text 17"/>
          <p:cNvSpPr/>
          <p:nvPr/>
        </p:nvSpPr>
        <p:spPr>
          <a:xfrm>
            <a:off x="8312468" y="2415540"/>
            <a:ext cx="3338132"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a paid bureau product</a:t>
            </a:r>
            <a:endParaRPr lang="en-US" sz="1125" dirty="0"/>
          </a:p>
        </p:txBody>
      </p:sp>
      <p:sp>
        <p:nvSpPr>
          <p:cNvPr id="20" name="Text 18"/>
          <p:cNvSpPr/>
          <p:nvPr/>
        </p:nvSpPr>
        <p:spPr>
          <a:xfrm>
            <a:off x="8210868" y="2789396"/>
            <a:ext cx="3212465" cy="981075"/>
          </a:xfrm>
          <a:prstGeom prst="rect">
            <a:avLst/>
          </a:prstGeom>
          <a:noFill/>
          <a:ln/>
        </p:spPr>
        <p:txBody>
          <a:bodyPr wrap="square" lIns="25400" tIns="25400" rIns="25400" bIns="25400" rtlCol="0" anchor="t">
            <a:normAutofit/>
          </a:bodyPr>
          <a:lstStyle/>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Same effect as a freeze, by company terms</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Not governed by federal law</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CFPB: no more effective than a free freeze</a:t>
            </a:r>
            <a:endParaRPr lang="en-US" sz="1125" dirty="0"/>
          </a:p>
        </p:txBody>
      </p:sp>
      <p:sp>
        <p:nvSpPr>
          <p:cNvPr id="21" name="Text 19"/>
          <p:cNvSpPr/>
          <p:nvPr/>
        </p:nvSpPr>
        <p:spPr>
          <a:xfrm>
            <a:off x="609600" y="5682615"/>
            <a:ext cx="12070080"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Strongest free protection: a freeze at all three bureaus. A lock mostly sells you what the law already gives you.</a:t>
            </a:r>
            <a:endParaRPr lang="en-US" sz="1125" dirty="0"/>
          </a:p>
        </p:txBody>
      </p:sp>
      <p:sp>
        <p:nvSpPr>
          <p:cNvPr id="22" name="Text 20"/>
          <p:cNvSpPr/>
          <p:nvPr/>
        </p:nvSpPr>
        <p:spPr>
          <a:xfrm>
            <a:off x="10684511" y="6056471"/>
            <a:ext cx="97409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1 · Credit</a:t>
            </a:r>
            <a:endParaRPr lang="en-US" sz="97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1237297"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M4 · INQUIRIES</a:t>
            </a:r>
            <a:endParaRPr lang="en-US" sz="975" dirty="0"/>
          </a:p>
        </p:txBody>
      </p:sp>
      <p:sp>
        <p:nvSpPr>
          <p:cNvPr id="8" name="Text 6"/>
          <p:cNvSpPr/>
          <p:nvPr/>
        </p:nvSpPr>
        <p:spPr>
          <a:xfrm>
            <a:off x="609600" y="989647"/>
            <a:ext cx="5820391" cy="990600"/>
          </a:xfrm>
          <a:prstGeom prst="rect">
            <a:avLst/>
          </a:prstGeom>
          <a:noFill/>
          <a:ln/>
        </p:spPr>
        <p:txBody>
          <a:bodyPr wrap="square" lIns="25400" tIns="25400" rIns="25400" bIns="25400" rtlCol="0" anchor="t">
            <a:normAutofit/>
          </a:bodyPr>
          <a:lstStyle/>
          <a:p>
            <a:pPr algn="l" indent="0" marL="0">
              <a:lnSpc>
                <a:spcPct val="125000"/>
              </a:lnSpc>
              <a:buNone/>
            </a:pPr>
            <a:r>
              <a:rPr lang="en-US" sz="3000" b="1" spc="-60" kern="0" dirty="0">
                <a:solidFill>
                  <a:srgbClr val="0B1220"/>
                </a:solidFill>
                <a:latin typeface="Arial" pitchFamily="34" charset="0"/>
                <a:ea typeface="Arial" pitchFamily="34" charset="-122"/>
                <a:cs typeface="Arial" pitchFamily="34" charset="-120"/>
              </a:rPr>
              <a:t>Hard vs. soft inquiries — and rate shopping</a:t>
            </a:r>
            <a:endParaRPr lang="en-US" sz="3000" dirty="0"/>
          </a:p>
        </p:txBody>
      </p:sp>
      <p:sp>
        <p:nvSpPr>
          <p:cNvPr id="9" name="Text 7"/>
          <p:cNvSpPr/>
          <p:nvPr/>
        </p:nvSpPr>
        <p:spPr>
          <a:xfrm>
            <a:off x="609600" y="2094547"/>
            <a:ext cx="6931622"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5B6472"/>
                </a:solidFill>
                <a:latin typeface="Arial" pitchFamily="34" charset="0"/>
                <a:ea typeface="Arial" pitchFamily="34" charset="-122"/>
                <a:cs typeface="Arial" pitchFamily="34" charset="-120"/>
              </a:rPr>
              <a:t>The difference isn't what they see — it's whether you applied for new credit.</a:t>
            </a:r>
            <a:endParaRPr lang="en-US" sz="1500" dirty="0"/>
          </a:p>
        </p:txBody>
      </p:sp>
      <p:sp>
        <p:nvSpPr>
          <p:cNvPr id="10" name="Shape 8"/>
          <p:cNvSpPr/>
          <p:nvPr/>
        </p:nvSpPr>
        <p:spPr>
          <a:xfrm>
            <a:off x="609600" y="3084195"/>
            <a:ext cx="85725" cy="85725"/>
          </a:xfrm>
          <a:prstGeom prst="roundRect">
            <a:avLst>
              <a:gd name="adj" fmla="val 33333"/>
            </a:avLst>
          </a:prstGeom>
          <a:solidFill>
            <a:srgbClr val="4F46E5"/>
          </a:solidFill>
          <a:ln/>
        </p:spPr>
      </p:sp>
      <p:sp>
        <p:nvSpPr>
          <p:cNvPr id="11" name="Text 9"/>
          <p:cNvSpPr/>
          <p:nvPr/>
        </p:nvSpPr>
        <p:spPr>
          <a:xfrm>
            <a:off x="809625" y="2989897"/>
            <a:ext cx="9786334" cy="303848"/>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Soft pull — checking your own score, prequalification, employer checks. No score impact, invisible to lenders.</a:t>
            </a:r>
            <a:endParaRPr lang="en-US" sz="1350" dirty="0"/>
          </a:p>
        </p:txBody>
      </p:sp>
      <p:sp>
        <p:nvSpPr>
          <p:cNvPr id="12" name="Shape 10"/>
          <p:cNvSpPr/>
          <p:nvPr/>
        </p:nvSpPr>
        <p:spPr>
          <a:xfrm>
            <a:off x="609600" y="3502343"/>
            <a:ext cx="85725" cy="85725"/>
          </a:xfrm>
          <a:prstGeom prst="roundRect">
            <a:avLst>
              <a:gd name="adj" fmla="val 33333"/>
            </a:avLst>
          </a:prstGeom>
          <a:solidFill>
            <a:srgbClr val="4F46E5"/>
          </a:solidFill>
          <a:ln/>
        </p:spPr>
      </p:sp>
      <p:sp>
        <p:nvSpPr>
          <p:cNvPr id="13" name="Text 11"/>
          <p:cNvSpPr/>
          <p:nvPr/>
        </p:nvSpPr>
        <p:spPr>
          <a:xfrm>
            <a:off x="809625" y="3408045"/>
            <a:ext cx="9691513" cy="303847"/>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Hard pull — you apply and a lender pulls your file for a real decision. Recorded, visible, a small temporary hit.</a:t>
            </a:r>
            <a:endParaRPr lang="en-US" sz="1350" dirty="0"/>
          </a:p>
        </p:txBody>
      </p:sp>
      <p:sp>
        <p:nvSpPr>
          <p:cNvPr id="14" name="Shape 12"/>
          <p:cNvSpPr/>
          <p:nvPr/>
        </p:nvSpPr>
        <p:spPr>
          <a:xfrm>
            <a:off x="609600" y="3920490"/>
            <a:ext cx="85725" cy="85725"/>
          </a:xfrm>
          <a:prstGeom prst="roundRect">
            <a:avLst>
              <a:gd name="adj" fmla="val 33333"/>
            </a:avLst>
          </a:prstGeom>
          <a:solidFill>
            <a:srgbClr val="4F46E5"/>
          </a:solidFill>
          <a:ln/>
        </p:spPr>
      </p:sp>
      <p:sp>
        <p:nvSpPr>
          <p:cNvPr id="15" name="Text 13"/>
          <p:cNvSpPr/>
          <p:nvPr/>
        </p:nvSpPr>
        <p:spPr>
          <a:xfrm>
            <a:off x="809625" y="3855720"/>
            <a:ext cx="9384522" cy="244792"/>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Rate shopping: batch a mortgage / auto / student search into a short window and it counts as one inquiry.</a:t>
            </a:r>
            <a:endParaRPr lang="en-US" sz="1350" dirty="0"/>
          </a:p>
        </p:txBody>
      </p:sp>
      <p:sp>
        <p:nvSpPr>
          <p:cNvPr id="16" name="Text 14"/>
          <p:cNvSpPr/>
          <p:nvPr/>
        </p:nvSpPr>
        <p:spPr>
          <a:xfrm>
            <a:off x="708025" y="4168140"/>
            <a:ext cx="8709184"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FICO 8+ uses ~45 days; VantageScore &amp; older FICO use 14 days</a:t>
            </a:r>
            <a:endParaRPr lang="en-US" sz="1125" dirty="0"/>
          </a:p>
        </p:txBody>
      </p:sp>
      <p:sp>
        <p:nvSpPr>
          <p:cNvPr id="17" name="Text 15"/>
          <p:cNvSpPr/>
          <p:nvPr/>
        </p:nvSpPr>
        <p:spPr>
          <a:xfrm>
            <a:off x="10684511" y="6056471"/>
            <a:ext cx="97409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1 · Credit</a:t>
            </a:r>
            <a:endParaRPr lang="en-US" sz="97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1220"/>
          </a:solidFill>
          <a:ln/>
        </p:spPr>
      </p:sp>
      <p:sp>
        <p:nvSpPr>
          <p:cNvPr id="3" name="Text 1"/>
          <p:cNvSpPr/>
          <p:nvPr/>
        </p:nvSpPr>
        <p:spPr>
          <a:xfrm>
            <a:off x="609600" y="1907381"/>
            <a:ext cx="12070080" cy="451485"/>
          </a:xfrm>
          <a:prstGeom prst="rect">
            <a:avLst/>
          </a:prstGeom>
          <a:noFill/>
          <a:ln/>
        </p:spPr>
        <p:txBody>
          <a:bodyPr wrap="square" lIns="25400" tIns="25400" rIns="25400" bIns="25400" rtlCol="0" anchor="t">
            <a:normAutofit/>
          </a:bodyPr>
          <a:lstStyle/>
          <a:p>
            <a:pPr algn="l" indent="0" marL="0">
              <a:lnSpc>
                <a:spcPct val="155000"/>
              </a:lnSpc>
              <a:buNone/>
            </a:pPr>
            <a:r>
              <a:rPr lang="en-US" sz="2100" b="1" spc="42" kern="0" dirty="0">
                <a:solidFill>
                  <a:srgbClr val="C7D2FE"/>
                </a:solidFill>
                <a:latin typeface="Arial" pitchFamily="34" charset="0"/>
                <a:ea typeface="Arial" pitchFamily="34" charset="-122"/>
                <a:cs typeface="Arial" pitchFamily="34" charset="-120"/>
              </a:rPr>
              <a:t>M5</a:t>
            </a:r>
            <a:endParaRPr lang="en-US" sz="2100" dirty="0"/>
          </a:p>
        </p:txBody>
      </p:sp>
      <p:sp>
        <p:nvSpPr>
          <p:cNvPr id="4" name="Text 2"/>
          <p:cNvSpPr/>
          <p:nvPr/>
        </p:nvSpPr>
        <p:spPr>
          <a:xfrm>
            <a:off x="609600" y="2435066"/>
            <a:ext cx="6842998" cy="1158240"/>
          </a:xfrm>
          <a:prstGeom prst="rect">
            <a:avLst/>
          </a:prstGeom>
          <a:noFill/>
          <a:ln/>
        </p:spPr>
        <p:txBody>
          <a:bodyPr wrap="square" lIns="25400" tIns="25400" rIns="25400" bIns="25400" rtlCol="0" anchor="t">
            <a:normAutofit/>
          </a:bodyPr>
          <a:lstStyle/>
          <a:p>
            <a:pPr algn="l" indent="0" marL="0">
              <a:lnSpc>
                <a:spcPct val="105000"/>
              </a:lnSpc>
              <a:buNone/>
            </a:pPr>
            <a:r>
              <a:rPr lang="en-US" sz="4200" b="1" spc="-84" kern="0" dirty="0">
                <a:solidFill>
                  <a:srgbClr val="FFFFFF"/>
                </a:solidFill>
                <a:latin typeface="Arial" pitchFamily="34" charset="0"/>
                <a:ea typeface="Arial" pitchFamily="34" charset="-122"/>
                <a:cs typeface="Arial" pitchFamily="34" charset="-120"/>
              </a:rPr>
              <a:t>Building credit from scratch</a:t>
            </a:r>
            <a:endParaRPr lang="en-US" sz="4200" dirty="0"/>
          </a:p>
        </p:txBody>
      </p:sp>
      <p:sp>
        <p:nvSpPr>
          <p:cNvPr id="5" name="Text 3"/>
          <p:cNvSpPr/>
          <p:nvPr/>
        </p:nvSpPr>
        <p:spPr>
          <a:xfrm>
            <a:off x="609600" y="3783806"/>
            <a:ext cx="6436506"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FFFFFF">
                    <a:alpha val="70000"/>
                  </a:srgbClr>
                </a:solidFill>
                <a:latin typeface="Arial" pitchFamily="34" charset="0"/>
                <a:ea typeface="Arial" pitchFamily="34" charset="-122"/>
                <a:cs typeface="Arial" pitchFamily="34" charset="-120"/>
              </a:rPr>
              <a:t>The starter products that build a file from nothing — most actionable for students.</a:t>
            </a:r>
            <a:endParaRPr lang="en-US" sz="1500" dirty="0"/>
          </a:p>
        </p:txBody>
      </p:sp>
      <p:sp>
        <p:nvSpPr>
          <p:cNvPr id="6" name="Shape 4"/>
          <p:cNvSpPr/>
          <p:nvPr/>
        </p:nvSpPr>
        <p:spPr>
          <a:xfrm>
            <a:off x="609600" y="4693444"/>
            <a:ext cx="600075" cy="257175"/>
          </a:xfrm>
          <a:prstGeom prst="roundRect">
            <a:avLst>
              <a:gd name="adj" fmla="val 50000"/>
            </a:avLst>
          </a:prstGeom>
          <a:solidFill>
            <a:srgbClr val="EEF2FF"/>
          </a:solidFill>
          <a:ln/>
        </p:spPr>
      </p:sp>
      <p:sp>
        <p:nvSpPr>
          <p:cNvPr id="7" name="Text 5"/>
          <p:cNvSpPr/>
          <p:nvPr/>
        </p:nvSpPr>
        <p:spPr>
          <a:xfrm>
            <a:off x="723900" y="4750594"/>
            <a:ext cx="447675" cy="180975"/>
          </a:xfrm>
          <a:prstGeom prst="rect">
            <a:avLst/>
          </a:prstGeom>
          <a:noFill/>
          <a:ln/>
        </p:spPr>
        <p:txBody>
          <a:bodyPr wrap="none" lIns="25400" tIns="25400" rIns="25400" bIns="25400" rtlCol="0" anchor="ctr">
            <a:normAutofit/>
          </a:bodyPr>
          <a:lstStyle/>
          <a:p>
            <a:pPr algn="l" indent="0" marL="0">
              <a:lnSpc>
                <a:spcPct val="100000"/>
              </a:lnSpc>
              <a:buNone/>
            </a:pPr>
            <a:r>
              <a:rPr lang="en-US" sz="1125" b="1" dirty="0">
                <a:solidFill>
                  <a:srgbClr val="3730A3"/>
                </a:solidFill>
                <a:latin typeface="Arial" pitchFamily="34" charset="0"/>
                <a:ea typeface="Arial" pitchFamily="34" charset="-122"/>
                <a:cs typeface="Arial" pitchFamily="34" charset="-120"/>
              </a:rPr>
              <a:t>7 min</a:t>
            </a:r>
            <a:endParaRPr lang="en-US" sz="112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1880362"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M5 · BUILDING CREDIT</a:t>
            </a:r>
            <a:endParaRPr lang="en-US" sz="975" dirty="0"/>
          </a:p>
        </p:txBody>
      </p:sp>
      <p:sp>
        <p:nvSpPr>
          <p:cNvPr id="8" name="Text 6"/>
          <p:cNvSpPr/>
          <p:nvPr/>
        </p:nvSpPr>
        <p:spPr>
          <a:xfrm>
            <a:off x="609600" y="989647"/>
            <a:ext cx="6215951" cy="514350"/>
          </a:xfrm>
          <a:prstGeom prst="rect">
            <a:avLst/>
          </a:prstGeom>
          <a:noFill/>
          <a:ln/>
        </p:spPr>
        <p:txBody>
          <a:bodyPr wrap="square" lIns="25400" tIns="25400" rIns="25400" bIns="25400" rtlCol="0" anchor="t">
            <a:normAutofit/>
          </a:bodyPr>
          <a:lstStyle/>
          <a:p>
            <a:pPr algn="l" indent="0" marL="0">
              <a:lnSpc>
                <a:spcPct val="125000"/>
              </a:lnSpc>
              <a:buNone/>
            </a:pPr>
            <a:r>
              <a:rPr lang="en-US" sz="3000" b="1" spc="-60" kern="0" dirty="0">
                <a:solidFill>
                  <a:srgbClr val="0B1220"/>
                </a:solidFill>
                <a:latin typeface="Arial" pitchFamily="34" charset="0"/>
                <a:ea typeface="Arial" pitchFamily="34" charset="-122"/>
                <a:cs typeface="Arial" pitchFamily="34" charset="-120"/>
              </a:rPr>
              <a:t>The no-credit catch-22</a:t>
            </a:r>
            <a:endParaRPr lang="en-US" sz="3000" dirty="0"/>
          </a:p>
        </p:txBody>
      </p:sp>
      <p:sp>
        <p:nvSpPr>
          <p:cNvPr id="9" name="Text 7"/>
          <p:cNvSpPr/>
          <p:nvPr/>
        </p:nvSpPr>
        <p:spPr>
          <a:xfrm>
            <a:off x="609600" y="1618297"/>
            <a:ext cx="6931622"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5B6472"/>
                </a:solidFill>
                <a:latin typeface="Arial" pitchFamily="34" charset="0"/>
                <a:ea typeface="Arial" pitchFamily="34" charset="-122"/>
                <a:cs typeface="Arial" pitchFamily="34" charset="-120"/>
              </a:rPr>
              <a:t>Lenders want a track record before they'll extend credit — but you can't build one without credit.</a:t>
            </a:r>
            <a:endParaRPr lang="en-US" sz="1500" dirty="0"/>
          </a:p>
        </p:txBody>
      </p:sp>
      <p:sp>
        <p:nvSpPr>
          <p:cNvPr id="10" name="Shape 8"/>
          <p:cNvSpPr/>
          <p:nvPr/>
        </p:nvSpPr>
        <p:spPr>
          <a:xfrm>
            <a:off x="609600" y="2607945"/>
            <a:ext cx="85725" cy="85725"/>
          </a:xfrm>
          <a:prstGeom prst="roundRect">
            <a:avLst>
              <a:gd name="adj" fmla="val 33333"/>
            </a:avLst>
          </a:prstGeom>
          <a:solidFill>
            <a:srgbClr val="4F46E5"/>
          </a:solidFill>
          <a:ln/>
        </p:spPr>
      </p:sp>
      <p:sp>
        <p:nvSpPr>
          <p:cNvPr id="11" name="Text 9"/>
          <p:cNvSpPr/>
          <p:nvPr/>
        </p:nvSpPr>
        <p:spPr>
          <a:xfrm>
            <a:off x="809625" y="2543175"/>
            <a:ext cx="7492984" cy="244792"/>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~2.7% of adults (~7 million) are 'credit invisible' — no file at all; more are 'unscored'.</a:t>
            </a:r>
            <a:endParaRPr lang="en-US" sz="1350" dirty="0"/>
          </a:p>
        </p:txBody>
      </p:sp>
      <p:sp>
        <p:nvSpPr>
          <p:cNvPr id="12" name="Text 10"/>
          <p:cNvSpPr/>
          <p:nvPr/>
        </p:nvSpPr>
        <p:spPr>
          <a:xfrm>
            <a:off x="708025" y="2855595"/>
            <a:ext cx="6989604"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A file too thin or stale for a model to score</a:t>
            </a:r>
            <a:endParaRPr lang="en-US" sz="1125" dirty="0"/>
          </a:p>
        </p:txBody>
      </p:sp>
      <p:sp>
        <p:nvSpPr>
          <p:cNvPr id="13" name="Shape 11"/>
          <p:cNvSpPr/>
          <p:nvPr/>
        </p:nvSpPr>
        <p:spPr>
          <a:xfrm>
            <a:off x="609600" y="3323749"/>
            <a:ext cx="85725" cy="85725"/>
          </a:xfrm>
          <a:prstGeom prst="roundRect">
            <a:avLst>
              <a:gd name="adj" fmla="val 33333"/>
            </a:avLst>
          </a:prstGeom>
          <a:solidFill>
            <a:srgbClr val="4F46E5"/>
          </a:solidFill>
          <a:ln/>
        </p:spPr>
      </p:sp>
      <p:sp>
        <p:nvSpPr>
          <p:cNvPr id="14" name="Text 12"/>
          <p:cNvSpPr/>
          <p:nvPr/>
        </p:nvSpPr>
        <p:spPr>
          <a:xfrm>
            <a:off x="809625" y="3258979"/>
            <a:ext cx="8316690" cy="244793"/>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The way out is the scoring minimum: VantageScore needs ~1 month of history; FICO needs 6.</a:t>
            </a:r>
            <a:endParaRPr lang="en-US" sz="1350" dirty="0"/>
          </a:p>
        </p:txBody>
      </p:sp>
      <p:sp>
        <p:nvSpPr>
          <p:cNvPr id="15" name="Text 13"/>
          <p:cNvSpPr/>
          <p:nvPr/>
        </p:nvSpPr>
        <p:spPr>
          <a:xfrm>
            <a:off x="708025" y="3571399"/>
            <a:ext cx="7738427"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So you'll usually earn a VantageScore before a FICO Score</a:t>
            </a:r>
            <a:endParaRPr lang="en-US" sz="1125" dirty="0"/>
          </a:p>
        </p:txBody>
      </p:sp>
      <p:sp>
        <p:nvSpPr>
          <p:cNvPr id="16" name="Shape 14"/>
          <p:cNvSpPr/>
          <p:nvPr/>
        </p:nvSpPr>
        <p:spPr>
          <a:xfrm>
            <a:off x="609600" y="4039553"/>
            <a:ext cx="85725" cy="85725"/>
          </a:xfrm>
          <a:prstGeom prst="roundRect">
            <a:avLst>
              <a:gd name="adj" fmla="val 33333"/>
            </a:avLst>
          </a:prstGeom>
          <a:solidFill>
            <a:srgbClr val="4F46E5"/>
          </a:solidFill>
          <a:ln/>
        </p:spPr>
      </p:sp>
      <p:sp>
        <p:nvSpPr>
          <p:cNvPr id="17" name="Text 15"/>
          <p:cNvSpPr/>
          <p:nvPr/>
        </p:nvSpPr>
        <p:spPr>
          <a:xfrm>
            <a:off x="809625" y="3945255"/>
            <a:ext cx="8670306" cy="303848"/>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Step 0 is free: pull your file at AnnualCreditReport.com to see whether you're invisible or just thin.</a:t>
            </a:r>
            <a:endParaRPr lang="en-US" sz="1350" dirty="0"/>
          </a:p>
        </p:txBody>
      </p:sp>
      <p:sp>
        <p:nvSpPr>
          <p:cNvPr id="18" name="Text 16"/>
          <p:cNvSpPr/>
          <p:nvPr/>
        </p:nvSpPr>
        <p:spPr>
          <a:xfrm>
            <a:off x="10684511" y="6056471"/>
            <a:ext cx="97409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1 · Credit</a:t>
            </a:r>
            <a:endParaRPr lang="en-US" sz="97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09600"/>
            <a:ext cx="1207008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M5 · BUILDING CREDIT</a:t>
            </a:r>
            <a:endParaRPr lang="en-US" sz="975" dirty="0"/>
          </a:p>
        </p:txBody>
      </p:sp>
      <p:sp>
        <p:nvSpPr>
          <p:cNvPr id="8" name="Text 6"/>
          <p:cNvSpPr/>
          <p:nvPr/>
        </p:nvSpPr>
        <p:spPr>
          <a:xfrm>
            <a:off x="609600" y="915829"/>
            <a:ext cx="12070080"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60" kern="0" dirty="0">
                <a:solidFill>
                  <a:srgbClr val="0B1220"/>
                </a:solidFill>
                <a:latin typeface="Arial" pitchFamily="34" charset="0"/>
                <a:ea typeface="Arial" pitchFamily="34" charset="-122"/>
                <a:cs typeface="Arial" pitchFamily="34" charset="-120"/>
              </a:rPr>
              <a:t>Six ways to start a file</a:t>
            </a:r>
            <a:endParaRPr lang="en-US" sz="3000" dirty="0"/>
          </a:p>
        </p:txBody>
      </p:sp>
      <p:sp>
        <p:nvSpPr>
          <p:cNvPr id="9" name="Shape 7"/>
          <p:cNvSpPr/>
          <p:nvPr/>
        </p:nvSpPr>
        <p:spPr>
          <a:xfrm>
            <a:off x="609600" y="1544479"/>
            <a:ext cx="3543300" cy="1882934"/>
          </a:xfrm>
          <a:prstGeom prst="roundRect">
            <a:avLst>
              <a:gd name="adj" fmla="val 7082"/>
            </a:avLst>
          </a:prstGeom>
          <a:solidFill>
            <a:srgbClr val="F6F7FB"/>
          </a:solidFill>
          <a:ln/>
        </p:spPr>
      </p:sp>
      <p:sp>
        <p:nvSpPr>
          <p:cNvPr id="10" name="Text 8"/>
          <p:cNvSpPr/>
          <p:nvPr/>
        </p:nvSpPr>
        <p:spPr>
          <a:xfrm>
            <a:off x="800100" y="1734979"/>
            <a:ext cx="3478530" cy="318611"/>
          </a:xfrm>
          <a:prstGeom prst="rect">
            <a:avLst/>
          </a:prstGeom>
          <a:noFill/>
          <a:ln/>
        </p:spPr>
        <p:txBody>
          <a:bodyPr wrap="square" lIns="25400" tIns="25400" rIns="25400" bIns="25400" rtlCol="0" anchor="t">
            <a:normAutofit/>
          </a:bodyPr>
          <a:lstStyle/>
          <a:p>
            <a:pPr algn="l" indent="0" marL="0">
              <a:lnSpc>
                <a:spcPct val="155000"/>
              </a:lnSpc>
              <a:buNone/>
            </a:pPr>
            <a:r>
              <a:rPr lang="en-US" sz="1425" b="1" dirty="0">
                <a:solidFill>
                  <a:srgbClr val="0B1220"/>
                </a:solidFill>
                <a:latin typeface="Arial" pitchFamily="34" charset="0"/>
                <a:ea typeface="Arial" pitchFamily="34" charset="-122"/>
                <a:cs typeface="Arial" pitchFamily="34" charset="-120"/>
              </a:rPr>
              <a:t>Student credit card</a:t>
            </a:r>
            <a:endParaRPr lang="en-US" sz="1425" dirty="0"/>
          </a:p>
        </p:txBody>
      </p:sp>
      <p:sp>
        <p:nvSpPr>
          <p:cNvPr id="11" name="Text 9"/>
          <p:cNvSpPr/>
          <p:nvPr/>
        </p:nvSpPr>
        <p:spPr>
          <a:xfrm>
            <a:off x="800100" y="2101215"/>
            <a:ext cx="3257169" cy="800894"/>
          </a:xfrm>
          <a:prstGeom prst="rect">
            <a:avLst/>
          </a:prstGeom>
          <a:noFill/>
          <a:ln/>
        </p:spPr>
        <p:txBody>
          <a:bodyPr wrap="square" lIns="25400" tIns="25400" rIns="25400" bIns="25400" rtlCol="0" anchor="t">
            <a:normAutofit/>
          </a:bodyPr>
          <a:lstStyle/>
          <a:p>
            <a:pPr algn="l" indent="0" marL="0">
              <a:lnSpc>
                <a:spcPct val="140000"/>
              </a:lnSpc>
              <a:buNone/>
            </a:pPr>
            <a:r>
              <a:rPr lang="en-US" sz="1200" dirty="0">
                <a:solidFill>
                  <a:srgbClr val="5B6472"/>
                </a:solidFill>
                <a:latin typeface="Arial" pitchFamily="34" charset="0"/>
                <a:ea typeface="Arial" pitchFamily="34" charset="-122"/>
                <a:cs typeface="Arial" pitchFamily="34" charset="-120"/>
              </a:rPr>
              <a:t>No deposit, no history needed — and it can earn rewards.</a:t>
            </a:r>
            <a:endParaRPr lang="en-US" sz="1200" dirty="0"/>
          </a:p>
        </p:txBody>
      </p:sp>
      <p:sp>
        <p:nvSpPr>
          <p:cNvPr id="12" name="Shape 10"/>
          <p:cNvSpPr/>
          <p:nvPr/>
        </p:nvSpPr>
        <p:spPr>
          <a:xfrm>
            <a:off x="800100" y="2949734"/>
            <a:ext cx="1701800" cy="287179"/>
          </a:xfrm>
          <a:prstGeom prst="roundRect">
            <a:avLst>
              <a:gd name="adj" fmla="val 50000"/>
            </a:avLst>
          </a:prstGeom>
          <a:solidFill>
            <a:srgbClr val="EEF2FF"/>
          </a:solidFill>
          <a:ln/>
        </p:spPr>
      </p:sp>
      <p:sp>
        <p:nvSpPr>
          <p:cNvPr id="13" name="Text 11"/>
          <p:cNvSpPr/>
          <p:nvPr/>
        </p:nvSpPr>
        <p:spPr>
          <a:xfrm>
            <a:off x="914400" y="2997359"/>
            <a:ext cx="154940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dirty="0">
                <a:solidFill>
                  <a:srgbClr val="4F46E5"/>
                </a:solidFill>
                <a:latin typeface="Arial" pitchFamily="34" charset="0"/>
                <a:ea typeface="Arial" pitchFamily="34" charset="-122"/>
                <a:cs typeface="Arial" pitchFamily="34" charset="-120"/>
              </a:rPr>
              <a:t>Best for 18+ with income</a:t>
            </a:r>
            <a:endParaRPr lang="en-US" sz="975" dirty="0"/>
          </a:p>
        </p:txBody>
      </p:sp>
      <p:sp>
        <p:nvSpPr>
          <p:cNvPr id="14" name="Shape 12"/>
          <p:cNvSpPr/>
          <p:nvPr/>
        </p:nvSpPr>
        <p:spPr>
          <a:xfrm>
            <a:off x="4324350" y="1544479"/>
            <a:ext cx="3543300" cy="1882934"/>
          </a:xfrm>
          <a:prstGeom prst="roundRect">
            <a:avLst>
              <a:gd name="adj" fmla="val 7082"/>
            </a:avLst>
          </a:prstGeom>
          <a:solidFill>
            <a:srgbClr val="F6F7FB"/>
          </a:solidFill>
          <a:ln/>
        </p:spPr>
      </p:sp>
      <p:sp>
        <p:nvSpPr>
          <p:cNvPr id="15" name="Text 13"/>
          <p:cNvSpPr/>
          <p:nvPr/>
        </p:nvSpPr>
        <p:spPr>
          <a:xfrm>
            <a:off x="4514850" y="1734979"/>
            <a:ext cx="3478530" cy="318611"/>
          </a:xfrm>
          <a:prstGeom prst="rect">
            <a:avLst/>
          </a:prstGeom>
          <a:noFill/>
          <a:ln/>
        </p:spPr>
        <p:txBody>
          <a:bodyPr wrap="square" lIns="25400" tIns="25400" rIns="25400" bIns="25400" rtlCol="0" anchor="t">
            <a:normAutofit/>
          </a:bodyPr>
          <a:lstStyle/>
          <a:p>
            <a:pPr algn="l" indent="0" marL="0">
              <a:lnSpc>
                <a:spcPct val="155000"/>
              </a:lnSpc>
              <a:buNone/>
            </a:pPr>
            <a:r>
              <a:rPr lang="en-US" sz="1425" b="1" dirty="0">
                <a:solidFill>
                  <a:srgbClr val="0B1220"/>
                </a:solidFill>
                <a:latin typeface="Arial" pitchFamily="34" charset="0"/>
                <a:ea typeface="Arial" pitchFamily="34" charset="-122"/>
                <a:cs typeface="Arial" pitchFamily="34" charset="-120"/>
              </a:rPr>
              <a:t>Secured credit card</a:t>
            </a:r>
            <a:endParaRPr lang="en-US" sz="1425" dirty="0"/>
          </a:p>
        </p:txBody>
      </p:sp>
      <p:sp>
        <p:nvSpPr>
          <p:cNvPr id="16" name="Text 14"/>
          <p:cNvSpPr/>
          <p:nvPr/>
        </p:nvSpPr>
        <p:spPr>
          <a:xfrm>
            <a:off x="4514850" y="2101215"/>
            <a:ext cx="3257169" cy="800894"/>
          </a:xfrm>
          <a:prstGeom prst="rect">
            <a:avLst/>
          </a:prstGeom>
          <a:noFill/>
          <a:ln/>
        </p:spPr>
        <p:txBody>
          <a:bodyPr wrap="square" lIns="25400" tIns="25400" rIns="25400" bIns="25400" rtlCol="0" anchor="t">
            <a:normAutofit/>
          </a:bodyPr>
          <a:lstStyle/>
          <a:p>
            <a:pPr algn="l" indent="0" marL="0">
              <a:lnSpc>
                <a:spcPct val="140000"/>
              </a:lnSpc>
              <a:buNone/>
            </a:pPr>
            <a:r>
              <a:rPr lang="en-US" sz="1200" dirty="0">
                <a:solidFill>
                  <a:srgbClr val="5B6472"/>
                </a:solidFill>
                <a:latin typeface="Arial" pitchFamily="34" charset="0"/>
                <a:ea typeface="Arial" pitchFamily="34" charset="-122"/>
                <a:cs typeface="Arial" pitchFamily="34" charset="-120"/>
              </a:rPr>
              <a:t>Your cash deposit becomes your credit line.</a:t>
            </a:r>
            <a:endParaRPr lang="en-US" sz="1200" dirty="0"/>
          </a:p>
        </p:txBody>
      </p:sp>
      <p:sp>
        <p:nvSpPr>
          <p:cNvPr id="17" name="Shape 15"/>
          <p:cNvSpPr/>
          <p:nvPr/>
        </p:nvSpPr>
        <p:spPr>
          <a:xfrm>
            <a:off x="4514850" y="2949734"/>
            <a:ext cx="1592739" cy="287179"/>
          </a:xfrm>
          <a:prstGeom prst="roundRect">
            <a:avLst>
              <a:gd name="adj" fmla="val 50000"/>
            </a:avLst>
          </a:prstGeom>
          <a:solidFill>
            <a:srgbClr val="EEF2FF"/>
          </a:solidFill>
          <a:ln/>
        </p:spPr>
      </p:sp>
      <p:sp>
        <p:nvSpPr>
          <p:cNvPr id="18" name="Text 16"/>
          <p:cNvSpPr/>
          <p:nvPr/>
        </p:nvSpPr>
        <p:spPr>
          <a:xfrm>
            <a:off x="4629150" y="2997359"/>
            <a:ext cx="1440339"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dirty="0">
                <a:solidFill>
                  <a:srgbClr val="4F46E5"/>
                </a:solidFill>
                <a:latin typeface="Arial" pitchFamily="34" charset="0"/>
                <a:ea typeface="Arial" pitchFamily="34" charset="-122"/>
                <a:cs typeface="Arial" pitchFamily="34" charset="-120"/>
              </a:rPr>
              <a:t>Best for no / thin credit</a:t>
            </a:r>
            <a:endParaRPr lang="en-US" sz="975" dirty="0"/>
          </a:p>
        </p:txBody>
      </p:sp>
      <p:sp>
        <p:nvSpPr>
          <p:cNvPr id="19" name="Shape 17"/>
          <p:cNvSpPr/>
          <p:nvPr/>
        </p:nvSpPr>
        <p:spPr>
          <a:xfrm>
            <a:off x="8039100" y="1544479"/>
            <a:ext cx="3543300" cy="1882934"/>
          </a:xfrm>
          <a:prstGeom prst="roundRect">
            <a:avLst>
              <a:gd name="adj" fmla="val 7082"/>
            </a:avLst>
          </a:prstGeom>
          <a:solidFill>
            <a:srgbClr val="F6F7FB"/>
          </a:solidFill>
          <a:ln/>
        </p:spPr>
      </p:sp>
      <p:sp>
        <p:nvSpPr>
          <p:cNvPr id="20" name="Text 18"/>
          <p:cNvSpPr/>
          <p:nvPr/>
        </p:nvSpPr>
        <p:spPr>
          <a:xfrm>
            <a:off x="8229600" y="1734979"/>
            <a:ext cx="3478530" cy="318611"/>
          </a:xfrm>
          <a:prstGeom prst="rect">
            <a:avLst/>
          </a:prstGeom>
          <a:noFill/>
          <a:ln/>
        </p:spPr>
        <p:txBody>
          <a:bodyPr wrap="square" lIns="25400" tIns="25400" rIns="25400" bIns="25400" rtlCol="0" anchor="t">
            <a:normAutofit/>
          </a:bodyPr>
          <a:lstStyle/>
          <a:p>
            <a:pPr algn="l" indent="0" marL="0">
              <a:lnSpc>
                <a:spcPct val="155000"/>
              </a:lnSpc>
              <a:buNone/>
            </a:pPr>
            <a:r>
              <a:rPr lang="en-US" sz="1425" b="1" dirty="0">
                <a:solidFill>
                  <a:srgbClr val="0B1220"/>
                </a:solidFill>
                <a:latin typeface="Arial" pitchFamily="34" charset="0"/>
                <a:ea typeface="Arial" pitchFamily="34" charset="-122"/>
                <a:cs typeface="Arial" pitchFamily="34" charset="-120"/>
              </a:rPr>
              <a:t>Authorized user</a:t>
            </a:r>
            <a:endParaRPr lang="en-US" sz="1425" dirty="0"/>
          </a:p>
        </p:txBody>
      </p:sp>
      <p:sp>
        <p:nvSpPr>
          <p:cNvPr id="21" name="Text 19"/>
          <p:cNvSpPr/>
          <p:nvPr/>
        </p:nvSpPr>
        <p:spPr>
          <a:xfrm>
            <a:off x="8229600" y="2101215"/>
            <a:ext cx="3257169" cy="800894"/>
          </a:xfrm>
          <a:prstGeom prst="rect">
            <a:avLst/>
          </a:prstGeom>
          <a:noFill/>
          <a:ln/>
        </p:spPr>
        <p:txBody>
          <a:bodyPr wrap="square" lIns="25400" tIns="25400" rIns="25400" bIns="25400" rtlCol="0" anchor="t">
            <a:normAutofit/>
          </a:bodyPr>
          <a:lstStyle/>
          <a:p>
            <a:pPr algn="l" indent="0" marL="0">
              <a:lnSpc>
                <a:spcPct val="140000"/>
              </a:lnSpc>
              <a:buNone/>
            </a:pPr>
            <a:r>
              <a:rPr lang="en-US" sz="1200" dirty="0">
                <a:solidFill>
                  <a:srgbClr val="5B6472"/>
                </a:solidFill>
                <a:latin typeface="Arial" pitchFamily="34" charset="0"/>
                <a:ea typeface="Arial" pitchFamily="34" charset="-122"/>
                <a:cs typeface="Arial" pitchFamily="34" charset="-120"/>
              </a:rPr>
              <a:t>Ride a trusted person's aged, low-use card.</a:t>
            </a:r>
            <a:endParaRPr lang="en-US" sz="1200" dirty="0"/>
          </a:p>
        </p:txBody>
      </p:sp>
      <p:sp>
        <p:nvSpPr>
          <p:cNvPr id="22" name="Shape 20"/>
          <p:cNvSpPr/>
          <p:nvPr/>
        </p:nvSpPr>
        <p:spPr>
          <a:xfrm>
            <a:off x="8229600" y="2949734"/>
            <a:ext cx="1698625" cy="287179"/>
          </a:xfrm>
          <a:prstGeom prst="roundRect">
            <a:avLst>
              <a:gd name="adj" fmla="val 50000"/>
            </a:avLst>
          </a:prstGeom>
          <a:solidFill>
            <a:srgbClr val="EEF2FF"/>
          </a:solidFill>
          <a:ln/>
        </p:spPr>
      </p:sp>
      <p:sp>
        <p:nvSpPr>
          <p:cNvPr id="23" name="Text 21"/>
          <p:cNvSpPr/>
          <p:nvPr/>
        </p:nvSpPr>
        <p:spPr>
          <a:xfrm>
            <a:off x="8343900" y="2997359"/>
            <a:ext cx="1546225"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dirty="0">
                <a:solidFill>
                  <a:srgbClr val="4F46E5"/>
                </a:solidFill>
                <a:latin typeface="Arial" pitchFamily="34" charset="0"/>
                <a:ea typeface="Arial" pitchFamily="34" charset="-122"/>
                <a:cs typeface="Arial" pitchFamily="34" charset="-120"/>
              </a:rPr>
              <a:t>Best for a fast head start</a:t>
            </a:r>
            <a:endParaRPr lang="en-US" sz="975" dirty="0"/>
          </a:p>
        </p:txBody>
      </p:sp>
      <p:sp>
        <p:nvSpPr>
          <p:cNvPr id="24" name="Shape 22"/>
          <p:cNvSpPr/>
          <p:nvPr/>
        </p:nvSpPr>
        <p:spPr>
          <a:xfrm>
            <a:off x="609600" y="3598862"/>
            <a:ext cx="3543300" cy="1882775"/>
          </a:xfrm>
          <a:prstGeom prst="roundRect">
            <a:avLst>
              <a:gd name="adj" fmla="val 7083"/>
            </a:avLst>
          </a:prstGeom>
          <a:solidFill>
            <a:srgbClr val="F6F7FB"/>
          </a:solidFill>
          <a:ln/>
        </p:spPr>
      </p:sp>
      <p:sp>
        <p:nvSpPr>
          <p:cNvPr id="25" name="Text 23"/>
          <p:cNvSpPr/>
          <p:nvPr/>
        </p:nvSpPr>
        <p:spPr>
          <a:xfrm>
            <a:off x="800100" y="3789362"/>
            <a:ext cx="3478530" cy="318611"/>
          </a:xfrm>
          <a:prstGeom prst="rect">
            <a:avLst/>
          </a:prstGeom>
          <a:noFill/>
          <a:ln/>
        </p:spPr>
        <p:txBody>
          <a:bodyPr wrap="square" lIns="25400" tIns="25400" rIns="25400" bIns="25400" rtlCol="0" anchor="t">
            <a:normAutofit/>
          </a:bodyPr>
          <a:lstStyle/>
          <a:p>
            <a:pPr algn="l" indent="0" marL="0">
              <a:lnSpc>
                <a:spcPct val="155000"/>
              </a:lnSpc>
              <a:buNone/>
            </a:pPr>
            <a:r>
              <a:rPr lang="en-US" sz="1425" b="1" dirty="0">
                <a:solidFill>
                  <a:srgbClr val="0B1220"/>
                </a:solidFill>
                <a:latin typeface="Arial" pitchFamily="34" charset="0"/>
                <a:ea typeface="Arial" pitchFamily="34" charset="-122"/>
                <a:cs typeface="Arial" pitchFamily="34" charset="-120"/>
              </a:rPr>
              <a:t>Credit-builder loan</a:t>
            </a:r>
            <a:endParaRPr lang="en-US" sz="1425" dirty="0"/>
          </a:p>
        </p:txBody>
      </p:sp>
      <p:sp>
        <p:nvSpPr>
          <p:cNvPr id="26" name="Text 24"/>
          <p:cNvSpPr/>
          <p:nvPr/>
        </p:nvSpPr>
        <p:spPr>
          <a:xfrm>
            <a:off x="800100" y="4155599"/>
            <a:ext cx="3257169" cy="800735"/>
          </a:xfrm>
          <a:prstGeom prst="rect">
            <a:avLst/>
          </a:prstGeom>
          <a:noFill/>
          <a:ln/>
        </p:spPr>
        <p:txBody>
          <a:bodyPr wrap="square" lIns="25400" tIns="25400" rIns="25400" bIns="25400" rtlCol="0" anchor="t">
            <a:normAutofit/>
          </a:bodyPr>
          <a:lstStyle/>
          <a:p>
            <a:pPr algn="l" indent="0" marL="0">
              <a:lnSpc>
                <a:spcPct val="140000"/>
              </a:lnSpc>
              <a:buNone/>
            </a:pPr>
            <a:r>
              <a:rPr lang="en-US" sz="1200" dirty="0">
                <a:solidFill>
                  <a:srgbClr val="5B6472"/>
                </a:solidFill>
                <a:latin typeface="Arial" pitchFamily="34" charset="0"/>
                <a:ea typeface="Arial" pitchFamily="34" charset="-122"/>
                <a:cs typeface="Arial" pitchFamily="34" charset="-120"/>
              </a:rPr>
              <a:t>You pay first; the money is released at the end.</a:t>
            </a:r>
            <a:endParaRPr lang="en-US" sz="1200" dirty="0"/>
          </a:p>
        </p:txBody>
      </p:sp>
      <p:sp>
        <p:nvSpPr>
          <p:cNvPr id="27" name="Shape 25"/>
          <p:cNvSpPr/>
          <p:nvPr/>
        </p:nvSpPr>
        <p:spPr>
          <a:xfrm>
            <a:off x="800100" y="5003959"/>
            <a:ext cx="1683544" cy="287179"/>
          </a:xfrm>
          <a:prstGeom prst="roundRect">
            <a:avLst>
              <a:gd name="adj" fmla="val 50000"/>
            </a:avLst>
          </a:prstGeom>
          <a:solidFill>
            <a:srgbClr val="EEF2FF"/>
          </a:solidFill>
          <a:ln/>
        </p:spPr>
      </p:sp>
      <p:sp>
        <p:nvSpPr>
          <p:cNvPr id="28" name="Text 26"/>
          <p:cNvSpPr/>
          <p:nvPr/>
        </p:nvSpPr>
        <p:spPr>
          <a:xfrm>
            <a:off x="914400" y="5051584"/>
            <a:ext cx="1531144"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dirty="0">
                <a:solidFill>
                  <a:srgbClr val="4F46E5"/>
                </a:solidFill>
                <a:latin typeface="Arial" pitchFamily="34" charset="0"/>
                <a:ea typeface="Arial" pitchFamily="34" charset="-122"/>
                <a:cs typeface="Arial" pitchFamily="34" charset="-120"/>
              </a:rPr>
              <a:t>Best for no existing debt</a:t>
            </a:r>
            <a:endParaRPr lang="en-US" sz="975" dirty="0"/>
          </a:p>
        </p:txBody>
      </p:sp>
      <p:sp>
        <p:nvSpPr>
          <p:cNvPr id="29" name="Shape 27"/>
          <p:cNvSpPr/>
          <p:nvPr/>
        </p:nvSpPr>
        <p:spPr>
          <a:xfrm>
            <a:off x="4324350" y="3598862"/>
            <a:ext cx="3543300" cy="1882775"/>
          </a:xfrm>
          <a:prstGeom prst="roundRect">
            <a:avLst>
              <a:gd name="adj" fmla="val 7083"/>
            </a:avLst>
          </a:prstGeom>
          <a:solidFill>
            <a:srgbClr val="F6F7FB"/>
          </a:solidFill>
          <a:ln/>
        </p:spPr>
      </p:sp>
      <p:sp>
        <p:nvSpPr>
          <p:cNvPr id="30" name="Text 28"/>
          <p:cNvSpPr/>
          <p:nvPr/>
        </p:nvSpPr>
        <p:spPr>
          <a:xfrm>
            <a:off x="4514850" y="3789362"/>
            <a:ext cx="3478530" cy="318611"/>
          </a:xfrm>
          <a:prstGeom prst="rect">
            <a:avLst/>
          </a:prstGeom>
          <a:noFill/>
          <a:ln/>
        </p:spPr>
        <p:txBody>
          <a:bodyPr wrap="square" lIns="25400" tIns="25400" rIns="25400" bIns="25400" rtlCol="0" anchor="t">
            <a:normAutofit/>
          </a:bodyPr>
          <a:lstStyle/>
          <a:p>
            <a:pPr algn="l" indent="0" marL="0">
              <a:lnSpc>
                <a:spcPct val="155000"/>
              </a:lnSpc>
              <a:buNone/>
            </a:pPr>
            <a:r>
              <a:rPr lang="en-US" sz="1425" b="1" dirty="0">
                <a:solidFill>
                  <a:srgbClr val="0B1220"/>
                </a:solidFill>
                <a:latin typeface="Arial" pitchFamily="34" charset="0"/>
                <a:ea typeface="Arial" pitchFamily="34" charset="-122"/>
                <a:cs typeface="Arial" pitchFamily="34" charset="-120"/>
              </a:rPr>
              <a:t>Rent &amp; utility reporting</a:t>
            </a:r>
            <a:endParaRPr lang="en-US" sz="1425" dirty="0"/>
          </a:p>
        </p:txBody>
      </p:sp>
      <p:sp>
        <p:nvSpPr>
          <p:cNvPr id="31" name="Text 29"/>
          <p:cNvSpPr/>
          <p:nvPr/>
        </p:nvSpPr>
        <p:spPr>
          <a:xfrm>
            <a:off x="4514850" y="4155599"/>
            <a:ext cx="3257169" cy="800735"/>
          </a:xfrm>
          <a:prstGeom prst="rect">
            <a:avLst/>
          </a:prstGeom>
          <a:noFill/>
          <a:ln/>
        </p:spPr>
        <p:txBody>
          <a:bodyPr wrap="square" lIns="25400" tIns="25400" rIns="25400" bIns="25400" rtlCol="0" anchor="t">
            <a:normAutofit/>
          </a:bodyPr>
          <a:lstStyle/>
          <a:p>
            <a:pPr algn="l" indent="0" marL="0">
              <a:lnSpc>
                <a:spcPct val="140000"/>
              </a:lnSpc>
              <a:buNone/>
            </a:pPr>
            <a:r>
              <a:rPr lang="en-US" sz="1200" dirty="0">
                <a:solidFill>
                  <a:srgbClr val="5B6472"/>
                </a:solidFill>
                <a:latin typeface="Arial" pitchFamily="34" charset="0"/>
                <a:ea typeface="Arial" pitchFamily="34" charset="-122"/>
                <a:cs typeface="Arial" pitchFamily="34" charset="-120"/>
              </a:rPr>
              <a:t>Make bills you already pay count toward credit.</a:t>
            </a:r>
            <a:endParaRPr lang="en-US" sz="1200" dirty="0"/>
          </a:p>
        </p:txBody>
      </p:sp>
      <p:sp>
        <p:nvSpPr>
          <p:cNvPr id="32" name="Shape 30"/>
          <p:cNvSpPr/>
          <p:nvPr/>
        </p:nvSpPr>
        <p:spPr>
          <a:xfrm>
            <a:off x="4514850" y="5003959"/>
            <a:ext cx="1156018" cy="287179"/>
          </a:xfrm>
          <a:prstGeom prst="roundRect">
            <a:avLst>
              <a:gd name="adj" fmla="val 50000"/>
            </a:avLst>
          </a:prstGeom>
          <a:solidFill>
            <a:srgbClr val="EEF2FF"/>
          </a:solidFill>
          <a:ln/>
        </p:spPr>
      </p:sp>
      <p:sp>
        <p:nvSpPr>
          <p:cNvPr id="33" name="Text 31"/>
          <p:cNvSpPr/>
          <p:nvPr/>
        </p:nvSpPr>
        <p:spPr>
          <a:xfrm>
            <a:off x="4629150" y="5051584"/>
            <a:ext cx="1003618"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dirty="0">
                <a:solidFill>
                  <a:srgbClr val="4F46E5"/>
                </a:solidFill>
                <a:latin typeface="Arial" pitchFamily="34" charset="0"/>
                <a:ea typeface="Arial" pitchFamily="34" charset="-122"/>
                <a:cs typeface="Arial" pitchFamily="34" charset="-120"/>
              </a:rPr>
              <a:t>Best for renters</a:t>
            </a:r>
            <a:endParaRPr lang="en-US" sz="975" dirty="0"/>
          </a:p>
        </p:txBody>
      </p:sp>
      <p:sp>
        <p:nvSpPr>
          <p:cNvPr id="34" name="Shape 32"/>
          <p:cNvSpPr/>
          <p:nvPr/>
        </p:nvSpPr>
        <p:spPr>
          <a:xfrm>
            <a:off x="8039100" y="3598862"/>
            <a:ext cx="3543300" cy="1882775"/>
          </a:xfrm>
          <a:prstGeom prst="roundRect">
            <a:avLst>
              <a:gd name="adj" fmla="val 7083"/>
            </a:avLst>
          </a:prstGeom>
          <a:solidFill>
            <a:srgbClr val="F6F7FB"/>
          </a:solidFill>
          <a:ln/>
        </p:spPr>
      </p:sp>
      <p:sp>
        <p:nvSpPr>
          <p:cNvPr id="35" name="Text 33"/>
          <p:cNvSpPr/>
          <p:nvPr/>
        </p:nvSpPr>
        <p:spPr>
          <a:xfrm>
            <a:off x="8229600" y="3789362"/>
            <a:ext cx="3478530" cy="318611"/>
          </a:xfrm>
          <a:prstGeom prst="rect">
            <a:avLst/>
          </a:prstGeom>
          <a:noFill/>
          <a:ln/>
        </p:spPr>
        <p:txBody>
          <a:bodyPr wrap="square" lIns="25400" tIns="25400" rIns="25400" bIns="25400" rtlCol="0" anchor="t">
            <a:normAutofit/>
          </a:bodyPr>
          <a:lstStyle/>
          <a:p>
            <a:pPr algn="l" indent="0" marL="0">
              <a:lnSpc>
                <a:spcPct val="155000"/>
              </a:lnSpc>
              <a:buNone/>
            </a:pPr>
            <a:r>
              <a:rPr lang="en-US" sz="1425" b="1" dirty="0">
                <a:solidFill>
                  <a:srgbClr val="0B1220"/>
                </a:solidFill>
                <a:latin typeface="Arial" pitchFamily="34" charset="0"/>
                <a:ea typeface="Arial" pitchFamily="34" charset="-122"/>
                <a:cs typeface="Arial" pitchFamily="34" charset="-120"/>
              </a:rPr>
              <a:t>Federal student loans</a:t>
            </a:r>
            <a:endParaRPr lang="en-US" sz="1425" dirty="0"/>
          </a:p>
        </p:txBody>
      </p:sp>
      <p:sp>
        <p:nvSpPr>
          <p:cNvPr id="36" name="Text 34"/>
          <p:cNvSpPr/>
          <p:nvPr/>
        </p:nvSpPr>
        <p:spPr>
          <a:xfrm>
            <a:off x="8229600" y="4155599"/>
            <a:ext cx="3257169" cy="800735"/>
          </a:xfrm>
          <a:prstGeom prst="rect">
            <a:avLst/>
          </a:prstGeom>
          <a:noFill/>
          <a:ln/>
        </p:spPr>
        <p:txBody>
          <a:bodyPr wrap="square" lIns="25400" tIns="25400" rIns="25400" bIns="25400" rtlCol="0" anchor="t">
            <a:normAutofit/>
          </a:bodyPr>
          <a:lstStyle/>
          <a:p>
            <a:pPr algn="l" indent="0" marL="0">
              <a:lnSpc>
                <a:spcPct val="140000"/>
              </a:lnSpc>
              <a:buNone/>
            </a:pPr>
            <a:r>
              <a:rPr lang="en-US" sz="1200" dirty="0">
                <a:solidFill>
                  <a:srgbClr val="5B6472"/>
                </a:solidFill>
                <a:latin typeface="Arial" pitchFamily="34" charset="0"/>
                <a:ea typeface="Arial" pitchFamily="34" charset="-122"/>
                <a:cs typeface="Arial" pitchFamily="34" charset="-120"/>
              </a:rPr>
              <a:t>An installment tradeline with no hard inquiry.</a:t>
            </a:r>
            <a:endParaRPr lang="en-US" sz="1200" dirty="0"/>
          </a:p>
        </p:txBody>
      </p:sp>
      <p:sp>
        <p:nvSpPr>
          <p:cNvPr id="37" name="Shape 35"/>
          <p:cNvSpPr/>
          <p:nvPr/>
        </p:nvSpPr>
        <p:spPr>
          <a:xfrm>
            <a:off x="8229600" y="5003959"/>
            <a:ext cx="1769586" cy="287179"/>
          </a:xfrm>
          <a:prstGeom prst="roundRect">
            <a:avLst>
              <a:gd name="adj" fmla="val 50000"/>
            </a:avLst>
          </a:prstGeom>
          <a:solidFill>
            <a:srgbClr val="EEF2FF"/>
          </a:solidFill>
          <a:ln/>
        </p:spPr>
      </p:sp>
      <p:sp>
        <p:nvSpPr>
          <p:cNvPr id="38" name="Text 36"/>
          <p:cNvSpPr/>
          <p:nvPr/>
        </p:nvSpPr>
        <p:spPr>
          <a:xfrm>
            <a:off x="8343900" y="5051584"/>
            <a:ext cx="1617186"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dirty="0">
                <a:solidFill>
                  <a:srgbClr val="4F46E5"/>
                </a:solidFill>
                <a:latin typeface="Arial" pitchFamily="34" charset="0"/>
                <a:ea typeface="Arial" pitchFamily="34" charset="-122"/>
                <a:cs typeface="Arial" pitchFamily="34" charset="-120"/>
              </a:rPr>
              <a:t>Best for enrolled students</a:t>
            </a:r>
            <a:endParaRPr lang="en-US" sz="975" dirty="0"/>
          </a:p>
        </p:txBody>
      </p:sp>
      <p:sp>
        <p:nvSpPr>
          <p:cNvPr id="39" name="Text 37"/>
          <p:cNvSpPr/>
          <p:nvPr/>
        </p:nvSpPr>
        <p:spPr>
          <a:xfrm>
            <a:off x="609600" y="5653088"/>
            <a:ext cx="12070080"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dirty="0">
                <a:solidFill>
                  <a:srgbClr val="5B6472"/>
                </a:solidFill>
                <a:latin typeface="Arial" pitchFamily="34" charset="0"/>
                <a:ea typeface="Arial" pitchFamily="34" charset="-122"/>
                <a:cs typeface="Arial" pitchFamily="34" charset="-120"/>
              </a:rPr>
              <a:t>Each only helps if it reports to the bureaus — and rent counts only in newer score models. Verify before you rely on it.</a:t>
            </a:r>
            <a:endParaRPr lang="en-US" sz="1275" dirty="0"/>
          </a:p>
        </p:txBody>
      </p:sp>
      <p:sp>
        <p:nvSpPr>
          <p:cNvPr id="40" name="Text 38"/>
          <p:cNvSpPr/>
          <p:nvPr/>
        </p:nvSpPr>
        <p:spPr>
          <a:xfrm>
            <a:off x="10684511" y="6056471"/>
            <a:ext cx="97409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1 · Credit</a:t>
            </a:r>
            <a:endParaRPr lang="en-US" sz="97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7FB"/>
          </a:solidFill>
          <a:ln/>
        </p:spPr>
      </p:sp>
      <p:sp>
        <p:nvSpPr>
          <p:cNvPr id="3" name="Shape 1"/>
          <p:cNvSpPr/>
          <p:nvPr/>
        </p:nvSpPr>
        <p:spPr>
          <a:xfrm>
            <a:off x="11410950" y="609600"/>
            <a:ext cx="171450" cy="17145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1734899"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M5 · DOES IT WORK?</a:t>
            </a:r>
            <a:endParaRPr lang="en-US" sz="975" dirty="0"/>
          </a:p>
        </p:txBody>
      </p:sp>
      <p:sp>
        <p:nvSpPr>
          <p:cNvPr id="8" name="Text 6"/>
          <p:cNvSpPr/>
          <p:nvPr/>
        </p:nvSpPr>
        <p:spPr>
          <a:xfrm>
            <a:off x="609600" y="989647"/>
            <a:ext cx="6781038" cy="628650"/>
          </a:xfrm>
          <a:prstGeom prst="rect">
            <a:avLst/>
          </a:prstGeom>
          <a:noFill/>
          <a:ln/>
        </p:spPr>
        <p:txBody>
          <a:bodyPr wrap="square" lIns="25400" tIns="25400" rIns="25400" bIns="25400" rtlCol="0" anchor="t">
            <a:normAutofit/>
          </a:bodyPr>
          <a:lstStyle/>
          <a:p>
            <a:pPr algn="l" indent="0" marL="0">
              <a:lnSpc>
                <a:spcPct val="155000"/>
              </a:lnSpc>
              <a:buNone/>
            </a:pPr>
            <a:r>
              <a:rPr lang="en-US" sz="3000" b="1" spc="-60" kern="0" dirty="0">
                <a:solidFill>
                  <a:srgbClr val="0B1220"/>
                </a:solidFill>
                <a:latin typeface="Arial" pitchFamily="34" charset="0"/>
                <a:ea typeface="Arial" pitchFamily="34" charset="-122"/>
                <a:cs typeface="Arial" pitchFamily="34" charset="-120"/>
              </a:rPr>
              <a:t>Small habits, real point swings</a:t>
            </a:r>
            <a:endParaRPr lang="en-US" sz="3000" dirty="0"/>
          </a:p>
        </p:txBody>
      </p:sp>
      <p:sp>
        <p:nvSpPr>
          <p:cNvPr id="9" name="Shape 7"/>
          <p:cNvSpPr/>
          <p:nvPr/>
        </p:nvSpPr>
        <p:spPr>
          <a:xfrm>
            <a:off x="609600" y="1884997"/>
            <a:ext cx="3505200" cy="4019074"/>
          </a:xfrm>
          <a:prstGeom prst="roundRect">
            <a:avLst>
              <a:gd name="adj" fmla="val 3261"/>
            </a:avLst>
          </a:prstGeom>
          <a:solidFill>
            <a:srgbClr val="FFFFFF"/>
          </a:solidFill>
          <a:ln w="6667">
            <a:solidFill>
              <a:srgbClr val="E5E8F0"/>
            </a:solidFill>
            <a:prstDash val="solid"/>
          </a:ln>
          <a:effectLst>
            <a:outerShdw sx="100000" sy="100000" kx="0" ky="0" algn="bl" rotWithShape="0" blurRad="19050" dist="9525" dir="5400000">
              <a:srgbClr val="0B1220">
                <a:alpha val="6000"/>
              </a:srgbClr>
            </a:outerShdw>
          </a:effectLst>
        </p:spPr>
      </p:sp>
      <p:sp>
        <p:nvSpPr>
          <p:cNvPr id="10" name="Text 8"/>
          <p:cNvSpPr/>
          <p:nvPr/>
        </p:nvSpPr>
        <p:spPr>
          <a:xfrm>
            <a:off x="921067" y="3170872"/>
            <a:ext cx="3170492" cy="495300"/>
          </a:xfrm>
          <a:prstGeom prst="rect">
            <a:avLst/>
          </a:prstGeom>
          <a:noFill/>
          <a:ln/>
        </p:spPr>
        <p:txBody>
          <a:bodyPr wrap="square" lIns="25400" tIns="25400" rIns="25400" bIns="25400" rtlCol="0" anchor="t">
            <a:normAutofit/>
          </a:bodyPr>
          <a:lstStyle/>
          <a:p>
            <a:pPr algn="l" indent="0" marL="0">
              <a:lnSpc>
                <a:spcPct val="100000"/>
              </a:lnSpc>
              <a:buNone/>
            </a:pPr>
            <a:r>
              <a:rPr lang="en-US" sz="3600" b="1" spc="-72" kern="0" dirty="0">
                <a:solidFill>
                  <a:srgbClr val="0B1220"/>
                </a:solidFill>
                <a:latin typeface="Arial" pitchFamily="34" charset="0"/>
                <a:ea typeface="Arial" pitchFamily="34" charset="-122"/>
                <a:cs typeface="Arial" pitchFamily="34" charset="-120"/>
              </a:rPr>
              <a:t>+24 pts</a:t>
            </a:r>
            <a:endParaRPr lang="en-US" sz="3600" dirty="0"/>
          </a:p>
        </p:txBody>
      </p:sp>
      <p:sp>
        <p:nvSpPr>
          <p:cNvPr id="11" name="Text 9"/>
          <p:cNvSpPr/>
          <p:nvPr/>
        </p:nvSpPr>
        <p:spPr>
          <a:xfrm>
            <a:off x="921067" y="3704272"/>
            <a:ext cx="2968733"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1E293B"/>
                </a:solidFill>
                <a:latin typeface="Arial" pitchFamily="34" charset="0"/>
                <a:ea typeface="Arial" pitchFamily="34" charset="-122"/>
                <a:cs typeface="Arial" pitchFamily="34" charset="-120"/>
              </a:rPr>
              <a:t>median gain — secured card kept open 2 years</a:t>
            </a:r>
            <a:endParaRPr lang="en-US" sz="1350" dirty="0"/>
          </a:p>
        </p:txBody>
      </p:sp>
      <p:sp>
        <p:nvSpPr>
          <p:cNvPr id="12" name="Text 10"/>
          <p:cNvSpPr/>
          <p:nvPr/>
        </p:nvSpPr>
        <p:spPr>
          <a:xfrm>
            <a:off x="921067" y="4426268"/>
            <a:ext cx="3170492"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CFPB / Federal Reserve</a:t>
            </a:r>
            <a:endParaRPr lang="en-US" sz="975" dirty="0"/>
          </a:p>
        </p:txBody>
      </p:sp>
      <p:sp>
        <p:nvSpPr>
          <p:cNvPr id="13" name="Shape 11"/>
          <p:cNvSpPr/>
          <p:nvPr/>
        </p:nvSpPr>
        <p:spPr>
          <a:xfrm>
            <a:off x="4343400" y="1884997"/>
            <a:ext cx="3505200" cy="4019074"/>
          </a:xfrm>
          <a:prstGeom prst="roundRect">
            <a:avLst>
              <a:gd name="adj" fmla="val 3261"/>
            </a:avLst>
          </a:prstGeom>
          <a:solidFill>
            <a:srgbClr val="FFFFFF"/>
          </a:solidFill>
          <a:ln w="6667">
            <a:solidFill>
              <a:srgbClr val="E5E8F0"/>
            </a:solidFill>
            <a:prstDash val="solid"/>
          </a:ln>
          <a:effectLst>
            <a:outerShdw sx="100000" sy="100000" kx="0" ky="0" algn="bl" rotWithShape="0" blurRad="19050" dist="9525" dir="5400000">
              <a:srgbClr val="0B1220">
                <a:alpha val="6000"/>
              </a:srgbClr>
            </a:outerShdw>
          </a:effectLst>
        </p:spPr>
      </p:sp>
      <p:sp>
        <p:nvSpPr>
          <p:cNvPr id="14" name="Text 12"/>
          <p:cNvSpPr/>
          <p:nvPr/>
        </p:nvSpPr>
        <p:spPr>
          <a:xfrm>
            <a:off x="4654868" y="3170872"/>
            <a:ext cx="3170492" cy="495300"/>
          </a:xfrm>
          <a:prstGeom prst="rect">
            <a:avLst/>
          </a:prstGeom>
          <a:noFill/>
          <a:ln/>
        </p:spPr>
        <p:txBody>
          <a:bodyPr wrap="square" lIns="25400" tIns="25400" rIns="25400" bIns="25400" rtlCol="0" anchor="t">
            <a:normAutofit/>
          </a:bodyPr>
          <a:lstStyle/>
          <a:p>
            <a:pPr algn="l" indent="0" marL="0">
              <a:lnSpc>
                <a:spcPct val="100000"/>
              </a:lnSpc>
              <a:buNone/>
            </a:pPr>
            <a:r>
              <a:rPr lang="en-US" sz="3600" b="1" spc="-72" kern="0" dirty="0">
                <a:solidFill>
                  <a:srgbClr val="0B1220"/>
                </a:solidFill>
                <a:latin typeface="Arial" pitchFamily="34" charset="0"/>
                <a:ea typeface="Arial" pitchFamily="34" charset="-122"/>
                <a:cs typeface="Arial" pitchFamily="34" charset="-120"/>
              </a:rPr>
              <a:t>+60 pts</a:t>
            </a:r>
            <a:endParaRPr lang="en-US" sz="3600" dirty="0"/>
          </a:p>
        </p:txBody>
      </p:sp>
      <p:sp>
        <p:nvSpPr>
          <p:cNvPr id="15" name="Text 13"/>
          <p:cNvSpPr/>
          <p:nvPr/>
        </p:nvSpPr>
        <p:spPr>
          <a:xfrm>
            <a:off x="4654868" y="3704272"/>
            <a:ext cx="2968733"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1E293B"/>
                </a:solidFill>
                <a:latin typeface="Arial" pitchFamily="34" charset="0"/>
                <a:ea typeface="Arial" pitchFamily="34" charset="-122"/>
                <a:cs typeface="Arial" pitchFamily="34" charset="-120"/>
              </a:rPr>
              <a:t>typical gain from reporting on-time rent</a:t>
            </a:r>
            <a:endParaRPr lang="en-US" sz="1350" dirty="0"/>
          </a:p>
        </p:txBody>
      </p:sp>
      <p:sp>
        <p:nvSpPr>
          <p:cNvPr id="16" name="Text 14"/>
          <p:cNvSpPr/>
          <p:nvPr/>
        </p:nvSpPr>
        <p:spPr>
          <a:xfrm>
            <a:off x="4654868" y="4426268"/>
            <a:ext cx="3170492"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TransUnion</a:t>
            </a:r>
            <a:endParaRPr lang="en-US" sz="975" dirty="0"/>
          </a:p>
        </p:txBody>
      </p:sp>
      <p:sp>
        <p:nvSpPr>
          <p:cNvPr id="17" name="Shape 15"/>
          <p:cNvSpPr/>
          <p:nvPr/>
        </p:nvSpPr>
        <p:spPr>
          <a:xfrm>
            <a:off x="8077200" y="1884997"/>
            <a:ext cx="3505200" cy="4019074"/>
          </a:xfrm>
          <a:prstGeom prst="roundRect">
            <a:avLst>
              <a:gd name="adj" fmla="val 3261"/>
            </a:avLst>
          </a:prstGeom>
          <a:solidFill>
            <a:srgbClr val="FFFFFF"/>
          </a:solidFill>
          <a:ln w="6667">
            <a:solidFill>
              <a:srgbClr val="E5E8F0"/>
            </a:solidFill>
            <a:prstDash val="solid"/>
          </a:ln>
          <a:effectLst>
            <a:outerShdw sx="100000" sy="100000" kx="0" ky="0" algn="bl" rotWithShape="0" blurRad="19050" dist="9525" dir="5400000">
              <a:srgbClr val="0B1220">
                <a:alpha val="6000"/>
              </a:srgbClr>
            </a:outerShdw>
          </a:effectLst>
        </p:spPr>
      </p:sp>
      <p:sp>
        <p:nvSpPr>
          <p:cNvPr id="18" name="Text 16"/>
          <p:cNvSpPr/>
          <p:nvPr/>
        </p:nvSpPr>
        <p:spPr>
          <a:xfrm>
            <a:off x="8388668" y="3170872"/>
            <a:ext cx="3170492" cy="495300"/>
          </a:xfrm>
          <a:prstGeom prst="rect">
            <a:avLst/>
          </a:prstGeom>
          <a:noFill/>
          <a:ln/>
        </p:spPr>
        <p:txBody>
          <a:bodyPr wrap="square" lIns="25400" tIns="25400" rIns="25400" bIns="25400" rtlCol="0" anchor="t">
            <a:normAutofit/>
          </a:bodyPr>
          <a:lstStyle/>
          <a:p>
            <a:pPr algn="l" indent="0" marL="0">
              <a:lnSpc>
                <a:spcPct val="100000"/>
              </a:lnSpc>
              <a:buNone/>
            </a:pPr>
            <a:r>
              <a:rPr lang="en-US" sz="3600" b="1" spc="-72" kern="0" dirty="0">
                <a:solidFill>
                  <a:srgbClr val="0B1220"/>
                </a:solidFill>
                <a:latin typeface="Arial" pitchFamily="34" charset="0"/>
                <a:ea typeface="Arial" pitchFamily="34" charset="-122"/>
                <a:cs typeface="Arial" pitchFamily="34" charset="-120"/>
              </a:rPr>
              <a:t>−60 pts</a:t>
            </a:r>
            <a:endParaRPr lang="en-US" sz="3600" dirty="0"/>
          </a:p>
        </p:txBody>
      </p:sp>
      <p:sp>
        <p:nvSpPr>
          <p:cNvPr id="19" name="Text 17"/>
          <p:cNvSpPr/>
          <p:nvPr/>
        </p:nvSpPr>
        <p:spPr>
          <a:xfrm>
            <a:off x="8388668" y="3704272"/>
            <a:ext cx="2968733"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1E293B"/>
                </a:solidFill>
                <a:latin typeface="Arial" pitchFamily="34" charset="0"/>
                <a:ea typeface="Arial" pitchFamily="34" charset="-122"/>
                <a:cs typeface="Arial" pitchFamily="34" charset="-120"/>
              </a:rPr>
              <a:t>median drop if you default on a secured card</a:t>
            </a:r>
            <a:endParaRPr lang="en-US" sz="1350" dirty="0"/>
          </a:p>
        </p:txBody>
      </p:sp>
      <p:sp>
        <p:nvSpPr>
          <p:cNvPr id="20" name="Text 18"/>
          <p:cNvSpPr/>
          <p:nvPr/>
        </p:nvSpPr>
        <p:spPr>
          <a:xfrm>
            <a:off x="8388668" y="4426268"/>
            <a:ext cx="3170492"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CFPB / Federal Reserve</a:t>
            </a:r>
            <a:endParaRPr lang="en-US" sz="975" dirty="0"/>
          </a:p>
        </p:txBody>
      </p:sp>
      <p:sp>
        <p:nvSpPr>
          <p:cNvPr id="21" name="Text 19"/>
          <p:cNvSpPr/>
          <p:nvPr/>
        </p:nvSpPr>
        <p:spPr>
          <a:xfrm>
            <a:off x="10684511" y="6056471"/>
            <a:ext cx="97409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1 · Credit</a:t>
            </a:r>
            <a:endParaRPr lang="en-US" sz="97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1197134"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M5 · THE PATH</a:t>
            </a:r>
            <a:endParaRPr lang="en-US" sz="975" dirty="0"/>
          </a:p>
        </p:txBody>
      </p:sp>
      <p:sp>
        <p:nvSpPr>
          <p:cNvPr id="8" name="Text 6"/>
          <p:cNvSpPr/>
          <p:nvPr/>
        </p:nvSpPr>
        <p:spPr>
          <a:xfrm>
            <a:off x="609600" y="989647"/>
            <a:ext cx="5820391" cy="990600"/>
          </a:xfrm>
          <a:prstGeom prst="rect">
            <a:avLst/>
          </a:prstGeom>
          <a:noFill/>
          <a:ln/>
        </p:spPr>
        <p:txBody>
          <a:bodyPr wrap="square" lIns="25400" tIns="25400" rIns="25400" bIns="25400" rtlCol="0" anchor="t">
            <a:normAutofit/>
          </a:bodyPr>
          <a:lstStyle/>
          <a:p>
            <a:pPr algn="l" indent="0" marL="0">
              <a:lnSpc>
                <a:spcPct val="125000"/>
              </a:lnSpc>
              <a:buNone/>
            </a:pPr>
            <a:r>
              <a:rPr lang="en-US" sz="3000" b="1" spc="-60" kern="0" dirty="0">
                <a:solidFill>
                  <a:srgbClr val="0B1220"/>
                </a:solidFill>
                <a:latin typeface="Arial" pitchFamily="34" charset="0"/>
                <a:ea typeface="Arial" pitchFamily="34" charset="-122"/>
                <a:cs typeface="Arial" pitchFamily="34" charset="-120"/>
              </a:rPr>
              <a:t>From starter card to the real thing</a:t>
            </a:r>
            <a:endParaRPr lang="en-US" sz="3000" dirty="0"/>
          </a:p>
        </p:txBody>
      </p:sp>
      <p:sp>
        <p:nvSpPr>
          <p:cNvPr id="9" name="Text 7"/>
          <p:cNvSpPr/>
          <p:nvPr/>
        </p:nvSpPr>
        <p:spPr>
          <a:xfrm>
            <a:off x="609600" y="2094547"/>
            <a:ext cx="6931622"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5B6472"/>
                </a:solidFill>
                <a:latin typeface="Arial" pitchFamily="34" charset="0"/>
                <a:ea typeface="Arial" pitchFamily="34" charset="-122"/>
                <a:cs typeface="Arial" pitchFamily="34" charset="-120"/>
              </a:rPr>
              <a:t>A simple sequence that turns six months of discipline into an unsecured card and a real file.</a:t>
            </a:r>
            <a:endParaRPr lang="en-US" sz="1500" dirty="0"/>
          </a:p>
        </p:txBody>
      </p:sp>
      <p:sp>
        <p:nvSpPr>
          <p:cNvPr id="10" name="Shape 8"/>
          <p:cNvSpPr/>
          <p:nvPr/>
        </p:nvSpPr>
        <p:spPr>
          <a:xfrm>
            <a:off x="609600" y="3084195"/>
            <a:ext cx="85725" cy="85725"/>
          </a:xfrm>
          <a:prstGeom prst="roundRect">
            <a:avLst>
              <a:gd name="adj" fmla="val 33333"/>
            </a:avLst>
          </a:prstGeom>
          <a:solidFill>
            <a:srgbClr val="4F46E5"/>
          </a:solidFill>
          <a:ln/>
        </p:spPr>
      </p:sp>
      <p:sp>
        <p:nvSpPr>
          <p:cNvPr id="11" name="Text 9"/>
          <p:cNvSpPr/>
          <p:nvPr/>
        </p:nvSpPr>
        <p:spPr>
          <a:xfrm>
            <a:off x="809625" y="2989897"/>
            <a:ext cx="8325072" cy="303848"/>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Start with a student card if eligible, otherwise a secured card that reports to all three bureaus.</a:t>
            </a:r>
            <a:endParaRPr lang="en-US" sz="1350" dirty="0"/>
          </a:p>
        </p:txBody>
      </p:sp>
      <p:sp>
        <p:nvSpPr>
          <p:cNvPr id="12" name="Shape 10"/>
          <p:cNvSpPr/>
          <p:nvPr/>
        </p:nvSpPr>
        <p:spPr>
          <a:xfrm>
            <a:off x="609600" y="3502343"/>
            <a:ext cx="85725" cy="85725"/>
          </a:xfrm>
          <a:prstGeom prst="roundRect">
            <a:avLst>
              <a:gd name="adj" fmla="val 33333"/>
            </a:avLst>
          </a:prstGeom>
          <a:solidFill>
            <a:srgbClr val="4F46E5"/>
          </a:solidFill>
          <a:ln/>
        </p:spPr>
      </p:sp>
      <p:sp>
        <p:nvSpPr>
          <p:cNvPr id="13" name="Text 11"/>
          <p:cNvSpPr/>
          <p:nvPr/>
        </p:nvSpPr>
        <p:spPr>
          <a:xfrm>
            <a:off x="809625" y="3408045"/>
            <a:ext cx="6879177" cy="303847"/>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Keep utilization under ~30% (ideally under 10%) and pay on time, every time.</a:t>
            </a:r>
            <a:endParaRPr lang="en-US" sz="1350" dirty="0"/>
          </a:p>
        </p:txBody>
      </p:sp>
      <p:sp>
        <p:nvSpPr>
          <p:cNvPr id="14" name="Shape 12"/>
          <p:cNvSpPr/>
          <p:nvPr/>
        </p:nvSpPr>
        <p:spPr>
          <a:xfrm>
            <a:off x="609600" y="3920490"/>
            <a:ext cx="85725" cy="85725"/>
          </a:xfrm>
          <a:prstGeom prst="roundRect">
            <a:avLst>
              <a:gd name="adj" fmla="val 33333"/>
            </a:avLst>
          </a:prstGeom>
          <a:solidFill>
            <a:srgbClr val="4F46E5"/>
          </a:solidFill>
          <a:ln/>
        </p:spPr>
      </p:sp>
      <p:sp>
        <p:nvSpPr>
          <p:cNvPr id="15" name="Text 13"/>
          <p:cNvSpPr/>
          <p:nvPr/>
        </p:nvSpPr>
        <p:spPr>
          <a:xfrm>
            <a:off x="809625" y="3855720"/>
            <a:ext cx="7494381" cy="244792"/>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After ~6–18 months many issuers upgrade you to unsecured and refund the deposit.</a:t>
            </a:r>
            <a:endParaRPr lang="en-US" sz="1350" dirty="0"/>
          </a:p>
        </p:txBody>
      </p:sp>
      <p:sp>
        <p:nvSpPr>
          <p:cNvPr id="16" name="Text 14"/>
          <p:cNvSpPr/>
          <p:nvPr/>
        </p:nvSpPr>
        <p:spPr>
          <a:xfrm>
            <a:off x="708025" y="4168140"/>
            <a:ext cx="6990874"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Don't close your first card — its age anchors your average account age</a:t>
            </a:r>
            <a:endParaRPr lang="en-US" sz="1125" dirty="0"/>
          </a:p>
        </p:txBody>
      </p:sp>
      <p:sp>
        <p:nvSpPr>
          <p:cNvPr id="17" name="Text 15"/>
          <p:cNvSpPr/>
          <p:nvPr/>
        </p:nvSpPr>
        <p:spPr>
          <a:xfrm>
            <a:off x="10684511" y="6056471"/>
            <a:ext cx="97409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1 · Credit</a:t>
            </a:r>
            <a:endParaRPr lang="en-US" sz="97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1220"/>
          </a:solidFill>
          <a:ln/>
        </p:spPr>
      </p:sp>
      <p:sp>
        <p:nvSpPr>
          <p:cNvPr id="3" name="Text 1"/>
          <p:cNvSpPr/>
          <p:nvPr/>
        </p:nvSpPr>
        <p:spPr>
          <a:xfrm>
            <a:off x="609600" y="1907381"/>
            <a:ext cx="12070080" cy="451485"/>
          </a:xfrm>
          <a:prstGeom prst="rect">
            <a:avLst/>
          </a:prstGeom>
          <a:noFill/>
          <a:ln/>
        </p:spPr>
        <p:txBody>
          <a:bodyPr wrap="square" lIns="25400" tIns="25400" rIns="25400" bIns="25400" rtlCol="0" anchor="t">
            <a:normAutofit/>
          </a:bodyPr>
          <a:lstStyle/>
          <a:p>
            <a:pPr algn="l" indent="0" marL="0">
              <a:lnSpc>
                <a:spcPct val="155000"/>
              </a:lnSpc>
              <a:buNone/>
            </a:pPr>
            <a:r>
              <a:rPr lang="en-US" sz="2100" b="1" spc="42" kern="0" dirty="0">
                <a:solidFill>
                  <a:srgbClr val="C7D2FE"/>
                </a:solidFill>
                <a:latin typeface="Arial" pitchFamily="34" charset="0"/>
                <a:ea typeface="Arial" pitchFamily="34" charset="-122"/>
                <a:cs typeface="Arial" pitchFamily="34" charset="-120"/>
              </a:rPr>
              <a:t>M6</a:t>
            </a:r>
            <a:endParaRPr lang="en-US" sz="2100" dirty="0"/>
          </a:p>
        </p:txBody>
      </p:sp>
      <p:sp>
        <p:nvSpPr>
          <p:cNvPr id="4" name="Text 2"/>
          <p:cNvSpPr/>
          <p:nvPr/>
        </p:nvSpPr>
        <p:spPr>
          <a:xfrm>
            <a:off x="609600" y="2435066"/>
            <a:ext cx="6842998" cy="1158240"/>
          </a:xfrm>
          <a:prstGeom prst="rect">
            <a:avLst/>
          </a:prstGeom>
          <a:noFill/>
          <a:ln/>
        </p:spPr>
        <p:txBody>
          <a:bodyPr wrap="square" lIns="25400" tIns="25400" rIns="25400" bIns="25400" rtlCol="0" anchor="t">
            <a:normAutofit/>
          </a:bodyPr>
          <a:lstStyle/>
          <a:p>
            <a:pPr algn="l" indent="0" marL="0">
              <a:lnSpc>
                <a:spcPct val="105000"/>
              </a:lnSpc>
              <a:buNone/>
            </a:pPr>
            <a:r>
              <a:rPr lang="en-US" sz="4200" b="1" spc="-84" kern="0" dirty="0">
                <a:solidFill>
                  <a:srgbClr val="FFFFFF"/>
                </a:solidFill>
                <a:latin typeface="Arial" pitchFamily="34" charset="0"/>
                <a:ea typeface="Arial" pitchFamily="34" charset="-122"/>
                <a:cs typeface="Arial" pitchFamily="34" charset="-120"/>
              </a:rPr>
              <a:t>Borrowing with others &amp; qualifying</a:t>
            </a:r>
            <a:endParaRPr lang="en-US" sz="4200" dirty="0"/>
          </a:p>
        </p:txBody>
      </p:sp>
      <p:sp>
        <p:nvSpPr>
          <p:cNvPr id="5" name="Text 3"/>
          <p:cNvSpPr/>
          <p:nvPr/>
        </p:nvSpPr>
        <p:spPr>
          <a:xfrm>
            <a:off x="609600" y="3783806"/>
            <a:ext cx="6436506"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FFFFFF">
                    <a:alpha val="70000"/>
                  </a:srgbClr>
                </a:solidFill>
                <a:latin typeface="Arial" pitchFamily="34" charset="0"/>
                <a:ea typeface="Arial" pitchFamily="34" charset="-122"/>
                <a:cs typeface="Arial" pitchFamily="34" charset="-120"/>
              </a:rPr>
              <a:t>Joint credit, co-signers, and the debt-to-income test your score never sees.</a:t>
            </a:r>
            <a:endParaRPr lang="en-US" sz="1500" dirty="0"/>
          </a:p>
        </p:txBody>
      </p:sp>
      <p:sp>
        <p:nvSpPr>
          <p:cNvPr id="6" name="Shape 4"/>
          <p:cNvSpPr/>
          <p:nvPr/>
        </p:nvSpPr>
        <p:spPr>
          <a:xfrm>
            <a:off x="609600" y="4693444"/>
            <a:ext cx="605314" cy="257175"/>
          </a:xfrm>
          <a:prstGeom prst="roundRect">
            <a:avLst>
              <a:gd name="adj" fmla="val 50000"/>
            </a:avLst>
          </a:prstGeom>
          <a:solidFill>
            <a:srgbClr val="EEF2FF"/>
          </a:solidFill>
          <a:ln/>
        </p:spPr>
      </p:sp>
      <p:sp>
        <p:nvSpPr>
          <p:cNvPr id="7" name="Text 5"/>
          <p:cNvSpPr/>
          <p:nvPr/>
        </p:nvSpPr>
        <p:spPr>
          <a:xfrm>
            <a:off x="723900" y="4750594"/>
            <a:ext cx="452914" cy="180975"/>
          </a:xfrm>
          <a:prstGeom prst="rect">
            <a:avLst/>
          </a:prstGeom>
          <a:noFill/>
          <a:ln/>
        </p:spPr>
        <p:txBody>
          <a:bodyPr wrap="none" lIns="25400" tIns="25400" rIns="25400" bIns="25400" rtlCol="0" anchor="ctr">
            <a:normAutofit/>
          </a:bodyPr>
          <a:lstStyle/>
          <a:p>
            <a:pPr algn="l" indent="0" marL="0">
              <a:lnSpc>
                <a:spcPct val="100000"/>
              </a:lnSpc>
              <a:buNone/>
            </a:pPr>
            <a:r>
              <a:rPr lang="en-US" sz="1125" b="1" dirty="0">
                <a:solidFill>
                  <a:srgbClr val="3730A3"/>
                </a:solidFill>
                <a:latin typeface="Arial" pitchFamily="34" charset="0"/>
                <a:ea typeface="Arial" pitchFamily="34" charset="-122"/>
                <a:cs typeface="Arial" pitchFamily="34" charset="-120"/>
              </a:rPr>
              <a:t>5 min</a:t>
            </a:r>
            <a:endParaRPr lang="en-US" sz="1125"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09600"/>
            <a:ext cx="1207008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M6 · BORROWING WITH OTHERS</a:t>
            </a:r>
            <a:endParaRPr lang="en-US" sz="975" dirty="0"/>
          </a:p>
        </p:txBody>
      </p:sp>
      <p:sp>
        <p:nvSpPr>
          <p:cNvPr id="8" name="Text 6"/>
          <p:cNvSpPr/>
          <p:nvPr/>
        </p:nvSpPr>
        <p:spPr>
          <a:xfrm>
            <a:off x="609600" y="915829"/>
            <a:ext cx="12070080"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60" kern="0" dirty="0">
                <a:solidFill>
                  <a:srgbClr val="0B1220"/>
                </a:solidFill>
                <a:latin typeface="Arial" pitchFamily="34" charset="0"/>
                <a:ea typeface="Arial" pitchFamily="34" charset="-122"/>
                <a:cs typeface="Arial" pitchFamily="34" charset="-120"/>
              </a:rPr>
              <a:t>Four ways to share credit</a:t>
            </a:r>
            <a:endParaRPr lang="en-US" sz="3000" dirty="0"/>
          </a:p>
        </p:txBody>
      </p:sp>
      <p:sp>
        <p:nvSpPr>
          <p:cNvPr id="9" name="Shape 7"/>
          <p:cNvSpPr/>
          <p:nvPr/>
        </p:nvSpPr>
        <p:spPr>
          <a:xfrm>
            <a:off x="609600" y="1544479"/>
            <a:ext cx="2628900" cy="3937159"/>
          </a:xfrm>
          <a:prstGeom prst="roundRect">
            <a:avLst>
              <a:gd name="adj" fmla="val 5072"/>
            </a:avLst>
          </a:prstGeom>
          <a:solidFill>
            <a:srgbClr val="F6F7FB"/>
          </a:solidFill>
          <a:ln/>
        </p:spPr>
      </p:sp>
      <p:sp>
        <p:nvSpPr>
          <p:cNvPr id="10" name="Text 8"/>
          <p:cNvSpPr/>
          <p:nvPr/>
        </p:nvSpPr>
        <p:spPr>
          <a:xfrm>
            <a:off x="819150" y="1754029"/>
            <a:ext cx="2430780"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dirty="0">
                <a:solidFill>
                  <a:srgbClr val="0B1220"/>
                </a:solidFill>
                <a:latin typeface="Arial" pitchFamily="34" charset="0"/>
                <a:ea typeface="Arial" pitchFamily="34" charset="-122"/>
                <a:cs typeface="Arial" pitchFamily="34" charset="-120"/>
              </a:rPr>
              <a:t>Authorized user</a:t>
            </a:r>
            <a:endParaRPr lang="en-US" sz="1500" dirty="0"/>
          </a:p>
        </p:txBody>
      </p:sp>
      <p:sp>
        <p:nvSpPr>
          <p:cNvPr id="11" name="Text 9"/>
          <p:cNvSpPr/>
          <p:nvPr/>
        </p:nvSpPr>
        <p:spPr>
          <a:xfrm>
            <a:off x="819150" y="2182654"/>
            <a:ext cx="2286000" cy="2410301"/>
          </a:xfrm>
          <a:prstGeom prst="rect">
            <a:avLst/>
          </a:prstGeom>
          <a:noFill/>
          <a:ln/>
        </p:spPr>
        <p:txBody>
          <a:bodyPr wrap="square" lIns="25400" tIns="25400" rIns="25400" bIns="25400" rtlCol="0" anchor="t">
            <a:normAutofit/>
          </a:bodyPr>
          <a:lstStyle/>
          <a:p>
            <a:pPr algn="l" indent="0" marL="0">
              <a:lnSpc>
                <a:spcPct val="140000"/>
              </a:lnSpc>
              <a:buNone/>
            </a:pPr>
            <a:r>
              <a:rPr lang="en-US" sz="1200" dirty="0">
                <a:solidFill>
                  <a:srgbClr val="5B6472"/>
                </a:solidFill>
                <a:latin typeface="Arial" pitchFamily="34" charset="0"/>
                <a:ea typeface="Arial" pitchFamily="34" charset="-122"/>
                <a:cs typeface="Arial" pitchFamily="34" charset="-120"/>
              </a:rPr>
              <a:t>Uses the account, but carries no legal liability.</a:t>
            </a:r>
            <a:endParaRPr lang="en-US" sz="1200" dirty="0"/>
          </a:p>
        </p:txBody>
      </p:sp>
      <p:sp>
        <p:nvSpPr>
          <p:cNvPr id="12" name="Text 10"/>
          <p:cNvSpPr/>
          <p:nvPr/>
        </p:nvSpPr>
        <p:spPr>
          <a:xfrm>
            <a:off x="819150" y="4702016"/>
            <a:ext cx="749935"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Can use it</a:t>
            </a:r>
            <a:endParaRPr lang="en-US" sz="1125" dirty="0"/>
          </a:p>
        </p:txBody>
      </p:sp>
      <p:sp>
        <p:nvSpPr>
          <p:cNvPr id="13" name="Shape 11"/>
          <p:cNvSpPr/>
          <p:nvPr/>
        </p:nvSpPr>
        <p:spPr>
          <a:xfrm>
            <a:off x="2580164" y="4688205"/>
            <a:ext cx="448786" cy="249079"/>
          </a:xfrm>
          <a:prstGeom prst="roundRect">
            <a:avLst>
              <a:gd name="adj" fmla="val 50000"/>
            </a:avLst>
          </a:prstGeom>
          <a:solidFill>
            <a:srgbClr val="10B981">
              <a:alpha val="14000"/>
            </a:srgbClr>
          </a:solidFill>
          <a:ln/>
        </p:spPr>
      </p:sp>
      <p:sp>
        <p:nvSpPr>
          <p:cNvPr id="14" name="Text 12"/>
          <p:cNvSpPr/>
          <p:nvPr/>
        </p:nvSpPr>
        <p:spPr>
          <a:xfrm>
            <a:off x="2694464" y="4716780"/>
            <a:ext cx="296386"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dirty="0">
                <a:solidFill>
                  <a:srgbClr val="0E9F6E"/>
                </a:solidFill>
                <a:latin typeface="Arial" pitchFamily="34" charset="0"/>
                <a:ea typeface="Arial" pitchFamily="34" charset="-122"/>
                <a:cs typeface="Arial" pitchFamily="34" charset="-120"/>
              </a:rPr>
              <a:t>Yes</a:t>
            </a:r>
            <a:endParaRPr lang="en-US" sz="975" dirty="0"/>
          </a:p>
        </p:txBody>
      </p:sp>
      <p:sp>
        <p:nvSpPr>
          <p:cNvPr id="15" name="Text 13"/>
          <p:cNvSpPr/>
          <p:nvPr/>
        </p:nvSpPr>
        <p:spPr>
          <a:xfrm>
            <a:off x="819150" y="5036820"/>
            <a:ext cx="477203"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Liable</a:t>
            </a:r>
            <a:endParaRPr lang="en-US" sz="1125" dirty="0"/>
          </a:p>
        </p:txBody>
      </p:sp>
      <p:sp>
        <p:nvSpPr>
          <p:cNvPr id="16" name="Shape 14"/>
          <p:cNvSpPr/>
          <p:nvPr/>
        </p:nvSpPr>
        <p:spPr>
          <a:xfrm>
            <a:off x="2629853" y="5023009"/>
            <a:ext cx="399097" cy="249079"/>
          </a:xfrm>
          <a:prstGeom prst="roundRect">
            <a:avLst>
              <a:gd name="adj" fmla="val 50000"/>
            </a:avLst>
          </a:prstGeom>
          <a:solidFill>
            <a:srgbClr val="ECEFF4"/>
          </a:solidFill>
          <a:ln/>
        </p:spPr>
      </p:sp>
      <p:sp>
        <p:nvSpPr>
          <p:cNvPr id="17" name="Text 15"/>
          <p:cNvSpPr/>
          <p:nvPr/>
        </p:nvSpPr>
        <p:spPr>
          <a:xfrm>
            <a:off x="2744153" y="5051584"/>
            <a:ext cx="246697"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dirty="0">
                <a:solidFill>
                  <a:srgbClr val="5B6472"/>
                </a:solidFill>
                <a:latin typeface="Arial" pitchFamily="34" charset="0"/>
                <a:ea typeface="Arial" pitchFamily="34" charset="-122"/>
                <a:cs typeface="Arial" pitchFamily="34" charset="-120"/>
              </a:rPr>
              <a:t>No</a:t>
            </a:r>
            <a:endParaRPr lang="en-US" sz="975" dirty="0"/>
          </a:p>
        </p:txBody>
      </p:sp>
      <p:sp>
        <p:nvSpPr>
          <p:cNvPr id="18" name="Shape 16"/>
          <p:cNvSpPr/>
          <p:nvPr/>
        </p:nvSpPr>
        <p:spPr>
          <a:xfrm>
            <a:off x="3390900" y="1544479"/>
            <a:ext cx="2628900" cy="3937159"/>
          </a:xfrm>
          <a:prstGeom prst="roundRect">
            <a:avLst>
              <a:gd name="adj" fmla="val 5072"/>
            </a:avLst>
          </a:prstGeom>
          <a:solidFill>
            <a:srgbClr val="F6F7FB"/>
          </a:solidFill>
          <a:ln/>
        </p:spPr>
      </p:sp>
      <p:sp>
        <p:nvSpPr>
          <p:cNvPr id="19" name="Text 17"/>
          <p:cNvSpPr/>
          <p:nvPr/>
        </p:nvSpPr>
        <p:spPr>
          <a:xfrm>
            <a:off x="3600450" y="1754029"/>
            <a:ext cx="2430780"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dirty="0">
                <a:solidFill>
                  <a:srgbClr val="0B1220"/>
                </a:solidFill>
                <a:latin typeface="Arial" pitchFamily="34" charset="0"/>
                <a:ea typeface="Arial" pitchFamily="34" charset="-122"/>
                <a:cs typeface="Arial" pitchFamily="34" charset="-120"/>
              </a:rPr>
              <a:t>Co-signer</a:t>
            </a:r>
            <a:endParaRPr lang="en-US" sz="1500" dirty="0"/>
          </a:p>
        </p:txBody>
      </p:sp>
      <p:sp>
        <p:nvSpPr>
          <p:cNvPr id="20" name="Text 18"/>
          <p:cNvSpPr/>
          <p:nvPr/>
        </p:nvSpPr>
        <p:spPr>
          <a:xfrm>
            <a:off x="3600450" y="2182654"/>
            <a:ext cx="2286000" cy="2410301"/>
          </a:xfrm>
          <a:prstGeom prst="rect">
            <a:avLst/>
          </a:prstGeom>
          <a:noFill/>
          <a:ln/>
        </p:spPr>
        <p:txBody>
          <a:bodyPr wrap="square" lIns="25400" tIns="25400" rIns="25400" bIns="25400" rtlCol="0" anchor="t">
            <a:normAutofit/>
          </a:bodyPr>
          <a:lstStyle/>
          <a:p>
            <a:pPr algn="l" indent="0" marL="0">
              <a:lnSpc>
                <a:spcPct val="140000"/>
              </a:lnSpc>
              <a:buNone/>
            </a:pPr>
            <a:r>
              <a:rPr lang="en-US" sz="1200" dirty="0">
                <a:solidFill>
                  <a:srgbClr val="5B6472"/>
                </a:solidFill>
                <a:latin typeface="Arial" pitchFamily="34" charset="0"/>
                <a:ea typeface="Arial" pitchFamily="34" charset="-122"/>
                <a:cs typeface="Arial" pitchFamily="34" charset="-120"/>
              </a:rPr>
              <a:t>100% responsible — but gets no access to the credit.</a:t>
            </a:r>
            <a:endParaRPr lang="en-US" sz="1200" dirty="0"/>
          </a:p>
        </p:txBody>
      </p:sp>
      <p:sp>
        <p:nvSpPr>
          <p:cNvPr id="21" name="Text 19"/>
          <p:cNvSpPr/>
          <p:nvPr/>
        </p:nvSpPr>
        <p:spPr>
          <a:xfrm>
            <a:off x="3600450" y="4702016"/>
            <a:ext cx="749935"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Can use it</a:t>
            </a:r>
            <a:endParaRPr lang="en-US" sz="1125" dirty="0"/>
          </a:p>
        </p:txBody>
      </p:sp>
      <p:sp>
        <p:nvSpPr>
          <p:cNvPr id="22" name="Shape 20"/>
          <p:cNvSpPr/>
          <p:nvPr/>
        </p:nvSpPr>
        <p:spPr>
          <a:xfrm>
            <a:off x="5411152" y="4688205"/>
            <a:ext cx="399097" cy="249079"/>
          </a:xfrm>
          <a:prstGeom prst="roundRect">
            <a:avLst>
              <a:gd name="adj" fmla="val 50000"/>
            </a:avLst>
          </a:prstGeom>
          <a:solidFill>
            <a:srgbClr val="ECEFF4"/>
          </a:solidFill>
          <a:ln/>
        </p:spPr>
      </p:sp>
      <p:sp>
        <p:nvSpPr>
          <p:cNvPr id="23" name="Text 21"/>
          <p:cNvSpPr/>
          <p:nvPr/>
        </p:nvSpPr>
        <p:spPr>
          <a:xfrm>
            <a:off x="5525452" y="4716780"/>
            <a:ext cx="246697"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dirty="0">
                <a:solidFill>
                  <a:srgbClr val="5B6472"/>
                </a:solidFill>
                <a:latin typeface="Arial" pitchFamily="34" charset="0"/>
                <a:ea typeface="Arial" pitchFamily="34" charset="-122"/>
                <a:cs typeface="Arial" pitchFamily="34" charset="-120"/>
              </a:rPr>
              <a:t>No</a:t>
            </a:r>
            <a:endParaRPr lang="en-US" sz="975" dirty="0"/>
          </a:p>
        </p:txBody>
      </p:sp>
      <p:sp>
        <p:nvSpPr>
          <p:cNvPr id="24" name="Text 22"/>
          <p:cNvSpPr/>
          <p:nvPr/>
        </p:nvSpPr>
        <p:spPr>
          <a:xfrm>
            <a:off x="3600450" y="5036820"/>
            <a:ext cx="477203"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Liable</a:t>
            </a:r>
            <a:endParaRPr lang="en-US" sz="1125" dirty="0"/>
          </a:p>
        </p:txBody>
      </p:sp>
      <p:sp>
        <p:nvSpPr>
          <p:cNvPr id="25" name="Shape 23"/>
          <p:cNvSpPr/>
          <p:nvPr/>
        </p:nvSpPr>
        <p:spPr>
          <a:xfrm>
            <a:off x="5361463" y="5023009"/>
            <a:ext cx="448786" cy="249079"/>
          </a:xfrm>
          <a:prstGeom prst="roundRect">
            <a:avLst>
              <a:gd name="adj" fmla="val 50000"/>
            </a:avLst>
          </a:prstGeom>
          <a:solidFill>
            <a:srgbClr val="EF4444">
              <a:alpha val="14000"/>
            </a:srgbClr>
          </a:solidFill>
          <a:ln/>
        </p:spPr>
      </p:sp>
      <p:sp>
        <p:nvSpPr>
          <p:cNvPr id="26" name="Text 24"/>
          <p:cNvSpPr/>
          <p:nvPr/>
        </p:nvSpPr>
        <p:spPr>
          <a:xfrm>
            <a:off x="5475763" y="5051584"/>
            <a:ext cx="296386"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dirty="0">
                <a:solidFill>
                  <a:srgbClr val="EF4444"/>
                </a:solidFill>
                <a:latin typeface="Arial" pitchFamily="34" charset="0"/>
                <a:ea typeface="Arial" pitchFamily="34" charset="-122"/>
                <a:cs typeface="Arial" pitchFamily="34" charset="-120"/>
              </a:rPr>
              <a:t>Yes</a:t>
            </a:r>
            <a:endParaRPr lang="en-US" sz="975" dirty="0"/>
          </a:p>
        </p:txBody>
      </p:sp>
      <p:sp>
        <p:nvSpPr>
          <p:cNvPr id="27" name="Shape 25"/>
          <p:cNvSpPr/>
          <p:nvPr/>
        </p:nvSpPr>
        <p:spPr>
          <a:xfrm>
            <a:off x="6172200" y="1544479"/>
            <a:ext cx="2628900" cy="3937159"/>
          </a:xfrm>
          <a:prstGeom prst="roundRect">
            <a:avLst>
              <a:gd name="adj" fmla="val 5072"/>
            </a:avLst>
          </a:prstGeom>
          <a:solidFill>
            <a:srgbClr val="F6F7FB"/>
          </a:solidFill>
          <a:ln/>
        </p:spPr>
      </p:sp>
      <p:sp>
        <p:nvSpPr>
          <p:cNvPr id="28" name="Text 26"/>
          <p:cNvSpPr/>
          <p:nvPr/>
        </p:nvSpPr>
        <p:spPr>
          <a:xfrm>
            <a:off x="6381750" y="1754029"/>
            <a:ext cx="2430780"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dirty="0">
                <a:solidFill>
                  <a:srgbClr val="0B1220"/>
                </a:solidFill>
                <a:latin typeface="Arial" pitchFamily="34" charset="0"/>
                <a:ea typeface="Arial" pitchFamily="34" charset="-122"/>
                <a:cs typeface="Arial" pitchFamily="34" charset="-120"/>
              </a:rPr>
              <a:t>Co-borrower</a:t>
            </a:r>
            <a:endParaRPr lang="en-US" sz="1500" dirty="0"/>
          </a:p>
        </p:txBody>
      </p:sp>
      <p:sp>
        <p:nvSpPr>
          <p:cNvPr id="29" name="Text 27"/>
          <p:cNvSpPr/>
          <p:nvPr/>
        </p:nvSpPr>
        <p:spPr>
          <a:xfrm>
            <a:off x="6381750" y="2182654"/>
            <a:ext cx="2286000" cy="2410301"/>
          </a:xfrm>
          <a:prstGeom prst="rect">
            <a:avLst/>
          </a:prstGeom>
          <a:noFill/>
          <a:ln/>
        </p:spPr>
        <p:txBody>
          <a:bodyPr wrap="square" lIns="25400" tIns="25400" rIns="25400" bIns="25400" rtlCol="0" anchor="t">
            <a:normAutofit/>
          </a:bodyPr>
          <a:lstStyle/>
          <a:p>
            <a:pPr algn="l" indent="0" marL="0">
              <a:lnSpc>
                <a:spcPct val="140000"/>
              </a:lnSpc>
              <a:buNone/>
            </a:pPr>
            <a:r>
              <a:rPr lang="en-US" sz="1200" dirty="0">
                <a:solidFill>
                  <a:srgbClr val="5B6472"/>
                </a:solidFill>
                <a:latin typeface="Arial" pitchFamily="34" charset="0"/>
                <a:ea typeface="Arial" pitchFamily="34" charset="-122"/>
                <a:cs typeface="Arial" pitchFamily="34" charset="-120"/>
              </a:rPr>
              <a:t>Full responsibility and full access to the credit.</a:t>
            </a:r>
            <a:endParaRPr lang="en-US" sz="1200" dirty="0"/>
          </a:p>
        </p:txBody>
      </p:sp>
      <p:sp>
        <p:nvSpPr>
          <p:cNvPr id="30" name="Text 28"/>
          <p:cNvSpPr/>
          <p:nvPr/>
        </p:nvSpPr>
        <p:spPr>
          <a:xfrm>
            <a:off x="6381750" y="4702016"/>
            <a:ext cx="749935"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Can use it</a:t>
            </a:r>
            <a:endParaRPr lang="en-US" sz="1125" dirty="0"/>
          </a:p>
        </p:txBody>
      </p:sp>
      <p:sp>
        <p:nvSpPr>
          <p:cNvPr id="31" name="Shape 29"/>
          <p:cNvSpPr/>
          <p:nvPr/>
        </p:nvSpPr>
        <p:spPr>
          <a:xfrm>
            <a:off x="8142763" y="4688205"/>
            <a:ext cx="448786" cy="249079"/>
          </a:xfrm>
          <a:prstGeom prst="roundRect">
            <a:avLst>
              <a:gd name="adj" fmla="val 50000"/>
            </a:avLst>
          </a:prstGeom>
          <a:solidFill>
            <a:srgbClr val="10B981">
              <a:alpha val="14000"/>
            </a:srgbClr>
          </a:solidFill>
          <a:ln/>
        </p:spPr>
      </p:sp>
      <p:sp>
        <p:nvSpPr>
          <p:cNvPr id="32" name="Text 30"/>
          <p:cNvSpPr/>
          <p:nvPr/>
        </p:nvSpPr>
        <p:spPr>
          <a:xfrm>
            <a:off x="8257063" y="4716780"/>
            <a:ext cx="296386"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dirty="0">
                <a:solidFill>
                  <a:srgbClr val="0E9F6E"/>
                </a:solidFill>
                <a:latin typeface="Arial" pitchFamily="34" charset="0"/>
                <a:ea typeface="Arial" pitchFamily="34" charset="-122"/>
                <a:cs typeface="Arial" pitchFamily="34" charset="-120"/>
              </a:rPr>
              <a:t>Yes</a:t>
            </a:r>
            <a:endParaRPr lang="en-US" sz="975" dirty="0"/>
          </a:p>
        </p:txBody>
      </p:sp>
      <p:sp>
        <p:nvSpPr>
          <p:cNvPr id="33" name="Text 31"/>
          <p:cNvSpPr/>
          <p:nvPr/>
        </p:nvSpPr>
        <p:spPr>
          <a:xfrm>
            <a:off x="6381750" y="5036820"/>
            <a:ext cx="477203"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Liable</a:t>
            </a:r>
            <a:endParaRPr lang="en-US" sz="1125" dirty="0"/>
          </a:p>
        </p:txBody>
      </p:sp>
      <p:sp>
        <p:nvSpPr>
          <p:cNvPr id="34" name="Shape 32"/>
          <p:cNvSpPr/>
          <p:nvPr/>
        </p:nvSpPr>
        <p:spPr>
          <a:xfrm>
            <a:off x="8142763" y="5023009"/>
            <a:ext cx="448786" cy="249079"/>
          </a:xfrm>
          <a:prstGeom prst="roundRect">
            <a:avLst>
              <a:gd name="adj" fmla="val 50000"/>
            </a:avLst>
          </a:prstGeom>
          <a:solidFill>
            <a:srgbClr val="EF4444">
              <a:alpha val="14000"/>
            </a:srgbClr>
          </a:solidFill>
          <a:ln/>
        </p:spPr>
      </p:sp>
      <p:sp>
        <p:nvSpPr>
          <p:cNvPr id="35" name="Text 33"/>
          <p:cNvSpPr/>
          <p:nvPr/>
        </p:nvSpPr>
        <p:spPr>
          <a:xfrm>
            <a:off x="8257063" y="5051584"/>
            <a:ext cx="296386"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dirty="0">
                <a:solidFill>
                  <a:srgbClr val="EF4444"/>
                </a:solidFill>
                <a:latin typeface="Arial" pitchFamily="34" charset="0"/>
                <a:ea typeface="Arial" pitchFamily="34" charset="-122"/>
                <a:cs typeface="Arial" pitchFamily="34" charset="-120"/>
              </a:rPr>
              <a:t>Yes</a:t>
            </a:r>
            <a:endParaRPr lang="en-US" sz="975" dirty="0"/>
          </a:p>
        </p:txBody>
      </p:sp>
      <p:sp>
        <p:nvSpPr>
          <p:cNvPr id="36" name="Shape 34"/>
          <p:cNvSpPr/>
          <p:nvPr/>
        </p:nvSpPr>
        <p:spPr>
          <a:xfrm>
            <a:off x="8953500" y="1544479"/>
            <a:ext cx="2628900" cy="3937159"/>
          </a:xfrm>
          <a:prstGeom prst="roundRect">
            <a:avLst>
              <a:gd name="adj" fmla="val 5072"/>
            </a:avLst>
          </a:prstGeom>
          <a:solidFill>
            <a:srgbClr val="F6F7FB"/>
          </a:solidFill>
          <a:ln/>
        </p:spPr>
      </p:sp>
      <p:sp>
        <p:nvSpPr>
          <p:cNvPr id="37" name="Text 35"/>
          <p:cNvSpPr/>
          <p:nvPr/>
        </p:nvSpPr>
        <p:spPr>
          <a:xfrm>
            <a:off x="9163050" y="1754029"/>
            <a:ext cx="2430780"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dirty="0">
                <a:solidFill>
                  <a:srgbClr val="0B1220"/>
                </a:solidFill>
                <a:latin typeface="Arial" pitchFamily="34" charset="0"/>
                <a:ea typeface="Arial" pitchFamily="34" charset="-122"/>
                <a:cs typeface="Arial" pitchFamily="34" charset="-120"/>
              </a:rPr>
              <a:t>Joint account</a:t>
            </a:r>
            <a:endParaRPr lang="en-US" sz="1500" dirty="0"/>
          </a:p>
        </p:txBody>
      </p:sp>
      <p:sp>
        <p:nvSpPr>
          <p:cNvPr id="38" name="Text 36"/>
          <p:cNvSpPr/>
          <p:nvPr/>
        </p:nvSpPr>
        <p:spPr>
          <a:xfrm>
            <a:off x="9163050" y="2182654"/>
            <a:ext cx="2286000" cy="2410301"/>
          </a:xfrm>
          <a:prstGeom prst="rect">
            <a:avLst/>
          </a:prstGeom>
          <a:noFill/>
          <a:ln/>
        </p:spPr>
        <p:txBody>
          <a:bodyPr wrap="square" lIns="25400" tIns="25400" rIns="25400" bIns="25400" rtlCol="0" anchor="t">
            <a:normAutofit/>
          </a:bodyPr>
          <a:lstStyle/>
          <a:p>
            <a:pPr algn="l" indent="0" marL="0">
              <a:lnSpc>
                <a:spcPct val="140000"/>
              </a:lnSpc>
              <a:buNone/>
            </a:pPr>
            <a:r>
              <a:rPr lang="en-US" sz="1200" dirty="0">
                <a:solidFill>
                  <a:srgbClr val="5B6472"/>
                </a:solidFill>
                <a:latin typeface="Arial" pitchFamily="34" charset="0"/>
                <a:ea typeface="Arial" pitchFamily="34" charset="-122"/>
                <a:cs typeface="Arial" pitchFamily="34" charset="-120"/>
              </a:rPr>
              <a:t>Owned and owed by both; reports once per name.</a:t>
            </a:r>
            <a:endParaRPr lang="en-US" sz="1200" dirty="0"/>
          </a:p>
        </p:txBody>
      </p:sp>
      <p:sp>
        <p:nvSpPr>
          <p:cNvPr id="39" name="Text 37"/>
          <p:cNvSpPr/>
          <p:nvPr/>
        </p:nvSpPr>
        <p:spPr>
          <a:xfrm>
            <a:off x="9163050" y="4702016"/>
            <a:ext cx="749935"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Can use it</a:t>
            </a:r>
            <a:endParaRPr lang="en-US" sz="1125" dirty="0"/>
          </a:p>
        </p:txBody>
      </p:sp>
      <p:sp>
        <p:nvSpPr>
          <p:cNvPr id="40" name="Shape 38"/>
          <p:cNvSpPr/>
          <p:nvPr/>
        </p:nvSpPr>
        <p:spPr>
          <a:xfrm>
            <a:off x="10863421" y="4688205"/>
            <a:ext cx="509429" cy="249079"/>
          </a:xfrm>
          <a:prstGeom prst="roundRect">
            <a:avLst>
              <a:gd name="adj" fmla="val 50000"/>
            </a:avLst>
          </a:prstGeom>
          <a:solidFill>
            <a:srgbClr val="10B981">
              <a:alpha val="14000"/>
            </a:srgbClr>
          </a:solidFill>
          <a:ln/>
        </p:spPr>
      </p:sp>
      <p:sp>
        <p:nvSpPr>
          <p:cNvPr id="41" name="Text 39"/>
          <p:cNvSpPr/>
          <p:nvPr/>
        </p:nvSpPr>
        <p:spPr>
          <a:xfrm>
            <a:off x="10977721" y="4716780"/>
            <a:ext cx="357029"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dirty="0">
                <a:solidFill>
                  <a:srgbClr val="0E9F6E"/>
                </a:solidFill>
                <a:latin typeface="Arial" pitchFamily="34" charset="0"/>
                <a:ea typeface="Arial" pitchFamily="34" charset="-122"/>
                <a:cs typeface="Arial" pitchFamily="34" charset="-120"/>
              </a:rPr>
              <a:t>Both</a:t>
            </a:r>
            <a:endParaRPr lang="en-US" sz="975" dirty="0"/>
          </a:p>
        </p:txBody>
      </p:sp>
      <p:sp>
        <p:nvSpPr>
          <p:cNvPr id="42" name="Text 40"/>
          <p:cNvSpPr/>
          <p:nvPr/>
        </p:nvSpPr>
        <p:spPr>
          <a:xfrm>
            <a:off x="9163050" y="5036820"/>
            <a:ext cx="477203"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Liable</a:t>
            </a:r>
            <a:endParaRPr lang="en-US" sz="1125" dirty="0"/>
          </a:p>
        </p:txBody>
      </p:sp>
      <p:sp>
        <p:nvSpPr>
          <p:cNvPr id="43" name="Shape 41"/>
          <p:cNvSpPr/>
          <p:nvPr/>
        </p:nvSpPr>
        <p:spPr>
          <a:xfrm>
            <a:off x="10863421" y="5023009"/>
            <a:ext cx="509429" cy="249079"/>
          </a:xfrm>
          <a:prstGeom prst="roundRect">
            <a:avLst>
              <a:gd name="adj" fmla="val 50000"/>
            </a:avLst>
          </a:prstGeom>
          <a:solidFill>
            <a:srgbClr val="EF4444">
              <a:alpha val="14000"/>
            </a:srgbClr>
          </a:solidFill>
          <a:ln/>
        </p:spPr>
      </p:sp>
      <p:sp>
        <p:nvSpPr>
          <p:cNvPr id="44" name="Text 42"/>
          <p:cNvSpPr/>
          <p:nvPr/>
        </p:nvSpPr>
        <p:spPr>
          <a:xfrm>
            <a:off x="10977721" y="5051584"/>
            <a:ext cx="357029"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dirty="0">
                <a:solidFill>
                  <a:srgbClr val="EF4444"/>
                </a:solidFill>
                <a:latin typeface="Arial" pitchFamily="34" charset="0"/>
                <a:ea typeface="Arial" pitchFamily="34" charset="-122"/>
                <a:cs typeface="Arial" pitchFamily="34" charset="-120"/>
              </a:rPr>
              <a:t>Both</a:t>
            </a:r>
            <a:endParaRPr lang="en-US" sz="975" dirty="0"/>
          </a:p>
        </p:txBody>
      </p:sp>
      <p:sp>
        <p:nvSpPr>
          <p:cNvPr id="45" name="Text 43"/>
          <p:cNvSpPr/>
          <p:nvPr/>
        </p:nvSpPr>
        <p:spPr>
          <a:xfrm>
            <a:off x="609600" y="5653088"/>
            <a:ext cx="12070080"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dirty="0">
                <a:solidFill>
                  <a:srgbClr val="5B6472"/>
                </a:solidFill>
                <a:latin typeface="Arial" pitchFamily="34" charset="0"/>
                <a:ea typeface="Arial" pitchFamily="34" charset="-122"/>
                <a:cs typeface="Arial" pitchFamily="34" charset="-120"/>
              </a:rPr>
              <a:t>On joint applications, some lenders use the </a:t>
            </a:r>
            <a:pPr algn="l" indent="0" marL="0">
              <a:lnSpc>
                <a:spcPct val="155000"/>
              </a:lnSpc>
              <a:buNone/>
            </a:pPr>
            <a:r>
              <a:rPr lang="en-US" sz="1275" b="1" dirty="0">
                <a:solidFill>
                  <a:srgbClr val="0B1220"/>
                </a:solidFill>
                <a:latin typeface="Arial" pitchFamily="34" charset="0"/>
                <a:ea typeface="Arial" pitchFamily="34" charset="-122"/>
                <a:cs typeface="Arial" pitchFamily="34" charset="-120"/>
              </a:rPr>
              <a:t>lower </a:t>
            </a:r>
            <a:pPr algn="l" indent="0" marL="0">
              <a:lnSpc>
                <a:spcPct val="155000"/>
              </a:lnSpc>
              <a:buNone/>
            </a:pPr>
            <a:r>
              <a:rPr lang="en-US" sz="1275" dirty="0">
                <a:solidFill>
                  <a:srgbClr val="5B6472"/>
                </a:solidFill>
                <a:latin typeface="Arial" pitchFamily="34" charset="0"/>
                <a:ea typeface="Arial" pitchFamily="34" charset="-122"/>
                <a:cs typeface="Arial" pitchFamily="34" charset="-120"/>
              </a:rPr>
              <a:t>of the two borrowers' middle scores.</a:t>
            </a:r>
            <a:endParaRPr lang="en-US" sz="1275" dirty="0"/>
          </a:p>
        </p:txBody>
      </p:sp>
      <p:sp>
        <p:nvSpPr>
          <p:cNvPr id="46" name="Text 44"/>
          <p:cNvSpPr/>
          <p:nvPr/>
        </p:nvSpPr>
        <p:spPr>
          <a:xfrm>
            <a:off x="10684511" y="6056471"/>
            <a:ext cx="97409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1 · Credit</a:t>
            </a:r>
            <a:endParaRPr lang="en-US" sz="97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09600"/>
            <a:ext cx="1207008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M6 · QUALIFYING FOR LOANS</a:t>
            </a:r>
            <a:endParaRPr lang="en-US" sz="975" dirty="0"/>
          </a:p>
        </p:txBody>
      </p:sp>
      <p:sp>
        <p:nvSpPr>
          <p:cNvPr id="8" name="Text 6"/>
          <p:cNvSpPr/>
          <p:nvPr/>
        </p:nvSpPr>
        <p:spPr>
          <a:xfrm>
            <a:off x="609600" y="915829"/>
            <a:ext cx="12070080"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60" kern="0" dirty="0">
                <a:solidFill>
                  <a:srgbClr val="0B1220"/>
                </a:solidFill>
                <a:latin typeface="Arial" pitchFamily="34" charset="0"/>
                <a:ea typeface="Arial" pitchFamily="34" charset="-122"/>
                <a:cs typeface="Arial" pitchFamily="34" charset="-120"/>
              </a:rPr>
              <a:t>A student applies for a car loan</a:t>
            </a:r>
            <a:endParaRPr lang="en-US" sz="3000" dirty="0"/>
          </a:p>
        </p:txBody>
      </p:sp>
      <p:sp>
        <p:nvSpPr>
          <p:cNvPr id="9" name="Text 7"/>
          <p:cNvSpPr/>
          <p:nvPr/>
        </p:nvSpPr>
        <p:spPr>
          <a:xfrm>
            <a:off x="609600" y="1544479"/>
            <a:ext cx="12070080"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b="1" dirty="0">
                <a:solidFill>
                  <a:srgbClr val="0B1220"/>
                </a:solidFill>
                <a:latin typeface="Arial" pitchFamily="34" charset="0"/>
                <a:ea typeface="Arial" pitchFamily="34" charset="-122"/>
                <a:cs typeface="Arial" pitchFamily="34" charset="-120"/>
              </a:rPr>
              <a:t>Gross income $1,300 / month — where it goes</a:t>
            </a:r>
            <a:endParaRPr lang="en-US" sz="1275" dirty="0"/>
          </a:p>
        </p:txBody>
      </p:sp>
      <p:sp>
        <p:nvSpPr>
          <p:cNvPr id="10" name="Shape 8"/>
          <p:cNvSpPr/>
          <p:nvPr/>
        </p:nvSpPr>
        <p:spPr>
          <a:xfrm>
            <a:off x="609600" y="1890713"/>
            <a:ext cx="4641374" cy="495300"/>
          </a:xfrm>
          <a:prstGeom prst="rect">
            <a:avLst/>
          </a:prstGeom>
          <a:solidFill>
            <a:srgbClr val="4F46E5"/>
          </a:solidFill>
          <a:ln/>
        </p:spPr>
      </p:sp>
      <p:sp>
        <p:nvSpPr>
          <p:cNvPr id="11" name="Text 9"/>
          <p:cNvSpPr/>
          <p:nvPr/>
        </p:nvSpPr>
        <p:spPr>
          <a:xfrm>
            <a:off x="742950" y="1890713"/>
            <a:ext cx="4647265" cy="533400"/>
          </a:xfrm>
          <a:prstGeom prst="rect">
            <a:avLst/>
          </a:prstGeom>
          <a:noFill/>
          <a:ln/>
        </p:spPr>
        <p:txBody>
          <a:bodyPr wrap="square" lIns="25400" tIns="25400" rIns="25400" bIns="25400" rtlCol="0" anchor="ctr">
            <a:normAutofit/>
          </a:bodyPr>
          <a:lstStyle/>
          <a:p>
            <a:pPr algn="l" indent="0" marL="0">
              <a:lnSpc>
                <a:spcPct val="155000"/>
              </a:lnSpc>
              <a:buNone/>
            </a:pPr>
            <a:r>
              <a:rPr lang="en-US" sz="1050" b="1" dirty="0">
                <a:solidFill>
                  <a:srgbClr val="FFFFFF"/>
                </a:solidFill>
                <a:latin typeface="Arial" pitchFamily="34" charset="0"/>
                <a:ea typeface="Arial" pitchFamily="34" charset="-122"/>
                <a:cs typeface="Arial" pitchFamily="34" charset="-120"/>
              </a:rPr>
              <a:t>Rent $550</a:t>
            </a:r>
            <a:endParaRPr lang="en-US" sz="1050" dirty="0"/>
          </a:p>
        </p:txBody>
      </p:sp>
      <p:sp>
        <p:nvSpPr>
          <p:cNvPr id="12" name="Shape 10"/>
          <p:cNvSpPr/>
          <p:nvPr/>
        </p:nvSpPr>
        <p:spPr>
          <a:xfrm>
            <a:off x="5250974" y="1890713"/>
            <a:ext cx="2029936" cy="495300"/>
          </a:xfrm>
          <a:prstGeom prst="rect">
            <a:avLst/>
          </a:prstGeom>
          <a:solidFill>
            <a:srgbClr val="6366F1"/>
          </a:solidFill>
          <a:ln/>
        </p:spPr>
      </p:sp>
      <p:sp>
        <p:nvSpPr>
          <p:cNvPr id="13" name="Text 11"/>
          <p:cNvSpPr/>
          <p:nvPr/>
        </p:nvSpPr>
        <p:spPr>
          <a:xfrm>
            <a:off x="5365274" y="1890713"/>
            <a:ext cx="1991836" cy="533400"/>
          </a:xfrm>
          <a:prstGeom prst="rect">
            <a:avLst/>
          </a:prstGeom>
          <a:noFill/>
          <a:ln/>
        </p:spPr>
        <p:txBody>
          <a:bodyPr wrap="square" lIns="25400" tIns="25400" rIns="25400" bIns="25400" rtlCol="0" anchor="ctr">
            <a:normAutofit/>
          </a:bodyPr>
          <a:lstStyle/>
          <a:p>
            <a:pPr algn="l" indent="0" marL="0">
              <a:lnSpc>
                <a:spcPct val="155000"/>
              </a:lnSpc>
              <a:buNone/>
            </a:pPr>
            <a:r>
              <a:rPr lang="en-US" sz="1050" b="1" dirty="0">
                <a:solidFill>
                  <a:srgbClr val="FFFFFF"/>
                </a:solidFill>
                <a:latin typeface="Arial" pitchFamily="34" charset="0"/>
                <a:ea typeface="Arial" pitchFamily="34" charset="-122"/>
                <a:cs typeface="Arial" pitchFamily="34" charset="-120"/>
              </a:rPr>
              <a:t>Car $240</a:t>
            </a:r>
            <a:endParaRPr lang="en-US" sz="1050" dirty="0"/>
          </a:p>
        </p:txBody>
      </p:sp>
      <p:sp>
        <p:nvSpPr>
          <p:cNvPr id="14" name="Shape 12"/>
          <p:cNvSpPr/>
          <p:nvPr/>
        </p:nvSpPr>
        <p:spPr>
          <a:xfrm>
            <a:off x="7280910" y="1890713"/>
            <a:ext cx="384016" cy="495300"/>
          </a:xfrm>
          <a:prstGeom prst="rect">
            <a:avLst/>
          </a:prstGeom>
          <a:solidFill>
            <a:srgbClr val="818CF8"/>
          </a:solidFill>
          <a:ln/>
        </p:spPr>
      </p:sp>
      <p:sp>
        <p:nvSpPr>
          <p:cNvPr id="15" name="Shape 13"/>
          <p:cNvSpPr/>
          <p:nvPr/>
        </p:nvSpPr>
        <p:spPr>
          <a:xfrm>
            <a:off x="7664926" y="1890713"/>
            <a:ext cx="3917156" cy="495300"/>
          </a:xfrm>
          <a:prstGeom prst="rect">
            <a:avLst/>
          </a:prstGeom>
          <a:solidFill>
            <a:srgbClr val="F6F7FB"/>
          </a:solidFill>
          <a:ln/>
        </p:spPr>
      </p:sp>
      <p:sp>
        <p:nvSpPr>
          <p:cNvPr id="16" name="Text 14"/>
          <p:cNvSpPr/>
          <p:nvPr/>
        </p:nvSpPr>
        <p:spPr>
          <a:xfrm>
            <a:off x="7798276" y="1890713"/>
            <a:ext cx="3901321" cy="533400"/>
          </a:xfrm>
          <a:prstGeom prst="rect">
            <a:avLst/>
          </a:prstGeom>
          <a:noFill/>
          <a:ln/>
        </p:spPr>
        <p:txBody>
          <a:bodyPr wrap="square" lIns="25400" tIns="25400" rIns="25400" bIns="25400" rtlCol="0" anchor="ctr">
            <a:normAutofit/>
          </a:bodyPr>
          <a:lstStyle/>
          <a:p>
            <a:pPr algn="l" indent="0" marL="0">
              <a:lnSpc>
                <a:spcPct val="155000"/>
              </a:lnSpc>
              <a:buNone/>
            </a:pPr>
            <a:r>
              <a:rPr lang="en-US" sz="1050" b="1" dirty="0">
                <a:solidFill>
                  <a:srgbClr val="5B6472"/>
                </a:solidFill>
                <a:latin typeface="Arial" pitchFamily="34" charset="0"/>
                <a:ea typeface="Arial" pitchFamily="34" charset="-122"/>
                <a:cs typeface="Arial" pitchFamily="34" charset="-120"/>
              </a:rPr>
              <a:t>Left over $465</a:t>
            </a:r>
            <a:endParaRPr lang="en-US" sz="1050" dirty="0"/>
          </a:p>
        </p:txBody>
      </p:sp>
      <p:sp>
        <p:nvSpPr>
          <p:cNvPr id="17" name="Text 15"/>
          <p:cNvSpPr/>
          <p:nvPr/>
        </p:nvSpPr>
        <p:spPr>
          <a:xfrm>
            <a:off x="609600" y="2443163"/>
            <a:ext cx="12070080" cy="244792"/>
          </a:xfrm>
          <a:prstGeom prst="rect">
            <a:avLst/>
          </a:prstGeom>
          <a:noFill/>
          <a:ln/>
        </p:spPr>
        <p:txBody>
          <a:bodyPr wrap="square" lIns="25400" tIns="25400" rIns="25400" bIns="25400" rtlCol="0" anchor="t">
            <a:normAutofit/>
          </a:bodyPr>
          <a:lstStyle/>
          <a:p>
            <a:pPr algn="l" indent="0" marL="0">
              <a:lnSpc>
                <a:spcPct val="155000"/>
              </a:lnSpc>
              <a:buNone/>
            </a:pPr>
            <a:r>
              <a:rPr lang="en-US" sz="1050" dirty="0">
                <a:solidFill>
                  <a:srgbClr val="5B6472"/>
                </a:solidFill>
                <a:latin typeface="Arial" pitchFamily="34" charset="0"/>
                <a:ea typeface="Arial" pitchFamily="34" charset="-122"/>
                <a:cs typeface="Arial" pitchFamily="34" charset="-120"/>
              </a:rPr>
              <a:t>Thin sliver = $45 card minimum</a:t>
            </a:r>
            <a:endParaRPr lang="en-US" sz="1050" dirty="0"/>
          </a:p>
        </p:txBody>
      </p:sp>
      <p:sp>
        <p:nvSpPr>
          <p:cNvPr id="18" name="Text 16"/>
          <p:cNvSpPr/>
          <p:nvPr/>
        </p:nvSpPr>
        <p:spPr>
          <a:xfrm>
            <a:off x="381000" y="4308157"/>
            <a:ext cx="2514600" cy="289084"/>
          </a:xfrm>
          <a:prstGeom prst="rect">
            <a:avLst/>
          </a:prstGeom>
          <a:noFill/>
          <a:ln/>
        </p:spPr>
        <p:txBody>
          <a:bodyPr wrap="square" lIns="25400" tIns="25400" rIns="25400" bIns="25400" rtlCol="0" anchor="t">
            <a:normAutofit/>
          </a:bodyPr>
          <a:lstStyle/>
          <a:p>
            <a:pPr algn="r" indent="0" marL="0">
              <a:lnSpc>
                <a:spcPct val="155000"/>
              </a:lnSpc>
              <a:buNone/>
            </a:pPr>
            <a:r>
              <a:rPr lang="en-US" sz="1275" b="1" dirty="0">
                <a:solidFill>
                  <a:srgbClr val="0B1220"/>
                </a:solidFill>
                <a:latin typeface="Arial" pitchFamily="34" charset="0"/>
                <a:ea typeface="Arial" pitchFamily="34" charset="-122"/>
                <a:cs typeface="Arial" pitchFamily="34" charset="-120"/>
              </a:rPr>
              <a:t>Front-end ratio</a:t>
            </a:r>
            <a:endParaRPr lang="en-US" sz="1275" dirty="0"/>
          </a:p>
        </p:txBody>
      </p:sp>
      <p:sp>
        <p:nvSpPr>
          <p:cNvPr id="19" name="Text 17"/>
          <p:cNvSpPr/>
          <p:nvPr/>
        </p:nvSpPr>
        <p:spPr>
          <a:xfrm>
            <a:off x="381000" y="4559141"/>
            <a:ext cx="2514600" cy="259556"/>
          </a:xfrm>
          <a:prstGeom prst="rect">
            <a:avLst/>
          </a:prstGeom>
          <a:noFill/>
          <a:ln/>
        </p:spPr>
        <p:txBody>
          <a:bodyPr wrap="square" lIns="25400" tIns="25400" rIns="25400" bIns="25400" rtlCol="0" anchor="t">
            <a:normAutofit/>
          </a:bodyPr>
          <a:lstStyle/>
          <a:p>
            <a:pPr algn="r" indent="0" marL="0">
              <a:lnSpc>
                <a:spcPct val="155000"/>
              </a:lnSpc>
              <a:buNone/>
            </a:pPr>
            <a:r>
              <a:rPr lang="en-US" sz="1125" dirty="0">
                <a:solidFill>
                  <a:srgbClr val="5B6472"/>
                </a:solidFill>
                <a:latin typeface="Arial" pitchFamily="34" charset="0"/>
                <a:ea typeface="Arial" pitchFamily="34" charset="-122"/>
                <a:cs typeface="Arial" pitchFamily="34" charset="-120"/>
              </a:rPr>
              <a:t>housing ÷ income</a:t>
            </a:r>
            <a:endParaRPr lang="en-US" sz="1125" dirty="0"/>
          </a:p>
        </p:txBody>
      </p:sp>
      <p:sp>
        <p:nvSpPr>
          <p:cNvPr id="20" name="Shape 18"/>
          <p:cNvSpPr/>
          <p:nvPr/>
        </p:nvSpPr>
        <p:spPr>
          <a:xfrm>
            <a:off x="3105150" y="4334828"/>
            <a:ext cx="7467600" cy="419100"/>
          </a:xfrm>
          <a:prstGeom prst="roundRect">
            <a:avLst>
              <a:gd name="adj" fmla="val 18182"/>
            </a:avLst>
          </a:prstGeom>
          <a:solidFill>
            <a:srgbClr val="F6F7FB"/>
          </a:solidFill>
          <a:ln/>
        </p:spPr>
      </p:sp>
      <p:sp>
        <p:nvSpPr>
          <p:cNvPr id="21" name="Shape 19"/>
          <p:cNvSpPr/>
          <p:nvPr/>
        </p:nvSpPr>
        <p:spPr>
          <a:xfrm>
            <a:off x="6316187" y="4334828"/>
            <a:ext cx="522605" cy="419100"/>
          </a:xfrm>
          <a:prstGeom prst="rect">
            <a:avLst/>
          </a:prstGeom>
          <a:solidFill>
            <a:srgbClr val="EF4444">
              <a:alpha val="12000"/>
            </a:srgbClr>
          </a:solidFill>
          <a:ln/>
        </p:spPr>
      </p:sp>
      <p:sp>
        <p:nvSpPr>
          <p:cNvPr id="22" name="Shape 20"/>
          <p:cNvSpPr/>
          <p:nvPr/>
        </p:nvSpPr>
        <p:spPr>
          <a:xfrm>
            <a:off x="3105150" y="4334828"/>
            <a:ext cx="3136265" cy="419100"/>
          </a:xfrm>
          <a:prstGeom prst="rect">
            <a:avLst/>
          </a:prstGeom>
          <a:solidFill>
            <a:srgbClr val="10B981"/>
          </a:solidFill>
          <a:ln/>
        </p:spPr>
      </p:sp>
      <p:sp>
        <p:nvSpPr>
          <p:cNvPr id="23" name="Text 21"/>
          <p:cNvSpPr/>
          <p:nvPr/>
        </p:nvSpPr>
        <p:spPr>
          <a:xfrm>
            <a:off x="10782300" y="4352449"/>
            <a:ext cx="876300" cy="421958"/>
          </a:xfrm>
          <a:prstGeom prst="rect">
            <a:avLst/>
          </a:prstGeom>
          <a:noFill/>
          <a:ln/>
        </p:spPr>
        <p:txBody>
          <a:bodyPr wrap="square" lIns="25400" tIns="25400" rIns="25400" bIns="25400" rtlCol="0" anchor="t">
            <a:normAutofit/>
          </a:bodyPr>
          <a:lstStyle/>
          <a:p>
            <a:pPr algn="l" indent="0" marL="0">
              <a:lnSpc>
                <a:spcPct val="155000"/>
              </a:lnSpc>
              <a:buNone/>
            </a:pPr>
            <a:r>
              <a:rPr lang="en-US" sz="1950" b="1" dirty="0">
                <a:solidFill>
                  <a:srgbClr val="10B981"/>
                </a:solidFill>
                <a:latin typeface="Arial" pitchFamily="34" charset="0"/>
                <a:ea typeface="Arial" pitchFamily="34" charset="-122"/>
                <a:cs typeface="Arial" pitchFamily="34" charset="-120"/>
              </a:rPr>
              <a:t>42%</a:t>
            </a:r>
            <a:endParaRPr lang="en-US" sz="1950" dirty="0"/>
          </a:p>
        </p:txBody>
      </p:sp>
      <p:sp>
        <p:nvSpPr>
          <p:cNvPr id="24" name="Text 22"/>
          <p:cNvSpPr/>
          <p:nvPr/>
        </p:nvSpPr>
        <p:spPr>
          <a:xfrm>
            <a:off x="381000" y="4971098"/>
            <a:ext cx="2514600" cy="289084"/>
          </a:xfrm>
          <a:prstGeom prst="rect">
            <a:avLst/>
          </a:prstGeom>
          <a:noFill/>
          <a:ln/>
        </p:spPr>
        <p:txBody>
          <a:bodyPr wrap="square" lIns="25400" tIns="25400" rIns="25400" bIns="25400" rtlCol="0" anchor="t">
            <a:normAutofit/>
          </a:bodyPr>
          <a:lstStyle/>
          <a:p>
            <a:pPr algn="r" indent="0" marL="0">
              <a:lnSpc>
                <a:spcPct val="155000"/>
              </a:lnSpc>
              <a:buNone/>
            </a:pPr>
            <a:r>
              <a:rPr lang="en-US" sz="1275" b="1" dirty="0">
                <a:solidFill>
                  <a:srgbClr val="0B1220"/>
                </a:solidFill>
                <a:latin typeface="Arial" pitchFamily="34" charset="0"/>
                <a:ea typeface="Arial" pitchFamily="34" charset="-122"/>
                <a:cs typeface="Arial" pitchFamily="34" charset="-120"/>
              </a:rPr>
              <a:t>Back-end ratio</a:t>
            </a:r>
            <a:endParaRPr lang="en-US" sz="1275" dirty="0"/>
          </a:p>
        </p:txBody>
      </p:sp>
      <p:sp>
        <p:nvSpPr>
          <p:cNvPr id="25" name="Text 23"/>
          <p:cNvSpPr/>
          <p:nvPr/>
        </p:nvSpPr>
        <p:spPr>
          <a:xfrm>
            <a:off x="381000" y="5222081"/>
            <a:ext cx="2514600" cy="259556"/>
          </a:xfrm>
          <a:prstGeom prst="rect">
            <a:avLst/>
          </a:prstGeom>
          <a:noFill/>
          <a:ln/>
        </p:spPr>
        <p:txBody>
          <a:bodyPr wrap="square" lIns="25400" tIns="25400" rIns="25400" bIns="25400" rtlCol="0" anchor="t">
            <a:normAutofit/>
          </a:bodyPr>
          <a:lstStyle/>
          <a:p>
            <a:pPr algn="r" indent="0" marL="0">
              <a:lnSpc>
                <a:spcPct val="155000"/>
              </a:lnSpc>
              <a:buNone/>
            </a:pPr>
            <a:r>
              <a:rPr lang="en-US" sz="1125" dirty="0">
                <a:solidFill>
                  <a:srgbClr val="5B6472"/>
                </a:solidFill>
                <a:latin typeface="Arial" pitchFamily="34" charset="0"/>
                <a:ea typeface="Arial" pitchFamily="34" charset="-122"/>
                <a:cs typeface="Arial" pitchFamily="34" charset="-120"/>
              </a:rPr>
              <a:t>all debt ÷ income</a:t>
            </a:r>
            <a:endParaRPr lang="en-US" sz="1125" dirty="0"/>
          </a:p>
        </p:txBody>
      </p:sp>
      <p:sp>
        <p:nvSpPr>
          <p:cNvPr id="26" name="Shape 24"/>
          <p:cNvSpPr/>
          <p:nvPr/>
        </p:nvSpPr>
        <p:spPr>
          <a:xfrm>
            <a:off x="3105150" y="4997768"/>
            <a:ext cx="7467600" cy="419100"/>
          </a:xfrm>
          <a:prstGeom prst="roundRect">
            <a:avLst>
              <a:gd name="adj" fmla="val 18182"/>
            </a:avLst>
          </a:prstGeom>
          <a:solidFill>
            <a:srgbClr val="F6F7FB"/>
          </a:solidFill>
          <a:ln/>
        </p:spPr>
      </p:sp>
      <p:sp>
        <p:nvSpPr>
          <p:cNvPr id="27" name="Shape 25"/>
          <p:cNvSpPr/>
          <p:nvPr/>
        </p:nvSpPr>
        <p:spPr>
          <a:xfrm>
            <a:off x="6316187" y="4997768"/>
            <a:ext cx="522605" cy="419100"/>
          </a:xfrm>
          <a:prstGeom prst="rect">
            <a:avLst/>
          </a:prstGeom>
          <a:solidFill>
            <a:srgbClr val="EF4444">
              <a:alpha val="12000"/>
            </a:srgbClr>
          </a:solidFill>
          <a:ln/>
        </p:spPr>
      </p:sp>
      <p:sp>
        <p:nvSpPr>
          <p:cNvPr id="28" name="Shape 26"/>
          <p:cNvSpPr/>
          <p:nvPr/>
        </p:nvSpPr>
        <p:spPr>
          <a:xfrm>
            <a:off x="3105150" y="4997768"/>
            <a:ext cx="3733800" cy="419100"/>
          </a:xfrm>
          <a:prstGeom prst="rect">
            <a:avLst/>
          </a:prstGeom>
          <a:solidFill>
            <a:srgbClr val="4F46E5"/>
          </a:solidFill>
          <a:ln/>
        </p:spPr>
      </p:sp>
      <p:sp>
        <p:nvSpPr>
          <p:cNvPr id="29" name="Shape 27"/>
          <p:cNvSpPr/>
          <p:nvPr/>
        </p:nvSpPr>
        <p:spPr>
          <a:xfrm>
            <a:off x="6838950" y="4997768"/>
            <a:ext cx="1045369" cy="419100"/>
          </a:xfrm>
          <a:prstGeom prst="rect">
            <a:avLst/>
          </a:prstGeom>
          <a:solidFill>
            <a:srgbClr val="EF4444"/>
          </a:solidFill>
          <a:ln/>
        </p:spPr>
      </p:sp>
      <p:sp>
        <p:nvSpPr>
          <p:cNvPr id="30" name="Text 28"/>
          <p:cNvSpPr/>
          <p:nvPr/>
        </p:nvSpPr>
        <p:spPr>
          <a:xfrm>
            <a:off x="10782300" y="5015389"/>
            <a:ext cx="876300" cy="421958"/>
          </a:xfrm>
          <a:prstGeom prst="rect">
            <a:avLst/>
          </a:prstGeom>
          <a:noFill/>
          <a:ln/>
        </p:spPr>
        <p:txBody>
          <a:bodyPr wrap="square" lIns="25400" tIns="25400" rIns="25400" bIns="25400" rtlCol="0" anchor="t">
            <a:normAutofit/>
          </a:bodyPr>
          <a:lstStyle/>
          <a:p>
            <a:pPr algn="l" indent="0" marL="0">
              <a:lnSpc>
                <a:spcPct val="155000"/>
              </a:lnSpc>
              <a:buNone/>
            </a:pPr>
            <a:r>
              <a:rPr lang="en-US" sz="1950" b="1" dirty="0">
                <a:solidFill>
                  <a:srgbClr val="EF4444"/>
                </a:solidFill>
                <a:latin typeface="Arial" pitchFamily="34" charset="0"/>
                <a:ea typeface="Arial" pitchFamily="34" charset="-122"/>
                <a:cs typeface="Arial" pitchFamily="34" charset="-120"/>
              </a:rPr>
              <a:t>64%</a:t>
            </a:r>
            <a:endParaRPr lang="en-US" sz="1950" dirty="0"/>
          </a:p>
        </p:txBody>
      </p:sp>
      <p:sp>
        <p:nvSpPr>
          <p:cNvPr id="31" name="Text 29"/>
          <p:cNvSpPr/>
          <p:nvPr/>
        </p:nvSpPr>
        <p:spPr>
          <a:xfrm>
            <a:off x="609600" y="5653088"/>
            <a:ext cx="12070080"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dirty="0">
                <a:solidFill>
                  <a:srgbClr val="5B6472"/>
                </a:solidFill>
                <a:latin typeface="Arial" pitchFamily="34" charset="0"/>
                <a:ea typeface="Arial" pitchFamily="34" charset="-122"/>
                <a:cs typeface="Arial" pitchFamily="34" charset="-120"/>
              </a:rPr>
              <a:t>Shaded band = most lenders' </a:t>
            </a:r>
            <a:pPr algn="l" indent="0" marL="0">
              <a:lnSpc>
                <a:spcPct val="155000"/>
              </a:lnSpc>
              <a:buNone/>
            </a:pPr>
            <a:r>
              <a:rPr lang="en-US" sz="1275" b="1" dirty="0">
                <a:solidFill>
                  <a:srgbClr val="0B1220"/>
                </a:solidFill>
                <a:latin typeface="Arial" pitchFamily="34" charset="0"/>
                <a:ea typeface="Arial" pitchFamily="34" charset="-122"/>
                <a:cs typeface="Arial" pitchFamily="34" charset="-120"/>
              </a:rPr>
              <a:t>~43–50% </a:t>
            </a:r>
            <a:pPr algn="l" indent="0" marL="0">
              <a:lnSpc>
                <a:spcPct val="155000"/>
              </a:lnSpc>
              <a:buNone/>
            </a:pPr>
            <a:r>
              <a:rPr lang="en-US" sz="1275" dirty="0">
                <a:solidFill>
                  <a:srgbClr val="5B6472"/>
                </a:solidFill>
                <a:latin typeface="Arial" pitchFamily="34" charset="0"/>
                <a:ea typeface="Arial" pitchFamily="34" charset="-122"/>
                <a:cs typeface="Arial" pitchFamily="34" charset="-120"/>
              </a:rPr>
              <a:t>back-end ceiling. At 64%, this borrower needs a co-signer or a cheaper car.</a:t>
            </a:r>
            <a:endParaRPr lang="en-US" sz="1275" dirty="0"/>
          </a:p>
        </p:txBody>
      </p:sp>
      <p:sp>
        <p:nvSpPr>
          <p:cNvPr id="32" name="Text 30"/>
          <p:cNvSpPr/>
          <p:nvPr/>
        </p:nvSpPr>
        <p:spPr>
          <a:xfrm>
            <a:off x="10684511" y="6056471"/>
            <a:ext cx="97409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1 · Credit</a:t>
            </a:r>
            <a:endParaRPr lang="en-US" sz="97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2444575"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M6 · QUALIFYING FOR LOANS</a:t>
            </a:r>
            <a:endParaRPr lang="en-US" sz="975" dirty="0"/>
          </a:p>
        </p:txBody>
      </p:sp>
      <p:sp>
        <p:nvSpPr>
          <p:cNvPr id="8" name="Text 6"/>
          <p:cNvSpPr/>
          <p:nvPr/>
        </p:nvSpPr>
        <p:spPr>
          <a:xfrm>
            <a:off x="609600" y="989647"/>
            <a:ext cx="5820391" cy="990600"/>
          </a:xfrm>
          <a:prstGeom prst="rect">
            <a:avLst/>
          </a:prstGeom>
          <a:noFill/>
          <a:ln/>
        </p:spPr>
        <p:txBody>
          <a:bodyPr wrap="square" lIns="25400" tIns="25400" rIns="25400" bIns="25400" rtlCol="0" anchor="t">
            <a:normAutofit/>
          </a:bodyPr>
          <a:lstStyle/>
          <a:p>
            <a:pPr algn="l" indent="0" marL="0">
              <a:lnSpc>
                <a:spcPct val="125000"/>
              </a:lnSpc>
              <a:buNone/>
            </a:pPr>
            <a:r>
              <a:rPr lang="en-US" sz="3000" b="1" spc="-60" kern="0" dirty="0">
                <a:solidFill>
                  <a:srgbClr val="0B1220"/>
                </a:solidFill>
                <a:latin typeface="Arial" pitchFamily="34" charset="0"/>
                <a:ea typeface="Arial" pitchFamily="34" charset="-122"/>
                <a:cs typeface="Arial" pitchFamily="34" charset="-120"/>
              </a:rPr>
              <a:t>Why a 760 score can still be denied</a:t>
            </a:r>
            <a:endParaRPr lang="en-US" sz="3000" dirty="0"/>
          </a:p>
        </p:txBody>
      </p:sp>
      <p:sp>
        <p:nvSpPr>
          <p:cNvPr id="9" name="Text 7"/>
          <p:cNvSpPr/>
          <p:nvPr/>
        </p:nvSpPr>
        <p:spPr>
          <a:xfrm>
            <a:off x="609600" y="2094547"/>
            <a:ext cx="6931622"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5B6472"/>
                </a:solidFill>
                <a:latin typeface="Arial" pitchFamily="34" charset="0"/>
                <a:ea typeface="Arial" pitchFamily="34" charset="-122"/>
                <a:cs typeface="Arial" pitchFamily="34" charset="-120"/>
              </a:rPr>
              <a:t>Your score measures willingness to repay; DTI measures capacity — and lenders check both.</a:t>
            </a:r>
            <a:endParaRPr lang="en-US" sz="1500" dirty="0"/>
          </a:p>
        </p:txBody>
      </p:sp>
      <p:sp>
        <p:nvSpPr>
          <p:cNvPr id="10" name="Shape 8"/>
          <p:cNvSpPr/>
          <p:nvPr/>
        </p:nvSpPr>
        <p:spPr>
          <a:xfrm>
            <a:off x="609600" y="3084195"/>
            <a:ext cx="85725" cy="85725"/>
          </a:xfrm>
          <a:prstGeom prst="roundRect">
            <a:avLst>
              <a:gd name="adj" fmla="val 33333"/>
            </a:avLst>
          </a:prstGeom>
          <a:solidFill>
            <a:srgbClr val="4F46E5"/>
          </a:solidFill>
          <a:ln/>
        </p:spPr>
      </p:sp>
      <p:sp>
        <p:nvSpPr>
          <p:cNvPr id="11" name="Text 9"/>
          <p:cNvSpPr/>
          <p:nvPr/>
        </p:nvSpPr>
        <p:spPr>
          <a:xfrm>
            <a:off x="809625" y="2989897"/>
            <a:ext cx="8317039" cy="303848"/>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Income isn't on your credit report, so DTI can't enter your score — but it drives loan approval.</a:t>
            </a:r>
            <a:endParaRPr lang="en-US" sz="1350" dirty="0"/>
          </a:p>
        </p:txBody>
      </p:sp>
      <p:sp>
        <p:nvSpPr>
          <p:cNvPr id="12" name="Shape 10"/>
          <p:cNvSpPr/>
          <p:nvPr/>
        </p:nvSpPr>
        <p:spPr>
          <a:xfrm>
            <a:off x="609600" y="3502343"/>
            <a:ext cx="85725" cy="85725"/>
          </a:xfrm>
          <a:prstGeom prst="roundRect">
            <a:avLst>
              <a:gd name="adj" fmla="val 33333"/>
            </a:avLst>
          </a:prstGeom>
          <a:solidFill>
            <a:srgbClr val="4F46E5"/>
          </a:solidFill>
          <a:ln/>
        </p:spPr>
      </p:sp>
      <p:sp>
        <p:nvSpPr>
          <p:cNvPr id="13" name="Text 11"/>
          <p:cNvSpPr/>
          <p:nvPr/>
        </p:nvSpPr>
        <p:spPr>
          <a:xfrm>
            <a:off x="809625" y="3437572"/>
            <a:ext cx="8272685" cy="244793"/>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Rules of thumb: the 28/36 rule; ≤36% back-end is comfortable, ~50% is the practical ceiling.</a:t>
            </a:r>
            <a:endParaRPr lang="en-US" sz="1350" dirty="0"/>
          </a:p>
        </p:txBody>
      </p:sp>
      <p:sp>
        <p:nvSpPr>
          <p:cNvPr id="14" name="Text 12"/>
          <p:cNvSpPr/>
          <p:nvPr/>
        </p:nvSpPr>
        <p:spPr>
          <a:xfrm>
            <a:off x="708025" y="3749993"/>
            <a:ext cx="7698422"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Conventional underwriting allows up to 50%; FHA up to ~50% with compensating factors</a:t>
            </a:r>
            <a:endParaRPr lang="en-US" sz="1125" dirty="0"/>
          </a:p>
        </p:txBody>
      </p:sp>
      <p:sp>
        <p:nvSpPr>
          <p:cNvPr id="15" name="Shape 13"/>
          <p:cNvSpPr/>
          <p:nvPr/>
        </p:nvSpPr>
        <p:spPr>
          <a:xfrm>
            <a:off x="609600" y="4218146"/>
            <a:ext cx="85725" cy="85725"/>
          </a:xfrm>
          <a:prstGeom prst="roundRect">
            <a:avLst>
              <a:gd name="adj" fmla="val 33333"/>
            </a:avLst>
          </a:prstGeom>
          <a:solidFill>
            <a:srgbClr val="4F46E5"/>
          </a:solidFill>
          <a:ln/>
        </p:spPr>
      </p:sp>
      <p:sp>
        <p:nvSpPr>
          <p:cNvPr id="16" name="Text 14"/>
          <p:cNvSpPr/>
          <p:nvPr/>
        </p:nvSpPr>
        <p:spPr>
          <a:xfrm>
            <a:off x="809625" y="4123849"/>
            <a:ext cx="10324180" cy="303848"/>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Deferred student loans hit your DTI the day you graduate — often the line that tips a new grad over a mortgage limit.</a:t>
            </a:r>
            <a:endParaRPr lang="en-US" sz="1350" dirty="0"/>
          </a:p>
        </p:txBody>
      </p:sp>
      <p:sp>
        <p:nvSpPr>
          <p:cNvPr id="17" name="Text 15"/>
          <p:cNvSpPr/>
          <p:nvPr/>
        </p:nvSpPr>
        <p:spPr>
          <a:xfrm>
            <a:off x="10684511" y="6056471"/>
            <a:ext cx="97409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1 · Credit</a:t>
            </a:r>
            <a:endParaRPr lang="en-US" sz="97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1220"/>
          </a:solidFill>
          <a:ln/>
        </p:spPr>
      </p:sp>
      <p:sp>
        <p:nvSpPr>
          <p:cNvPr id="3" name="Text 1"/>
          <p:cNvSpPr/>
          <p:nvPr/>
        </p:nvSpPr>
        <p:spPr>
          <a:xfrm>
            <a:off x="609600" y="1907381"/>
            <a:ext cx="12070080" cy="451485"/>
          </a:xfrm>
          <a:prstGeom prst="rect">
            <a:avLst/>
          </a:prstGeom>
          <a:noFill/>
          <a:ln/>
        </p:spPr>
        <p:txBody>
          <a:bodyPr wrap="square" lIns="25400" tIns="25400" rIns="25400" bIns="25400" rtlCol="0" anchor="t">
            <a:normAutofit/>
          </a:bodyPr>
          <a:lstStyle/>
          <a:p>
            <a:pPr algn="l" indent="0" marL="0">
              <a:lnSpc>
                <a:spcPct val="155000"/>
              </a:lnSpc>
              <a:buNone/>
            </a:pPr>
            <a:r>
              <a:rPr lang="en-US" sz="2100" b="1" spc="42" kern="0" dirty="0">
                <a:solidFill>
                  <a:srgbClr val="C7D2FE"/>
                </a:solidFill>
                <a:latin typeface="Arial" pitchFamily="34" charset="0"/>
                <a:ea typeface="Arial" pitchFamily="34" charset="-122"/>
                <a:cs typeface="Arial" pitchFamily="34" charset="-120"/>
              </a:rPr>
              <a:t>M7</a:t>
            </a:r>
            <a:endParaRPr lang="en-US" sz="2100" dirty="0"/>
          </a:p>
        </p:txBody>
      </p:sp>
      <p:sp>
        <p:nvSpPr>
          <p:cNvPr id="4" name="Text 2"/>
          <p:cNvSpPr/>
          <p:nvPr/>
        </p:nvSpPr>
        <p:spPr>
          <a:xfrm>
            <a:off x="609600" y="2435066"/>
            <a:ext cx="6842998" cy="1158240"/>
          </a:xfrm>
          <a:prstGeom prst="rect">
            <a:avLst/>
          </a:prstGeom>
          <a:noFill/>
          <a:ln/>
        </p:spPr>
        <p:txBody>
          <a:bodyPr wrap="square" lIns="25400" tIns="25400" rIns="25400" bIns="25400" rtlCol="0" anchor="t">
            <a:normAutofit/>
          </a:bodyPr>
          <a:lstStyle/>
          <a:p>
            <a:pPr algn="l" indent="0" marL="0">
              <a:lnSpc>
                <a:spcPct val="105000"/>
              </a:lnSpc>
              <a:buNone/>
            </a:pPr>
            <a:r>
              <a:rPr lang="en-US" sz="4200" b="1" spc="-84" kern="0" dirty="0">
                <a:solidFill>
                  <a:srgbClr val="FFFFFF"/>
                </a:solidFill>
                <a:latin typeface="Arial" pitchFamily="34" charset="0"/>
                <a:ea typeface="Arial" pitchFamily="34" charset="-122"/>
                <a:cs typeface="Arial" pitchFamily="34" charset="-120"/>
              </a:rPr>
              <a:t>Credit beyond you — business &amp; bond ratings</a:t>
            </a:r>
            <a:endParaRPr lang="en-US" sz="4200" dirty="0"/>
          </a:p>
        </p:txBody>
      </p:sp>
      <p:sp>
        <p:nvSpPr>
          <p:cNvPr id="5" name="Text 3"/>
          <p:cNvSpPr/>
          <p:nvPr/>
        </p:nvSpPr>
        <p:spPr>
          <a:xfrm>
            <a:off x="609600" y="3783806"/>
            <a:ext cx="6436506"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FFFFFF">
                    <a:alpha val="70000"/>
                  </a:srgbClr>
                </a:solidFill>
                <a:latin typeface="Arial" pitchFamily="34" charset="0"/>
                <a:ea typeface="Arial" pitchFamily="34" charset="-122"/>
                <a:cs typeface="Arial" pitchFamily="34" charset="-120"/>
              </a:rPr>
              <a:t>The same logic, scaled up to companies and countries. Optional deep dive.</a:t>
            </a:r>
            <a:endParaRPr lang="en-US" sz="1500" dirty="0"/>
          </a:p>
        </p:txBody>
      </p:sp>
      <p:sp>
        <p:nvSpPr>
          <p:cNvPr id="6" name="Shape 4"/>
          <p:cNvSpPr/>
          <p:nvPr/>
        </p:nvSpPr>
        <p:spPr>
          <a:xfrm>
            <a:off x="609600" y="4693444"/>
            <a:ext cx="609282" cy="257175"/>
          </a:xfrm>
          <a:prstGeom prst="roundRect">
            <a:avLst>
              <a:gd name="adj" fmla="val 50000"/>
            </a:avLst>
          </a:prstGeom>
          <a:solidFill>
            <a:srgbClr val="EEF2FF"/>
          </a:solidFill>
          <a:ln/>
        </p:spPr>
      </p:sp>
      <p:sp>
        <p:nvSpPr>
          <p:cNvPr id="7" name="Text 5"/>
          <p:cNvSpPr/>
          <p:nvPr/>
        </p:nvSpPr>
        <p:spPr>
          <a:xfrm>
            <a:off x="723900" y="4750594"/>
            <a:ext cx="456882" cy="180975"/>
          </a:xfrm>
          <a:prstGeom prst="rect">
            <a:avLst/>
          </a:prstGeom>
          <a:noFill/>
          <a:ln/>
        </p:spPr>
        <p:txBody>
          <a:bodyPr wrap="none" lIns="25400" tIns="25400" rIns="25400" bIns="25400" rtlCol="0" anchor="ctr">
            <a:normAutofit/>
          </a:bodyPr>
          <a:lstStyle/>
          <a:p>
            <a:pPr algn="l" indent="0" marL="0">
              <a:lnSpc>
                <a:spcPct val="100000"/>
              </a:lnSpc>
              <a:buNone/>
            </a:pPr>
            <a:r>
              <a:rPr lang="en-US" sz="1125" b="1" dirty="0">
                <a:solidFill>
                  <a:srgbClr val="3730A3"/>
                </a:solidFill>
                <a:latin typeface="Arial" pitchFamily="34" charset="0"/>
                <a:ea typeface="Arial" pitchFamily="34" charset="-122"/>
                <a:cs typeface="Arial" pitchFamily="34" charset="-120"/>
              </a:rPr>
              <a:t>8 min</a:t>
            </a:r>
            <a:endParaRPr lang="en-US" sz="112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1908477"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M7 · BUSINESS CREDIT</a:t>
            </a:r>
            <a:endParaRPr lang="en-US" sz="975" dirty="0"/>
          </a:p>
        </p:txBody>
      </p:sp>
      <p:sp>
        <p:nvSpPr>
          <p:cNvPr id="8" name="Text 6"/>
          <p:cNvSpPr/>
          <p:nvPr/>
        </p:nvSpPr>
        <p:spPr>
          <a:xfrm>
            <a:off x="609600" y="989647"/>
            <a:ext cx="6215951" cy="514350"/>
          </a:xfrm>
          <a:prstGeom prst="rect">
            <a:avLst/>
          </a:prstGeom>
          <a:noFill/>
          <a:ln/>
        </p:spPr>
        <p:txBody>
          <a:bodyPr wrap="square" lIns="25400" tIns="25400" rIns="25400" bIns="25400" rtlCol="0" anchor="t">
            <a:normAutofit/>
          </a:bodyPr>
          <a:lstStyle/>
          <a:p>
            <a:pPr algn="l" indent="0" marL="0">
              <a:lnSpc>
                <a:spcPct val="125000"/>
              </a:lnSpc>
              <a:buNone/>
            </a:pPr>
            <a:r>
              <a:rPr lang="en-US" sz="3000" b="1" spc="-60" kern="0" dirty="0">
                <a:solidFill>
                  <a:srgbClr val="0B1220"/>
                </a:solidFill>
                <a:latin typeface="Arial" pitchFamily="34" charset="0"/>
                <a:ea typeface="Arial" pitchFamily="34" charset="-122"/>
                <a:cs typeface="Arial" pitchFamily="34" charset="-120"/>
              </a:rPr>
              <a:t>Credit, but for companies</a:t>
            </a:r>
            <a:endParaRPr lang="en-US" sz="3000" dirty="0"/>
          </a:p>
        </p:txBody>
      </p:sp>
      <p:sp>
        <p:nvSpPr>
          <p:cNvPr id="9" name="Text 7"/>
          <p:cNvSpPr/>
          <p:nvPr/>
        </p:nvSpPr>
        <p:spPr>
          <a:xfrm>
            <a:off x="609600" y="1618297"/>
            <a:ext cx="6931622"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5B6472"/>
                </a:solidFill>
                <a:latin typeface="Arial" pitchFamily="34" charset="0"/>
                <a:ea typeface="Arial" pitchFamily="34" charset="-122"/>
                <a:cs typeface="Arial" pitchFamily="34" charset="-120"/>
              </a:rPr>
              <a:t>Businesses have their own bureaus, scores, and a file separate from the owner's.</a:t>
            </a:r>
            <a:endParaRPr lang="en-US" sz="1500" dirty="0"/>
          </a:p>
        </p:txBody>
      </p:sp>
      <p:sp>
        <p:nvSpPr>
          <p:cNvPr id="10" name="Shape 8"/>
          <p:cNvSpPr/>
          <p:nvPr/>
        </p:nvSpPr>
        <p:spPr>
          <a:xfrm>
            <a:off x="609600" y="2607945"/>
            <a:ext cx="85725" cy="85725"/>
          </a:xfrm>
          <a:prstGeom prst="roundRect">
            <a:avLst>
              <a:gd name="adj" fmla="val 33333"/>
            </a:avLst>
          </a:prstGeom>
          <a:solidFill>
            <a:srgbClr val="4F46E5"/>
          </a:solidFill>
          <a:ln/>
        </p:spPr>
      </p:sp>
      <p:sp>
        <p:nvSpPr>
          <p:cNvPr id="11" name="Text 9"/>
          <p:cNvSpPr/>
          <p:nvPr/>
        </p:nvSpPr>
        <p:spPr>
          <a:xfrm>
            <a:off x="809625" y="2543175"/>
            <a:ext cx="8993711" cy="244792"/>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Three business bureaus: Equifax, Experian, Dun &amp; Bradstreet. Scores often run 0–100 (D&amp;B PAYDEX).</a:t>
            </a:r>
            <a:endParaRPr lang="en-US" sz="1350" dirty="0"/>
          </a:p>
        </p:txBody>
      </p:sp>
      <p:sp>
        <p:nvSpPr>
          <p:cNvPr id="12" name="Text 10"/>
          <p:cNvSpPr/>
          <p:nvPr/>
        </p:nvSpPr>
        <p:spPr>
          <a:xfrm>
            <a:off x="708025" y="2855595"/>
            <a:ext cx="8353901"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FICO's small-business SBSS runs 0–300; negative data can linger ~9 years, 9 months</a:t>
            </a:r>
            <a:endParaRPr lang="en-US" sz="1125" dirty="0"/>
          </a:p>
        </p:txBody>
      </p:sp>
      <p:sp>
        <p:nvSpPr>
          <p:cNvPr id="13" name="Shape 11"/>
          <p:cNvSpPr/>
          <p:nvPr/>
        </p:nvSpPr>
        <p:spPr>
          <a:xfrm>
            <a:off x="609600" y="3323749"/>
            <a:ext cx="85725" cy="85725"/>
          </a:xfrm>
          <a:prstGeom prst="roundRect">
            <a:avLst>
              <a:gd name="adj" fmla="val 33333"/>
            </a:avLst>
          </a:prstGeom>
          <a:solidFill>
            <a:srgbClr val="4F46E5"/>
          </a:solidFill>
          <a:ln/>
        </p:spPr>
      </p:sp>
      <p:sp>
        <p:nvSpPr>
          <p:cNvPr id="14" name="Text 12"/>
          <p:cNvSpPr/>
          <p:nvPr/>
        </p:nvSpPr>
        <p:spPr>
          <a:xfrm>
            <a:off x="809625" y="3229451"/>
            <a:ext cx="7898638" cy="303847"/>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A bad business score means suppliers demand pay-in-advance — or walk away entirely.</a:t>
            </a:r>
            <a:endParaRPr lang="en-US" sz="1350" dirty="0"/>
          </a:p>
        </p:txBody>
      </p:sp>
      <p:sp>
        <p:nvSpPr>
          <p:cNvPr id="15" name="Shape 13"/>
          <p:cNvSpPr/>
          <p:nvPr/>
        </p:nvSpPr>
        <p:spPr>
          <a:xfrm>
            <a:off x="609600" y="3741896"/>
            <a:ext cx="85725" cy="85725"/>
          </a:xfrm>
          <a:prstGeom prst="roundRect">
            <a:avLst>
              <a:gd name="adj" fmla="val 33333"/>
            </a:avLst>
          </a:prstGeom>
          <a:solidFill>
            <a:srgbClr val="4F46E5"/>
          </a:solidFill>
          <a:ln/>
        </p:spPr>
      </p:sp>
      <p:sp>
        <p:nvSpPr>
          <p:cNvPr id="16" name="Text 14"/>
          <p:cNvSpPr/>
          <p:nvPr/>
        </p:nvSpPr>
        <p:spPr>
          <a:xfrm>
            <a:off x="809625" y="3647599"/>
            <a:ext cx="9118044" cy="303848"/>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Start one cleanly: form an LLC, get an EIN, open business bank accounts, and use vendors that report.</a:t>
            </a:r>
            <a:endParaRPr lang="en-US" sz="1350" dirty="0"/>
          </a:p>
        </p:txBody>
      </p:sp>
      <p:sp>
        <p:nvSpPr>
          <p:cNvPr id="17" name="Text 15"/>
          <p:cNvSpPr/>
          <p:nvPr/>
        </p:nvSpPr>
        <p:spPr>
          <a:xfrm>
            <a:off x="10684511" y="6056471"/>
            <a:ext cx="97409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1 · Credit</a:t>
            </a:r>
            <a:endParaRPr lang="en-US" sz="97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09600"/>
            <a:ext cx="1207008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M7 · BOND RATINGS</a:t>
            </a:r>
            <a:endParaRPr lang="en-US" sz="975" dirty="0"/>
          </a:p>
        </p:txBody>
      </p:sp>
      <p:sp>
        <p:nvSpPr>
          <p:cNvPr id="8" name="Text 6"/>
          <p:cNvSpPr/>
          <p:nvPr/>
        </p:nvSpPr>
        <p:spPr>
          <a:xfrm>
            <a:off x="609600" y="915829"/>
            <a:ext cx="12070080"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60" kern="0" dirty="0">
                <a:solidFill>
                  <a:srgbClr val="0B1220"/>
                </a:solidFill>
                <a:latin typeface="Arial" pitchFamily="34" charset="0"/>
                <a:ea typeface="Arial" pitchFamily="34" charset="-122"/>
                <a:cs typeface="Arial" pitchFamily="34" charset="-120"/>
              </a:rPr>
              <a:t>Investment grade vs. junk</a:t>
            </a:r>
            <a:endParaRPr lang="en-US" sz="3000" dirty="0"/>
          </a:p>
        </p:txBody>
      </p:sp>
      <p:sp>
        <p:nvSpPr>
          <p:cNvPr id="9" name="Shape 7"/>
          <p:cNvSpPr/>
          <p:nvPr/>
        </p:nvSpPr>
        <p:spPr>
          <a:xfrm>
            <a:off x="609600" y="1525429"/>
            <a:ext cx="5381625" cy="3975259"/>
          </a:xfrm>
          <a:prstGeom prst="roundRect">
            <a:avLst>
              <a:gd name="adj" fmla="val 3834"/>
            </a:avLst>
          </a:prstGeom>
          <a:solidFill>
            <a:srgbClr val="EEF2FF"/>
          </a:solidFill>
          <a:ln/>
        </p:spPr>
      </p:sp>
      <p:sp>
        <p:nvSpPr>
          <p:cNvPr id="10" name="Text 8"/>
          <p:cNvSpPr/>
          <p:nvPr/>
        </p:nvSpPr>
        <p:spPr>
          <a:xfrm>
            <a:off x="800100" y="1715929"/>
            <a:ext cx="2097072"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b="1" spc="102" kern="0" dirty="0">
                <a:solidFill>
                  <a:srgbClr val="4F46E5"/>
                </a:solidFill>
                <a:latin typeface="Arial" pitchFamily="34" charset="0"/>
                <a:ea typeface="Arial" pitchFamily="34" charset="-122"/>
                <a:cs typeface="Arial" pitchFamily="34" charset="-120"/>
              </a:rPr>
              <a:t>INVESTMENT GRADE</a:t>
            </a:r>
            <a:endParaRPr lang="en-US" sz="1275" dirty="0"/>
          </a:p>
        </p:txBody>
      </p:sp>
      <p:sp>
        <p:nvSpPr>
          <p:cNvPr id="11" name="Text 9"/>
          <p:cNvSpPr/>
          <p:nvPr/>
        </p:nvSpPr>
        <p:spPr>
          <a:xfrm>
            <a:off x="4862989" y="1751330"/>
            <a:ext cx="1013936" cy="244792"/>
          </a:xfrm>
          <a:prstGeom prst="rect">
            <a:avLst/>
          </a:prstGeom>
          <a:noFill/>
          <a:ln/>
        </p:spPr>
        <p:txBody>
          <a:bodyPr wrap="square" lIns="25400" tIns="25400" rIns="25400" bIns="25400" rtlCol="0" anchor="t">
            <a:normAutofit/>
          </a:bodyPr>
          <a:lstStyle/>
          <a:p>
            <a:pPr algn="l" indent="0" marL="0">
              <a:lnSpc>
                <a:spcPct val="155000"/>
              </a:lnSpc>
              <a:buNone/>
            </a:pPr>
            <a:r>
              <a:rPr lang="en-US" sz="1050" dirty="0">
                <a:solidFill>
                  <a:srgbClr val="5B6472"/>
                </a:solidFill>
                <a:latin typeface="Arial" pitchFamily="34" charset="0"/>
                <a:ea typeface="Arial" pitchFamily="34" charset="-122"/>
                <a:cs typeface="Arial" pitchFamily="34" charset="-120"/>
              </a:rPr>
              <a:t>funds can hold</a:t>
            </a:r>
            <a:endParaRPr lang="en-US" sz="1050" dirty="0"/>
          </a:p>
        </p:txBody>
      </p:sp>
      <p:sp>
        <p:nvSpPr>
          <p:cNvPr id="12" name="Shape 10"/>
          <p:cNvSpPr/>
          <p:nvPr/>
        </p:nvSpPr>
        <p:spPr>
          <a:xfrm>
            <a:off x="800100" y="2071688"/>
            <a:ext cx="5000625" cy="422434"/>
          </a:xfrm>
          <a:prstGeom prst="roundRect">
            <a:avLst>
              <a:gd name="adj" fmla="val 18038"/>
            </a:avLst>
          </a:prstGeom>
          <a:solidFill>
            <a:srgbClr val="FFFFFF"/>
          </a:solidFill>
          <a:ln/>
        </p:spPr>
      </p:sp>
      <p:sp>
        <p:nvSpPr>
          <p:cNvPr id="13" name="Text 11"/>
          <p:cNvSpPr/>
          <p:nvPr/>
        </p:nvSpPr>
        <p:spPr>
          <a:xfrm>
            <a:off x="914400" y="2157413"/>
            <a:ext cx="1104900"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b="1" dirty="0">
                <a:solidFill>
                  <a:srgbClr val="0B1220"/>
                </a:solidFill>
                <a:latin typeface="Arial" pitchFamily="34" charset="0"/>
                <a:ea typeface="Arial" pitchFamily="34" charset="-122"/>
                <a:cs typeface="Arial" pitchFamily="34" charset="-120"/>
              </a:rPr>
              <a:t>AAA / Aaa</a:t>
            </a:r>
            <a:endParaRPr lang="en-US" sz="1275" dirty="0"/>
          </a:p>
        </p:txBody>
      </p:sp>
      <p:sp>
        <p:nvSpPr>
          <p:cNvPr id="14" name="Text 12"/>
          <p:cNvSpPr/>
          <p:nvPr/>
        </p:nvSpPr>
        <p:spPr>
          <a:xfrm>
            <a:off x="2057400" y="2177256"/>
            <a:ext cx="467201" cy="262572"/>
          </a:xfrm>
          <a:prstGeom prst="rect">
            <a:avLst/>
          </a:prstGeom>
          <a:noFill/>
          <a:ln/>
        </p:spPr>
        <p:txBody>
          <a:bodyPr wrap="square" lIns="25400" tIns="25400" rIns="25400" bIns="25400" rtlCol="0" anchor="t">
            <a:normAutofit/>
          </a:bodyPr>
          <a:lstStyle/>
          <a:p>
            <a:pPr algn="l" indent="0" marL="0">
              <a:lnSpc>
                <a:spcPct val="155044"/>
              </a:lnSpc>
              <a:buNone/>
            </a:pPr>
            <a:r>
              <a:rPr lang="en-US" sz="1140" dirty="0">
                <a:solidFill>
                  <a:srgbClr val="5B6472"/>
                </a:solidFill>
                <a:latin typeface="Arial" pitchFamily="34" charset="0"/>
                <a:ea typeface="Arial" pitchFamily="34" charset="-122"/>
                <a:cs typeface="Arial" pitchFamily="34" charset="-120"/>
              </a:rPr>
              <a:t>prime</a:t>
            </a:r>
            <a:endParaRPr lang="en-US" sz="1140" dirty="0"/>
          </a:p>
        </p:txBody>
      </p:sp>
      <p:sp>
        <p:nvSpPr>
          <p:cNvPr id="15" name="Shape 13"/>
          <p:cNvSpPr/>
          <p:nvPr/>
        </p:nvSpPr>
        <p:spPr>
          <a:xfrm>
            <a:off x="800100" y="2560796"/>
            <a:ext cx="5000625" cy="422434"/>
          </a:xfrm>
          <a:prstGeom prst="roundRect">
            <a:avLst>
              <a:gd name="adj" fmla="val 18038"/>
            </a:avLst>
          </a:prstGeom>
          <a:solidFill>
            <a:srgbClr val="FFFFFF"/>
          </a:solidFill>
          <a:ln/>
        </p:spPr>
      </p:sp>
      <p:sp>
        <p:nvSpPr>
          <p:cNvPr id="16" name="Text 14"/>
          <p:cNvSpPr/>
          <p:nvPr/>
        </p:nvSpPr>
        <p:spPr>
          <a:xfrm>
            <a:off x="914400" y="2646521"/>
            <a:ext cx="1104900"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b="1" dirty="0">
                <a:solidFill>
                  <a:srgbClr val="0B1220"/>
                </a:solidFill>
                <a:latin typeface="Arial" pitchFamily="34" charset="0"/>
                <a:ea typeface="Arial" pitchFamily="34" charset="-122"/>
                <a:cs typeface="Arial" pitchFamily="34" charset="-120"/>
              </a:rPr>
              <a:t>AA / Aa</a:t>
            </a:r>
            <a:endParaRPr lang="en-US" sz="1275" dirty="0"/>
          </a:p>
        </p:txBody>
      </p:sp>
      <p:sp>
        <p:nvSpPr>
          <p:cNvPr id="17" name="Text 15"/>
          <p:cNvSpPr/>
          <p:nvPr/>
        </p:nvSpPr>
        <p:spPr>
          <a:xfrm>
            <a:off x="2057400" y="2666365"/>
            <a:ext cx="809625" cy="262572"/>
          </a:xfrm>
          <a:prstGeom prst="rect">
            <a:avLst/>
          </a:prstGeom>
          <a:noFill/>
          <a:ln/>
        </p:spPr>
        <p:txBody>
          <a:bodyPr wrap="square" lIns="25400" tIns="25400" rIns="25400" bIns="25400" rtlCol="0" anchor="t">
            <a:normAutofit/>
          </a:bodyPr>
          <a:lstStyle/>
          <a:p>
            <a:pPr algn="l" indent="0" marL="0">
              <a:lnSpc>
                <a:spcPct val="155044"/>
              </a:lnSpc>
              <a:buNone/>
            </a:pPr>
            <a:r>
              <a:rPr lang="en-US" sz="1140" dirty="0">
                <a:solidFill>
                  <a:srgbClr val="5B6472"/>
                </a:solidFill>
                <a:latin typeface="Arial" pitchFamily="34" charset="0"/>
                <a:ea typeface="Arial" pitchFamily="34" charset="-122"/>
                <a:cs typeface="Arial" pitchFamily="34" charset="-120"/>
              </a:rPr>
              <a:t>high grade</a:t>
            </a:r>
            <a:endParaRPr lang="en-US" sz="1140" dirty="0"/>
          </a:p>
        </p:txBody>
      </p:sp>
      <p:sp>
        <p:nvSpPr>
          <p:cNvPr id="18" name="Shape 16"/>
          <p:cNvSpPr/>
          <p:nvPr/>
        </p:nvSpPr>
        <p:spPr>
          <a:xfrm>
            <a:off x="800100" y="3049905"/>
            <a:ext cx="5000625" cy="422434"/>
          </a:xfrm>
          <a:prstGeom prst="roundRect">
            <a:avLst>
              <a:gd name="adj" fmla="val 18038"/>
            </a:avLst>
          </a:prstGeom>
          <a:solidFill>
            <a:srgbClr val="FFFFFF"/>
          </a:solidFill>
          <a:ln/>
        </p:spPr>
      </p:sp>
      <p:sp>
        <p:nvSpPr>
          <p:cNvPr id="19" name="Text 17"/>
          <p:cNvSpPr/>
          <p:nvPr/>
        </p:nvSpPr>
        <p:spPr>
          <a:xfrm>
            <a:off x="914400" y="3135630"/>
            <a:ext cx="1104900"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b="1" dirty="0">
                <a:solidFill>
                  <a:srgbClr val="0B1220"/>
                </a:solidFill>
                <a:latin typeface="Arial" pitchFamily="34" charset="0"/>
                <a:ea typeface="Arial" pitchFamily="34" charset="-122"/>
                <a:cs typeface="Arial" pitchFamily="34" charset="-120"/>
              </a:rPr>
              <a:t>A / A</a:t>
            </a:r>
            <a:endParaRPr lang="en-US" sz="1275" dirty="0"/>
          </a:p>
        </p:txBody>
      </p:sp>
      <p:sp>
        <p:nvSpPr>
          <p:cNvPr id="20" name="Text 18"/>
          <p:cNvSpPr/>
          <p:nvPr/>
        </p:nvSpPr>
        <p:spPr>
          <a:xfrm>
            <a:off x="2057400" y="3155474"/>
            <a:ext cx="1086644" cy="262572"/>
          </a:xfrm>
          <a:prstGeom prst="rect">
            <a:avLst/>
          </a:prstGeom>
          <a:noFill/>
          <a:ln/>
        </p:spPr>
        <p:txBody>
          <a:bodyPr wrap="square" lIns="25400" tIns="25400" rIns="25400" bIns="25400" rtlCol="0" anchor="t">
            <a:normAutofit/>
          </a:bodyPr>
          <a:lstStyle/>
          <a:p>
            <a:pPr algn="l" indent="0" marL="0">
              <a:lnSpc>
                <a:spcPct val="155044"/>
              </a:lnSpc>
              <a:buNone/>
            </a:pPr>
            <a:r>
              <a:rPr lang="en-US" sz="1140" dirty="0">
                <a:solidFill>
                  <a:srgbClr val="5B6472"/>
                </a:solidFill>
                <a:latin typeface="Arial" pitchFamily="34" charset="0"/>
                <a:ea typeface="Arial" pitchFamily="34" charset="-122"/>
                <a:cs typeface="Arial" pitchFamily="34" charset="-120"/>
              </a:rPr>
              <a:t>upper-medium</a:t>
            </a:r>
            <a:endParaRPr lang="en-US" sz="1140" dirty="0"/>
          </a:p>
        </p:txBody>
      </p:sp>
      <p:sp>
        <p:nvSpPr>
          <p:cNvPr id="21" name="Shape 19"/>
          <p:cNvSpPr/>
          <p:nvPr/>
        </p:nvSpPr>
        <p:spPr>
          <a:xfrm>
            <a:off x="800100" y="3539014"/>
            <a:ext cx="5000625" cy="449104"/>
          </a:xfrm>
          <a:prstGeom prst="roundRect">
            <a:avLst>
              <a:gd name="adj" fmla="val 16967"/>
            </a:avLst>
          </a:prstGeom>
          <a:solidFill>
            <a:srgbClr val="FFFFFF"/>
          </a:solidFill>
          <a:ln w="13335">
            <a:solidFill>
              <a:srgbClr val="4F46E5"/>
            </a:solidFill>
            <a:prstDash val="solid"/>
          </a:ln>
        </p:spPr>
      </p:sp>
      <p:sp>
        <p:nvSpPr>
          <p:cNvPr id="22" name="Text 20"/>
          <p:cNvSpPr/>
          <p:nvPr/>
        </p:nvSpPr>
        <p:spPr>
          <a:xfrm>
            <a:off x="927735" y="3638074"/>
            <a:ext cx="1104900"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b="1" dirty="0">
                <a:solidFill>
                  <a:srgbClr val="0B1220"/>
                </a:solidFill>
                <a:latin typeface="Arial" pitchFamily="34" charset="0"/>
                <a:ea typeface="Arial" pitchFamily="34" charset="-122"/>
                <a:cs typeface="Arial" pitchFamily="34" charset="-120"/>
              </a:rPr>
              <a:t>BBB− / Baa3</a:t>
            </a:r>
            <a:endParaRPr lang="en-US" sz="1275" dirty="0"/>
          </a:p>
        </p:txBody>
      </p:sp>
      <p:sp>
        <p:nvSpPr>
          <p:cNvPr id="23" name="Text 21"/>
          <p:cNvSpPr/>
          <p:nvPr/>
        </p:nvSpPr>
        <p:spPr>
          <a:xfrm>
            <a:off x="2070735" y="3657917"/>
            <a:ext cx="1825704" cy="262572"/>
          </a:xfrm>
          <a:prstGeom prst="rect">
            <a:avLst/>
          </a:prstGeom>
          <a:noFill/>
          <a:ln/>
        </p:spPr>
        <p:txBody>
          <a:bodyPr wrap="square" lIns="25400" tIns="25400" rIns="25400" bIns="25400" rtlCol="0" anchor="t">
            <a:normAutofit/>
          </a:bodyPr>
          <a:lstStyle/>
          <a:p>
            <a:pPr algn="l" indent="0" marL="0">
              <a:lnSpc>
                <a:spcPct val="155044"/>
              </a:lnSpc>
              <a:buNone/>
            </a:pPr>
            <a:r>
              <a:rPr lang="en-US" sz="1140" b="1" dirty="0">
                <a:solidFill>
                  <a:srgbClr val="4F46E5"/>
                </a:solidFill>
                <a:latin typeface="Arial" pitchFamily="34" charset="0"/>
                <a:ea typeface="Arial" pitchFamily="34" charset="-122"/>
                <a:cs typeface="Arial" pitchFamily="34" charset="-120"/>
              </a:rPr>
              <a:t>lower-medium · IG floor</a:t>
            </a:r>
            <a:endParaRPr lang="en-US" sz="1140" dirty="0"/>
          </a:p>
        </p:txBody>
      </p:sp>
      <p:sp>
        <p:nvSpPr>
          <p:cNvPr id="24" name="Shape 22"/>
          <p:cNvSpPr/>
          <p:nvPr/>
        </p:nvSpPr>
        <p:spPr>
          <a:xfrm>
            <a:off x="6200775" y="1525429"/>
            <a:ext cx="5381625" cy="3975259"/>
          </a:xfrm>
          <a:prstGeom prst="roundRect">
            <a:avLst>
              <a:gd name="adj" fmla="val 3834"/>
            </a:avLst>
          </a:prstGeom>
          <a:solidFill>
            <a:srgbClr val="FDF1E7"/>
          </a:solidFill>
          <a:ln/>
        </p:spPr>
      </p:sp>
      <p:sp>
        <p:nvSpPr>
          <p:cNvPr id="25" name="Text 23"/>
          <p:cNvSpPr/>
          <p:nvPr/>
        </p:nvSpPr>
        <p:spPr>
          <a:xfrm>
            <a:off x="6391275" y="1715929"/>
            <a:ext cx="2025301"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b="1" spc="102" kern="0" dirty="0">
                <a:solidFill>
                  <a:srgbClr val="C2410C"/>
                </a:solidFill>
                <a:latin typeface="Arial" pitchFamily="34" charset="0"/>
                <a:ea typeface="Arial" pitchFamily="34" charset="-122"/>
                <a:cs typeface="Arial" pitchFamily="34" charset="-120"/>
              </a:rPr>
              <a:t>HIGH YIELD · 'JUNK'</a:t>
            </a:r>
            <a:endParaRPr lang="en-US" sz="1275" dirty="0"/>
          </a:p>
        </p:txBody>
      </p:sp>
      <p:sp>
        <p:nvSpPr>
          <p:cNvPr id="26" name="Text 24"/>
          <p:cNvSpPr/>
          <p:nvPr/>
        </p:nvSpPr>
        <p:spPr>
          <a:xfrm>
            <a:off x="9928225" y="1751330"/>
            <a:ext cx="1610043" cy="244792"/>
          </a:xfrm>
          <a:prstGeom prst="rect">
            <a:avLst/>
          </a:prstGeom>
          <a:noFill/>
          <a:ln/>
        </p:spPr>
        <p:txBody>
          <a:bodyPr wrap="square" lIns="25400" tIns="25400" rIns="25400" bIns="25400" rtlCol="0" anchor="t">
            <a:normAutofit/>
          </a:bodyPr>
          <a:lstStyle/>
          <a:p>
            <a:pPr algn="l" indent="0" marL="0">
              <a:lnSpc>
                <a:spcPct val="155000"/>
              </a:lnSpc>
              <a:buNone/>
            </a:pPr>
            <a:r>
              <a:rPr lang="en-US" sz="1050" dirty="0">
                <a:solidFill>
                  <a:srgbClr val="5B6472"/>
                </a:solidFill>
                <a:latin typeface="Arial" pitchFamily="34" charset="0"/>
                <a:ea typeface="Arial" pitchFamily="34" charset="-122"/>
                <a:cs typeface="Arial" pitchFamily="34" charset="-120"/>
              </a:rPr>
              <a:t>many funds must avoid</a:t>
            </a:r>
            <a:endParaRPr lang="en-US" sz="1050" dirty="0"/>
          </a:p>
        </p:txBody>
      </p:sp>
      <p:sp>
        <p:nvSpPr>
          <p:cNvPr id="27" name="Shape 25"/>
          <p:cNvSpPr/>
          <p:nvPr/>
        </p:nvSpPr>
        <p:spPr>
          <a:xfrm>
            <a:off x="6391275" y="2071688"/>
            <a:ext cx="5000625" cy="449104"/>
          </a:xfrm>
          <a:prstGeom prst="roundRect">
            <a:avLst>
              <a:gd name="adj" fmla="val 16967"/>
            </a:avLst>
          </a:prstGeom>
          <a:solidFill>
            <a:srgbClr val="FFFFFF"/>
          </a:solidFill>
          <a:ln w="13335">
            <a:solidFill>
              <a:srgbClr val="EA580C"/>
            </a:solidFill>
            <a:prstDash val="solid"/>
          </a:ln>
        </p:spPr>
      </p:sp>
      <p:sp>
        <p:nvSpPr>
          <p:cNvPr id="28" name="Text 26"/>
          <p:cNvSpPr/>
          <p:nvPr/>
        </p:nvSpPr>
        <p:spPr>
          <a:xfrm>
            <a:off x="6518910" y="2170747"/>
            <a:ext cx="1104900"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b="1" dirty="0">
                <a:solidFill>
                  <a:srgbClr val="0B1220"/>
                </a:solidFill>
                <a:latin typeface="Arial" pitchFamily="34" charset="0"/>
                <a:ea typeface="Arial" pitchFamily="34" charset="-122"/>
                <a:cs typeface="Arial" pitchFamily="34" charset="-120"/>
              </a:rPr>
              <a:t>BB+ / Ba1</a:t>
            </a:r>
            <a:endParaRPr lang="en-US" sz="1275" dirty="0"/>
          </a:p>
        </p:txBody>
      </p:sp>
      <p:sp>
        <p:nvSpPr>
          <p:cNvPr id="29" name="Text 27"/>
          <p:cNvSpPr/>
          <p:nvPr/>
        </p:nvSpPr>
        <p:spPr>
          <a:xfrm>
            <a:off x="7661910" y="2190591"/>
            <a:ext cx="1558703" cy="262572"/>
          </a:xfrm>
          <a:prstGeom prst="rect">
            <a:avLst/>
          </a:prstGeom>
          <a:noFill/>
          <a:ln/>
        </p:spPr>
        <p:txBody>
          <a:bodyPr wrap="square" lIns="25400" tIns="25400" rIns="25400" bIns="25400" rtlCol="0" anchor="t">
            <a:normAutofit/>
          </a:bodyPr>
          <a:lstStyle/>
          <a:p>
            <a:pPr algn="l" indent="0" marL="0">
              <a:lnSpc>
                <a:spcPct val="155044"/>
              </a:lnSpc>
              <a:buNone/>
            </a:pPr>
            <a:r>
              <a:rPr lang="en-US" sz="1140" b="1" dirty="0">
                <a:solidFill>
                  <a:srgbClr val="C2410C"/>
                </a:solidFill>
                <a:latin typeface="Arial" pitchFamily="34" charset="0"/>
                <a:ea typeface="Arial" pitchFamily="34" charset="-122"/>
                <a:cs typeface="Arial" pitchFamily="34" charset="-120"/>
              </a:rPr>
              <a:t>speculative · HY top</a:t>
            </a:r>
            <a:endParaRPr lang="en-US" sz="1140" dirty="0"/>
          </a:p>
        </p:txBody>
      </p:sp>
      <p:sp>
        <p:nvSpPr>
          <p:cNvPr id="30" name="Shape 28"/>
          <p:cNvSpPr/>
          <p:nvPr/>
        </p:nvSpPr>
        <p:spPr>
          <a:xfrm>
            <a:off x="6391275" y="2587466"/>
            <a:ext cx="5000625" cy="422434"/>
          </a:xfrm>
          <a:prstGeom prst="roundRect">
            <a:avLst>
              <a:gd name="adj" fmla="val 18038"/>
            </a:avLst>
          </a:prstGeom>
          <a:solidFill>
            <a:srgbClr val="FFFFFF"/>
          </a:solidFill>
          <a:ln/>
        </p:spPr>
      </p:sp>
      <p:sp>
        <p:nvSpPr>
          <p:cNvPr id="31" name="Text 29"/>
          <p:cNvSpPr/>
          <p:nvPr/>
        </p:nvSpPr>
        <p:spPr>
          <a:xfrm>
            <a:off x="6505575" y="2673191"/>
            <a:ext cx="1104900"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b="1" dirty="0">
                <a:solidFill>
                  <a:srgbClr val="0B1220"/>
                </a:solidFill>
                <a:latin typeface="Arial" pitchFamily="34" charset="0"/>
                <a:ea typeface="Arial" pitchFamily="34" charset="-122"/>
                <a:cs typeface="Arial" pitchFamily="34" charset="-120"/>
              </a:rPr>
              <a:t>B / B</a:t>
            </a:r>
            <a:endParaRPr lang="en-US" sz="1275" dirty="0"/>
          </a:p>
        </p:txBody>
      </p:sp>
      <p:sp>
        <p:nvSpPr>
          <p:cNvPr id="32" name="Text 30"/>
          <p:cNvSpPr/>
          <p:nvPr/>
        </p:nvSpPr>
        <p:spPr>
          <a:xfrm>
            <a:off x="7648575" y="2693035"/>
            <a:ext cx="1355788" cy="262572"/>
          </a:xfrm>
          <a:prstGeom prst="rect">
            <a:avLst/>
          </a:prstGeom>
          <a:noFill/>
          <a:ln/>
        </p:spPr>
        <p:txBody>
          <a:bodyPr wrap="square" lIns="25400" tIns="25400" rIns="25400" bIns="25400" rtlCol="0" anchor="t">
            <a:normAutofit/>
          </a:bodyPr>
          <a:lstStyle/>
          <a:p>
            <a:pPr algn="l" indent="0" marL="0">
              <a:lnSpc>
                <a:spcPct val="155044"/>
              </a:lnSpc>
              <a:buNone/>
            </a:pPr>
            <a:r>
              <a:rPr lang="en-US" sz="1140" dirty="0">
                <a:solidFill>
                  <a:srgbClr val="5B6472"/>
                </a:solidFill>
                <a:latin typeface="Arial" pitchFamily="34" charset="0"/>
                <a:ea typeface="Arial" pitchFamily="34" charset="-122"/>
                <a:cs typeface="Arial" pitchFamily="34" charset="-120"/>
              </a:rPr>
              <a:t>highly speculative</a:t>
            </a:r>
            <a:endParaRPr lang="en-US" sz="1140" dirty="0"/>
          </a:p>
        </p:txBody>
      </p:sp>
      <p:sp>
        <p:nvSpPr>
          <p:cNvPr id="33" name="Shape 31"/>
          <p:cNvSpPr/>
          <p:nvPr/>
        </p:nvSpPr>
        <p:spPr>
          <a:xfrm>
            <a:off x="6391275" y="3076575"/>
            <a:ext cx="5000625" cy="422434"/>
          </a:xfrm>
          <a:prstGeom prst="roundRect">
            <a:avLst>
              <a:gd name="adj" fmla="val 18038"/>
            </a:avLst>
          </a:prstGeom>
          <a:solidFill>
            <a:srgbClr val="FFFFFF"/>
          </a:solidFill>
          <a:ln/>
        </p:spPr>
      </p:sp>
      <p:sp>
        <p:nvSpPr>
          <p:cNvPr id="34" name="Text 32"/>
          <p:cNvSpPr/>
          <p:nvPr/>
        </p:nvSpPr>
        <p:spPr>
          <a:xfrm>
            <a:off x="6505575" y="3162300"/>
            <a:ext cx="1104900"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b="1" dirty="0">
                <a:solidFill>
                  <a:srgbClr val="0B1220"/>
                </a:solidFill>
                <a:latin typeface="Arial" pitchFamily="34" charset="0"/>
                <a:ea typeface="Arial" pitchFamily="34" charset="-122"/>
                <a:cs typeface="Arial" pitchFamily="34" charset="-120"/>
              </a:rPr>
              <a:t>CCC / Caa</a:t>
            </a:r>
            <a:endParaRPr lang="en-US" sz="1275" dirty="0"/>
          </a:p>
        </p:txBody>
      </p:sp>
      <p:sp>
        <p:nvSpPr>
          <p:cNvPr id="35" name="Text 33"/>
          <p:cNvSpPr/>
          <p:nvPr/>
        </p:nvSpPr>
        <p:spPr>
          <a:xfrm>
            <a:off x="7648575" y="3182144"/>
            <a:ext cx="1104582" cy="262572"/>
          </a:xfrm>
          <a:prstGeom prst="rect">
            <a:avLst/>
          </a:prstGeom>
          <a:noFill/>
          <a:ln/>
        </p:spPr>
        <p:txBody>
          <a:bodyPr wrap="square" lIns="25400" tIns="25400" rIns="25400" bIns="25400" rtlCol="0" anchor="t">
            <a:normAutofit/>
          </a:bodyPr>
          <a:lstStyle/>
          <a:p>
            <a:pPr algn="l" indent="0" marL="0">
              <a:lnSpc>
                <a:spcPct val="155044"/>
              </a:lnSpc>
              <a:buNone/>
            </a:pPr>
            <a:r>
              <a:rPr lang="en-US" sz="1140" dirty="0">
                <a:solidFill>
                  <a:srgbClr val="5B6472"/>
                </a:solidFill>
                <a:latin typeface="Arial" pitchFamily="34" charset="0"/>
                <a:ea typeface="Arial" pitchFamily="34" charset="-122"/>
                <a:cs typeface="Arial" pitchFamily="34" charset="-120"/>
              </a:rPr>
              <a:t>substantial risk</a:t>
            </a:r>
            <a:endParaRPr lang="en-US" sz="1140" dirty="0"/>
          </a:p>
        </p:txBody>
      </p:sp>
      <p:sp>
        <p:nvSpPr>
          <p:cNvPr id="36" name="Shape 34"/>
          <p:cNvSpPr/>
          <p:nvPr/>
        </p:nvSpPr>
        <p:spPr>
          <a:xfrm>
            <a:off x="6391275" y="3565684"/>
            <a:ext cx="5000625" cy="422434"/>
          </a:xfrm>
          <a:prstGeom prst="roundRect">
            <a:avLst>
              <a:gd name="adj" fmla="val 18038"/>
            </a:avLst>
          </a:prstGeom>
          <a:solidFill>
            <a:srgbClr val="FFFFFF"/>
          </a:solidFill>
          <a:ln/>
        </p:spPr>
      </p:sp>
      <p:sp>
        <p:nvSpPr>
          <p:cNvPr id="37" name="Text 35"/>
          <p:cNvSpPr/>
          <p:nvPr/>
        </p:nvSpPr>
        <p:spPr>
          <a:xfrm>
            <a:off x="6505575" y="3651409"/>
            <a:ext cx="1104900"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b="1" dirty="0">
                <a:solidFill>
                  <a:srgbClr val="0B1220"/>
                </a:solidFill>
                <a:latin typeface="Arial" pitchFamily="34" charset="0"/>
                <a:ea typeface="Arial" pitchFamily="34" charset="-122"/>
                <a:cs typeface="Arial" pitchFamily="34" charset="-120"/>
              </a:rPr>
              <a:t>CC–C / Ca</a:t>
            </a:r>
            <a:endParaRPr lang="en-US" sz="1275" dirty="0"/>
          </a:p>
        </p:txBody>
      </p:sp>
      <p:sp>
        <p:nvSpPr>
          <p:cNvPr id="38" name="Text 36"/>
          <p:cNvSpPr/>
          <p:nvPr/>
        </p:nvSpPr>
        <p:spPr>
          <a:xfrm>
            <a:off x="7648575" y="3671253"/>
            <a:ext cx="922020" cy="262572"/>
          </a:xfrm>
          <a:prstGeom prst="rect">
            <a:avLst/>
          </a:prstGeom>
          <a:noFill/>
          <a:ln/>
        </p:spPr>
        <p:txBody>
          <a:bodyPr wrap="square" lIns="25400" tIns="25400" rIns="25400" bIns="25400" rtlCol="0" anchor="t">
            <a:normAutofit/>
          </a:bodyPr>
          <a:lstStyle/>
          <a:p>
            <a:pPr algn="l" indent="0" marL="0">
              <a:lnSpc>
                <a:spcPct val="155044"/>
              </a:lnSpc>
              <a:buNone/>
            </a:pPr>
            <a:r>
              <a:rPr lang="en-US" sz="1140" dirty="0">
                <a:solidFill>
                  <a:srgbClr val="5B6472"/>
                </a:solidFill>
                <a:latin typeface="Arial" pitchFamily="34" charset="0"/>
                <a:ea typeface="Arial" pitchFamily="34" charset="-122"/>
                <a:cs typeface="Arial" pitchFamily="34" charset="-120"/>
              </a:rPr>
              <a:t>extreme risk</a:t>
            </a:r>
            <a:endParaRPr lang="en-US" sz="1140" dirty="0"/>
          </a:p>
        </p:txBody>
      </p:sp>
      <p:sp>
        <p:nvSpPr>
          <p:cNvPr id="39" name="Shape 37"/>
          <p:cNvSpPr/>
          <p:nvPr/>
        </p:nvSpPr>
        <p:spPr>
          <a:xfrm>
            <a:off x="6391275" y="4054793"/>
            <a:ext cx="5000625" cy="422434"/>
          </a:xfrm>
          <a:prstGeom prst="roundRect">
            <a:avLst>
              <a:gd name="adj" fmla="val 18038"/>
            </a:avLst>
          </a:prstGeom>
          <a:solidFill>
            <a:srgbClr val="FFFFFF"/>
          </a:solidFill>
          <a:ln/>
        </p:spPr>
      </p:sp>
      <p:sp>
        <p:nvSpPr>
          <p:cNvPr id="40" name="Text 38"/>
          <p:cNvSpPr/>
          <p:nvPr/>
        </p:nvSpPr>
        <p:spPr>
          <a:xfrm>
            <a:off x="6505575" y="4140518"/>
            <a:ext cx="1104900"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b="1" dirty="0">
                <a:solidFill>
                  <a:srgbClr val="EF4444"/>
                </a:solidFill>
                <a:latin typeface="Arial" pitchFamily="34" charset="0"/>
                <a:ea typeface="Arial" pitchFamily="34" charset="-122"/>
                <a:cs typeface="Arial" pitchFamily="34" charset="-120"/>
              </a:rPr>
              <a:t>D</a:t>
            </a:r>
            <a:endParaRPr lang="en-US" sz="1275" dirty="0"/>
          </a:p>
        </p:txBody>
      </p:sp>
      <p:sp>
        <p:nvSpPr>
          <p:cNvPr id="41" name="Text 39"/>
          <p:cNvSpPr/>
          <p:nvPr/>
        </p:nvSpPr>
        <p:spPr>
          <a:xfrm>
            <a:off x="7648575" y="4160361"/>
            <a:ext cx="713422" cy="262572"/>
          </a:xfrm>
          <a:prstGeom prst="rect">
            <a:avLst/>
          </a:prstGeom>
          <a:noFill/>
          <a:ln/>
        </p:spPr>
        <p:txBody>
          <a:bodyPr wrap="square" lIns="25400" tIns="25400" rIns="25400" bIns="25400" rtlCol="0" anchor="t">
            <a:normAutofit/>
          </a:bodyPr>
          <a:lstStyle/>
          <a:p>
            <a:pPr algn="l" indent="0" marL="0">
              <a:lnSpc>
                <a:spcPct val="155044"/>
              </a:lnSpc>
              <a:buNone/>
            </a:pPr>
            <a:r>
              <a:rPr lang="en-US" sz="1140" dirty="0">
                <a:solidFill>
                  <a:srgbClr val="5B6472"/>
                </a:solidFill>
                <a:latin typeface="Arial" pitchFamily="34" charset="0"/>
                <a:ea typeface="Arial" pitchFamily="34" charset="-122"/>
                <a:cs typeface="Arial" pitchFamily="34" charset="-120"/>
              </a:rPr>
              <a:t>in default</a:t>
            </a:r>
            <a:endParaRPr lang="en-US" sz="1140" dirty="0"/>
          </a:p>
        </p:txBody>
      </p:sp>
      <p:sp>
        <p:nvSpPr>
          <p:cNvPr id="42" name="Text 40"/>
          <p:cNvSpPr/>
          <p:nvPr/>
        </p:nvSpPr>
        <p:spPr>
          <a:xfrm>
            <a:off x="609600" y="5653088"/>
            <a:ext cx="12070080"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dirty="0">
                <a:solidFill>
                  <a:srgbClr val="5B6472"/>
                </a:solidFill>
                <a:latin typeface="Arial" pitchFamily="34" charset="0"/>
                <a:ea typeface="Arial" pitchFamily="34" charset="-122"/>
                <a:cs typeface="Arial" pitchFamily="34" charset="-120"/>
              </a:rPr>
              <a:t>The cliff: one notch — </a:t>
            </a:r>
            <a:pPr algn="l" indent="0" marL="0">
              <a:lnSpc>
                <a:spcPct val="155000"/>
              </a:lnSpc>
              <a:buNone/>
            </a:pPr>
            <a:r>
              <a:rPr lang="en-US" sz="1275" b="1" dirty="0">
                <a:solidFill>
                  <a:srgbClr val="0B1220"/>
                </a:solidFill>
                <a:latin typeface="Arial" pitchFamily="34" charset="0"/>
                <a:ea typeface="Arial" pitchFamily="34" charset="-122"/>
                <a:cs typeface="Arial" pitchFamily="34" charset="-120"/>
              </a:rPr>
              <a:t>BBB− / Baa3 → BB+ / Ba1 </a:t>
            </a:r>
            <a:pPr algn="l" indent="0" marL="0">
              <a:lnSpc>
                <a:spcPct val="155000"/>
              </a:lnSpc>
              <a:buNone/>
            </a:pPr>
            <a:r>
              <a:rPr lang="en-US" sz="1275" dirty="0">
                <a:solidFill>
                  <a:srgbClr val="5B6472"/>
                </a:solidFill>
                <a:latin typeface="Arial" pitchFamily="34" charset="0"/>
                <a:ea typeface="Arial" pitchFamily="34" charset="-122"/>
                <a:cs typeface="Arial" pitchFamily="34" charset="-120"/>
              </a:rPr>
              <a:t>— flips a bond to junk and can force funds to sell.</a:t>
            </a:r>
            <a:endParaRPr lang="en-US" sz="1275" dirty="0"/>
          </a:p>
        </p:txBody>
      </p:sp>
      <p:sp>
        <p:nvSpPr>
          <p:cNvPr id="43" name="Text 41"/>
          <p:cNvSpPr/>
          <p:nvPr/>
        </p:nvSpPr>
        <p:spPr>
          <a:xfrm>
            <a:off x="10684511" y="6056471"/>
            <a:ext cx="97409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1 · Credit</a:t>
            </a:r>
            <a:endParaRPr lang="en-US" sz="975"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09600"/>
            <a:ext cx="1207008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M7 · DEFAULT RISK</a:t>
            </a:r>
            <a:endParaRPr lang="en-US" sz="975" dirty="0"/>
          </a:p>
        </p:txBody>
      </p:sp>
      <p:sp>
        <p:nvSpPr>
          <p:cNvPr id="8" name="Text 6"/>
          <p:cNvSpPr/>
          <p:nvPr/>
        </p:nvSpPr>
        <p:spPr>
          <a:xfrm>
            <a:off x="609600" y="915829"/>
            <a:ext cx="12070080"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60" kern="0" dirty="0">
                <a:solidFill>
                  <a:srgbClr val="0B1220"/>
                </a:solidFill>
                <a:latin typeface="Arial" pitchFamily="34" charset="0"/>
                <a:ea typeface="Arial" pitchFamily="34" charset="-122"/>
                <a:cs typeface="Arial" pitchFamily="34" charset="-120"/>
              </a:rPr>
              <a:t>What a rating actually predicts</a:t>
            </a:r>
            <a:endParaRPr lang="en-US" sz="3000" dirty="0"/>
          </a:p>
        </p:txBody>
      </p:sp>
      <p:sp>
        <p:nvSpPr>
          <p:cNvPr id="9" name="Text 7"/>
          <p:cNvSpPr/>
          <p:nvPr/>
        </p:nvSpPr>
        <p:spPr>
          <a:xfrm>
            <a:off x="800100" y="1677829"/>
            <a:ext cx="2548985" cy="274320"/>
          </a:xfrm>
          <a:prstGeom prst="rect">
            <a:avLst/>
          </a:prstGeom>
          <a:noFill/>
          <a:ln/>
        </p:spPr>
        <p:txBody>
          <a:bodyPr wrap="square" lIns="25400" tIns="25400" rIns="25400" bIns="25400" rtlCol="0" anchor="ctr">
            <a:normAutofit/>
          </a:bodyPr>
          <a:lstStyle/>
          <a:p>
            <a:pPr algn="l" indent="0" marL="0">
              <a:lnSpc>
                <a:spcPct val="155000"/>
              </a:lnSpc>
              <a:buNone/>
            </a:pPr>
            <a:r>
              <a:rPr lang="en-US" sz="1200" b="1" dirty="0">
                <a:solidFill>
                  <a:srgbClr val="5B6472"/>
                </a:solidFill>
                <a:latin typeface="Arial" pitchFamily="34" charset="0"/>
                <a:ea typeface="Arial" pitchFamily="34" charset="-122"/>
                <a:cs typeface="Arial" pitchFamily="34" charset="-120"/>
              </a:rPr>
              <a:t>Rating</a:t>
            </a:r>
            <a:endParaRPr lang="en-US" sz="1200" dirty="0"/>
          </a:p>
        </p:txBody>
      </p:sp>
      <p:sp>
        <p:nvSpPr>
          <p:cNvPr id="10" name="Text 8"/>
          <p:cNvSpPr/>
          <p:nvPr/>
        </p:nvSpPr>
        <p:spPr>
          <a:xfrm>
            <a:off x="3552825" y="1677829"/>
            <a:ext cx="1680686" cy="274320"/>
          </a:xfrm>
          <a:prstGeom prst="rect">
            <a:avLst/>
          </a:prstGeom>
          <a:noFill/>
          <a:ln/>
        </p:spPr>
        <p:txBody>
          <a:bodyPr wrap="square" lIns="25400" tIns="25400" rIns="25400" bIns="25400" rtlCol="0" anchor="ctr">
            <a:normAutofit/>
          </a:bodyPr>
          <a:lstStyle/>
          <a:p>
            <a:pPr algn="ctr" indent="0" marL="0">
              <a:lnSpc>
                <a:spcPct val="155000"/>
              </a:lnSpc>
              <a:buNone/>
            </a:pPr>
            <a:r>
              <a:rPr lang="en-US" sz="1200" b="1" dirty="0">
                <a:solidFill>
                  <a:srgbClr val="5B6472"/>
                </a:solidFill>
                <a:latin typeface="Arial" pitchFamily="34" charset="0"/>
                <a:ea typeface="Arial" pitchFamily="34" charset="-122"/>
                <a:cs typeface="Arial" pitchFamily="34" charset="-120"/>
              </a:rPr>
              <a:t>1-year</a:t>
            </a:r>
            <a:endParaRPr lang="en-US" sz="1200" dirty="0"/>
          </a:p>
        </p:txBody>
      </p:sp>
      <p:sp>
        <p:nvSpPr>
          <p:cNvPr id="11" name="Text 9"/>
          <p:cNvSpPr/>
          <p:nvPr/>
        </p:nvSpPr>
        <p:spPr>
          <a:xfrm>
            <a:off x="5481161" y="1677829"/>
            <a:ext cx="1680845" cy="274320"/>
          </a:xfrm>
          <a:prstGeom prst="rect">
            <a:avLst/>
          </a:prstGeom>
          <a:noFill/>
          <a:ln/>
        </p:spPr>
        <p:txBody>
          <a:bodyPr wrap="square" lIns="25400" tIns="25400" rIns="25400" bIns="25400" rtlCol="0" anchor="ctr">
            <a:normAutofit/>
          </a:bodyPr>
          <a:lstStyle/>
          <a:p>
            <a:pPr algn="ctr" indent="0" marL="0">
              <a:lnSpc>
                <a:spcPct val="155000"/>
              </a:lnSpc>
              <a:buNone/>
            </a:pPr>
            <a:r>
              <a:rPr lang="en-US" sz="1200" b="1" dirty="0">
                <a:solidFill>
                  <a:srgbClr val="5B6472"/>
                </a:solidFill>
                <a:latin typeface="Arial" pitchFamily="34" charset="0"/>
                <a:ea typeface="Arial" pitchFamily="34" charset="-122"/>
                <a:cs typeface="Arial" pitchFamily="34" charset="-120"/>
              </a:rPr>
              <a:t>5-year</a:t>
            </a:r>
            <a:endParaRPr lang="en-US" sz="1200" dirty="0"/>
          </a:p>
        </p:txBody>
      </p:sp>
      <p:sp>
        <p:nvSpPr>
          <p:cNvPr id="12" name="Text 10"/>
          <p:cNvSpPr/>
          <p:nvPr/>
        </p:nvSpPr>
        <p:spPr>
          <a:xfrm>
            <a:off x="7384594" y="1677829"/>
            <a:ext cx="4070469" cy="274320"/>
          </a:xfrm>
          <a:prstGeom prst="rect">
            <a:avLst/>
          </a:prstGeom>
          <a:noFill/>
          <a:ln/>
        </p:spPr>
        <p:txBody>
          <a:bodyPr wrap="square" lIns="25400" tIns="25400" rIns="25400" bIns="25400" rtlCol="0" anchor="ctr">
            <a:normAutofit/>
          </a:bodyPr>
          <a:lstStyle/>
          <a:p>
            <a:pPr algn="ctr" indent="0" marL="0">
              <a:lnSpc>
                <a:spcPct val="155000"/>
              </a:lnSpc>
              <a:buNone/>
            </a:pPr>
            <a:r>
              <a:rPr lang="en-US" sz="1200" b="1" dirty="0">
                <a:solidFill>
                  <a:srgbClr val="5B6472"/>
                </a:solidFill>
                <a:latin typeface="Arial" pitchFamily="34" charset="0"/>
                <a:ea typeface="Arial" pitchFamily="34" charset="-122"/>
                <a:cs typeface="Arial" pitchFamily="34" charset="-120"/>
              </a:rPr>
              <a:t>10-year default rate</a:t>
            </a:r>
            <a:endParaRPr lang="en-US" sz="1200" dirty="0"/>
          </a:p>
        </p:txBody>
      </p:sp>
      <p:sp>
        <p:nvSpPr>
          <p:cNvPr id="13" name="Shape 11"/>
          <p:cNvSpPr/>
          <p:nvPr/>
        </p:nvSpPr>
        <p:spPr>
          <a:xfrm>
            <a:off x="666750" y="2047399"/>
            <a:ext cx="2733675" cy="475298"/>
          </a:xfrm>
          <a:prstGeom prst="roundRect">
            <a:avLst>
              <a:gd name="adj" fmla="val 16032"/>
            </a:avLst>
          </a:prstGeom>
          <a:solidFill>
            <a:srgbClr val="F6F7FB"/>
          </a:solidFill>
          <a:ln/>
        </p:spPr>
      </p:sp>
      <p:sp>
        <p:nvSpPr>
          <p:cNvPr id="14" name="Text 12"/>
          <p:cNvSpPr/>
          <p:nvPr/>
        </p:nvSpPr>
        <p:spPr>
          <a:xfrm>
            <a:off x="800100" y="2152174"/>
            <a:ext cx="2548985" cy="303848"/>
          </a:xfrm>
          <a:prstGeom prst="rect">
            <a:avLst/>
          </a:prstGeom>
          <a:noFill/>
          <a:ln/>
        </p:spPr>
        <p:txBody>
          <a:bodyPr wrap="square" lIns="25400" tIns="25400" rIns="25400" bIns="25400" rtlCol="0" anchor="ctr">
            <a:normAutofit/>
          </a:bodyPr>
          <a:lstStyle/>
          <a:p>
            <a:pPr algn="l" indent="0" marL="0">
              <a:lnSpc>
                <a:spcPct val="155000"/>
              </a:lnSpc>
              <a:buNone/>
            </a:pPr>
            <a:r>
              <a:rPr lang="en-US" sz="1350" b="1" dirty="0">
                <a:solidFill>
                  <a:srgbClr val="0B1220"/>
                </a:solidFill>
                <a:latin typeface="Arial" pitchFamily="34" charset="0"/>
                <a:ea typeface="Arial" pitchFamily="34" charset="-122"/>
                <a:cs typeface="Arial" pitchFamily="34" charset="-120"/>
              </a:rPr>
              <a:t>AAA</a:t>
            </a:r>
            <a:endParaRPr lang="en-US" sz="1350" dirty="0"/>
          </a:p>
        </p:txBody>
      </p:sp>
      <p:sp>
        <p:nvSpPr>
          <p:cNvPr id="15" name="Shape 13"/>
          <p:cNvSpPr/>
          <p:nvPr/>
        </p:nvSpPr>
        <p:spPr>
          <a:xfrm>
            <a:off x="3457575" y="2047399"/>
            <a:ext cx="1871186" cy="475298"/>
          </a:xfrm>
          <a:prstGeom prst="roundRect">
            <a:avLst>
              <a:gd name="adj" fmla="val 16032"/>
            </a:avLst>
          </a:prstGeom>
          <a:solidFill>
            <a:srgbClr val="ECFDF5"/>
          </a:solidFill>
          <a:ln/>
        </p:spPr>
      </p:sp>
      <p:sp>
        <p:nvSpPr>
          <p:cNvPr id="16" name="Text 14"/>
          <p:cNvSpPr/>
          <p:nvPr/>
        </p:nvSpPr>
        <p:spPr>
          <a:xfrm>
            <a:off x="3429000" y="2056924"/>
            <a:ext cx="1928336" cy="494348"/>
          </a:xfrm>
          <a:prstGeom prst="rect">
            <a:avLst/>
          </a:prstGeom>
          <a:noFill/>
          <a:ln/>
        </p:spPr>
        <p:txBody>
          <a:bodyPr wrap="square" lIns="25400" tIns="25400" rIns="25400" bIns="25400" rtlCol="0" anchor="ctr">
            <a:normAutofit/>
          </a:bodyPr>
          <a:lstStyle/>
          <a:p>
            <a:pPr algn="ctr" indent="0" marL="0">
              <a:lnSpc>
                <a:spcPct val="155000"/>
              </a:lnSpc>
              <a:buNone/>
            </a:pPr>
            <a:r>
              <a:rPr lang="en-US" sz="1275" b="1" dirty="0">
                <a:solidFill>
                  <a:srgbClr val="065F46"/>
                </a:solidFill>
                <a:latin typeface="Arial" pitchFamily="34" charset="0"/>
                <a:ea typeface="Arial" pitchFamily="34" charset="-122"/>
                <a:cs typeface="Arial" pitchFamily="34" charset="-120"/>
              </a:rPr>
              <a:t>0.00%</a:t>
            </a:r>
            <a:endParaRPr lang="en-US" sz="1275" dirty="0"/>
          </a:p>
        </p:txBody>
      </p:sp>
      <p:sp>
        <p:nvSpPr>
          <p:cNvPr id="17" name="Shape 15"/>
          <p:cNvSpPr/>
          <p:nvPr/>
        </p:nvSpPr>
        <p:spPr>
          <a:xfrm>
            <a:off x="5385911" y="2047399"/>
            <a:ext cx="1871345" cy="475298"/>
          </a:xfrm>
          <a:prstGeom prst="roundRect">
            <a:avLst>
              <a:gd name="adj" fmla="val 16032"/>
            </a:avLst>
          </a:prstGeom>
          <a:solidFill>
            <a:srgbClr val="D1FAE5"/>
          </a:solidFill>
          <a:ln/>
        </p:spPr>
      </p:sp>
      <p:sp>
        <p:nvSpPr>
          <p:cNvPr id="18" name="Text 16"/>
          <p:cNvSpPr/>
          <p:nvPr/>
        </p:nvSpPr>
        <p:spPr>
          <a:xfrm>
            <a:off x="5357336" y="2056924"/>
            <a:ext cx="1928495" cy="494348"/>
          </a:xfrm>
          <a:prstGeom prst="rect">
            <a:avLst/>
          </a:prstGeom>
          <a:noFill/>
          <a:ln/>
        </p:spPr>
        <p:txBody>
          <a:bodyPr wrap="square" lIns="25400" tIns="25400" rIns="25400" bIns="25400" rtlCol="0" anchor="ctr">
            <a:normAutofit/>
          </a:bodyPr>
          <a:lstStyle/>
          <a:p>
            <a:pPr algn="ctr" indent="0" marL="0">
              <a:lnSpc>
                <a:spcPct val="155000"/>
              </a:lnSpc>
              <a:buNone/>
            </a:pPr>
            <a:r>
              <a:rPr lang="en-US" sz="1275" b="1" dirty="0">
                <a:solidFill>
                  <a:srgbClr val="065F46"/>
                </a:solidFill>
                <a:latin typeface="Arial" pitchFamily="34" charset="0"/>
                <a:ea typeface="Arial" pitchFamily="34" charset="-122"/>
                <a:cs typeface="Arial" pitchFamily="34" charset="-120"/>
              </a:rPr>
              <a:t>0.35%</a:t>
            </a:r>
            <a:endParaRPr lang="en-US" sz="1275" dirty="0"/>
          </a:p>
        </p:txBody>
      </p:sp>
      <p:sp>
        <p:nvSpPr>
          <p:cNvPr id="19" name="Shape 17"/>
          <p:cNvSpPr/>
          <p:nvPr/>
        </p:nvSpPr>
        <p:spPr>
          <a:xfrm>
            <a:off x="7314406" y="2047399"/>
            <a:ext cx="4210844" cy="475298"/>
          </a:xfrm>
          <a:prstGeom prst="roundRect">
            <a:avLst>
              <a:gd name="adj" fmla="val 16032"/>
            </a:avLst>
          </a:prstGeom>
          <a:solidFill>
            <a:srgbClr val="D1FAE5"/>
          </a:solidFill>
          <a:ln/>
        </p:spPr>
      </p:sp>
      <p:sp>
        <p:nvSpPr>
          <p:cNvPr id="20" name="Text 18"/>
          <p:cNvSpPr/>
          <p:nvPr/>
        </p:nvSpPr>
        <p:spPr>
          <a:xfrm>
            <a:off x="7260769" y="2056924"/>
            <a:ext cx="4318119" cy="494348"/>
          </a:xfrm>
          <a:prstGeom prst="rect">
            <a:avLst/>
          </a:prstGeom>
          <a:noFill/>
          <a:ln/>
        </p:spPr>
        <p:txBody>
          <a:bodyPr wrap="square" lIns="25400" tIns="25400" rIns="25400" bIns="25400" rtlCol="0" anchor="ctr">
            <a:normAutofit/>
          </a:bodyPr>
          <a:lstStyle/>
          <a:p>
            <a:pPr algn="ctr" indent="0" marL="0">
              <a:lnSpc>
                <a:spcPct val="155000"/>
              </a:lnSpc>
              <a:buNone/>
            </a:pPr>
            <a:r>
              <a:rPr lang="en-US" sz="1275" b="1" dirty="0">
                <a:solidFill>
                  <a:srgbClr val="065F46"/>
                </a:solidFill>
                <a:latin typeface="Arial" pitchFamily="34" charset="0"/>
                <a:ea typeface="Arial" pitchFamily="34" charset="-122"/>
                <a:cs typeface="Arial" pitchFamily="34" charset="-120"/>
              </a:rPr>
              <a:t>0.76%</a:t>
            </a:r>
            <a:endParaRPr lang="en-US" sz="1275" dirty="0"/>
          </a:p>
        </p:txBody>
      </p:sp>
      <p:sp>
        <p:nvSpPr>
          <p:cNvPr id="21" name="Shape 19"/>
          <p:cNvSpPr/>
          <p:nvPr/>
        </p:nvSpPr>
        <p:spPr>
          <a:xfrm>
            <a:off x="666750" y="2579846"/>
            <a:ext cx="2733675" cy="475297"/>
          </a:xfrm>
          <a:prstGeom prst="roundRect">
            <a:avLst>
              <a:gd name="adj" fmla="val 16032"/>
            </a:avLst>
          </a:prstGeom>
          <a:solidFill>
            <a:srgbClr val="F6F7FB"/>
          </a:solidFill>
          <a:ln/>
        </p:spPr>
      </p:sp>
      <p:sp>
        <p:nvSpPr>
          <p:cNvPr id="22" name="Text 20"/>
          <p:cNvSpPr/>
          <p:nvPr/>
        </p:nvSpPr>
        <p:spPr>
          <a:xfrm>
            <a:off x="800100" y="2684621"/>
            <a:ext cx="2548985" cy="303847"/>
          </a:xfrm>
          <a:prstGeom prst="rect">
            <a:avLst/>
          </a:prstGeom>
          <a:noFill/>
          <a:ln/>
        </p:spPr>
        <p:txBody>
          <a:bodyPr wrap="square" lIns="25400" tIns="25400" rIns="25400" bIns="25400" rtlCol="0" anchor="ctr">
            <a:normAutofit/>
          </a:bodyPr>
          <a:lstStyle/>
          <a:p>
            <a:pPr algn="l" indent="0" marL="0">
              <a:lnSpc>
                <a:spcPct val="155000"/>
              </a:lnSpc>
              <a:buNone/>
            </a:pPr>
            <a:r>
              <a:rPr lang="en-US" sz="1350" b="1" dirty="0">
                <a:solidFill>
                  <a:srgbClr val="0B1220"/>
                </a:solidFill>
                <a:latin typeface="Arial" pitchFamily="34" charset="0"/>
                <a:ea typeface="Arial" pitchFamily="34" charset="-122"/>
                <a:cs typeface="Arial" pitchFamily="34" charset="-120"/>
              </a:rPr>
              <a:t>AA</a:t>
            </a:r>
            <a:endParaRPr lang="en-US" sz="1350" dirty="0"/>
          </a:p>
        </p:txBody>
      </p:sp>
      <p:sp>
        <p:nvSpPr>
          <p:cNvPr id="23" name="Shape 21"/>
          <p:cNvSpPr/>
          <p:nvPr/>
        </p:nvSpPr>
        <p:spPr>
          <a:xfrm>
            <a:off x="3457575" y="2579846"/>
            <a:ext cx="1871186" cy="475297"/>
          </a:xfrm>
          <a:prstGeom prst="roundRect">
            <a:avLst>
              <a:gd name="adj" fmla="val 16032"/>
            </a:avLst>
          </a:prstGeom>
          <a:solidFill>
            <a:srgbClr val="ECFDF5"/>
          </a:solidFill>
          <a:ln/>
        </p:spPr>
      </p:sp>
      <p:sp>
        <p:nvSpPr>
          <p:cNvPr id="24" name="Text 22"/>
          <p:cNvSpPr/>
          <p:nvPr/>
        </p:nvSpPr>
        <p:spPr>
          <a:xfrm>
            <a:off x="3429000" y="2589371"/>
            <a:ext cx="1928336" cy="494347"/>
          </a:xfrm>
          <a:prstGeom prst="rect">
            <a:avLst/>
          </a:prstGeom>
          <a:noFill/>
          <a:ln/>
        </p:spPr>
        <p:txBody>
          <a:bodyPr wrap="square" lIns="25400" tIns="25400" rIns="25400" bIns="25400" rtlCol="0" anchor="ctr">
            <a:normAutofit/>
          </a:bodyPr>
          <a:lstStyle/>
          <a:p>
            <a:pPr algn="ctr" indent="0" marL="0">
              <a:lnSpc>
                <a:spcPct val="155000"/>
              </a:lnSpc>
              <a:buNone/>
            </a:pPr>
            <a:r>
              <a:rPr lang="en-US" sz="1275" b="1" dirty="0">
                <a:solidFill>
                  <a:srgbClr val="065F46"/>
                </a:solidFill>
                <a:latin typeface="Arial" pitchFamily="34" charset="0"/>
                <a:ea typeface="Arial" pitchFamily="34" charset="-122"/>
                <a:cs typeface="Arial" pitchFamily="34" charset="-120"/>
              </a:rPr>
              <a:t>0.02%</a:t>
            </a:r>
            <a:endParaRPr lang="en-US" sz="1275" dirty="0"/>
          </a:p>
        </p:txBody>
      </p:sp>
      <p:sp>
        <p:nvSpPr>
          <p:cNvPr id="25" name="Shape 23"/>
          <p:cNvSpPr/>
          <p:nvPr/>
        </p:nvSpPr>
        <p:spPr>
          <a:xfrm>
            <a:off x="5385911" y="2579846"/>
            <a:ext cx="1871345" cy="475297"/>
          </a:xfrm>
          <a:prstGeom prst="roundRect">
            <a:avLst>
              <a:gd name="adj" fmla="val 16032"/>
            </a:avLst>
          </a:prstGeom>
          <a:solidFill>
            <a:srgbClr val="D1FAE5"/>
          </a:solidFill>
          <a:ln/>
        </p:spPr>
      </p:sp>
      <p:sp>
        <p:nvSpPr>
          <p:cNvPr id="26" name="Text 24"/>
          <p:cNvSpPr/>
          <p:nvPr/>
        </p:nvSpPr>
        <p:spPr>
          <a:xfrm>
            <a:off x="5357336" y="2589371"/>
            <a:ext cx="1928495" cy="494347"/>
          </a:xfrm>
          <a:prstGeom prst="rect">
            <a:avLst/>
          </a:prstGeom>
          <a:noFill/>
          <a:ln/>
        </p:spPr>
        <p:txBody>
          <a:bodyPr wrap="square" lIns="25400" tIns="25400" rIns="25400" bIns="25400" rtlCol="0" anchor="ctr">
            <a:normAutofit/>
          </a:bodyPr>
          <a:lstStyle/>
          <a:p>
            <a:pPr algn="ctr" indent="0" marL="0">
              <a:lnSpc>
                <a:spcPct val="155000"/>
              </a:lnSpc>
              <a:buNone/>
            </a:pPr>
            <a:r>
              <a:rPr lang="en-US" sz="1275" b="1" dirty="0">
                <a:solidFill>
                  <a:srgbClr val="065F46"/>
                </a:solidFill>
                <a:latin typeface="Arial" pitchFamily="34" charset="0"/>
                <a:ea typeface="Arial" pitchFamily="34" charset="-122"/>
                <a:cs typeface="Arial" pitchFamily="34" charset="-120"/>
              </a:rPr>
              <a:t>0.30%</a:t>
            </a:r>
            <a:endParaRPr lang="en-US" sz="1275" dirty="0"/>
          </a:p>
        </p:txBody>
      </p:sp>
      <p:sp>
        <p:nvSpPr>
          <p:cNvPr id="27" name="Shape 25"/>
          <p:cNvSpPr/>
          <p:nvPr/>
        </p:nvSpPr>
        <p:spPr>
          <a:xfrm>
            <a:off x="7314406" y="2579846"/>
            <a:ext cx="4210844" cy="475297"/>
          </a:xfrm>
          <a:prstGeom prst="roundRect">
            <a:avLst>
              <a:gd name="adj" fmla="val 16032"/>
            </a:avLst>
          </a:prstGeom>
          <a:solidFill>
            <a:srgbClr val="D1FAE5"/>
          </a:solidFill>
          <a:ln/>
        </p:spPr>
      </p:sp>
      <p:sp>
        <p:nvSpPr>
          <p:cNvPr id="28" name="Text 26"/>
          <p:cNvSpPr/>
          <p:nvPr/>
        </p:nvSpPr>
        <p:spPr>
          <a:xfrm>
            <a:off x="7260769" y="2589371"/>
            <a:ext cx="4318119" cy="494347"/>
          </a:xfrm>
          <a:prstGeom prst="rect">
            <a:avLst/>
          </a:prstGeom>
          <a:noFill/>
          <a:ln/>
        </p:spPr>
        <p:txBody>
          <a:bodyPr wrap="square" lIns="25400" tIns="25400" rIns="25400" bIns="25400" rtlCol="0" anchor="ctr">
            <a:normAutofit/>
          </a:bodyPr>
          <a:lstStyle/>
          <a:p>
            <a:pPr algn="ctr" indent="0" marL="0">
              <a:lnSpc>
                <a:spcPct val="155000"/>
              </a:lnSpc>
              <a:buNone/>
            </a:pPr>
            <a:r>
              <a:rPr lang="en-US" sz="1275" b="1" dirty="0">
                <a:solidFill>
                  <a:srgbClr val="065F46"/>
                </a:solidFill>
                <a:latin typeface="Arial" pitchFamily="34" charset="0"/>
                <a:ea typeface="Arial" pitchFamily="34" charset="-122"/>
                <a:cs typeface="Arial" pitchFamily="34" charset="-120"/>
              </a:rPr>
              <a:t>0.81%</a:t>
            </a:r>
            <a:endParaRPr lang="en-US" sz="1275" dirty="0"/>
          </a:p>
        </p:txBody>
      </p:sp>
      <p:sp>
        <p:nvSpPr>
          <p:cNvPr id="29" name="Shape 27"/>
          <p:cNvSpPr/>
          <p:nvPr/>
        </p:nvSpPr>
        <p:spPr>
          <a:xfrm>
            <a:off x="666750" y="3112294"/>
            <a:ext cx="2733675" cy="475297"/>
          </a:xfrm>
          <a:prstGeom prst="roundRect">
            <a:avLst>
              <a:gd name="adj" fmla="val 16032"/>
            </a:avLst>
          </a:prstGeom>
          <a:solidFill>
            <a:srgbClr val="F6F7FB"/>
          </a:solidFill>
          <a:ln/>
        </p:spPr>
      </p:sp>
      <p:sp>
        <p:nvSpPr>
          <p:cNvPr id="30" name="Text 28"/>
          <p:cNvSpPr/>
          <p:nvPr/>
        </p:nvSpPr>
        <p:spPr>
          <a:xfrm>
            <a:off x="800100" y="3217069"/>
            <a:ext cx="2548985" cy="303847"/>
          </a:xfrm>
          <a:prstGeom prst="rect">
            <a:avLst/>
          </a:prstGeom>
          <a:noFill/>
          <a:ln/>
        </p:spPr>
        <p:txBody>
          <a:bodyPr wrap="square" lIns="25400" tIns="25400" rIns="25400" bIns="25400" rtlCol="0" anchor="ctr">
            <a:normAutofit/>
          </a:bodyPr>
          <a:lstStyle/>
          <a:p>
            <a:pPr algn="l" indent="0" marL="0">
              <a:lnSpc>
                <a:spcPct val="155000"/>
              </a:lnSpc>
              <a:buNone/>
            </a:pPr>
            <a:r>
              <a:rPr lang="en-US" sz="1350" b="1" dirty="0">
                <a:solidFill>
                  <a:srgbClr val="0B1220"/>
                </a:solidFill>
                <a:latin typeface="Arial" pitchFamily="34" charset="0"/>
                <a:ea typeface="Arial" pitchFamily="34" charset="-122"/>
                <a:cs typeface="Arial" pitchFamily="34" charset="-120"/>
              </a:rPr>
              <a:t>A</a:t>
            </a:r>
            <a:endParaRPr lang="en-US" sz="1350" dirty="0"/>
          </a:p>
        </p:txBody>
      </p:sp>
      <p:sp>
        <p:nvSpPr>
          <p:cNvPr id="31" name="Shape 29"/>
          <p:cNvSpPr/>
          <p:nvPr/>
        </p:nvSpPr>
        <p:spPr>
          <a:xfrm>
            <a:off x="3457575" y="3112294"/>
            <a:ext cx="1871186" cy="475297"/>
          </a:xfrm>
          <a:prstGeom prst="roundRect">
            <a:avLst>
              <a:gd name="adj" fmla="val 16032"/>
            </a:avLst>
          </a:prstGeom>
          <a:solidFill>
            <a:srgbClr val="ECFDF5"/>
          </a:solidFill>
          <a:ln/>
        </p:spPr>
      </p:sp>
      <p:sp>
        <p:nvSpPr>
          <p:cNvPr id="32" name="Text 30"/>
          <p:cNvSpPr/>
          <p:nvPr/>
        </p:nvSpPr>
        <p:spPr>
          <a:xfrm>
            <a:off x="3429000" y="3121819"/>
            <a:ext cx="1928336" cy="494347"/>
          </a:xfrm>
          <a:prstGeom prst="rect">
            <a:avLst/>
          </a:prstGeom>
          <a:noFill/>
          <a:ln/>
        </p:spPr>
        <p:txBody>
          <a:bodyPr wrap="square" lIns="25400" tIns="25400" rIns="25400" bIns="25400" rtlCol="0" anchor="ctr">
            <a:normAutofit/>
          </a:bodyPr>
          <a:lstStyle/>
          <a:p>
            <a:pPr algn="ctr" indent="0" marL="0">
              <a:lnSpc>
                <a:spcPct val="155000"/>
              </a:lnSpc>
              <a:buNone/>
            </a:pPr>
            <a:r>
              <a:rPr lang="en-US" sz="1275" b="1" dirty="0">
                <a:solidFill>
                  <a:srgbClr val="065F46"/>
                </a:solidFill>
                <a:latin typeface="Arial" pitchFamily="34" charset="0"/>
                <a:ea typeface="Arial" pitchFamily="34" charset="-122"/>
                <a:cs typeface="Arial" pitchFamily="34" charset="-120"/>
              </a:rPr>
              <a:t>0.05%</a:t>
            </a:r>
            <a:endParaRPr lang="en-US" sz="1275" dirty="0"/>
          </a:p>
        </p:txBody>
      </p:sp>
      <p:sp>
        <p:nvSpPr>
          <p:cNvPr id="33" name="Shape 31"/>
          <p:cNvSpPr/>
          <p:nvPr/>
        </p:nvSpPr>
        <p:spPr>
          <a:xfrm>
            <a:off x="5385911" y="3112294"/>
            <a:ext cx="1871345" cy="475297"/>
          </a:xfrm>
          <a:prstGeom prst="roundRect">
            <a:avLst>
              <a:gd name="adj" fmla="val 16032"/>
            </a:avLst>
          </a:prstGeom>
          <a:solidFill>
            <a:srgbClr val="D1FAE5"/>
          </a:solidFill>
          <a:ln/>
        </p:spPr>
      </p:sp>
      <p:sp>
        <p:nvSpPr>
          <p:cNvPr id="34" name="Text 32"/>
          <p:cNvSpPr/>
          <p:nvPr/>
        </p:nvSpPr>
        <p:spPr>
          <a:xfrm>
            <a:off x="5357336" y="3121819"/>
            <a:ext cx="1928495" cy="494347"/>
          </a:xfrm>
          <a:prstGeom prst="rect">
            <a:avLst/>
          </a:prstGeom>
          <a:noFill/>
          <a:ln/>
        </p:spPr>
        <p:txBody>
          <a:bodyPr wrap="square" lIns="25400" tIns="25400" rIns="25400" bIns="25400" rtlCol="0" anchor="ctr">
            <a:normAutofit/>
          </a:bodyPr>
          <a:lstStyle/>
          <a:p>
            <a:pPr algn="ctr" indent="0" marL="0">
              <a:lnSpc>
                <a:spcPct val="155000"/>
              </a:lnSpc>
              <a:buNone/>
            </a:pPr>
            <a:r>
              <a:rPr lang="en-US" sz="1275" b="1" dirty="0">
                <a:solidFill>
                  <a:srgbClr val="065F46"/>
                </a:solidFill>
                <a:latin typeface="Arial" pitchFamily="34" charset="0"/>
                <a:ea typeface="Arial" pitchFamily="34" charset="-122"/>
                <a:cs typeface="Arial" pitchFamily="34" charset="-120"/>
              </a:rPr>
              <a:t>0.55%</a:t>
            </a:r>
            <a:endParaRPr lang="en-US" sz="1275" dirty="0"/>
          </a:p>
        </p:txBody>
      </p:sp>
      <p:sp>
        <p:nvSpPr>
          <p:cNvPr id="35" name="Shape 33"/>
          <p:cNvSpPr/>
          <p:nvPr/>
        </p:nvSpPr>
        <p:spPr>
          <a:xfrm>
            <a:off x="7314406" y="3112294"/>
            <a:ext cx="4210844" cy="475297"/>
          </a:xfrm>
          <a:prstGeom prst="roundRect">
            <a:avLst>
              <a:gd name="adj" fmla="val 16032"/>
            </a:avLst>
          </a:prstGeom>
          <a:solidFill>
            <a:srgbClr val="FEF9C3"/>
          </a:solidFill>
          <a:ln/>
        </p:spPr>
      </p:sp>
      <p:sp>
        <p:nvSpPr>
          <p:cNvPr id="36" name="Text 34"/>
          <p:cNvSpPr/>
          <p:nvPr/>
        </p:nvSpPr>
        <p:spPr>
          <a:xfrm>
            <a:off x="7260769" y="3121819"/>
            <a:ext cx="4318119" cy="494347"/>
          </a:xfrm>
          <a:prstGeom prst="rect">
            <a:avLst/>
          </a:prstGeom>
          <a:noFill/>
          <a:ln/>
        </p:spPr>
        <p:txBody>
          <a:bodyPr wrap="square" lIns="25400" tIns="25400" rIns="25400" bIns="25400" rtlCol="0" anchor="ctr">
            <a:normAutofit/>
          </a:bodyPr>
          <a:lstStyle/>
          <a:p>
            <a:pPr algn="ctr" indent="0" marL="0">
              <a:lnSpc>
                <a:spcPct val="155000"/>
              </a:lnSpc>
              <a:buNone/>
            </a:pPr>
            <a:r>
              <a:rPr lang="en-US" sz="1275" b="1" dirty="0">
                <a:solidFill>
                  <a:srgbClr val="854D0E"/>
                </a:solidFill>
                <a:latin typeface="Arial" pitchFamily="34" charset="0"/>
                <a:ea typeface="Arial" pitchFamily="34" charset="-122"/>
                <a:cs typeface="Arial" pitchFamily="34" charset="-120"/>
              </a:rPr>
              <a:t>1.90%</a:t>
            </a:r>
            <a:endParaRPr lang="en-US" sz="1275" dirty="0"/>
          </a:p>
        </p:txBody>
      </p:sp>
      <p:sp>
        <p:nvSpPr>
          <p:cNvPr id="37" name="Shape 35"/>
          <p:cNvSpPr/>
          <p:nvPr/>
        </p:nvSpPr>
        <p:spPr>
          <a:xfrm>
            <a:off x="666750" y="3644741"/>
            <a:ext cx="2733675" cy="460534"/>
          </a:xfrm>
          <a:prstGeom prst="roundRect">
            <a:avLst>
              <a:gd name="adj" fmla="val 16546"/>
            </a:avLst>
          </a:prstGeom>
          <a:solidFill>
            <a:srgbClr val="EEF2FF"/>
          </a:solidFill>
          <a:ln/>
        </p:spPr>
      </p:sp>
      <p:sp>
        <p:nvSpPr>
          <p:cNvPr id="38" name="Text 36"/>
          <p:cNvSpPr/>
          <p:nvPr/>
        </p:nvSpPr>
        <p:spPr>
          <a:xfrm>
            <a:off x="800100" y="3749516"/>
            <a:ext cx="2548985" cy="289084"/>
          </a:xfrm>
          <a:prstGeom prst="rect">
            <a:avLst/>
          </a:prstGeom>
          <a:noFill/>
          <a:ln/>
        </p:spPr>
        <p:txBody>
          <a:bodyPr wrap="square" lIns="25400" tIns="25400" rIns="25400" bIns="25400" rtlCol="0" anchor="ctr">
            <a:normAutofit/>
          </a:bodyPr>
          <a:lstStyle/>
          <a:p>
            <a:pPr algn="l" indent="0" marL="0">
              <a:lnSpc>
                <a:spcPct val="155000"/>
              </a:lnSpc>
              <a:buNone/>
            </a:pPr>
            <a:r>
              <a:rPr lang="en-US" sz="1275" b="1" dirty="0">
                <a:solidFill>
                  <a:srgbClr val="4F46E5"/>
                </a:solidFill>
                <a:highlight>
                  <a:srgbClr val="EEF2FF"/>
                </a:highlight>
                <a:latin typeface="Arial" pitchFamily="34" charset="0"/>
                <a:ea typeface="Arial" pitchFamily="34" charset="-122"/>
                <a:cs typeface="Arial" pitchFamily="34" charset="-120"/>
              </a:rPr>
              <a:t>BBB </a:t>
            </a:r>
            <a:pPr algn="l" indent="0" marL="0">
              <a:lnSpc>
                <a:spcPct val="155000"/>
              </a:lnSpc>
              <a:buNone/>
            </a:pPr>
            <a:r>
              <a:rPr lang="en-US" sz="975" b="1" dirty="0">
                <a:solidFill>
                  <a:srgbClr val="4F46E5"/>
                </a:solidFill>
                <a:latin typeface="Arial" pitchFamily="34" charset="0"/>
                <a:ea typeface="Arial" pitchFamily="34" charset="-122"/>
                <a:cs typeface="Arial" pitchFamily="34" charset="-120"/>
              </a:rPr>
              <a:t>· IG floor</a:t>
            </a:r>
            <a:endParaRPr lang="en-US" sz="1275" dirty="0"/>
          </a:p>
        </p:txBody>
      </p:sp>
      <p:sp>
        <p:nvSpPr>
          <p:cNvPr id="39" name="Shape 37"/>
          <p:cNvSpPr/>
          <p:nvPr/>
        </p:nvSpPr>
        <p:spPr>
          <a:xfrm>
            <a:off x="3457575" y="3644741"/>
            <a:ext cx="1871186" cy="460534"/>
          </a:xfrm>
          <a:prstGeom prst="roundRect">
            <a:avLst>
              <a:gd name="adj" fmla="val 16546"/>
            </a:avLst>
          </a:prstGeom>
          <a:solidFill>
            <a:srgbClr val="D1FAE5"/>
          </a:solidFill>
          <a:ln/>
        </p:spPr>
      </p:sp>
      <p:sp>
        <p:nvSpPr>
          <p:cNvPr id="40" name="Text 38"/>
          <p:cNvSpPr/>
          <p:nvPr/>
        </p:nvSpPr>
        <p:spPr>
          <a:xfrm>
            <a:off x="3429000" y="3654266"/>
            <a:ext cx="1928336" cy="479584"/>
          </a:xfrm>
          <a:prstGeom prst="rect">
            <a:avLst/>
          </a:prstGeom>
          <a:noFill/>
          <a:ln/>
        </p:spPr>
        <p:txBody>
          <a:bodyPr wrap="square" lIns="25400" tIns="25400" rIns="25400" bIns="25400" rtlCol="0" anchor="ctr">
            <a:normAutofit/>
          </a:bodyPr>
          <a:lstStyle/>
          <a:p>
            <a:pPr algn="ctr" indent="0" marL="0">
              <a:lnSpc>
                <a:spcPct val="155000"/>
              </a:lnSpc>
              <a:buNone/>
            </a:pPr>
            <a:r>
              <a:rPr lang="en-US" sz="1275" b="1" dirty="0">
                <a:solidFill>
                  <a:srgbClr val="065F46"/>
                </a:solidFill>
                <a:latin typeface="Arial" pitchFamily="34" charset="0"/>
                <a:ea typeface="Arial" pitchFamily="34" charset="-122"/>
                <a:cs typeface="Arial" pitchFamily="34" charset="-120"/>
              </a:rPr>
              <a:t>0.16%</a:t>
            </a:r>
            <a:endParaRPr lang="en-US" sz="1275" dirty="0"/>
          </a:p>
        </p:txBody>
      </p:sp>
      <p:sp>
        <p:nvSpPr>
          <p:cNvPr id="41" name="Shape 39"/>
          <p:cNvSpPr/>
          <p:nvPr/>
        </p:nvSpPr>
        <p:spPr>
          <a:xfrm>
            <a:off x="5385911" y="3644741"/>
            <a:ext cx="1871345" cy="460534"/>
          </a:xfrm>
          <a:prstGeom prst="roundRect">
            <a:avLst>
              <a:gd name="adj" fmla="val 16546"/>
            </a:avLst>
          </a:prstGeom>
          <a:solidFill>
            <a:srgbClr val="FEF9C3"/>
          </a:solidFill>
          <a:ln/>
        </p:spPr>
      </p:sp>
      <p:sp>
        <p:nvSpPr>
          <p:cNvPr id="42" name="Text 40"/>
          <p:cNvSpPr/>
          <p:nvPr/>
        </p:nvSpPr>
        <p:spPr>
          <a:xfrm>
            <a:off x="5357336" y="3654266"/>
            <a:ext cx="1928495" cy="479584"/>
          </a:xfrm>
          <a:prstGeom prst="rect">
            <a:avLst/>
          </a:prstGeom>
          <a:noFill/>
          <a:ln/>
        </p:spPr>
        <p:txBody>
          <a:bodyPr wrap="square" lIns="25400" tIns="25400" rIns="25400" bIns="25400" rtlCol="0" anchor="ctr">
            <a:normAutofit/>
          </a:bodyPr>
          <a:lstStyle/>
          <a:p>
            <a:pPr algn="ctr" indent="0" marL="0">
              <a:lnSpc>
                <a:spcPct val="155000"/>
              </a:lnSpc>
              <a:buNone/>
            </a:pPr>
            <a:r>
              <a:rPr lang="en-US" sz="1275" b="1" dirty="0">
                <a:solidFill>
                  <a:srgbClr val="854D0E"/>
                </a:solidFill>
                <a:latin typeface="Arial" pitchFamily="34" charset="0"/>
                <a:ea typeface="Arial" pitchFamily="34" charset="-122"/>
                <a:cs typeface="Arial" pitchFamily="34" charset="-120"/>
              </a:rPr>
              <a:t>1.83%</a:t>
            </a:r>
            <a:endParaRPr lang="en-US" sz="1275" dirty="0"/>
          </a:p>
        </p:txBody>
      </p:sp>
      <p:sp>
        <p:nvSpPr>
          <p:cNvPr id="43" name="Shape 41"/>
          <p:cNvSpPr/>
          <p:nvPr/>
        </p:nvSpPr>
        <p:spPr>
          <a:xfrm>
            <a:off x="7314406" y="3644741"/>
            <a:ext cx="4210844" cy="460534"/>
          </a:xfrm>
          <a:prstGeom prst="roundRect">
            <a:avLst>
              <a:gd name="adj" fmla="val 16546"/>
            </a:avLst>
          </a:prstGeom>
          <a:solidFill>
            <a:srgbClr val="FEF9C3"/>
          </a:solidFill>
          <a:ln/>
        </p:spPr>
      </p:sp>
      <p:sp>
        <p:nvSpPr>
          <p:cNvPr id="44" name="Text 42"/>
          <p:cNvSpPr/>
          <p:nvPr/>
        </p:nvSpPr>
        <p:spPr>
          <a:xfrm>
            <a:off x="7260769" y="3654266"/>
            <a:ext cx="4318119" cy="479584"/>
          </a:xfrm>
          <a:prstGeom prst="rect">
            <a:avLst/>
          </a:prstGeom>
          <a:noFill/>
          <a:ln/>
        </p:spPr>
        <p:txBody>
          <a:bodyPr wrap="square" lIns="25400" tIns="25400" rIns="25400" bIns="25400" rtlCol="0" anchor="ctr">
            <a:normAutofit/>
          </a:bodyPr>
          <a:lstStyle/>
          <a:p>
            <a:pPr algn="ctr" indent="0" marL="0">
              <a:lnSpc>
                <a:spcPct val="155000"/>
              </a:lnSpc>
              <a:buNone/>
            </a:pPr>
            <a:r>
              <a:rPr lang="en-US" sz="1275" b="1" dirty="0">
                <a:solidFill>
                  <a:srgbClr val="854D0E"/>
                </a:solidFill>
                <a:latin typeface="Arial" pitchFamily="34" charset="0"/>
                <a:ea typeface="Arial" pitchFamily="34" charset="-122"/>
                <a:cs typeface="Arial" pitchFamily="34" charset="-120"/>
              </a:rPr>
              <a:t>4.40%</a:t>
            </a:r>
            <a:endParaRPr lang="en-US" sz="1275" dirty="0"/>
          </a:p>
        </p:txBody>
      </p:sp>
      <p:sp>
        <p:nvSpPr>
          <p:cNvPr id="45" name="Shape 43"/>
          <p:cNvSpPr/>
          <p:nvPr/>
        </p:nvSpPr>
        <p:spPr>
          <a:xfrm>
            <a:off x="666750" y="4162425"/>
            <a:ext cx="2733675" cy="460534"/>
          </a:xfrm>
          <a:prstGeom prst="roundRect">
            <a:avLst>
              <a:gd name="adj" fmla="val 16546"/>
            </a:avLst>
          </a:prstGeom>
          <a:solidFill>
            <a:srgbClr val="FDF1E7"/>
          </a:solidFill>
          <a:ln/>
        </p:spPr>
      </p:sp>
      <p:sp>
        <p:nvSpPr>
          <p:cNvPr id="46" name="Text 44"/>
          <p:cNvSpPr/>
          <p:nvPr/>
        </p:nvSpPr>
        <p:spPr>
          <a:xfrm>
            <a:off x="800100" y="4267200"/>
            <a:ext cx="2548985" cy="289084"/>
          </a:xfrm>
          <a:prstGeom prst="rect">
            <a:avLst/>
          </a:prstGeom>
          <a:noFill/>
          <a:ln/>
        </p:spPr>
        <p:txBody>
          <a:bodyPr wrap="square" lIns="25400" tIns="25400" rIns="25400" bIns="25400" rtlCol="0" anchor="ctr">
            <a:normAutofit/>
          </a:bodyPr>
          <a:lstStyle/>
          <a:p>
            <a:pPr algn="l" indent="0" marL="0">
              <a:lnSpc>
                <a:spcPct val="155000"/>
              </a:lnSpc>
              <a:buNone/>
            </a:pPr>
            <a:r>
              <a:rPr lang="en-US" sz="1275" b="1" dirty="0">
                <a:solidFill>
                  <a:srgbClr val="C2410C"/>
                </a:solidFill>
                <a:highlight>
                  <a:srgbClr val="FDF1E7"/>
                </a:highlight>
                <a:latin typeface="Arial" pitchFamily="34" charset="0"/>
                <a:ea typeface="Arial" pitchFamily="34" charset="-122"/>
                <a:cs typeface="Arial" pitchFamily="34" charset="-120"/>
              </a:rPr>
              <a:t>BB </a:t>
            </a:r>
            <a:pPr algn="l" indent="0" marL="0">
              <a:lnSpc>
                <a:spcPct val="155000"/>
              </a:lnSpc>
              <a:buNone/>
            </a:pPr>
            <a:r>
              <a:rPr lang="en-US" sz="975" b="1" dirty="0">
                <a:solidFill>
                  <a:srgbClr val="C2410C"/>
                </a:solidFill>
                <a:latin typeface="Arial" pitchFamily="34" charset="0"/>
                <a:ea typeface="Arial" pitchFamily="34" charset="-122"/>
                <a:cs typeface="Arial" pitchFamily="34" charset="-120"/>
              </a:rPr>
              <a:t>· HY top</a:t>
            </a:r>
            <a:endParaRPr lang="en-US" sz="1275" dirty="0"/>
          </a:p>
        </p:txBody>
      </p:sp>
      <p:sp>
        <p:nvSpPr>
          <p:cNvPr id="47" name="Shape 45"/>
          <p:cNvSpPr/>
          <p:nvPr/>
        </p:nvSpPr>
        <p:spPr>
          <a:xfrm>
            <a:off x="3457575" y="4162425"/>
            <a:ext cx="1871186" cy="460534"/>
          </a:xfrm>
          <a:prstGeom prst="roundRect">
            <a:avLst>
              <a:gd name="adj" fmla="val 16546"/>
            </a:avLst>
          </a:prstGeom>
          <a:solidFill>
            <a:srgbClr val="D1FAE5"/>
          </a:solidFill>
          <a:ln/>
        </p:spPr>
      </p:sp>
      <p:sp>
        <p:nvSpPr>
          <p:cNvPr id="48" name="Text 46"/>
          <p:cNvSpPr/>
          <p:nvPr/>
        </p:nvSpPr>
        <p:spPr>
          <a:xfrm>
            <a:off x="3429000" y="4171950"/>
            <a:ext cx="1928336" cy="479584"/>
          </a:xfrm>
          <a:prstGeom prst="rect">
            <a:avLst/>
          </a:prstGeom>
          <a:noFill/>
          <a:ln/>
        </p:spPr>
        <p:txBody>
          <a:bodyPr wrap="square" lIns="25400" tIns="25400" rIns="25400" bIns="25400" rtlCol="0" anchor="ctr">
            <a:normAutofit/>
          </a:bodyPr>
          <a:lstStyle/>
          <a:p>
            <a:pPr algn="ctr" indent="0" marL="0">
              <a:lnSpc>
                <a:spcPct val="155000"/>
              </a:lnSpc>
              <a:buNone/>
            </a:pPr>
            <a:r>
              <a:rPr lang="en-US" sz="1275" b="1" dirty="0">
                <a:solidFill>
                  <a:srgbClr val="065F46"/>
                </a:solidFill>
                <a:latin typeface="Arial" pitchFamily="34" charset="0"/>
                <a:ea typeface="Arial" pitchFamily="34" charset="-122"/>
                <a:cs typeface="Arial" pitchFamily="34" charset="-120"/>
              </a:rPr>
              <a:t>0.62%</a:t>
            </a:r>
            <a:endParaRPr lang="en-US" sz="1275" dirty="0"/>
          </a:p>
        </p:txBody>
      </p:sp>
      <p:sp>
        <p:nvSpPr>
          <p:cNvPr id="49" name="Shape 47"/>
          <p:cNvSpPr/>
          <p:nvPr/>
        </p:nvSpPr>
        <p:spPr>
          <a:xfrm>
            <a:off x="5385911" y="4162425"/>
            <a:ext cx="1871345" cy="460534"/>
          </a:xfrm>
          <a:prstGeom prst="roundRect">
            <a:avLst>
              <a:gd name="adj" fmla="val 16546"/>
            </a:avLst>
          </a:prstGeom>
          <a:solidFill>
            <a:srgbClr val="FED7AA"/>
          </a:solidFill>
          <a:ln/>
        </p:spPr>
      </p:sp>
      <p:sp>
        <p:nvSpPr>
          <p:cNvPr id="50" name="Text 48"/>
          <p:cNvSpPr/>
          <p:nvPr/>
        </p:nvSpPr>
        <p:spPr>
          <a:xfrm>
            <a:off x="5357336" y="4171950"/>
            <a:ext cx="1928495" cy="479584"/>
          </a:xfrm>
          <a:prstGeom prst="rect">
            <a:avLst/>
          </a:prstGeom>
          <a:noFill/>
          <a:ln/>
        </p:spPr>
        <p:txBody>
          <a:bodyPr wrap="square" lIns="25400" tIns="25400" rIns="25400" bIns="25400" rtlCol="0" anchor="ctr">
            <a:normAutofit/>
          </a:bodyPr>
          <a:lstStyle/>
          <a:p>
            <a:pPr algn="ctr" indent="0" marL="0">
              <a:lnSpc>
                <a:spcPct val="155000"/>
              </a:lnSpc>
              <a:buNone/>
            </a:pPr>
            <a:r>
              <a:rPr lang="en-US" sz="1275" b="1" dirty="0">
                <a:solidFill>
                  <a:srgbClr val="9A3412"/>
                </a:solidFill>
                <a:latin typeface="Arial" pitchFamily="34" charset="0"/>
                <a:ea typeface="Arial" pitchFamily="34" charset="-122"/>
                <a:cs typeface="Arial" pitchFamily="34" charset="-120"/>
              </a:rPr>
              <a:t>7.14%</a:t>
            </a:r>
            <a:endParaRPr lang="en-US" sz="1275" dirty="0"/>
          </a:p>
        </p:txBody>
      </p:sp>
      <p:sp>
        <p:nvSpPr>
          <p:cNvPr id="51" name="Shape 49"/>
          <p:cNvSpPr/>
          <p:nvPr/>
        </p:nvSpPr>
        <p:spPr>
          <a:xfrm>
            <a:off x="7314406" y="4162425"/>
            <a:ext cx="4210844" cy="460534"/>
          </a:xfrm>
          <a:prstGeom prst="roundRect">
            <a:avLst>
              <a:gd name="adj" fmla="val 16546"/>
            </a:avLst>
          </a:prstGeom>
          <a:solidFill>
            <a:srgbClr val="FED7AA"/>
          </a:solidFill>
          <a:ln/>
        </p:spPr>
      </p:sp>
      <p:sp>
        <p:nvSpPr>
          <p:cNvPr id="52" name="Text 50"/>
          <p:cNvSpPr/>
          <p:nvPr/>
        </p:nvSpPr>
        <p:spPr>
          <a:xfrm>
            <a:off x="7260769" y="4171950"/>
            <a:ext cx="4318119" cy="479584"/>
          </a:xfrm>
          <a:prstGeom prst="rect">
            <a:avLst/>
          </a:prstGeom>
          <a:noFill/>
          <a:ln/>
        </p:spPr>
        <p:txBody>
          <a:bodyPr wrap="square" lIns="25400" tIns="25400" rIns="25400" bIns="25400" rtlCol="0" anchor="ctr">
            <a:normAutofit/>
          </a:bodyPr>
          <a:lstStyle/>
          <a:p>
            <a:pPr algn="ctr" indent="0" marL="0">
              <a:lnSpc>
                <a:spcPct val="155000"/>
              </a:lnSpc>
              <a:buNone/>
            </a:pPr>
            <a:r>
              <a:rPr lang="en-US" sz="1275" b="1" dirty="0">
                <a:solidFill>
                  <a:srgbClr val="9A3412"/>
                </a:solidFill>
                <a:latin typeface="Arial" pitchFamily="34" charset="0"/>
                <a:ea typeface="Arial" pitchFamily="34" charset="-122"/>
                <a:cs typeface="Arial" pitchFamily="34" charset="-120"/>
              </a:rPr>
              <a:t>14.53%</a:t>
            </a:r>
            <a:endParaRPr lang="en-US" sz="1275" dirty="0"/>
          </a:p>
        </p:txBody>
      </p:sp>
      <p:sp>
        <p:nvSpPr>
          <p:cNvPr id="53" name="Shape 51"/>
          <p:cNvSpPr/>
          <p:nvPr/>
        </p:nvSpPr>
        <p:spPr>
          <a:xfrm>
            <a:off x="666750" y="4680109"/>
            <a:ext cx="2733675" cy="475297"/>
          </a:xfrm>
          <a:prstGeom prst="roundRect">
            <a:avLst>
              <a:gd name="adj" fmla="val 16032"/>
            </a:avLst>
          </a:prstGeom>
          <a:solidFill>
            <a:srgbClr val="F6F7FB"/>
          </a:solidFill>
          <a:ln/>
        </p:spPr>
      </p:sp>
      <p:sp>
        <p:nvSpPr>
          <p:cNvPr id="54" name="Text 52"/>
          <p:cNvSpPr/>
          <p:nvPr/>
        </p:nvSpPr>
        <p:spPr>
          <a:xfrm>
            <a:off x="800100" y="4784884"/>
            <a:ext cx="2548985" cy="303847"/>
          </a:xfrm>
          <a:prstGeom prst="rect">
            <a:avLst/>
          </a:prstGeom>
          <a:noFill/>
          <a:ln/>
        </p:spPr>
        <p:txBody>
          <a:bodyPr wrap="square" lIns="25400" tIns="25400" rIns="25400" bIns="25400" rtlCol="0" anchor="ctr">
            <a:normAutofit/>
          </a:bodyPr>
          <a:lstStyle/>
          <a:p>
            <a:pPr algn="l" indent="0" marL="0">
              <a:lnSpc>
                <a:spcPct val="155000"/>
              </a:lnSpc>
              <a:buNone/>
            </a:pPr>
            <a:r>
              <a:rPr lang="en-US" sz="1350" b="1" dirty="0">
                <a:solidFill>
                  <a:srgbClr val="0B1220"/>
                </a:solidFill>
                <a:latin typeface="Arial" pitchFamily="34" charset="0"/>
                <a:ea typeface="Arial" pitchFamily="34" charset="-122"/>
                <a:cs typeface="Arial" pitchFamily="34" charset="-120"/>
              </a:rPr>
              <a:t>B</a:t>
            </a:r>
            <a:endParaRPr lang="en-US" sz="1350" dirty="0"/>
          </a:p>
        </p:txBody>
      </p:sp>
      <p:sp>
        <p:nvSpPr>
          <p:cNvPr id="55" name="Shape 53"/>
          <p:cNvSpPr/>
          <p:nvPr/>
        </p:nvSpPr>
        <p:spPr>
          <a:xfrm>
            <a:off x="3457575" y="4680109"/>
            <a:ext cx="1871186" cy="475297"/>
          </a:xfrm>
          <a:prstGeom prst="roundRect">
            <a:avLst>
              <a:gd name="adj" fmla="val 16032"/>
            </a:avLst>
          </a:prstGeom>
          <a:solidFill>
            <a:srgbClr val="FEF9C3"/>
          </a:solidFill>
          <a:ln/>
        </p:spPr>
      </p:sp>
      <p:sp>
        <p:nvSpPr>
          <p:cNvPr id="56" name="Text 54"/>
          <p:cNvSpPr/>
          <p:nvPr/>
        </p:nvSpPr>
        <p:spPr>
          <a:xfrm>
            <a:off x="3429000" y="4689634"/>
            <a:ext cx="1928336" cy="494347"/>
          </a:xfrm>
          <a:prstGeom prst="rect">
            <a:avLst/>
          </a:prstGeom>
          <a:noFill/>
          <a:ln/>
        </p:spPr>
        <p:txBody>
          <a:bodyPr wrap="square" lIns="25400" tIns="25400" rIns="25400" bIns="25400" rtlCol="0" anchor="ctr">
            <a:normAutofit/>
          </a:bodyPr>
          <a:lstStyle/>
          <a:p>
            <a:pPr algn="ctr" indent="0" marL="0">
              <a:lnSpc>
                <a:spcPct val="155000"/>
              </a:lnSpc>
              <a:buNone/>
            </a:pPr>
            <a:r>
              <a:rPr lang="en-US" sz="1275" b="1" dirty="0">
                <a:solidFill>
                  <a:srgbClr val="854D0E"/>
                </a:solidFill>
                <a:latin typeface="Arial" pitchFamily="34" charset="0"/>
                <a:ea typeface="Arial" pitchFamily="34" charset="-122"/>
                <a:cs typeface="Arial" pitchFamily="34" charset="-120"/>
              </a:rPr>
              <a:t>3.27%</a:t>
            </a:r>
            <a:endParaRPr lang="en-US" sz="1275" dirty="0"/>
          </a:p>
        </p:txBody>
      </p:sp>
      <p:sp>
        <p:nvSpPr>
          <p:cNvPr id="57" name="Shape 55"/>
          <p:cNvSpPr/>
          <p:nvPr/>
        </p:nvSpPr>
        <p:spPr>
          <a:xfrm>
            <a:off x="5385911" y="4680109"/>
            <a:ext cx="1871345" cy="475297"/>
          </a:xfrm>
          <a:prstGeom prst="roundRect">
            <a:avLst>
              <a:gd name="adj" fmla="val 16032"/>
            </a:avLst>
          </a:prstGeom>
          <a:solidFill>
            <a:srgbClr val="FECACA"/>
          </a:solidFill>
          <a:ln/>
        </p:spPr>
      </p:sp>
      <p:sp>
        <p:nvSpPr>
          <p:cNvPr id="58" name="Text 56"/>
          <p:cNvSpPr/>
          <p:nvPr/>
        </p:nvSpPr>
        <p:spPr>
          <a:xfrm>
            <a:off x="5357336" y="4689634"/>
            <a:ext cx="1928495" cy="494347"/>
          </a:xfrm>
          <a:prstGeom prst="rect">
            <a:avLst/>
          </a:prstGeom>
          <a:noFill/>
          <a:ln/>
        </p:spPr>
        <p:txBody>
          <a:bodyPr wrap="square" lIns="25400" tIns="25400" rIns="25400" bIns="25400" rtlCol="0" anchor="ctr">
            <a:normAutofit/>
          </a:bodyPr>
          <a:lstStyle/>
          <a:p>
            <a:pPr algn="ctr" indent="0" marL="0">
              <a:lnSpc>
                <a:spcPct val="155000"/>
              </a:lnSpc>
              <a:buNone/>
            </a:pPr>
            <a:r>
              <a:rPr lang="en-US" sz="1275" b="1" dirty="0">
                <a:solidFill>
                  <a:srgbClr val="991B1B"/>
                </a:solidFill>
                <a:latin typeface="Arial" pitchFamily="34" charset="0"/>
                <a:ea typeface="Arial" pitchFamily="34" charset="-122"/>
                <a:cs typeface="Arial" pitchFamily="34" charset="-120"/>
              </a:rPr>
              <a:t>18.23%</a:t>
            </a:r>
            <a:endParaRPr lang="en-US" sz="1275" dirty="0"/>
          </a:p>
        </p:txBody>
      </p:sp>
      <p:sp>
        <p:nvSpPr>
          <p:cNvPr id="59" name="Shape 57"/>
          <p:cNvSpPr/>
          <p:nvPr/>
        </p:nvSpPr>
        <p:spPr>
          <a:xfrm>
            <a:off x="7314406" y="4680109"/>
            <a:ext cx="4210844" cy="475297"/>
          </a:xfrm>
          <a:prstGeom prst="roundRect">
            <a:avLst>
              <a:gd name="adj" fmla="val 16032"/>
            </a:avLst>
          </a:prstGeom>
          <a:solidFill>
            <a:srgbClr val="FECACA"/>
          </a:solidFill>
          <a:ln/>
        </p:spPr>
      </p:sp>
      <p:sp>
        <p:nvSpPr>
          <p:cNvPr id="60" name="Text 58"/>
          <p:cNvSpPr/>
          <p:nvPr/>
        </p:nvSpPr>
        <p:spPr>
          <a:xfrm>
            <a:off x="7260769" y="4689634"/>
            <a:ext cx="4318119" cy="494347"/>
          </a:xfrm>
          <a:prstGeom prst="rect">
            <a:avLst/>
          </a:prstGeom>
          <a:noFill/>
          <a:ln/>
        </p:spPr>
        <p:txBody>
          <a:bodyPr wrap="square" lIns="25400" tIns="25400" rIns="25400" bIns="25400" rtlCol="0" anchor="ctr">
            <a:normAutofit/>
          </a:bodyPr>
          <a:lstStyle/>
          <a:p>
            <a:pPr algn="ctr" indent="0" marL="0">
              <a:lnSpc>
                <a:spcPct val="155000"/>
              </a:lnSpc>
              <a:buNone/>
            </a:pPr>
            <a:r>
              <a:rPr lang="en-US" sz="1275" b="1" dirty="0">
                <a:solidFill>
                  <a:srgbClr val="991B1B"/>
                </a:solidFill>
                <a:latin typeface="Arial" pitchFamily="34" charset="0"/>
                <a:ea typeface="Arial" pitchFamily="34" charset="-122"/>
                <a:cs typeface="Arial" pitchFamily="34" charset="-120"/>
              </a:rPr>
              <a:t>27.79%</a:t>
            </a:r>
            <a:endParaRPr lang="en-US" sz="1275" dirty="0"/>
          </a:p>
        </p:txBody>
      </p:sp>
      <p:sp>
        <p:nvSpPr>
          <p:cNvPr id="61" name="Shape 59"/>
          <p:cNvSpPr/>
          <p:nvPr/>
        </p:nvSpPr>
        <p:spPr>
          <a:xfrm>
            <a:off x="666750" y="5212556"/>
            <a:ext cx="2733675" cy="475297"/>
          </a:xfrm>
          <a:prstGeom prst="roundRect">
            <a:avLst>
              <a:gd name="adj" fmla="val 16032"/>
            </a:avLst>
          </a:prstGeom>
          <a:solidFill>
            <a:srgbClr val="F6F7FB"/>
          </a:solidFill>
          <a:ln/>
        </p:spPr>
      </p:sp>
      <p:sp>
        <p:nvSpPr>
          <p:cNvPr id="62" name="Text 60"/>
          <p:cNvSpPr/>
          <p:nvPr/>
        </p:nvSpPr>
        <p:spPr>
          <a:xfrm>
            <a:off x="800100" y="5317331"/>
            <a:ext cx="2548985" cy="303847"/>
          </a:xfrm>
          <a:prstGeom prst="rect">
            <a:avLst/>
          </a:prstGeom>
          <a:noFill/>
          <a:ln/>
        </p:spPr>
        <p:txBody>
          <a:bodyPr wrap="square" lIns="25400" tIns="25400" rIns="25400" bIns="25400" rtlCol="0" anchor="ctr">
            <a:normAutofit/>
          </a:bodyPr>
          <a:lstStyle/>
          <a:p>
            <a:pPr algn="l" indent="0" marL="0">
              <a:lnSpc>
                <a:spcPct val="155000"/>
              </a:lnSpc>
              <a:buNone/>
            </a:pPr>
            <a:r>
              <a:rPr lang="en-US" sz="1350" b="1" dirty="0">
                <a:solidFill>
                  <a:srgbClr val="0B1220"/>
                </a:solidFill>
                <a:latin typeface="Arial" pitchFamily="34" charset="0"/>
                <a:ea typeface="Arial" pitchFamily="34" charset="-122"/>
                <a:cs typeface="Arial" pitchFamily="34" charset="-120"/>
              </a:rPr>
              <a:t>CCC / C</a:t>
            </a:r>
            <a:endParaRPr lang="en-US" sz="1350" dirty="0"/>
          </a:p>
        </p:txBody>
      </p:sp>
      <p:sp>
        <p:nvSpPr>
          <p:cNvPr id="63" name="Shape 61"/>
          <p:cNvSpPr/>
          <p:nvPr/>
        </p:nvSpPr>
        <p:spPr>
          <a:xfrm>
            <a:off x="3457575" y="5212556"/>
            <a:ext cx="1871186" cy="475297"/>
          </a:xfrm>
          <a:prstGeom prst="roundRect">
            <a:avLst>
              <a:gd name="adj" fmla="val 16032"/>
            </a:avLst>
          </a:prstGeom>
          <a:solidFill>
            <a:srgbClr val="FECACA"/>
          </a:solidFill>
          <a:ln/>
        </p:spPr>
      </p:sp>
      <p:sp>
        <p:nvSpPr>
          <p:cNvPr id="64" name="Text 62"/>
          <p:cNvSpPr/>
          <p:nvPr/>
        </p:nvSpPr>
        <p:spPr>
          <a:xfrm>
            <a:off x="3429000" y="5222081"/>
            <a:ext cx="1928336" cy="494347"/>
          </a:xfrm>
          <a:prstGeom prst="rect">
            <a:avLst/>
          </a:prstGeom>
          <a:noFill/>
          <a:ln/>
        </p:spPr>
        <p:txBody>
          <a:bodyPr wrap="square" lIns="25400" tIns="25400" rIns="25400" bIns="25400" rtlCol="0" anchor="ctr">
            <a:normAutofit/>
          </a:bodyPr>
          <a:lstStyle/>
          <a:p>
            <a:pPr algn="ctr" indent="0" marL="0">
              <a:lnSpc>
                <a:spcPct val="155000"/>
              </a:lnSpc>
              <a:buNone/>
            </a:pPr>
            <a:r>
              <a:rPr lang="en-US" sz="1275" b="1" dirty="0">
                <a:solidFill>
                  <a:srgbClr val="991B1B"/>
                </a:solidFill>
                <a:latin typeface="Arial" pitchFamily="34" charset="0"/>
                <a:ea typeface="Arial" pitchFamily="34" charset="-122"/>
                <a:cs typeface="Arial" pitchFamily="34" charset="-120"/>
              </a:rPr>
              <a:t>28.30%</a:t>
            </a:r>
            <a:endParaRPr lang="en-US" sz="1275" dirty="0"/>
          </a:p>
        </p:txBody>
      </p:sp>
      <p:sp>
        <p:nvSpPr>
          <p:cNvPr id="65" name="Shape 63"/>
          <p:cNvSpPr/>
          <p:nvPr/>
        </p:nvSpPr>
        <p:spPr>
          <a:xfrm>
            <a:off x="5385911" y="5212556"/>
            <a:ext cx="1871345" cy="475297"/>
          </a:xfrm>
          <a:prstGeom prst="roundRect">
            <a:avLst>
              <a:gd name="adj" fmla="val 16032"/>
            </a:avLst>
          </a:prstGeom>
          <a:solidFill>
            <a:srgbClr val="EF4444"/>
          </a:solidFill>
          <a:ln/>
        </p:spPr>
      </p:sp>
      <p:sp>
        <p:nvSpPr>
          <p:cNvPr id="66" name="Text 64"/>
          <p:cNvSpPr/>
          <p:nvPr/>
        </p:nvSpPr>
        <p:spPr>
          <a:xfrm>
            <a:off x="5357336" y="5222081"/>
            <a:ext cx="1928495" cy="494347"/>
          </a:xfrm>
          <a:prstGeom prst="rect">
            <a:avLst/>
          </a:prstGeom>
          <a:noFill/>
          <a:ln/>
        </p:spPr>
        <p:txBody>
          <a:bodyPr wrap="square" lIns="25400" tIns="25400" rIns="25400" bIns="25400" rtlCol="0" anchor="ctr">
            <a:normAutofit/>
          </a:bodyPr>
          <a:lstStyle/>
          <a:p>
            <a:pPr algn="ctr" indent="0" marL="0">
              <a:lnSpc>
                <a:spcPct val="155000"/>
              </a:lnSpc>
              <a:buNone/>
            </a:pPr>
            <a:r>
              <a:rPr lang="en-US" sz="1275" b="1" dirty="0">
                <a:solidFill>
                  <a:srgbClr val="FFFFFF"/>
                </a:solidFill>
                <a:latin typeface="Arial" pitchFamily="34" charset="0"/>
                <a:ea typeface="Arial" pitchFamily="34" charset="-122"/>
                <a:cs typeface="Arial" pitchFamily="34" charset="-120"/>
              </a:rPr>
              <a:t>47.30%</a:t>
            </a:r>
            <a:endParaRPr lang="en-US" sz="1275" dirty="0"/>
          </a:p>
        </p:txBody>
      </p:sp>
      <p:sp>
        <p:nvSpPr>
          <p:cNvPr id="67" name="Shape 65"/>
          <p:cNvSpPr/>
          <p:nvPr/>
        </p:nvSpPr>
        <p:spPr>
          <a:xfrm>
            <a:off x="7314406" y="5212556"/>
            <a:ext cx="4210844" cy="475297"/>
          </a:xfrm>
          <a:prstGeom prst="roundRect">
            <a:avLst>
              <a:gd name="adj" fmla="val 16032"/>
            </a:avLst>
          </a:prstGeom>
          <a:solidFill>
            <a:srgbClr val="EF4444"/>
          </a:solidFill>
          <a:ln/>
        </p:spPr>
      </p:sp>
      <p:sp>
        <p:nvSpPr>
          <p:cNvPr id="68" name="Text 66"/>
          <p:cNvSpPr/>
          <p:nvPr/>
        </p:nvSpPr>
        <p:spPr>
          <a:xfrm>
            <a:off x="7260769" y="5222081"/>
            <a:ext cx="4318119" cy="494347"/>
          </a:xfrm>
          <a:prstGeom prst="rect">
            <a:avLst/>
          </a:prstGeom>
          <a:noFill/>
          <a:ln/>
        </p:spPr>
        <p:txBody>
          <a:bodyPr wrap="square" lIns="25400" tIns="25400" rIns="25400" bIns="25400" rtlCol="0" anchor="ctr">
            <a:normAutofit/>
          </a:bodyPr>
          <a:lstStyle/>
          <a:p>
            <a:pPr algn="ctr" indent="0" marL="0">
              <a:lnSpc>
                <a:spcPct val="155000"/>
              </a:lnSpc>
              <a:buNone/>
            </a:pPr>
            <a:r>
              <a:rPr lang="en-US" sz="1275" b="1" dirty="0">
                <a:solidFill>
                  <a:srgbClr val="FFFFFF"/>
                </a:solidFill>
                <a:latin typeface="Arial" pitchFamily="34" charset="0"/>
                <a:ea typeface="Arial" pitchFamily="34" charset="-122"/>
                <a:cs typeface="Arial" pitchFamily="34" charset="-120"/>
              </a:rPr>
              <a:t>54.24%</a:t>
            </a:r>
            <a:endParaRPr lang="en-US" sz="1275" dirty="0"/>
          </a:p>
        </p:txBody>
      </p:sp>
      <p:sp>
        <p:nvSpPr>
          <p:cNvPr id="69" name="Text 67"/>
          <p:cNvSpPr/>
          <p:nvPr/>
        </p:nvSpPr>
        <p:spPr>
          <a:xfrm>
            <a:off x="609600" y="5745004"/>
            <a:ext cx="12070080"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dirty="0">
                <a:solidFill>
                  <a:srgbClr val="5B6472"/>
                </a:solidFill>
                <a:latin typeface="Arial" pitchFamily="34" charset="0"/>
                <a:ea typeface="Arial" pitchFamily="34" charset="-122"/>
                <a:cs typeface="Arial" pitchFamily="34" charset="-120"/>
              </a:rPr>
              <a:t>One notch, BBB → BB, roughly </a:t>
            </a:r>
            <a:pPr algn="l" indent="0" marL="0">
              <a:lnSpc>
                <a:spcPct val="155000"/>
              </a:lnSpc>
              <a:buNone/>
            </a:pPr>
            <a:r>
              <a:rPr lang="en-US" sz="1275" b="1" dirty="0">
                <a:solidFill>
                  <a:srgbClr val="0B1220"/>
                </a:solidFill>
                <a:latin typeface="Arial" pitchFamily="34" charset="0"/>
                <a:ea typeface="Arial" pitchFamily="34" charset="-122"/>
                <a:cs typeface="Arial" pitchFamily="34" charset="-120"/>
              </a:rPr>
              <a:t>4×'s </a:t>
            </a:r>
            <a:pPr algn="l" indent="0" marL="0">
              <a:lnSpc>
                <a:spcPct val="155000"/>
              </a:lnSpc>
              <a:buNone/>
            </a:pPr>
            <a:r>
              <a:rPr lang="en-US" sz="1275" dirty="0">
                <a:solidFill>
                  <a:srgbClr val="5B6472"/>
                </a:solidFill>
                <a:latin typeface="Arial" pitchFamily="34" charset="0"/>
                <a:ea typeface="Arial" pitchFamily="34" charset="-122"/>
                <a:cs typeface="Arial" pitchFamily="34" charset="-120"/>
              </a:rPr>
              <a:t>the 1-year default rate. The cliff at the IG/HY line is real. </a:t>
            </a:r>
            <a:pPr algn="l" indent="0" marL="0">
              <a:lnSpc>
                <a:spcPct val="155000"/>
              </a:lnSpc>
              <a:buNone/>
            </a:pPr>
            <a:r>
              <a:rPr lang="en-US" sz="1275" dirty="0">
                <a:solidFill>
                  <a:srgbClr val="94A3B8"/>
                </a:solidFill>
                <a:latin typeface="Arial" pitchFamily="34" charset="0"/>
                <a:ea typeface="Arial" pitchFamily="34" charset="-122"/>
                <a:cs typeface="Arial" pitchFamily="34" charset="-120"/>
              </a:rPr>
              <a:t>S&amp;P, 1981–2024</a:t>
            </a:r>
            <a:endParaRPr lang="en-US" sz="1275" dirty="0"/>
          </a:p>
        </p:txBody>
      </p:sp>
      <p:sp>
        <p:nvSpPr>
          <p:cNvPr id="70" name="Text 68"/>
          <p:cNvSpPr/>
          <p:nvPr/>
        </p:nvSpPr>
        <p:spPr>
          <a:xfrm>
            <a:off x="10684511" y="6056471"/>
            <a:ext cx="97409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1 · Credit</a:t>
            </a:r>
            <a:endParaRPr lang="en-US" sz="975"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2984166"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M7 · WHY RATINGS MOVE MARKETS</a:t>
            </a:r>
            <a:endParaRPr lang="en-US" sz="975" dirty="0"/>
          </a:p>
        </p:txBody>
      </p:sp>
      <p:sp>
        <p:nvSpPr>
          <p:cNvPr id="8" name="Text 6"/>
          <p:cNvSpPr/>
          <p:nvPr/>
        </p:nvSpPr>
        <p:spPr>
          <a:xfrm>
            <a:off x="609600" y="989647"/>
            <a:ext cx="5820391" cy="990600"/>
          </a:xfrm>
          <a:prstGeom prst="rect">
            <a:avLst/>
          </a:prstGeom>
          <a:noFill/>
          <a:ln/>
        </p:spPr>
        <p:txBody>
          <a:bodyPr wrap="square" lIns="25400" tIns="25400" rIns="25400" bIns="25400" rtlCol="0" anchor="t">
            <a:normAutofit/>
          </a:bodyPr>
          <a:lstStyle/>
          <a:p>
            <a:pPr algn="l" indent="0" marL="0">
              <a:lnSpc>
                <a:spcPct val="125000"/>
              </a:lnSpc>
              <a:buNone/>
            </a:pPr>
            <a:r>
              <a:rPr lang="en-US" sz="3000" b="1" spc="-60" kern="0" dirty="0">
                <a:solidFill>
                  <a:srgbClr val="0B1220"/>
                </a:solidFill>
                <a:latin typeface="Arial" pitchFamily="34" charset="0"/>
                <a:ea typeface="Arial" pitchFamily="34" charset="-122"/>
                <a:cs typeface="Arial" pitchFamily="34" charset="-120"/>
              </a:rPr>
              <a:t>Ratings set yields — and once set them on fire</a:t>
            </a:r>
            <a:endParaRPr lang="en-US" sz="3000" dirty="0"/>
          </a:p>
        </p:txBody>
      </p:sp>
      <p:sp>
        <p:nvSpPr>
          <p:cNvPr id="9" name="Text 7"/>
          <p:cNvSpPr/>
          <p:nvPr/>
        </p:nvSpPr>
        <p:spPr>
          <a:xfrm>
            <a:off x="609600" y="2094547"/>
            <a:ext cx="6931622"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5B6472"/>
                </a:solidFill>
                <a:latin typeface="Arial" pitchFamily="34" charset="0"/>
                <a:ea typeface="Arial" pitchFamily="34" charset="-122"/>
                <a:cs typeface="Arial" pitchFamily="34" charset="-120"/>
              </a:rPr>
              <a:t>A rating drives the credit spread — the extra yield a bond pays over a same-maturity Treasury.</a:t>
            </a:r>
            <a:endParaRPr lang="en-US" sz="1500" dirty="0"/>
          </a:p>
        </p:txBody>
      </p:sp>
      <p:sp>
        <p:nvSpPr>
          <p:cNvPr id="10" name="Shape 8"/>
          <p:cNvSpPr/>
          <p:nvPr/>
        </p:nvSpPr>
        <p:spPr>
          <a:xfrm>
            <a:off x="609600" y="3084195"/>
            <a:ext cx="85725" cy="85725"/>
          </a:xfrm>
          <a:prstGeom prst="roundRect">
            <a:avLst>
              <a:gd name="adj" fmla="val 33333"/>
            </a:avLst>
          </a:prstGeom>
          <a:solidFill>
            <a:srgbClr val="4F46E5"/>
          </a:solidFill>
          <a:ln/>
        </p:spPr>
      </p:sp>
      <p:sp>
        <p:nvSpPr>
          <p:cNvPr id="11" name="Text 9"/>
          <p:cNvSpPr/>
          <p:nvPr/>
        </p:nvSpPr>
        <p:spPr>
          <a:xfrm>
            <a:off x="809625" y="3019425"/>
            <a:ext cx="9238361" cy="244792"/>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Lower grade → higher spread. Mid-2026: IG ~0.74%, BB ~1.56%, CCC &amp; lower ~9.47% over Treasuries.</a:t>
            </a:r>
            <a:endParaRPr lang="en-US" sz="1350" dirty="0"/>
          </a:p>
        </p:txBody>
      </p:sp>
      <p:sp>
        <p:nvSpPr>
          <p:cNvPr id="12" name="Text 10"/>
          <p:cNvSpPr/>
          <p:nvPr/>
        </p:nvSpPr>
        <p:spPr>
          <a:xfrm>
            <a:off x="708025" y="3331845"/>
            <a:ext cx="8576310"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A fat spread is pay for real default risk — not free money</a:t>
            </a:r>
            <a:endParaRPr lang="en-US" sz="1125" dirty="0"/>
          </a:p>
        </p:txBody>
      </p:sp>
      <p:sp>
        <p:nvSpPr>
          <p:cNvPr id="13" name="Shape 11"/>
          <p:cNvSpPr/>
          <p:nvPr/>
        </p:nvSpPr>
        <p:spPr>
          <a:xfrm>
            <a:off x="609600" y="3799999"/>
            <a:ext cx="85725" cy="85725"/>
          </a:xfrm>
          <a:prstGeom prst="roundRect">
            <a:avLst>
              <a:gd name="adj" fmla="val 33333"/>
            </a:avLst>
          </a:prstGeom>
          <a:solidFill>
            <a:srgbClr val="4F46E5"/>
          </a:solidFill>
          <a:ln/>
        </p:spPr>
      </p:sp>
      <p:sp>
        <p:nvSpPr>
          <p:cNvPr id="14" name="Text 12"/>
          <p:cNvSpPr/>
          <p:nvPr/>
        </p:nvSpPr>
        <p:spPr>
          <a:xfrm>
            <a:off x="809625" y="3705701"/>
            <a:ext cx="9159780" cy="303847"/>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Issuer-pays conflict: since the 1970s the bond issuer pays for its own rating, inviting 'ratings shopping'.</a:t>
            </a:r>
            <a:endParaRPr lang="en-US" sz="1350" dirty="0"/>
          </a:p>
        </p:txBody>
      </p:sp>
      <p:sp>
        <p:nvSpPr>
          <p:cNvPr id="15" name="Shape 13"/>
          <p:cNvSpPr/>
          <p:nvPr/>
        </p:nvSpPr>
        <p:spPr>
          <a:xfrm>
            <a:off x="609600" y="4218146"/>
            <a:ext cx="85725" cy="85725"/>
          </a:xfrm>
          <a:prstGeom prst="roundRect">
            <a:avLst>
              <a:gd name="adj" fmla="val 33333"/>
            </a:avLst>
          </a:prstGeom>
          <a:solidFill>
            <a:srgbClr val="4F46E5"/>
          </a:solidFill>
          <a:ln/>
        </p:spPr>
      </p:sp>
      <p:sp>
        <p:nvSpPr>
          <p:cNvPr id="16" name="Text 14"/>
          <p:cNvSpPr/>
          <p:nvPr/>
        </p:nvSpPr>
        <p:spPr>
          <a:xfrm>
            <a:off x="809625" y="4123849"/>
            <a:ext cx="10702766" cy="303848"/>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2008: agencies stamped mortgage bonds AAA, then mass-downgraded them — 73% of 2006's AAA were junk by 2010.</a:t>
            </a:r>
            <a:endParaRPr lang="en-US" sz="1350" dirty="0"/>
          </a:p>
        </p:txBody>
      </p:sp>
      <p:sp>
        <p:nvSpPr>
          <p:cNvPr id="17" name="Text 15"/>
          <p:cNvSpPr/>
          <p:nvPr/>
        </p:nvSpPr>
        <p:spPr>
          <a:xfrm>
            <a:off x="10684511" y="6056471"/>
            <a:ext cx="97409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1 · Credit</a:t>
            </a:r>
            <a:endParaRPr lang="en-US" sz="975"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7FB"/>
          </a:solidFill>
          <a:ln/>
        </p:spPr>
      </p:sp>
      <p:sp>
        <p:nvSpPr>
          <p:cNvPr id="3" name="Shape 1"/>
          <p:cNvSpPr/>
          <p:nvPr/>
        </p:nvSpPr>
        <p:spPr>
          <a:xfrm>
            <a:off x="11410950" y="609600"/>
            <a:ext cx="171450" cy="17145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09600"/>
            <a:ext cx="2228215"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MARKET MOMENT · 10 MIN</a:t>
            </a:r>
            <a:endParaRPr lang="en-US" sz="975" dirty="0"/>
          </a:p>
        </p:txBody>
      </p:sp>
      <p:sp>
        <p:nvSpPr>
          <p:cNvPr id="8" name="Text 6"/>
          <p:cNvSpPr/>
          <p:nvPr/>
        </p:nvSpPr>
        <p:spPr>
          <a:xfrm>
            <a:off x="2787650" y="609600"/>
            <a:ext cx="907574"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5B6472"/>
                </a:solidFill>
                <a:latin typeface="Arial" pitchFamily="34" charset="0"/>
                <a:ea typeface="Arial" pitchFamily="34" charset="-122"/>
                <a:cs typeface="Arial" pitchFamily="34" charset="-120"/>
              </a:rPr>
              <a:t>May 16, 2025</a:t>
            </a:r>
            <a:endParaRPr lang="en-US" sz="975" dirty="0"/>
          </a:p>
        </p:txBody>
      </p:sp>
      <p:sp>
        <p:nvSpPr>
          <p:cNvPr id="9" name="Shape 7"/>
          <p:cNvSpPr/>
          <p:nvPr/>
        </p:nvSpPr>
        <p:spPr>
          <a:xfrm>
            <a:off x="609600" y="953929"/>
            <a:ext cx="10972800" cy="4950143"/>
          </a:xfrm>
          <a:prstGeom prst="roundRect">
            <a:avLst>
              <a:gd name="adj" fmla="val 2309"/>
            </a:avLst>
          </a:prstGeom>
          <a:solidFill>
            <a:srgbClr val="FFFFFF"/>
          </a:solidFill>
          <a:ln/>
          <a:effectLst>
            <a:outerShdw sx="100000" sy="100000" kx="0" ky="0" algn="bl" rotWithShape="0" blurRad="228600" dist="76200" dir="5400000">
              <a:srgbClr val="0B1220">
                <a:alpha val="8000"/>
              </a:srgbClr>
            </a:outerShdw>
          </a:effectLst>
        </p:spPr>
      </p:sp>
      <p:sp>
        <p:nvSpPr>
          <p:cNvPr id="10" name="Shape 8"/>
          <p:cNvSpPr/>
          <p:nvPr/>
        </p:nvSpPr>
        <p:spPr>
          <a:xfrm>
            <a:off x="609600" y="5897404"/>
            <a:ext cx="10972800" cy="9525"/>
          </a:xfrm>
          <a:prstGeom prst="rect">
            <a:avLst/>
          </a:prstGeom>
          <a:solidFill>
            <a:srgbClr val="E5E8F0"/>
          </a:solidFill>
          <a:ln/>
        </p:spPr>
      </p:sp>
      <p:sp>
        <p:nvSpPr>
          <p:cNvPr id="11" name="Shape 9"/>
          <p:cNvSpPr/>
          <p:nvPr/>
        </p:nvSpPr>
        <p:spPr>
          <a:xfrm>
            <a:off x="609600" y="953929"/>
            <a:ext cx="10972800" cy="9525"/>
          </a:xfrm>
          <a:prstGeom prst="rect">
            <a:avLst/>
          </a:prstGeom>
          <a:solidFill>
            <a:srgbClr val="E5E8F0"/>
          </a:solidFill>
          <a:ln/>
        </p:spPr>
      </p:sp>
      <p:sp>
        <p:nvSpPr>
          <p:cNvPr id="12" name="Shape 10"/>
          <p:cNvSpPr/>
          <p:nvPr/>
        </p:nvSpPr>
        <p:spPr>
          <a:xfrm>
            <a:off x="609600" y="953929"/>
            <a:ext cx="46673" cy="4950143"/>
          </a:xfrm>
          <a:prstGeom prst="rect">
            <a:avLst/>
          </a:prstGeom>
          <a:solidFill>
            <a:srgbClr val="4F46E5"/>
          </a:solidFill>
          <a:ln/>
        </p:spPr>
      </p:sp>
      <p:sp>
        <p:nvSpPr>
          <p:cNvPr id="13" name="Shape 11"/>
          <p:cNvSpPr/>
          <p:nvPr/>
        </p:nvSpPr>
        <p:spPr>
          <a:xfrm>
            <a:off x="11575732" y="953929"/>
            <a:ext cx="9525" cy="4950143"/>
          </a:xfrm>
          <a:prstGeom prst="rect">
            <a:avLst/>
          </a:prstGeom>
          <a:solidFill>
            <a:srgbClr val="E5E8F0"/>
          </a:solidFill>
          <a:ln/>
        </p:spPr>
      </p:sp>
      <p:sp>
        <p:nvSpPr>
          <p:cNvPr id="14" name="Text 12"/>
          <p:cNvSpPr/>
          <p:nvPr/>
        </p:nvSpPr>
        <p:spPr>
          <a:xfrm>
            <a:off x="1113472" y="1774031"/>
            <a:ext cx="6878644" cy="990600"/>
          </a:xfrm>
          <a:prstGeom prst="rect">
            <a:avLst/>
          </a:prstGeom>
          <a:noFill/>
          <a:ln/>
        </p:spPr>
        <p:txBody>
          <a:bodyPr wrap="square" lIns="25400" tIns="25400" rIns="25400" bIns="25400" rtlCol="0" anchor="t">
            <a:normAutofit/>
          </a:bodyPr>
          <a:lstStyle/>
          <a:p>
            <a:pPr algn="l" indent="0" marL="0">
              <a:lnSpc>
                <a:spcPct val="125000"/>
              </a:lnSpc>
              <a:buNone/>
            </a:pPr>
            <a:r>
              <a:rPr lang="en-US" sz="3000" b="1" spc="-60" kern="0" dirty="0">
                <a:solidFill>
                  <a:srgbClr val="0B1220"/>
                </a:solidFill>
                <a:latin typeface="Arial" pitchFamily="34" charset="0"/>
                <a:ea typeface="Arial" pitchFamily="34" charset="-122"/>
                <a:cs typeface="Arial" pitchFamily="34" charset="-120"/>
              </a:rPr>
              <a:t>Moody's strips the U.S. of its last AAA rating</a:t>
            </a:r>
            <a:endParaRPr lang="en-US" sz="3000" dirty="0"/>
          </a:p>
        </p:txBody>
      </p:sp>
      <p:sp>
        <p:nvSpPr>
          <p:cNvPr id="15" name="Text 13"/>
          <p:cNvSpPr/>
          <p:nvPr/>
        </p:nvSpPr>
        <p:spPr>
          <a:xfrm>
            <a:off x="1113472" y="2878931"/>
            <a:ext cx="7426738"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5B6472"/>
                </a:solidFill>
                <a:latin typeface="Arial" pitchFamily="34" charset="0"/>
                <a:ea typeface="Arial" pitchFamily="34" charset="-122"/>
                <a:cs typeface="Arial" pitchFamily="34" charset="-120"/>
              </a:rPr>
              <a:t>Downgraded Aaa → Aa1 — the last of the Big Three to cut the U.S. from top tier, a status it had held since 1917.</a:t>
            </a:r>
            <a:endParaRPr lang="en-US" sz="1500" dirty="0"/>
          </a:p>
        </p:txBody>
      </p:sp>
      <p:sp>
        <p:nvSpPr>
          <p:cNvPr id="16" name="Shape 14"/>
          <p:cNvSpPr/>
          <p:nvPr/>
        </p:nvSpPr>
        <p:spPr>
          <a:xfrm>
            <a:off x="1113472" y="3774281"/>
            <a:ext cx="10005060" cy="9525"/>
          </a:xfrm>
          <a:prstGeom prst="rect">
            <a:avLst/>
          </a:prstGeom>
          <a:solidFill>
            <a:srgbClr val="E5E8F0"/>
          </a:solidFill>
          <a:ln/>
        </p:spPr>
      </p:sp>
      <p:sp>
        <p:nvSpPr>
          <p:cNvPr id="17" name="Text 15"/>
          <p:cNvSpPr/>
          <p:nvPr/>
        </p:nvSpPr>
        <p:spPr>
          <a:xfrm>
            <a:off x="1113472" y="4009549"/>
            <a:ext cx="2202720" cy="451485"/>
          </a:xfrm>
          <a:prstGeom prst="rect">
            <a:avLst/>
          </a:prstGeom>
          <a:noFill/>
          <a:ln/>
        </p:spPr>
        <p:txBody>
          <a:bodyPr wrap="square" lIns="25400" tIns="25400" rIns="25400" bIns="25400" rtlCol="0" anchor="t">
            <a:normAutofit/>
          </a:bodyPr>
          <a:lstStyle/>
          <a:p>
            <a:pPr algn="l" indent="0" marL="0">
              <a:lnSpc>
                <a:spcPct val="155000"/>
              </a:lnSpc>
              <a:buNone/>
            </a:pPr>
            <a:r>
              <a:rPr lang="en-US" sz="2100" b="1" spc="-42" kern="0" dirty="0">
                <a:solidFill>
                  <a:srgbClr val="10B981"/>
                </a:solidFill>
                <a:latin typeface="Arial" pitchFamily="34" charset="0"/>
                <a:ea typeface="Arial" pitchFamily="34" charset="-122"/>
                <a:cs typeface="Arial" pitchFamily="34" charset="-120"/>
              </a:rPr>
              <a:t>▲ 5.01%</a:t>
            </a:r>
            <a:endParaRPr lang="en-US" sz="2100" dirty="0"/>
          </a:p>
        </p:txBody>
      </p:sp>
      <p:sp>
        <p:nvSpPr>
          <p:cNvPr id="18" name="Text 16"/>
          <p:cNvSpPr/>
          <p:nvPr/>
        </p:nvSpPr>
        <p:spPr>
          <a:xfrm>
            <a:off x="1113472" y="4441984"/>
            <a:ext cx="2202720"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30-yr Treasury yield, intraday</a:t>
            </a:r>
            <a:endParaRPr lang="en-US" sz="1125" dirty="0"/>
          </a:p>
        </p:txBody>
      </p:sp>
      <p:sp>
        <p:nvSpPr>
          <p:cNvPr id="19" name="Text 17"/>
          <p:cNvSpPr/>
          <p:nvPr/>
        </p:nvSpPr>
        <p:spPr>
          <a:xfrm>
            <a:off x="3420745" y="4009549"/>
            <a:ext cx="2447719" cy="451485"/>
          </a:xfrm>
          <a:prstGeom prst="rect">
            <a:avLst/>
          </a:prstGeom>
          <a:noFill/>
          <a:ln/>
        </p:spPr>
        <p:txBody>
          <a:bodyPr wrap="square" lIns="25400" tIns="25400" rIns="25400" bIns="25400" rtlCol="0" anchor="t">
            <a:normAutofit/>
          </a:bodyPr>
          <a:lstStyle/>
          <a:p>
            <a:pPr algn="l" indent="0" marL="0">
              <a:lnSpc>
                <a:spcPct val="155000"/>
              </a:lnSpc>
              <a:buNone/>
            </a:pPr>
            <a:r>
              <a:rPr lang="en-US" sz="2100" b="1" spc="-42" kern="0" dirty="0">
                <a:solidFill>
                  <a:srgbClr val="10B981"/>
                </a:solidFill>
                <a:latin typeface="Arial" pitchFamily="34" charset="0"/>
                <a:ea typeface="Arial" pitchFamily="34" charset="-122"/>
                <a:cs typeface="Arial" pitchFamily="34" charset="-120"/>
              </a:rPr>
              <a:t>▲ 6.81→6.89%</a:t>
            </a:r>
            <a:endParaRPr lang="en-US" sz="2100" dirty="0"/>
          </a:p>
        </p:txBody>
      </p:sp>
      <p:sp>
        <p:nvSpPr>
          <p:cNvPr id="20" name="Text 18"/>
          <p:cNvSpPr/>
          <p:nvPr/>
        </p:nvSpPr>
        <p:spPr>
          <a:xfrm>
            <a:off x="3420745" y="4441984"/>
            <a:ext cx="2447719"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30-yr mortgage, two weeks after</a:t>
            </a:r>
            <a:endParaRPr lang="en-US" sz="1125" dirty="0"/>
          </a:p>
        </p:txBody>
      </p:sp>
      <p:sp>
        <p:nvSpPr>
          <p:cNvPr id="21" name="Text 19"/>
          <p:cNvSpPr/>
          <p:nvPr/>
        </p:nvSpPr>
        <p:spPr>
          <a:xfrm>
            <a:off x="5950744" y="4009549"/>
            <a:ext cx="1821863" cy="451485"/>
          </a:xfrm>
          <a:prstGeom prst="rect">
            <a:avLst/>
          </a:prstGeom>
          <a:noFill/>
          <a:ln/>
        </p:spPr>
        <p:txBody>
          <a:bodyPr wrap="square" lIns="25400" tIns="25400" rIns="25400" bIns="25400" rtlCol="0" anchor="t">
            <a:normAutofit/>
          </a:bodyPr>
          <a:lstStyle/>
          <a:p>
            <a:pPr algn="l" indent="0" marL="0">
              <a:lnSpc>
                <a:spcPct val="155000"/>
              </a:lnSpc>
              <a:buNone/>
            </a:pPr>
            <a:r>
              <a:rPr lang="en-US" sz="2100" b="1" spc="-42" kern="0" dirty="0">
                <a:solidFill>
                  <a:srgbClr val="0B1220"/>
                </a:solidFill>
                <a:latin typeface="Arial" pitchFamily="34" charset="0"/>
                <a:ea typeface="Arial" pitchFamily="34" charset="-122"/>
                <a:cs typeface="Arial" pitchFamily="34" charset="-120"/>
              </a:rPr>
              <a:t>~20.1%</a:t>
            </a:r>
            <a:endParaRPr lang="en-US" sz="2100" dirty="0"/>
          </a:p>
        </p:txBody>
      </p:sp>
      <p:sp>
        <p:nvSpPr>
          <p:cNvPr id="22" name="Text 20"/>
          <p:cNvSpPr/>
          <p:nvPr/>
        </p:nvSpPr>
        <p:spPr>
          <a:xfrm>
            <a:off x="5950744" y="4441984"/>
            <a:ext cx="1821863"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average credit-card APR</a:t>
            </a:r>
            <a:endParaRPr lang="en-US" sz="1125" dirty="0"/>
          </a:p>
        </p:txBody>
      </p:sp>
      <p:sp>
        <p:nvSpPr>
          <p:cNvPr id="23" name="Text 21"/>
          <p:cNvSpPr/>
          <p:nvPr/>
        </p:nvSpPr>
        <p:spPr>
          <a:xfrm>
            <a:off x="1113472" y="4892040"/>
            <a:ext cx="11005566"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Moody's · Freddie Mac · LendingTree</a:t>
            </a:r>
            <a:endParaRPr lang="en-US" sz="975" dirty="0"/>
          </a:p>
        </p:txBody>
      </p:sp>
      <p:sp>
        <p:nvSpPr>
          <p:cNvPr id="24" name="Text 22"/>
          <p:cNvSpPr/>
          <p:nvPr/>
        </p:nvSpPr>
        <p:spPr>
          <a:xfrm>
            <a:off x="10684511" y="6056471"/>
            <a:ext cx="97409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1 · Credit</a:t>
            </a:r>
            <a:endParaRPr lang="en-US" sz="975"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09600"/>
            <a:ext cx="1207008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MARKET MOMENT · THE MECHANISM</a:t>
            </a:r>
            <a:endParaRPr lang="en-US" sz="975" dirty="0"/>
          </a:p>
        </p:txBody>
      </p:sp>
      <p:sp>
        <p:nvSpPr>
          <p:cNvPr id="8" name="Text 6"/>
          <p:cNvSpPr/>
          <p:nvPr/>
        </p:nvSpPr>
        <p:spPr>
          <a:xfrm>
            <a:off x="609600" y="915829"/>
            <a:ext cx="12070080"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60" kern="0" dirty="0">
                <a:solidFill>
                  <a:srgbClr val="0B1220"/>
                </a:solidFill>
                <a:latin typeface="Arial" pitchFamily="34" charset="0"/>
                <a:ea typeface="Arial" pitchFamily="34" charset="-122"/>
                <a:cs typeface="Arial" pitchFamily="34" charset="-120"/>
              </a:rPr>
              <a:t>What moved — and what didn't</a:t>
            </a:r>
            <a:endParaRPr lang="en-US" sz="3000" dirty="0"/>
          </a:p>
        </p:txBody>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09600" y="1392079"/>
            <a:ext cx="4953000" cy="2952750"/>
          </a:xfrm>
          <a:prstGeom prst="rect">
            <a:avLst/>
          </a:prstGeom>
        </p:spPr>
      </p:pic>
      <p:sp>
        <p:nvSpPr>
          <p:cNvPr id="10" name="Shape 7"/>
          <p:cNvSpPr/>
          <p:nvPr/>
        </p:nvSpPr>
        <p:spPr>
          <a:xfrm>
            <a:off x="685800" y="4534059"/>
            <a:ext cx="209550" cy="20003"/>
          </a:xfrm>
          <a:prstGeom prst="rect">
            <a:avLst/>
          </a:prstGeom>
          <a:solidFill>
            <a:srgbClr val="94A3B8"/>
          </a:solidFill>
          <a:ln/>
        </p:spPr>
      </p:sp>
      <p:sp>
        <p:nvSpPr>
          <p:cNvPr id="11" name="Text 8"/>
          <p:cNvSpPr/>
          <p:nvPr/>
        </p:nvSpPr>
        <p:spPr>
          <a:xfrm>
            <a:off x="971550" y="4457383"/>
            <a:ext cx="516096" cy="211455"/>
          </a:xfrm>
          <a:prstGeom prst="rect">
            <a:avLst/>
          </a:prstGeom>
          <a:noFill/>
          <a:ln/>
        </p:spPr>
        <p:txBody>
          <a:bodyPr wrap="square" lIns="0" tIns="0" rIns="0" bIns="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before</a:t>
            </a:r>
            <a:endParaRPr lang="en-US" sz="1125" dirty="0"/>
          </a:p>
        </p:txBody>
      </p:sp>
      <p:sp>
        <p:nvSpPr>
          <p:cNvPr id="12" name="Shape 9"/>
          <p:cNvSpPr/>
          <p:nvPr/>
        </p:nvSpPr>
        <p:spPr>
          <a:xfrm>
            <a:off x="1620996" y="4530725"/>
            <a:ext cx="209550" cy="26670"/>
          </a:xfrm>
          <a:prstGeom prst="rect">
            <a:avLst/>
          </a:prstGeom>
          <a:solidFill>
            <a:srgbClr val="4F46E5"/>
          </a:solidFill>
          <a:ln/>
        </p:spPr>
      </p:sp>
      <p:sp>
        <p:nvSpPr>
          <p:cNvPr id="13" name="Text 10"/>
          <p:cNvSpPr/>
          <p:nvPr/>
        </p:nvSpPr>
        <p:spPr>
          <a:xfrm>
            <a:off x="1906746" y="4457383"/>
            <a:ext cx="1474629" cy="211455"/>
          </a:xfrm>
          <a:prstGeom prst="rect">
            <a:avLst/>
          </a:prstGeom>
          <a:noFill/>
          <a:ln/>
        </p:spPr>
        <p:txBody>
          <a:bodyPr wrap="square" lIns="0" tIns="0" rIns="0" bIns="0" rtlCol="0" anchor="t">
            <a:normAutofit/>
          </a:bodyPr>
          <a:lstStyle/>
          <a:p>
            <a:pPr algn="l" indent="0" marL="0">
              <a:lnSpc>
                <a:spcPct val="155000"/>
              </a:lnSpc>
              <a:buNone/>
            </a:pPr>
            <a:r>
              <a:rPr lang="en-US" sz="1125" b="1" dirty="0">
                <a:solidFill>
                  <a:srgbClr val="0B1220"/>
                </a:solidFill>
                <a:latin typeface="Arial" pitchFamily="34" charset="0"/>
                <a:ea typeface="Arial" pitchFamily="34" charset="-122"/>
                <a:cs typeface="Arial" pitchFamily="34" charset="-120"/>
              </a:rPr>
              <a:t>after the downgrade</a:t>
            </a:r>
            <a:endParaRPr lang="en-US" sz="1125" dirty="0"/>
          </a:p>
        </p:txBody>
      </p:sp>
      <p:sp>
        <p:nvSpPr>
          <p:cNvPr id="14" name="Shape 11"/>
          <p:cNvSpPr/>
          <p:nvPr/>
        </p:nvSpPr>
        <p:spPr>
          <a:xfrm>
            <a:off x="5981700" y="1977549"/>
            <a:ext cx="5600700" cy="969645"/>
          </a:xfrm>
          <a:prstGeom prst="roundRect">
            <a:avLst>
              <a:gd name="adj" fmla="val 13752"/>
            </a:avLst>
          </a:prstGeom>
          <a:solidFill>
            <a:srgbClr val="F6F7FB"/>
          </a:solidFill>
          <a:ln/>
        </p:spPr>
      </p:sp>
      <p:sp>
        <p:nvSpPr>
          <p:cNvPr id="15" name="Shape 12"/>
          <p:cNvSpPr/>
          <p:nvPr/>
        </p:nvSpPr>
        <p:spPr>
          <a:xfrm>
            <a:off x="5981700" y="1977549"/>
            <a:ext cx="33338" cy="969645"/>
          </a:xfrm>
          <a:prstGeom prst="rect">
            <a:avLst/>
          </a:prstGeom>
          <a:solidFill>
            <a:srgbClr val="EF4444"/>
          </a:solidFill>
          <a:ln/>
        </p:spPr>
      </p:sp>
      <p:sp>
        <p:nvSpPr>
          <p:cNvPr id="16" name="Text 13"/>
          <p:cNvSpPr/>
          <p:nvPr/>
        </p:nvSpPr>
        <p:spPr>
          <a:xfrm>
            <a:off x="6205538" y="2182178"/>
            <a:ext cx="1548924" cy="318611"/>
          </a:xfrm>
          <a:prstGeom prst="rect">
            <a:avLst/>
          </a:prstGeom>
          <a:noFill/>
          <a:ln/>
        </p:spPr>
        <p:txBody>
          <a:bodyPr wrap="square" lIns="25400" tIns="25400" rIns="25400" bIns="25400" rtlCol="0" anchor="t">
            <a:normAutofit/>
          </a:bodyPr>
          <a:lstStyle/>
          <a:p>
            <a:pPr algn="l" indent="0" marL="0">
              <a:lnSpc>
                <a:spcPct val="155000"/>
              </a:lnSpc>
              <a:buNone/>
            </a:pPr>
            <a:r>
              <a:rPr lang="en-US" sz="1425" b="1" dirty="0">
                <a:solidFill>
                  <a:srgbClr val="0B1220"/>
                </a:solidFill>
                <a:latin typeface="Arial" pitchFamily="34" charset="0"/>
                <a:ea typeface="Arial" pitchFamily="34" charset="-122"/>
                <a:cs typeface="Arial" pitchFamily="34" charset="-120"/>
              </a:rPr>
              <a:t>30-yr mortgage</a:t>
            </a:r>
            <a:endParaRPr lang="en-US" sz="1425" dirty="0"/>
          </a:p>
        </p:txBody>
      </p:sp>
      <p:sp>
        <p:nvSpPr>
          <p:cNvPr id="17" name="Text 14"/>
          <p:cNvSpPr/>
          <p:nvPr/>
        </p:nvSpPr>
        <p:spPr>
          <a:xfrm>
            <a:off x="10062686" y="2168049"/>
            <a:ext cx="1462135"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dirty="0">
                <a:solidFill>
                  <a:srgbClr val="EF4444"/>
                </a:solidFill>
                <a:latin typeface="Arial" pitchFamily="34" charset="0"/>
                <a:ea typeface="Arial" pitchFamily="34" charset="-122"/>
                <a:cs typeface="Arial" pitchFamily="34" charset="-120"/>
              </a:rPr>
              <a:t>6.81 → 6.89%</a:t>
            </a:r>
            <a:endParaRPr lang="en-US" sz="1500" dirty="0"/>
          </a:p>
        </p:txBody>
      </p:sp>
      <p:sp>
        <p:nvSpPr>
          <p:cNvPr id="18" name="Text 15"/>
          <p:cNvSpPr/>
          <p:nvPr/>
        </p:nvSpPr>
        <p:spPr>
          <a:xfrm>
            <a:off x="6205538" y="2520474"/>
            <a:ext cx="5704999" cy="274320"/>
          </a:xfrm>
          <a:prstGeom prst="rect">
            <a:avLst/>
          </a:prstGeom>
          <a:noFill/>
          <a:ln/>
        </p:spPr>
        <p:txBody>
          <a:bodyPr wrap="square" lIns="25400" tIns="25400" rIns="25400" bIns="25400" rtlCol="0" anchor="t">
            <a:normAutofit/>
          </a:bodyPr>
          <a:lstStyle/>
          <a:p>
            <a:pPr algn="l" indent="0" marL="0">
              <a:lnSpc>
                <a:spcPct val="155000"/>
              </a:lnSpc>
              <a:buNone/>
            </a:pPr>
            <a:r>
              <a:rPr lang="en-US" sz="1200" dirty="0">
                <a:solidFill>
                  <a:srgbClr val="5B6472"/>
                </a:solidFill>
                <a:latin typeface="Arial" pitchFamily="34" charset="0"/>
                <a:ea typeface="Arial" pitchFamily="34" charset="-122"/>
                <a:cs typeface="Arial" pitchFamily="34" charset="-120"/>
              </a:rPr>
              <a:t>+8 bps in two weeks — it tracks the 10-yr Treasury (the long end).</a:t>
            </a:r>
            <a:endParaRPr lang="en-US" sz="1200" dirty="0"/>
          </a:p>
        </p:txBody>
      </p:sp>
      <p:sp>
        <p:nvSpPr>
          <p:cNvPr id="19" name="Shape 16"/>
          <p:cNvSpPr/>
          <p:nvPr/>
        </p:nvSpPr>
        <p:spPr>
          <a:xfrm>
            <a:off x="5981700" y="3099594"/>
            <a:ext cx="5600700" cy="969645"/>
          </a:xfrm>
          <a:prstGeom prst="roundRect">
            <a:avLst>
              <a:gd name="adj" fmla="val 13752"/>
            </a:avLst>
          </a:prstGeom>
          <a:solidFill>
            <a:srgbClr val="F6F7FB"/>
          </a:solidFill>
          <a:ln/>
        </p:spPr>
      </p:sp>
      <p:sp>
        <p:nvSpPr>
          <p:cNvPr id="20" name="Shape 17"/>
          <p:cNvSpPr/>
          <p:nvPr/>
        </p:nvSpPr>
        <p:spPr>
          <a:xfrm>
            <a:off x="5981700" y="3099594"/>
            <a:ext cx="33338" cy="969645"/>
          </a:xfrm>
          <a:prstGeom prst="rect">
            <a:avLst/>
          </a:prstGeom>
          <a:solidFill>
            <a:srgbClr val="94A3B8"/>
          </a:solidFill>
          <a:ln/>
        </p:spPr>
      </p:sp>
      <p:sp>
        <p:nvSpPr>
          <p:cNvPr id="21" name="Text 18"/>
          <p:cNvSpPr/>
          <p:nvPr/>
        </p:nvSpPr>
        <p:spPr>
          <a:xfrm>
            <a:off x="6205538" y="3304222"/>
            <a:ext cx="1575991" cy="318611"/>
          </a:xfrm>
          <a:prstGeom prst="rect">
            <a:avLst/>
          </a:prstGeom>
          <a:noFill/>
          <a:ln/>
        </p:spPr>
        <p:txBody>
          <a:bodyPr wrap="square" lIns="25400" tIns="25400" rIns="25400" bIns="25400" rtlCol="0" anchor="t">
            <a:normAutofit/>
          </a:bodyPr>
          <a:lstStyle/>
          <a:p>
            <a:pPr algn="l" indent="0" marL="0">
              <a:lnSpc>
                <a:spcPct val="155000"/>
              </a:lnSpc>
              <a:buNone/>
            </a:pPr>
            <a:r>
              <a:rPr lang="en-US" sz="1425" b="1" dirty="0">
                <a:solidFill>
                  <a:srgbClr val="0B1220"/>
                </a:solidFill>
                <a:latin typeface="Arial" pitchFamily="34" charset="0"/>
                <a:ea typeface="Arial" pitchFamily="34" charset="-122"/>
                <a:cs typeface="Arial" pitchFamily="34" charset="-120"/>
              </a:rPr>
              <a:t>Credit-card APR</a:t>
            </a:r>
            <a:endParaRPr lang="en-US" sz="1425" dirty="0"/>
          </a:p>
        </p:txBody>
      </p:sp>
      <p:sp>
        <p:nvSpPr>
          <p:cNvPr id="22" name="Text 19"/>
          <p:cNvSpPr/>
          <p:nvPr/>
        </p:nvSpPr>
        <p:spPr>
          <a:xfrm>
            <a:off x="10652601" y="3290094"/>
            <a:ext cx="815499"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dirty="0">
                <a:solidFill>
                  <a:srgbClr val="5B6472"/>
                </a:solidFill>
                <a:latin typeface="Arial" pitchFamily="34" charset="0"/>
                <a:ea typeface="Arial" pitchFamily="34" charset="-122"/>
                <a:cs typeface="Arial" pitchFamily="34" charset="-120"/>
              </a:rPr>
              <a:t>~20.1%</a:t>
            </a:r>
            <a:endParaRPr lang="en-US" sz="1500" dirty="0"/>
          </a:p>
        </p:txBody>
      </p:sp>
      <p:sp>
        <p:nvSpPr>
          <p:cNvPr id="23" name="Text 20"/>
          <p:cNvSpPr/>
          <p:nvPr/>
        </p:nvSpPr>
        <p:spPr>
          <a:xfrm>
            <a:off x="6205538" y="3642519"/>
            <a:ext cx="5704999" cy="274320"/>
          </a:xfrm>
          <a:prstGeom prst="rect">
            <a:avLst/>
          </a:prstGeom>
          <a:noFill/>
          <a:ln/>
        </p:spPr>
        <p:txBody>
          <a:bodyPr wrap="square" lIns="25400" tIns="25400" rIns="25400" bIns="25400" rtlCol="0" anchor="t">
            <a:normAutofit/>
          </a:bodyPr>
          <a:lstStyle/>
          <a:p>
            <a:pPr algn="l" indent="0" marL="0">
              <a:lnSpc>
                <a:spcPct val="155000"/>
              </a:lnSpc>
              <a:buNone/>
            </a:pPr>
            <a:r>
              <a:rPr lang="en-US" sz="1200" dirty="0">
                <a:solidFill>
                  <a:srgbClr val="5B6472"/>
                </a:solidFill>
                <a:latin typeface="Arial" pitchFamily="34" charset="0"/>
                <a:ea typeface="Arial" pitchFamily="34" charset="-122"/>
                <a:cs typeface="Arial" pitchFamily="34" charset="-120"/>
              </a:rPr>
              <a:t>Barely moved — cards track Prime / the Fed (the short end).</a:t>
            </a:r>
            <a:endParaRPr lang="en-US" sz="1200" dirty="0"/>
          </a:p>
        </p:txBody>
      </p:sp>
      <p:sp>
        <p:nvSpPr>
          <p:cNvPr id="24" name="Shape 21"/>
          <p:cNvSpPr/>
          <p:nvPr/>
        </p:nvSpPr>
        <p:spPr>
          <a:xfrm>
            <a:off x="609600" y="4769168"/>
            <a:ext cx="10972800" cy="827723"/>
          </a:xfrm>
          <a:prstGeom prst="roundRect">
            <a:avLst>
              <a:gd name="adj" fmla="val 16110"/>
            </a:avLst>
          </a:prstGeom>
          <a:solidFill>
            <a:srgbClr val="EEF2FF"/>
          </a:solidFill>
          <a:ln/>
        </p:spPr>
      </p:sp>
      <p:sp>
        <p:nvSpPr>
          <p:cNvPr id="25" name="Text 22"/>
          <p:cNvSpPr/>
          <p:nvPr/>
        </p:nvSpPr>
        <p:spPr>
          <a:xfrm>
            <a:off x="819150" y="4961573"/>
            <a:ext cx="2389219"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b="1" spc="68" kern="0" dirty="0">
                <a:solidFill>
                  <a:srgbClr val="4F46E5"/>
                </a:solidFill>
                <a:latin typeface="Arial" pitchFamily="34" charset="0"/>
                <a:ea typeface="Arial" pitchFamily="34" charset="-122"/>
                <a:cs typeface="Arial" pitchFamily="34" charset="-120"/>
              </a:rPr>
              <a:t>WHAT A RATE MOVE COSTS</a:t>
            </a:r>
            <a:endParaRPr lang="en-US" sz="1125" dirty="0"/>
          </a:p>
        </p:txBody>
      </p:sp>
      <p:sp>
        <p:nvSpPr>
          <p:cNvPr id="26" name="Text 23"/>
          <p:cNvSpPr/>
          <p:nvPr/>
        </p:nvSpPr>
        <p:spPr>
          <a:xfrm>
            <a:off x="819150" y="5183029"/>
            <a:ext cx="2389219"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$400,000 · 30-year loan</a:t>
            </a:r>
            <a:endParaRPr lang="en-US" sz="1125" dirty="0"/>
          </a:p>
        </p:txBody>
      </p:sp>
      <p:sp>
        <p:nvSpPr>
          <p:cNvPr id="27" name="Text 24"/>
          <p:cNvSpPr/>
          <p:nvPr/>
        </p:nvSpPr>
        <p:spPr>
          <a:xfrm>
            <a:off x="7676991" y="4902518"/>
            <a:ext cx="962819" cy="392430"/>
          </a:xfrm>
          <a:prstGeom prst="rect">
            <a:avLst/>
          </a:prstGeom>
          <a:noFill/>
          <a:ln/>
        </p:spPr>
        <p:txBody>
          <a:bodyPr wrap="square" lIns="25400" tIns="25400" rIns="25400" bIns="25400" rtlCol="0" anchor="t">
            <a:normAutofit/>
          </a:bodyPr>
          <a:lstStyle/>
          <a:p>
            <a:pPr algn="ctr" indent="0" marL="0">
              <a:lnSpc>
                <a:spcPct val="155000"/>
              </a:lnSpc>
              <a:buNone/>
            </a:pPr>
            <a:r>
              <a:rPr lang="en-US" sz="1800" b="1" dirty="0">
                <a:solidFill>
                  <a:srgbClr val="0B1220"/>
                </a:solidFill>
                <a:latin typeface="Arial" pitchFamily="34" charset="0"/>
                <a:ea typeface="Arial" pitchFamily="34" charset="-122"/>
                <a:cs typeface="Arial" pitchFamily="34" charset="-120"/>
              </a:rPr>
              <a:t>+0.25%</a:t>
            </a:r>
            <a:endParaRPr lang="en-US" sz="1800" dirty="0"/>
          </a:p>
        </p:txBody>
      </p:sp>
      <p:sp>
        <p:nvSpPr>
          <p:cNvPr id="28" name="Text 25"/>
          <p:cNvSpPr/>
          <p:nvPr/>
        </p:nvSpPr>
        <p:spPr>
          <a:xfrm>
            <a:off x="7676991" y="5256848"/>
            <a:ext cx="962819" cy="244793"/>
          </a:xfrm>
          <a:prstGeom prst="rect">
            <a:avLst/>
          </a:prstGeom>
          <a:noFill/>
          <a:ln/>
        </p:spPr>
        <p:txBody>
          <a:bodyPr wrap="square" lIns="25400" tIns="25400" rIns="25400" bIns="25400" rtlCol="0" anchor="t">
            <a:normAutofit/>
          </a:bodyPr>
          <a:lstStyle/>
          <a:p>
            <a:pPr algn="ctr" indent="0" marL="0">
              <a:lnSpc>
                <a:spcPct val="155000"/>
              </a:lnSpc>
              <a:buNone/>
            </a:pPr>
            <a:r>
              <a:rPr lang="en-US" sz="1050" dirty="0">
                <a:solidFill>
                  <a:srgbClr val="5B6472"/>
                </a:solidFill>
                <a:latin typeface="Arial" pitchFamily="34" charset="0"/>
                <a:ea typeface="Arial" pitchFamily="34" charset="-122"/>
                <a:cs typeface="Arial" pitchFamily="34" charset="-120"/>
              </a:rPr>
              <a:t>rate</a:t>
            </a:r>
            <a:endParaRPr lang="en-US" sz="1050" dirty="0"/>
          </a:p>
        </p:txBody>
      </p:sp>
      <p:sp>
        <p:nvSpPr>
          <p:cNvPr id="29" name="Text 26"/>
          <p:cNvSpPr/>
          <p:nvPr/>
        </p:nvSpPr>
        <p:spPr>
          <a:xfrm>
            <a:off x="8754110" y="5020627"/>
            <a:ext cx="285750" cy="362902"/>
          </a:xfrm>
          <a:prstGeom prst="rect">
            <a:avLst/>
          </a:prstGeom>
          <a:noFill/>
          <a:ln/>
        </p:spPr>
        <p:txBody>
          <a:bodyPr wrap="square" lIns="25400" tIns="25400" rIns="25400" bIns="25400" rtlCol="0" anchor="t">
            <a:normAutofit/>
          </a:bodyPr>
          <a:lstStyle/>
          <a:p>
            <a:pPr algn="l" indent="0" marL="0">
              <a:lnSpc>
                <a:spcPct val="155000"/>
              </a:lnSpc>
              <a:buNone/>
            </a:pPr>
            <a:r>
              <a:rPr lang="en-US" sz="1650" dirty="0">
                <a:solidFill>
                  <a:srgbClr val="94A3B8"/>
                </a:solidFill>
                <a:latin typeface="Arial" pitchFamily="34" charset="0"/>
                <a:ea typeface="Arial" pitchFamily="34" charset="-122"/>
                <a:cs typeface="Arial" pitchFamily="34" charset="-120"/>
              </a:rPr>
              <a:t>→</a:t>
            </a:r>
            <a:endParaRPr lang="en-US" sz="1650" dirty="0"/>
          </a:p>
        </p:txBody>
      </p:sp>
      <p:sp>
        <p:nvSpPr>
          <p:cNvPr id="30" name="Text 27"/>
          <p:cNvSpPr/>
          <p:nvPr/>
        </p:nvSpPr>
        <p:spPr>
          <a:xfrm>
            <a:off x="9077960" y="4902518"/>
            <a:ext cx="721360" cy="392430"/>
          </a:xfrm>
          <a:prstGeom prst="rect">
            <a:avLst/>
          </a:prstGeom>
          <a:noFill/>
          <a:ln/>
        </p:spPr>
        <p:txBody>
          <a:bodyPr wrap="square" lIns="25400" tIns="25400" rIns="25400" bIns="25400" rtlCol="0" anchor="t">
            <a:normAutofit/>
          </a:bodyPr>
          <a:lstStyle/>
          <a:p>
            <a:pPr algn="ctr" indent="0" marL="0">
              <a:lnSpc>
                <a:spcPct val="155000"/>
              </a:lnSpc>
              <a:buNone/>
            </a:pPr>
            <a:r>
              <a:rPr lang="en-US" sz="1800" b="1" dirty="0">
                <a:solidFill>
                  <a:srgbClr val="0B1220"/>
                </a:solidFill>
                <a:latin typeface="Arial" pitchFamily="34" charset="0"/>
                <a:ea typeface="Arial" pitchFamily="34" charset="-122"/>
                <a:cs typeface="Arial" pitchFamily="34" charset="-120"/>
              </a:rPr>
              <a:t>+$67</a:t>
            </a:r>
            <a:endParaRPr lang="en-US" sz="1800" dirty="0"/>
          </a:p>
        </p:txBody>
      </p:sp>
      <p:sp>
        <p:nvSpPr>
          <p:cNvPr id="31" name="Text 28"/>
          <p:cNvSpPr/>
          <p:nvPr/>
        </p:nvSpPr>
        <p:spPr>
          <a:xfrm>
            <a:off x="9077960" y="5256848"/>
            <a:ext cx="721360" cy="244793"/>
          </a:xfrm>
          <a:prstGeom prst="rect">
            <a:avLst/>
          </a:prstGeom>
          <a:noFill/>
          <a:ln/>
        </p:spPr>
        <p:txBody>
          <a:bodyPr wrap="square" lIns="25400" tIns="25400" rIns="25400" bIns="25400" rtlCol="0" anchor="t">
            <a:normAutofit/>
          </a:bodyPr>
          <a:lstStyle/>
          <a:p>
            <a:pPr algn="ctr" indent="0" marL="0">
              <a:lnSpc>
                <a:spcPct val="155000"/>
              </a:lnSpc>
              <a:buNone/>
            </a:pPr>
            <a:r>
              <a:rPr lang="en-US" sz="1050" dirty="0">
                <a:solidFill>
                  <a:srgbClr val="5B6472"/>
                </a:solidFill>
                <a:latin typeface="Arial" pitchFamily="34" charset="0"/>
                <a:ea typeface="Arial" pitchFamily="34" charset="-122"/>
                <a:cs typeface="Arial" pitchFamily="34" charset="-120"/>
              </a:rPr>
              <a:t>per month</a:t>
            </a:r>
            <a:endParaRPr lang="en-US" sz="1050" dirty="0"/>
          </a:p>
        </p:txBody>
      </p:sp>
      <p:sp>
        <p:nvSpPr>
          <p:cNvPr id="32" name="Text 29"/>
          <p:cNvSpPr/>
          <p:nvPr/>
        </p:nvSpPr>
        <p:spPr>
          <a:xfrm>
            <a:off x="9913620" y="5020627"/>
            <a:ext cx="285750" cy="362902"/>
          </a:xfrm>
          <a:prstGeom prst="rect">
            <a:avLst/>
          </a:prstGeom>
          <a:noFill/>
          <a:ln/>
        </p:spPr>
        <p:txBody>
          <a:bodyPr wrap="square" lIns="25400" tIns="25400" rIns="25400" bIns="25400" rtlCol="0" anchor="t">
            <a:normAutofit/>
          </a:bodyPr>
          <a:lstStyle/>
          <a:p>
            <a:pPr algn="l" indent="0" marL="0">
              <a:lnSpc>
                <a:spcPct val="155000"/>
              </a:lnSpc>
              <a:buNone/>
            </a:pPr>
            <a:r>
              <a:rPr lang="en-US" sz="1650" dirty="0">
                <a:solidFill>
                  <a:srgbClr val="94A3B8"/>
                </a:solidFill>
                <a:latin typeface="Arial" pitchFamily="34" charset="0"/>
                <a:ea typeface="Arial" pitchFamily="34" charset="-122"/>
                <a:cs typeface="Arial" pitchFamily="34" charset="-120"/>
              </a:rPr>
              <a:t>→</a:t>
            </a:r>
            <a:endParaRPr lang="en-US" sz="1650" dirty="0"/>
          </a:p>
        </p:txBody>
      </p:sp>
      <p:sp>
        <p:nvSpPr>
          <p:cNvPr id="33" name="Text 30"/>
          <p:cNvSpPr/>
          <p:nvPr/>
        </p:nvSpPr>
        <p:spPr>
          <a:xfrm>
            <a:off x="10237470" y="4902518"/>
            <a:ext cx="1173480" cy="392430"/>
          </a:xfrm>
          <a:prstGeom prst="rect">
            <a:avLst/>
          </a:prstGeom>
          <a:noFill/>
          <a:ln/>
        </p:spPr>
        <p:txBody>
          <a:bodyPr wrap="square" lIns="25400" tIns="25400" rIns="25400" bIns="25400" rtlCol="0" anchor="t">
            <a:normAutofit/>
          </a:bodyPr>
          <a:lstStyle/>
          <a:p>
            <a:pPr algn="ctr" indent="0" marL="0">
              <a:lnSpc>
                <a:spcPct val="155000"/>
              </a:lnSpc>
              <a:buNone/>
            </a:pPr>
            <a:r>
              <a:rPr lang="en-US" sz="1800" b="1" dirty="0">
                <a:solidFill>
                  <a:srgbClr val="EF4444"/>
                </a:solidFill>
                <a:latin typeface="Arial" pitchFamily="34" charset="0"/>
                <a:ea typeface="Arial" pitchFamily="34" charset="-122"/>
                <a:cs typeface="Arial" pitchFamily="34" charset="-120"/>
              </a:rPr>
              <a:t>+$24,000</a:t>
            </a:r>
            <a:endParaRPr lang="en-US" sz="1800" dirty="0"/>
          </a:p>
        </p:txBody>
      </p:sp>
      <p:sp>
        <p:nvSpPr>
          <p:cNvPr id="34" name="Text 31"/>
          <p:cNvSpPr/>
          <p:nvPr/>
        </p:nvSpPr>
        <p:spPr>
          <a:xfrm>
            <a:off x="10237470" y="5256848"/>
            <a:ext cx="1173480" cy="244793"/>
          </a:xfrm>
          <a:prstGeom prst="rect">
            <a:avLst/>
          </a:prstGeom>
          <a:noFill/>
          <a:ln/>
        </p:spPr>
        <p:txBody>
          <a:bodyPr wrap="square" lIns="25400" tIns="25400" rIns="25400" bIns="25400" rtlCol="0" anchor="t">
            <a:normAutofit/>
          </a:bodyPr>
          <a:lstStyle/>
          <a:p>
            <a:pPr algn="ctr" indent="0" marL="0">
              <a:lnSpc>
                <a:spcPct val="155000"/>
              </a:lnSpc>
              <a:buNone/>
            </a:pPr>
            <a:r>
              <a:rPr lang="en-US" sz="1050" dirty="0">
                <a:solidFill>
                  <a:srgbClr val="5B6472"/>
                </a:solidFill>
                <a:latin typeface="Arial" pitchFamily="34" charset="0"/>
                <a:ea typeface="Arial" pitchFamily="34" charset="-122"/>
                <a:cs typeface="Arial" pitchFamily="34" charset="-120"/>
              </a:rPr>
              <a:t>over the loan</a:t>
            </a:r>
            <a:endParaRPr lang="en-US" sz="1050" dirty="0"/>
          </a:p>
        </p:txBody>
      </p:sp>
      <p:sp>
        <p:nvSpPr>
          <p:cNvPr id="35" name="Text 32"/>
          <p:cNvSpPr/>
          <p:nvPr/>
        </p:nvSpPr>
        <p:spPr>
          <a:xfrm>
            <a:off x="609600" y="5692140"/>
            <a:ext cx="12070080"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dirty="0">
                <a:solidFill>
                  <a:srgbClr val="5B6472"/>
                </a:solidFill>
                <a:latin typeface="Arial" pitchFamily="34" charset="0"/>
                <a:ea typeface="Arial" pitchFamily="34" charset="-122"/>
                <a:cs typeface="Arial" pitchFamily="34" charset="-120"/>
              </a:rPr>
              <a:t>A sovereign downgrade lifts the long end, so the curve </a:t>
            </a:r>
            <a:pPr algn="l" indent="0" marL="0">
              <a:lnSpc>
                <a:spcPct val="155000"/>
              </a:lnSpc>
              <a:buNone/>
            </a:pPr>
            <a:r>
              <a:rPr lang="en-US" sz="1275" b="1" dirty="0">
                <a:solidFill>
                  <a:srgbClr val="0B1220"/>
                </a:solidFill>
                <a:latin typeface="Arial" pitchFamily="34" charset="0"/>
                <a:ea typeface="Arial" pitchFamily="34" charset="-122"/>
                <a:cs typeface="Arial" pitchFamily="34" charset="-120"/>
              </a:rPr>
              <a:t>steepens </a:t>
            </a:r>
            <a:pPr algn="l" indent="0" marL="0">
              <a:lnSpc>
                <a:spcPct val="155000"/>
              </a:lnSpc>
              <a:buNone/>
            </a:pPr>
            <a:r>
              <a:rPr lang="en-US" sz="1275" dirty="0">
                <a:solidFill>
                  <a:srgbClr val="5B6472"/>
                </a:solidFill>
                <a:latin typeface="Arial" pitchFamily="34" charset="0"/>
                <a:ea typeface="Arial" pitchFamily="34" charset="-122"/>
                <a:cs typeface="Arial" pitchFamily="34" charset="-120"/>
              </a:rPr>
              <a:t>— mortgages move, cards don't.</a:t>
            </a:r>
            <a:endParaRPr lang="en-US" sz="1275" dirty="0"/>
          </a:p>
        </p:txBody>
      </p:sp>
      <p:sp>
        <p:nvSpPr>
          <p:cNvPr id="36" name="Text 33"/>
          <p:cNvSpPr/>
          <p:nvPr/>
        </p:nvSpPr>
        <p:spPr>
          <a:xfrm>
            <a:off x="10684511" y="6056471"/>
            <a:ext cx="97409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1 · Credit</a:t>
            </a:r>
            <a:endParaRPr lang="en-US" sz="975"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1220"/>
          </a:solidFill>
          <a:ln/>
        </p:spPr>
      </p:sp>
      <p:sp>
        <p:nvSpPr>
          <p:cNvPr id="3" name="Text 1"/>
          <p:cNvSpPr/>
          <p:nvPr/>
        </p:nvSpPr>
        <p:spPr>
          <a:xfrm>
            <a:off x="609600" y="2151380"/>
            <a:ext cx="12070080" cy="647700"/>
          </a:xfrm>
          <a:prstGeom prst="rect">
            <a:avLst/>
          </a:prstGeom>
          <a:noFill/>
          <a:ln/>
        </p:spPr>
        <p:txBody>
          <a:bodyPr wrap="square" lIns="25400" tIns="25400" rIns="25400" bIns="25400" rtlCol="0" anchor="t">
            <a:normAutofit/>
          </a:bodyPr>
          <a:lstStyle/>
          <a:p>
            <a:pPr algn="l" indent="0" marL="0">
              <a:lnSpc>
                <a:spcPct val="60000"/>
              </a:lnSpc>
              <a:buNone/>
            </a:pPr>
            <a:r>
              <a:rPr lang="en-US" sz="10800" b="1" dirty="0">
                <a:solidFill>
                  <a:srgbClr val="C7D2FE"/>
                </a:solidFill>
                <a:latin typeface="Arial" pitchFamily="34" charset="0"/>
                <a:ea typeface="Arial" pitchFamily="34" charset="-122"/>
                <a:cs typeface="Arial" pitchFamily="34" charset="-120"/>
              </a:rPr>
              <a:t>“</a:t>
            </a:r>
            <a:endParaRPr lang="en-US" sz="10800" dirty="0"/>
          </a:p>
        </p:txBody>
      </p:sp>
      <p:sp>
        <p:nvSpPr>
          <p:cNvPr id="4" name="Text 2"/>
          <p:cNvSpPr/>
          <p:nvPr/>
        </p:nvSpPr>
        <p:spPr>
          <a:xfrm>
            <a:off x="609600" y="2913380"/>
            <a:ext cx="6212167" cy="990600"/>
          </a:xfrm>
          <a:prstGeom prst="rect">
            <a:avLst/>
          </a:prstGeom>
          <a:noFill/>
          <a:ln/>
        </p:spPr>
        <p:txBody>
          <a:bodyPr wrap="square" lIns="25400" tIns="25400" rIns="25400" bIns="25400" rtlCol="0" anchor="t">
            <a:normAutofit/>
          </a:bodyPr>
          <a:lstStyle/>
          <a:p>
            <a:pPr algn="l" indent="0" marL="0">
              <a:lnSpc>
                <a:spcPct val="125000"/>
              </a:lnSpc>
              <a:buNone/>
            </a:pPr>
            <a:r>
              <a:rPr lang="en-US" sz="3000" b="1" spc="-60" kern="0" dirty="0">
                <a:solidFill>
                  <a:srgbClr val="FFFFFF"/>
                </a:solidFill>
                <a:latin typeface="Arial" pitchFamily="34" charset="0"/>
                <a:ea typeface="Arial" pitchFamily="34" charset="-122"/>
                <a:cs typeface="Arial" pitchFamily="34" charset="-120"/>
              </a:rPr>
              <a:t>A sovereign credit rating is just a credit score for a country.</a:t>
            </a:r>
            <a:endParaRPr lang="en-US" sz="3000" dirty="0"/>
          </a:p>
        </p:txBody>
      </p:sp>
      <p:sp>
        <p:nvSpPr>
          <p:cNvPr id="5" name="Text 3"/>
          <p:cNvSpPr/>
          <p:nvPr/>
        </p:nvSpPr>
        <p:spPr>
          <a:xfrm>
            <a:off x="609600" y="4170680"/>
            <a:ext cx="12070080"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dirty="0">
                <a:solidFill>
                  <a:srgbClr val="FFFFFF"/>
                </a:solidFill>
                <a:latin typeface="Arial" pitchFamily="34" charset="0"/>
                <a:ea typeface="Arial" pitchFamily="34" charset="-122"/>
                <a:cs typeface="Arial" pitchFamily="34" charset="-120"/>
              </a:rPr>
              <a:t>The tie-in</a:t>
            </a:r>
            <a:endParaRPr lang="en-US" sz="1500" dirty="0"/>
          </a:p>
        </p:txBody>
      </p:sp>
      <p:sp>
        <p:nvSpPr>
          <p:cNvPr id="6" name="Text 4"/>
          <p:cNvSpPr/>
          <p:nvPr/>
        </p:nvSpPr>
        <p:spPr>
          <a:xfrm>
            <a:off x="609600" y="4485005"/>
            <a:ext cx="12070080"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FFFFFF">
                    <a:alpha val="60000"/>
                  </a:srgbClr>
                </a:solidFill>
                <a:latin typeface="Arial" pitchFamily="34" charset="0"/>
                <a:ea typeface="Arial" pitchFamily="34" charset="-122"/>
                <a:cs typeface="Arial" pitchFamily="34" charset="-120"/>
              </a:rPr>
              <a:t>Aaa → Aa1 is like slipping from an 820 to ~790 — still excellent, no longer perfect.</a:t>
            </a:r>
            <a:endParaRPr lang="en-US" sz="1125"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1220"/>
          </a:solidFill>
          <a:ln/>
        </p:spPr>
      </p:sp>
      <p:sp>
        <p:nvSpPr>
          <p:cNvPr id="3" name="Text 1"/>
          <p:cNvSpPr/>
          <p:nvPr/>
        </p:nvSpPr>
        <p:spPr>
          <a:xfrm>
            <a:off x="609600" y="685800"/>
            <a:ext cx="2400744"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C7D2FE"/>
                </a:solidFill>
                <a:latin typeface="Arial" pitchFamily="34" charset="0"/>
                <a:ea typeface="Arial" pitchFamily="34" charset="-122"/>
                <a:cs typeface="Arial" pitchFamily="34" charset="-120"/>
              </a:rPr>
              <a:t>MARKET MOMENT · DISCUSS</a:t>
            </a:r>
            <a:endParaRPr lang="en-US" sz="975" dirty="0"/>
          </a:p>
        </p:txBody>
      </p:sp>
      <p:sp>
        <p:nvSpPr>
          <p:cNvPr id="4" name="Text 2"/>
          <p:cNvSpPr/>
          <p:nvPr/>
        </p:nvSpPr>
        <p:spPr>
          <a:xfrm>
            <a:off x="609600" y="989647"/>
            <a:ext cx="12070080" cy="628650"/>
          </a:xfrm>
          <a:prstGeom prst="rect">
            <a:avLst/>
          </a:prstGeom>
          <a:noFill/>
          <a:ln/>
        </p:spPr>
        <p:txBody>
          <a:bodyPr wrap="square" lIns="25400" tIns="25400" rIns="25400" bIns="25400" rtlCol="0" anchor="t">
            <a:normAutofit/>
          </a:bodyPr>
          <a:lstStyle/>
          <a:p>
            <a:pPr algn="l" indent="0" marL="0">
              <a:lnSpc>
                <a:spcPct val="155000"/>
              </a:lnSpc>
              <a:buNone/>
            </a:pPr>
            <a:r>
              <a:rPr lang="en-US" sz="3000" b="1" spc="-60" kern="0" dirty="0">
                <a:solidFill>
                  <a:srgbClr val="FFFFFF"/>
                </a:solidFill>
                <a:latin typeface="Arial" pitchFamily="34" charset="0"/>
                <a:ea typeface="Arial" pitchFamily="34" charset="-122"/>
                <a:cs typeface="Arial" pitchFamily="34" charset="-120"/>
              </a:rPr>
              <a:t>Talk it through</a:t>
            </a:r>
            <a:endParaRPr lang="en-US" sz="3000" dirty="0"/>
          </a:p>
        </p:txBody>
      </p:sp>
      <p:sp>
        <p:nvSpPr>
          <p:cNvPr id="5" name="Shape 3"/>
          <p:cNvSpPr/>
          <p:nvPr/>
        </p:nvSpPr>
        <p:spPr>
          <a:xfrm>
            <a:off x="609600" y="1884997"/>
            <a:ext cx="381000" cy="381000"/>
          </a:xfrm>
          <a:prstGeom prst="ellipse">
            <a:avLst/>
          </a:prstGeom>
          <a:ln w="6667">
            <a:solidFill>
              <a:srgbClr val="FFFFFF">
                <a:alpha val="18000"/>
              </a:srgbClr>
            </a:solidFill>
            <a:prstDash val="solid"/>
          </a:ln>
        </p:spPr>
      </p:sp>
      <p:sp>
        <p:nvSpPr>
          <p:cNvPr id="6" name="Text 4"/>
          <p:cNvSpPr/>
          <p:nvPr/>
        </p:nvSpPr>
        <p:spPr>
          <a:xfrm>
            <a:off x="578168" y="1891665"/>
            <a:ext cx="443865" cy="405765"/>
          </a:xfrm>
          <a:prstGeom prst="rect">
            <a:avLst/>
          </a:prstGeom>
          <a:noFill/>
          <a:ln/>
        </p:spPr>
        <p:txBody>
          <a:bodyPr wrap="square" lIns="25400" tIns="25400" rIns="25400" bIns="25400" rtlCol="0" anchor="ctr">
            <a:normAutofit/>
          </a:bodyPr>
          <a:lstStyle/>
          <a:p>
            <a:pPr algn="ctr" indent="0" marL="0">
              <a:lnSpc>
                <a:spcPct val="155000"/>
              </a:lnSpc>
              <a:buNone/>
            </a:pPr>
            <a:r>
              <a:rPr lang="en-US" sz="1350" b="1" dirty="0">
                <a:solidFill>
                  <a:srgbClr val="C7D2FE"/>
                </a:solidFill>
                <a:latin typeface="Arial" pitchFamily="34" charset="0"/>
                <a:ea typeface="Arial" pitchFamily="34" charset="-122"/>
                <a:cs typeface="Arial" pitchFamily="34" charset="-120"/>
              </a:rPr>
              <a:t>1</a:t>
            </a:r>
            <a:endParaRPr lang="en-US" sz="1350" dirty="0"/>
          </a:p>
        </p:txBody>
      </p:sp>
      <p:sp>
        <p:nvSpPr>
          <p:cNvPr id="7" name="Text 5"/>
          <p:cNvSpPr/>
          <p:nvPr/>
        </p:nvSpPr>
        <p:spPr>
          <a:xfrm>
            <a:off x="1143000" y="1884997"/>
            <a:ext cx="8153387" cy="1371600"/>
          </a:xfrm>
          <a:prstGeom prst="rect">
            <a:avLst/>
          </a:prstGeom>
          <a:noFill/>
          <a:ln/>
        </p:spPr>
        <p:txBody>
          <a:bodyPr wrap="square" lIns="25400" tIns="25400" rIns="25400" bIns="25400" rtlCol="0" anchor="t">
            <a:normAutofit/>
          </a:bodyPr>
          <a:lstStyle/>
          <a:p>
            <a:pPr algn="l" indent="0" marL="0">
              <a:lnSpc>
                <a:spcPct val="125000"/>
              </a:lnSpc>
              <a:buNone/>
            </a:pPr>
            <a:r>
              <a:rPr lang="en-US" sz="2100" dirty="0">
                <a:solidFill>
                  <a:srgbClr val="FFFFFF"/>
                </a:solidFill>
                <a:latin typeface="Arial" pitchFamily="34" charset="0"/>
                <a:ea typeface="Arial" pitchFamily="34" charset="-122"/>
                <a:cs typeface="Arial" pitchFamily="34" charset="-120"/>
              </a:rPr>
              <a:t>A country and a person get downgraded for the same reason — too much debt vs. income, and no track record of fixing it. What's the personal-finance version of 'debt at 134% of GDP'?</a:t>
            </a:r>
            <a:endParaRPr lang="en-US" sz="2100" dirty="0"/>
          </a:p>
        </p:txBody>
      </p:sp>
      <p:sp>
        <p:nvSpPr>
          <p:cNvPr id="8" name="Shape 6"/>
          <p:cNvSpPr/>
          <p:nvPr/>
        </p:nvSpPr>
        <p:spPr>
          <a:xfrm>
            <a:off x="609600" y="3523297"/>
            <a:ext cx="381000" cy="381000"/>
          </a:xfrm>
          <a:prstGeom prst="ellipse">
            <a:avLst/>
          </a:prstGeom>
          <a:ln w="6667">
            <a:solidFill>
              <a:srgbClr val="FFFFFF">
                <a:alpha val="18000"/>
              </a:srgbClr>
            </a:solidFill>
            <a:prstDash val="solid"/>
          </a:ln>
        </p:spPr>
      </p:sp>
      <p:sp>
        <p:nvSpPr>
          <p:cNvPr id="9" name="Text 7"/>
          <p:cNvSpPr/>
          <p:nvPr/>
        </p:nvSpPr>
        <p:spPr>
          <a:xfrm>
            <a:off x="578168" y="3529965"/>
            <a:ext cx="443865" cy="405765"/>
          </a:xfrm>
          <a:prstGeom prst="rect">
            <a:avLst/>
          </a:prstGeom>
          <a:noFill/>
          <a:ln/>
        </p:spPr>
        <p:txBody>
          <a:bodyPr wrap="square" lIns="25400" tIns="25400" rIns="25400" bIns="25400" rtlCol="0" anchor="ctr">
            <a:normAutofit/>
          </a:bodyPr>
          <a:lstStyle/>
          <a:p>
            <a:pPr algn="ctr" indent="0" marL="0">
              <a:lnSpc>
                <a:spcPct val="155000"/>
              </a:lnSpc>
              <a:buNone/>
            </a:pPr>
            <a:r>
              <a:rPr lang="en-US" sz="1350" b="1" dirty="0">
                <a:solidFill>
                  <a:srgbClr val="C7D2FE"/>
                </a:solidFill>
                <a:latin typeface="Arial" pitchFamily="34" charset="0"/>
                <a:ea typeface="Arial" pitchFamily="34" charset="-122"/>
                <a:cs typeface="Arial" pitchFamily="34" charset="-120"/>
              </a:rPr>
              <a:t>2</a:t>
            </a:r>
            <a:endParaRPr lang="en-US" sz="1350" dirty="0"/>
          </a:p>
        </p:txBody>
      </p:sp>
      <p:sp>
        <p:nvSpPr>
          <p:cNvPr id="10" name="Text 8"/>
          <p:cNvSpPr/>
          <p:nvPr/>
        </p:nvSpPr>
        <p:spPr>
          <a:xfrm>
            <a:off x="1143000" y="3523297"/>
            <a:ext cx="8153387" cy="1038225"/>
          </a:xfrm>
          <a:prstGeom prst="rect">
            <a:avLst/>
          </a:prstGeom>
          <a:noFill/>
          <a:ln/>
        </p:spPr>
        <p:txBody>
          <a:bodyPr wrap="square" lIns="25400" tIns="25400" rIns="25400" bIns="25400" rtlCol="0" anchor="t">
            <a:normAutofit/>
          </a:bodyPr>
          <a:lstStyle/>
          <a:p>
            <a:pPr algn="l" indent="0" marL="0">
              <a:lnSpc>
                <a:spcPct val="125000"/>
              </a:lnSpc>
              <a:buNone/>
            </a:pPr>
            <a:r>
              <a:rPr lang="en-US" sz="2100" dirty="0">
                <a:solidFill>
                  <a:srgbClr val="FFFFFF"/>
                </a:solidFill>
                <a:latin typeface="Arial" pitchFamily="34" charset="0"/>
                <a:ea typeface="Arial" pitchFamily="34" charset="-122"/>
                <a:cs typeface="Arial" pitchFamily="34" charset="-120"/>
              </a:rPr>
              <a:t>All three agencies now rate the U.S. below top tier, yet markets shrugged. Does a rating still matter if markets ignore it — and when would it suddenly matter a lot?</a:t>
            </a:r>
            <a:endParaRPr lang="en-US" sz="2100" dirty="0"/>
          </a:p>
        </p:txBody>
      </p:sp>
      <p:sp>
        <p:nvSpPr>
          <p:cNvPr id="11" name="Shape 9"/>
          <p:cNvSpPr/>
          <p:nvPr/>
        </p:nvSpPr>
        <p:spPr>
          <a:xfrm>
            <a:off x="609600" y="4828222"/>
            <a:ext cx="381000" cy="381000"/>
          </a:xfrm>
          <a:prstGeom prst="ellipse">
            <a:avLst/>
          </a:prstGeom>
          <a:ln w="6667">
            <a:solidFill>
              <a:srgbClr val="FFFFFF">
                <a:alpha val="18000"/>
              </a:srgbClr>
            </a:solidFill>
            <a:prstDash val="solid"/>
          </a:ln>
        </p:spPr>
      </p:sp>
      <p:sp>
        <p:nvSpPr>
          <p:cNvPr id="12" name="Text 10"/>
          <p:cNvSpPr/>
          <p:nvPr/>
        </p:nvSpPr>
        <p:spPr>
          <a:xfrm>
            <a:off x="578168" y="4834890"/>
            <a:ext cx="443865" cy="405765"/>
          </a:xfrm>
          <a:prstGeom prst="rect">
            <a:avLst/>
          </a:prstGeom>
          <a:noFill/>
          <a:ln/>
        </p:spPr>
        <p:txBody>
          <a:bodyPr wrap="square" lIns="25400" tIns="25400" rIns="25400" bIns="25400" rtlCol="0" anchor="ctr">
            <a:normAutofit/>
          </a:bodyPr>
          <a:lstStyle/>
          <a:p>
            <a:pPr algn="ctr" indent="0" marL="0">
              <a:lnSpc>
                <a:spcPct val="155000"/>
              </a:lnSpc>
              <a:buNone/>
            </a:pPr>
            <a:r>
              <a:rPr lang="en-US" sz="1350" b="1" dirty="0">
                <a:solidFill>
                  <a:srgbClr val="C7D2FE"/>
                </a:solidFill>
                <a:latin typeface="Arial" pitchFamily="34" charset="0"/>
                <a:ea typeface="Arial" pitchFamily="34" charset="-122"/>
                <a:cs typeface="Arial" pitchFamily="34" charset="-120"/>
              </a:rPr>
              <a:t>3</a:t>
            </a:r>
            <a:endParaRPr lang="en-US" sz="1350" dirty="0"/>
          </a:p>
        </p:txBody>
      </p:sp>
      <p:sp>
        <p:nvSpPr>
          <p:cNvPr id="13" name="Text 11"/>
          <p:cNvSpPr/>
          <p:nvPr/>
        </p:nvSpPr>
        <p:spPr>
          <a:xfrm>
            <a:off x="1143000" y="4828222"/>
            <a:ext cx="8153387" cy="1038225"/>
          </a:xfrm>
          <a:prstGeom prst="rect">
            <a:avLst/>
          </a:prstGeom>
          <a:noFill/>
          <a:ln/>
        </p:spPr>
        <p:txBody>
          <a:bodyPr wrap="square" lIns="25400" tIns="25400" rIns="25400" bIns="25400" rtlCol="0" anchor="t">
            <a:normAutofit/>
          </a:bodyPr>
          <a:lstStyle/>
          <a:p>
            <a:pPr algn="l" indent="0" marL="0">
              <a:lnSpc>
                <a:spcPct val="125000"/>
              </a:lnSpc>
              <a:buNone/>
            </a:pPr>
            <a:r>
              <a:rPr lang="en-US" sz="2100" dirty="0">
                <a:solidFill>
                  <a:srgbClr val="FFFFFF"/>
                </a:solidFill>
                <a:latin typeface="Arial" pitchFamily="34" charset="0"/>
                <a:ea typeface="Arial" pitchFamily="34" charset="-122"/>
                <a:cs typeface="Arial" pitchFamily="34" charset="-120"/>
              </a:rPr>
              <a:t>Your mortgage rate is set partly by a number you don't control (the 10-yr Treasury) and one you do (your credit score). Buying in 18 months — which lever do you actually pull?</a:t>
            </a:r>
            <a:endParaRPr lang="en-US" sz="2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7FB"/>
          </a:solidFill>
          <a:ln/>
        </p:spPr>
      </p:sp>
      <p:sp>
        <p:nvSpPr>
          <p:cNvPr id="3" name="Text 1"/>
          <p:cNvSpPr/>
          <p:nvPr/>
        </p:nvSpPr>
        <p:spPr>
          <a:xfrm>
            <a:off x="609600" y="609600"/>
            <a:ext cx="1624886" cy="628650"/>
          </a:xfrm>
          <a:prstGeom prst="rect">
            <a:avLst/>
          </a:prstGeom>
          <a:noFill/>
          <a:ln/>
        </p:spPr>
        <p:txBody>
          <a:bodyPr wrap="square" lIns="25400" tIns="25400" rIns="25400" bIns="25400" rtlCol="0" anchor="t">
            <a:normAutofit/>
          </a:bodyPr>
          <a:lstStyle/>
          <a:p>
            <a:pPr algn="l" indent="0" marL="0">
              <a:lnSpc>
                <a:spcPct val="155000"/>
              </a:lnSpc>
              <a:buNone/>
            </a:pPr>
            <a:r>
              <a:rPr lang="en-US" sz="3000" b="1" spc="-60" kern="0" dirty="0">
                <a:solidFill>
                  <a:srgbClr val="0B1220"/>
                </a:solidFill>
                <a:latin typeface="Arial" pitchFamily="34" charset="0"/>
                <a:ea typeface="Arial" pitchFamily="34" charset="-122"/>
                <a:cs typeface="Arial" pitchFamily="34" charset="-120"/>
              </a:rPr>
              <a:t>Sources</a:t>
            </a:r>
            <a:endParaRPr lang="en-US" sz="3000" dirty="0"/>
          </a:p>
        </p:txBody>
      </p:sp>
      <p:sp>
        <p:nvSpPr>
          <p:cNvPr id="4" name="Shape 2"/>
          <p:cNvSpPr/>
          <p:nvPr/>
        </p:nvSpPr>
        <p:spPr>
          <a:xfrm>
            <a:off x="9018587" y="733425"/>
            <a:ext cx="342900" cy="34290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5" name="Shape 3"/>
          <p:cNvSpPr/>
          <p:nvPr/>
        </p:nvSpPr>
        <p:spPr>
          <a:xfrm>
            <a:off x="9104312" y="914400"/>
            <a:ext cx="38100" cy="66675"/>
          </a:xfrm>
          <a:prstGeom prst="roundRect">
            <a:avLst>
              <a:gd name="adj" fmla="val 50000"/>
            </a:avLst>
          </a:prstGeom>
          <a:solidFill>
            <a:srgbClr val="FFFFFF">
              <a:alpha val="65000"/>
            </a:srgbClr>
          </a:solidFill>
          <a:ln/>
        </p:spPr>
      </p:sp>
      <p:sp>
        <p:nvSpPr>
          <p:cNvPr id="6" name="Shape 4"/>
          <p:cNvSpPr/>
          <p:nvPr/>
        </p:nvSpPr>
        <p:spPr>
          <a:xfrm>
            <a:off x="9170987" y="876300"/>
            <a:ext cx="38100" cy="104775"/>
          </a:xfrm>
          <a:prstGeom prst="roundRect">
            <a:avLst>
              <a:gd name="adj" fmla="val 50000"/>
            </a:avLst>
          </a:prstGeom>
          <a:solidFill>
            <a:srgbClr val="FFFFFF">
              <a:alpha val="85000"/>
            </a:srgbClr>
          </a:solidFill>
          <a:ln/>
        </p:spPr>
      </p:sp>
      <p:sp>
        <p:nvSpPr>
          <p:cNvPr id="7" name="Shape 5"/>
          <p:cNvSpPr/>
          <p:nvPr/>
        </p:nvSpPr>
        <p:spPr>
          <a:xfrm>
            <a:off x="9237662" y="828675"/>
            <a:ext cx="38100" cy="152400"/>
          </a:xfrm>
          <a:prstGeom prst="roundRect">
            <a:avLst>
              <a:gd name="adj" fmla="val 50000"/>
            </a:avLst>
          </a:prstGeom>
          <a:solidFill>
            <a:srgbClr val="FFFFFF"/>
          </a:solidFill>
          <a:ln/>
        </p:spPr>
      </p:sp>
      <p:sp>
        <p:nvSpPr>
          <p:cNvPr id="8" name="Text 6"/>
          <p:cNvSpPr/>
          <p:nvPr/>
        </p:nvSpPr>
        <p:spPr>
          <a:xfrm>
            <a:off x="9475787" y="757238"/>
            <a:ext cx="2317274"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spc="-13" kern="0" dirty="0">
                <a:solidFill>
                  <a:srgbClr val="0B1220"/>
                </a:solidFill>
                <a:latin typeface="Arial" pitchFamily="34" charset="0"/>
                <a:ea typeface="Arial" pitchFamily="34" charset="-122"/>
                <a:cs typeface="Arial" pitchFamily="34" charset="-120"/>
              </a:rPr>
              <a:t>Compound Money Talk</a:t>
            </a:r>
            <a:endParaRPr lang="en-US" sz="1500" dirty="0"/>
          </a:p>
        </p:txBody>
      </p:sp>
      <p:sp>
        <p:nvSpPr>
          <p:cNvPr id="9" name="Text 7"/>
          <p:cNvSpPr/>
          <p:nvPr/>
        </p:nvSpPr>
        <p:spPr>
          <a:xfrm>
            <a:off x="609600" y="1504950"/>
            <a:ext cx="578358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SCORES &amp; REPORTS</a:t>
            </a:r>
            <a:endParaRPr lang="en-US" sz="975" dirty="0"/>
          </a:p>
        </p:txBody>
      </p:sp>
      <p:sp>
        <p:nvSpPr>
          <p:cNvPr id="10" name="Text 8"/>
          <p:cNvSpPr/>
          <p:nvPr/>
        </p:nvSpPr>
        <p:spPr>
          <a:xfrm>
            <a:off x="508000" y="1773079"/>
            <a:ext cx="5435600" cy="1235869"/>
          </a:xfrm>
          <a:prstGeom prst="rect">
            <a:avLst/>
          </a:prstGeom>
          <a:noFill/>
          <a:ln/>
        </p:spPr>
        <p:txBody>
          <a:bodyPr wrap="square" lIns="25400" tIns="25400" rIns="25400" bIns="25400" rtlCol="0" anchor="t">
            <a:normAutofit/>
          </a:bodyPr>
          <a:lstStyle/>
          <a:p>
            <a:pPr algn="l" indent="0" marL="0">
              <a:lnSpc>
                <a:spcPct val="125000"/>
              </a:lnSpc>
              <a:buNone/>
            </a:pPr>
            <a:r>
              <a:rPr lang="en-US" sz="1125" dirty="0">
                <a:solidFill>
                  <a:srgbClr val="5B6472"/>
                </a:solidFill>
                <a:latin typeface="Arial" pitchFamily="34" charset="0"/>
                <a:ea typeface="Arial" pitchFamily="34" charset="-122"/>
                <a:cs typeface="Arial" pitchFamily="34" charset="-120"/>
              </a:rPr>
              <a:t>myFICO — what's in your score</a:t>
            </a:r>
            <a:endParaRPr lang="en-US" sz="1125" dirty="0"/>
          </a:p>
          <a:p>
            <a:pPr algn="l" indent="0" marL="0">
              <a:lnSpc>
                <a:spcPct val="125000"/>
              </a:lnSpc>
              <a:buNone/>
            </a:pPr>
            <a:r>
              <a:rPr lang="en-US" sz="1125" dirty="0">
                <a:solidFill>
                  <a:srgbClr val="5B6472"/>
                </a:solidFill>
                <a:latin typeface="Arial" pitchFamily="34" charset="0"/>
                <a:ea typeface="Arial" pitchFamily="34" charset="-122"/>
                <a:cs typeface="Arial" pitchFamily="34" charset="-120"/>
              </a:rPr>
              <a:t>VantageScore — 5.0 / 4.0 weights</a:t>
            </a:r>
            <a:endParaRPr lang="en-US" sz="1125" dirty="0"/>
          </a:p>
          <a:p>
            <a:pPr algn="l" indent="0" marL="0">
              <a:lnSpc>
                <a:spcPct val="125000"/>
              </a:lnSpc>
              <a:buNone/>
            </a:pPr>
            <a:r>
              <a:rPr lang="en-US" sz="1125" dirty="0">
                <a:solidFill>
                  <a:srgbClr val="5B6472"/>
                </a:solidFill>
                <a:latin typeface="Arial" pitchFamily="34" charset="0"/>
                <a:ea typeface="Arial" pitchFamily="34" charset="-122"/>
                <a:cs typeface="Arial" pitchFamily="34" charset="-120"/>
              </a:rPr>
              <a:t>CFPB — report vs. score, disputes, freeze</a:t>
            </a:r>
            <a:endParaRPr lang="en-US" sz="1125" dirty="0"/>
          </a:p>
          <a:p>
            <a:pPr algn="l" indent="0" marL="0">
              <a:lnSpc>
                <a:spcPct val="125000"/>
              </a:lnSpc>
              <a:buNone/>
            </a:pPr>
            <a:r>
              <a:rPr lang="en-US" sz="1125" dirty="0">
                <a:solidFill>
                  <a:srgbClr val="5B6472"/>
                </a:solidFill>
                <a:latin typeface="Arial" pitchFamily="34" charset="0"/>
                <a:ea typeface="Arial" pitchFamily="34" charset="-122"/>
                <a:cs typeface="Arial" pitchFamily="34" charset="-120"/>
              </a:rPr>
              <a:t>FTC — free weekly reports</a:t>
            </a:r>
            <a:endParaRPr lang="en-US" sz="1125" dirty="0"/>
          </a:p>
          <a:p>
            <a:pPr algn="l" indent="0" marL="0">
              <a:lnSpc>
                <a:spcPct val="125000"/>
              </a:lnSpc>
              <a:buNone/>
            </a:pPr>
            <a:r>
              <a:rPr lang="en-US" sz="1125" dirty="0">
                <a:solidFill>
                  <a:srgbClr val="5B6472"/>
                </a:solidFill>
                <a:latin typeface="Arial" pitchFamily="34" charset="0"/>
                <a:ea typeface="Arial" pitchFamily="34" charset="-122"/>
                <a:cs typeface="Arial" pitchFamily="34" charset="-120"/>
              </a:rPr>
              <a:t>Experian — utilization, FICO 9</a:t>
            </a:r>
            <a:endParaRPr lang="en-US" sz="1125" dirty="0"/>
          </a:p>
        </p:txBody>
      </p:sp>
      <p:sp>
        <p:nvSpPr>
          <p:cNvPr id="11" name="Text 9"/>
          <p:cNvSpPr/>
          <p:nvPr/>
        </p:nvSpPr>
        <p:spPr>
          <a:xfrm>
            <a:off x="6324600" y="1504950"/>
            <a:ext cx="578358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RATES &amp; BUILDING CREDIT</a:t>
            </a:r>
            <a:endParaRPr lang="en-US" sz="975" dirty="0"/>
          </a:p>
        </p:txBody>
      </p:sp>
      <p:sp>
        <p:nvSpPr>
          <p:cNvPr id="12" name="Text 10"/>
          <p:cNvSpPr/>
          <p:nvPr/>
        </p:nvSpPr>
        <p:spPr>
          <a:xfrm>
            <a:off x="6223000" y="1773079"/>
            <a:ext cx="5435600" cy="981075"/>
          </a:xfrm>
          <a:prstGeom prst="rect">
            <a:avLst/>
          </a:prstGeom>
          <a:noFill/>
          <a:ln/>
        </p:spPr>
        <p:txBody>
          <a:bodyPr wrap="square" lIns="25400" tIns="25400" rIns="25400" bIns="25400" rtlCol="0" anchor="t">
            <a:normAutofit/>
          </a:bodyPr>
          <a:lstStyle/>
          <a:p>
            <a:pPr algn="l" indent="0" marL="0">
              <a:lnSpc>
                <a:spcPct val="125000"/>
              </a:lnSpc>
              <a:buNone/>
            </a:pPr>
            <a:r>
              <a:rPr lang="en-US" sz="1125" dirty="0">
                <a:solidFill>
                  <a:srgbClr val="5B6472"/>
                </a:solidFill>
                <a:latin typeface="Arial" pitchFamily="34" charset="0"/>
                <a:ea typeface="Arial" pitchFamily="34" charset="-122"/>
                <a:cs typeface="Arial" pitchFamily="34" charset="-120"/>
              </a:rPr>
              <a:t>Federal Reserve G.19 — consumer credit</a:t>
            </a:r>
            <a:endParaRPr lang="en-US" sz="1125" dirty="0"/>
          </a:p>
          <a:p>
            <a:pPr algn="l" indent="0" marL="0">
              <a:lnSpc>
                <a:spcPct val="125000"/>
              </a:lnSpc>
              <a:buNone/>
            </a:pPr>
            <a:r>
              <a:rPr lang="en-US" sz="1125" dirty="0">
                <a:solidFill>
                  <a:srgbClr val="5B6472"/>
                </a:solidFill>
                <a:latin typeface="Arial" pitchFamily="34" charset="0"/>
                <a:ea typeface="Arial" pitchFamily="34" charset="-122"/>
                <a:cs typeface="Arial" pitchFamily="34" charset="-120"/>
              </a:rPr>
              <a:t>Freddie Mac PMMS — mortgage rates</a:t>
            </a:r>
            <a:endParaRPr lang="en-US" sz="1125" dirty="0"/>
          </a:p>
          <a:p>
            <a:pPr algn="l" indent="0" marL="0">
              <a:lnSpc>
                <a:spcPct val="125000"/>
              </a:lnSpc>
              <a:buNone/>
            </a:pPr>
            <a:r>
              <a:rPr lang="en-US" sz="1125" dirty="0">
                <a:solidFill>
                  <a:srgbClr val="5B6472"/>
                </a:solidFill>
                <a:latin typeface="Arial" pitchFamily="34" charset="0"/>
                <a:ea typeface="Arial" pitchFamily="34" charset="-122"/>
                <a:cs typeface="Arial" pitchFamily="34" charset="-120"/>
              </a:rPr>
              <a:t>Federal Reserve — credit-building products (2024)</a:t>
            </a:r>
            <a:endParaRPr lang="en-US" sz="1125" dirty="0"/>
          </a:p>
          <a:p>
            <a:pPr algn="l" indent="0" marL="0">
              <a:lnSpc>
                <a:spcPct val="125000"/>
              </a:lnSpc>
              <a:buNone/>
            </a:pPr>
            <a:r>
              <a:rPr lang="en-US" sz="1125" dirty="0">
                <a:solidFill>
                  <a:srgbClr val="5B6472"/>
                </a:solidFill>
                <a:latin typeface="Arial" pitchFamily="34" charset="0"/>
                <a:ea typeface="Arial" pitchFamily="34" charset="-122"/>
                <a:cs typeface="Arial" pitchFamily="34" charset="-120"/>
              </a:rPr>
              <a:t>CFPB — payday &amp; title loans, DTI</a:t>
            </a:r>
            <a:endParaRPr lang="en-US" sz="1125" dirty="0"/>
          </a:p>
        </p:txBody>
      </p:sp>
      <p:sp>
        <p:nvSpPr>
          <p:cNvPr id="13" name="Text 11"/>
          <p:cNvSpPr/>
          <p:nvPr/>
        </p:nvSpPr>
        <p:spPr>
          <a:xfrm>
            <a:off x="6324600" y="2944654"/>
            <a:ext cx="578358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RATINGS &amp; THE DOWNGRADE</a:t>
            </a:r>
            <a:endParaRPr lang="en-US" sz="975" dirty="0"/>
          </a:p>
        </p:txBody>
      </p:sp>
      <p:sp>
        <p:nvSpPr>
          <p:cNvPr id="14" name="Text 12"/>
          <p:cNvSpPr/>
          <p:nvPr/>
        </p:nvSpPr>
        <p:spPr>
          <a:xfrm>
            <a:off x="6223000" y="3212782"/>
            <a:ext cx="5435600" cy="981075"/>
          </a:xfrm>
          <a:prstGeom prst="rect">
            <a:avLst/>
          </a:prstGeom>
          <a:noFill/>
          <a:ln/>
        </p:spPr>
        <p:txBody>
          <a:bodyPr wrap="square" lIns="25400" tIns="25400" rIns="25400" bIns="25400" rtlCol="0" anchor="t">
            <a:normAutofit/>
          </a:bodyPr>
          <a:lstStyle/>
          <a:p>
            <a:pPr algn="l" indent="0" marL="0">
              <a:lnSpc>
                <a:spcPct val="125000"/>
              </a:lnSpc>
              <a:buNone/>
            </a:pPr>
            <a:r>
              <a:rPr lang="en-US" sz="1125" dirty="0">
                <a:solidFill>
                  <a:srgbClr val="5B6472"/>
                </a:solidFill>
                <a:latin typeface="Arial" pitchFamily="34" charset="0"/>
                <a:ea typeface="Arial" pitchFamily="34" charset="-122"/>
                <a:cs typeface="Arial" pitchFamily="34" charset="-120"/>
              </a:rPr>
              <a:t>S&amp;P 2024 default study</a:t>
            </a:r>
            <a:endParaRPr lang="en-US" sz="1125" dirty="0"/>
          </a:p>
          <a:p>
            <a:pPr algn="l" indent="0" marL="0">
              <a:lnSpc>
                <a:spcPct val="125000"/>
              </a:lnSpc>
              <a:buNone/>
            </a:pPr>
            <a:r>
              <a:rPr lang="en-US" sz="1125" dirty="0">
                <a:solidFill>
                  <a:srgbClr val="5B6472"/>
                </a:solidFill>
                <a:latin typeface="Arial" pitchFamily="34" charset="0"/>
                <a:ea typeface="Arial" pitchFamily="34" charset="-122"/>
                <a:cs typeface="Arial" pitchFamily="34" charset="-120"/>
              </a:rPr>
              <a:t>FRED — ICE BofA credit spreads</a:t>
            </a:r>
            <a:endParaRPr lang="en-US" sz="1125" dirty="0"/>
          </a:p>
          <a:p>
            <a:pPr algn="l" indent="0" marL="0">
              <a:lnSpc>
                <a:spcPct val="125000"/>
              </a:lnSpc>
              <a:buNone/>
            </a:pPr>
            <a:r>
              <a:rPr lang="en-US" sz="1125" dirty="0">
                <a:solidFill>
                  <a:srgbClr val="5B6472"/>
                </a:solidFill>
                <a:latin typeface="Arial" pitchFamily="34" charset="0"/>
                <a:ea typeface="Arial" pitchFamily="34" charset="-122"/>
                <a:cs typeface="Arial" pitchFamily="34" charset="-120"/>
              </a:rPr>
              <a:t>Moody's — U.S. rating action</a:t>
            </a:r>
            <a:endParaRPr lang="en-US" sz="1125" dirty="0"/>
          </a:p>
          <a:p>
            <a:pPr algn="l" indent="0" marL="0">
              <a:lnSpc>
                <a:spcPct val="125000"/>
              </a:lnSpc>
              <a:buNone/>
            </a:pPr>
            <a:r>
              <a:rPr lang="en-US" sz="1125" dirty="0">
                <a:solidFill>
                  <a:srgbClr val="5B6472"/>
                </a:solidFill>
                <a:latin typeface="Arial" pitchFamily="34" charset="0"/>
                <a:ea typeface="Arial" pitchFamily="34" charset="-122"/>
                <a:cs typeface="Arial" pitchFamily="34" charset="-120"/>
              </a:rPr>
              <a:t>Fidelity — bond ratings</a:t>
            </a:r>
            <a:endParaRPr lang="en-US" sz="1125" dirty="0"/>
          </a:p>
        </p:txBody>
      </p:sp>
      <p:sp>
        <p:nvSpPr>
          <p:cNvPr id="15" name="Text 13"/>
          <p:cNvSpPr/>
          <p:nvPr/>
        </p:nvSpPr>
        <p:spPr>
          <a:xfrm>
            <a:off x="10684511" y="6056471"/>
            <a:ext cx="97409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1 · Credit</a:t>
            </a:r>
            <a:endParaRPr lang="en-US" sz="9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2026-06-26T04:11:45Z</dcterms:created>
  <dcterms:modified xsi:type="dcterms:W3CDTF">2026-06-26T04:11:45Z</dcterms:modified>
</cp:coreProperties>
</file>