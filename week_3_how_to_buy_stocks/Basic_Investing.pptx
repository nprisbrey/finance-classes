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This week is the 'how' of trading — the 'why buy this business' question was week 2 (valuation). Cross-reference, don't re-teach.
• Format is new: a linear lesson, no module voting. Three self-contained levels, ~12 / 13 / 15 min.
• If the room needs to linger on Level 1, do it — Level 3 degrades gracefully into a faster live-page flyover.
• Re-pull the NVDA snapshot, cash yields, and the SPCX quote the morning of class — live figures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show of hands calibrates how long to spend on Level 1.
• If someone hasn't started, ask the real blocker: money, confusion, or fear of doing it wrong?
• Ask: what's one number or button on a stock page you've never understood? Collect these — Level 3 should answer every one.
• Keep it to ~10 minutes; the lesson runs dense.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topic taught three times at increasing depth — not three separate topics.
• Levels are self-contained; you can slow down on Level 1 and compress Level 3 without breaking the arc.
• The worked-example ticker throughout is NVDA; broker demos are Robinhood and Fidelity.
• After the lesson: a 10-minute market moment (the SpaceX IPO) that puts Levels 2 and 3 into one live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Audience mindset: $0 invested, no account. The promise is that you could do this tonight.
• Budget ~12 minutes; this is the level most likely to need extra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Both demo apps sell fractional shares with a $1 minimum — 'I don't have enough to start' stopped being true years ago.
• US stock/ETF commissions are $0 at every major broker; you pay through other channels (that's Level 2).
• Total friction end-to-end is about 15 minutes and $1.
• Approval is often near-instant; occasionally a few days if ID needs manual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Cash yields (3.35% / 3.30%) drift — re-pull the morning of class.
• Robinhood Gold is $5/mo; without it, idle cash effectively earns nothing.
• Fidelity's SPAXX sweep is automatic, no subscription (7-day yield as of Jul 1, 2026).
• Tax-lot choice (FIFO vs specific-ID) matters at tax time — revisited in Level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Application takes minutes; approval is often near-instant, occasionally a few days for manual ID review.
• Bank linking is usually instant and login-based.
• The identity questions are standard across all brokers — reassure nervous first-timers.
• Fund only what you won't need this month; note the availability difference from the broker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app does the fractional math — you just enter dollars.
• Market = 'fill me now at the going price' — fine for $50 in a megacap during market hours (9:30–4 ET).
• Limit = 'fill me only at $X or better' — the default habit worth building (Level 2 shows why).
• Fractional orders execute during regular hours only; placed at night they queue for the open.
• After you buy: position shows shares, average cost, today's change, unrealized gain/loss. That green/red number isn't 'real' until you sell.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ETF is the default first buy for most people; individual stock-picking is week 2's checklist on top of that core.
• Roth mechanics: contributions (not earnings) come out anytime penalty-free; earnings tax-free after 59½ and the 5-year rule.
• A student in a low bracket locks in tax-free growth at the cheapest price they may ever get.
• Sources: IRS 2026 limits; Pub 590-B. Robinhood adds a 1% IRA-contribution match (3% w/ Gold).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Same buy button as Level 1 — now we open the hood.
• Budget ~13 minutes; the core slide is the '$185' three-outcomes contrast.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frame that makes it click: WHEN it activates (now vs at a trigger) × WHAT it becomes (market vs limit).
• A stop has a trigger but no price floor; a limit has a floor but no trigger; a stop-limit has both — and its own failure mode.
• Trailing stop = a stop that ratchets up behind a rising price, then freezes on reversal.
• Definitions per investor.gov and the SEC stop-orders bulletin. GTC cap example: Fidelity 180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 orderly markets a stop and a stop-limit are near-identical — the difference only exists in gaps and fast markets.
• The events most likely to TRIGGER a stop (earnings, news) are exactly the ones most likely to GAP past it — doubly so at NVDA's beta 2.21.
• Practical middle ground: set the limit well below the stop (e.g. $185/$175) so ordinary gaps still get you out; a limit 50¢ under the stop is the worst of both worlds.
• Limits are for targets ('sell at $220 if it gets there') or dip-buys ('buy at $185') — never for downside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NBBO = National Best Bid &amp; Offer — the single consolidated best price the SEC forces brokers to honor; it's why you get the same fill whichever exchange the order lands on.
• The spread is a real cost you pay when you cross it; limit orders make the spread your choice.
• Robinhood's SEC Rule 606 report (Jan 2026): Virtu ~48%, Citadel ~18% of S&amp;P 500 flow.
• PFOF is legal and disclosed — practical takeaway, not scandal: your fill quality is disclosure-regulated either way; know who's paid.
• After-hours spreads widen because liquidity leaves the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Extended hours = thin books, wide spreads, exaggerated news reactions — the reason brokers force limit orders there (FINRA).
• Robinhood's 24-Hour Market runs Sun 8 p.m.–Fri 8 p.m. on select names, whole-share limit orders only.
• SEC approved Nasdaq's 23-hour day (Apr 10, 2026); the consolidated tape runs Sun 9 p.m.→Fri 8 p.m. — both launch Dec 6, 2026.
• The Dec 6 launch is a genuine structural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most-complained-about rule in retail trading: a $2,000 student making four $50 round-trips got locked out, while anyone over $25k could day-trade with 4:1 intraday leverage.
• The new standard regulates the leverage, not the person (FINRA Notice 26-10).
• 'The rule is gone' ≠ 'your app will let you' — brokers phase in through Oct 2027.
• Repeal removed a guardrail, not the odds — week 2's base rates on active trading still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T+1 shortened settlement from T+2 in May 2024 (SEC).
• Good-faith violations are easy to trip accidentally in a cash account — worth flagging for active first-timers.
• Margin adds leverage and margin calls; not needed for anything in this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Qualified dividends (held &gt;60 days around the ex-date) get capital-gains rates; otherwise ordinary rates (IRS Pub 550).
• DRIP locations: Robinhood → Account → Investing → Dividend Reinvestment; Fidelity → Positions → Dividend view → Manage Dividends.
• Under T+1 the ex-date and record date are now normally the same day.
• Sources: investor.gov, DTCC T+1 dividend FAQ, Coca-Cola 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Lot example: 10 NVDA @ $60 (2 yrs) + 10 @ $150 (6 mo), now $170. Sell 10: FIFO = $1,100 long-term gain; choosing the $150 lot = $200 short-term gain. Same click, different tax bill.
• These five facts cover ~95% of cases. Inside an IRA, none of this section exists — no taxable events, no 1099-B.
• Sources: IRS Topic 409, Rev. Proc. 2025-32, Rev. Rul. 2008-5, Pub 550.
• The 0% bracket is the headline for students — many can harvest long-term gains at zero federal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 this level as a live walkthrough of finance.yahoo.com/quote/NVDA next to the slides.
• Everything shown is on the free tier. Re-pull the figures morning-of.
• Budget ~15 minutes; degrade to a faster flyover if Level 1 ran 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Tab order: Summary · News · Research · Chart · Community · Statistics · Historical Data · Profile · Financials · Analysis · Options · Holders.
• Research + 'Research Reports' are the main paywalled surfaces; the rest is free.
• The 'Overnight' print is real trading (Blue Ocean ATS, 8 p.m.–4 a.m.) — the 24-hour era from Level 2, visible on the page.
• Have the live page open beside the deck; re-pull figures morning-of.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full 16 fields also include Forward Dividend &amp; Yield and Ex-Dividend Date — each gets its own treatment next.
• 30.16 × 6.53 ≈ 196.9 — the page does the P/E arithmetic in front of you.
• Volume far above average is the tell that something happened; ~77% means it didn't.
• Check the earnings date BEFORE you trade, not after. All values are the Jul 7, 2026 close — re-pull morning-of.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Statistics tab also shows trailing yield (actual past-12-month payments); forward is the better 'what do I get from here' number. They diverge right after a dividend change.
• See 8% on a screener → be suspicious (week 2's yield trap — the market pricing in a cut).
• Ex-Dividend Date Jun 4, 2026 says WHEN you must own it; forward dividend says HOW MUCH.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Green candle: close above open; red: close below. That's the whole secret — you can now read candlestick charts.
• Line vs candles: a candle packs open/high/low/close into one mark.
• The SPY overlay is the Level 1 default (index ETF) checked visually — is the stock actually beating 'just the index'?
• Always zoom out (5Y, Max) before you react to a 1D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Full glossary (every term → the math → read-it-as) is in your notes packet — this slide is the concepts.
• Enterprise Value = market cap + debt − cash (the true takeover price). EBITDA flatters by ignoring real costs like equipment spend.
• Week 2 taught that revisions move stocks — the Analysis tab is the free place to watch them.
• GameStop-era short interest ran &gt;100% of float; NVDA's 1.29% means no crowded short. Watch insider transactions more than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One pass through the page before any buy or sell.
• Whether to buy it at all is week 2's checklist — this is the mechanical pre-flight.
• Emphasize step 6: a limit order, position sized for beta.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Run-of-show: two definitions (~3 min) → what SpaceX did differently (~2) → what's happened since (~3) → lesson + discussion (~2).
• Re-pull the SPCX quote morning-of — it's moving fast.
• This ties Level 1 (the order ticket), Level 2 (order types, timing) and Level 3 (targets, index rules) into one live stock.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Off-exchange wholesaler flow pushes retail's share to ~30–37% (MEMX).
• Accredited-investor rules (~$200k income / $1M net worth) gated pre-IPO companies like SpaceX from regular people for 24 years.
• Sources: SEC, JPMorgan, MEMX, Gallup.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The standing retail experience: you're structurally the buyer at the open, ~19% above what insiders and institutions just paid.
• Ritter/U. Florida dataset: 9,343 IPOs, 1980–2025.
• 'On the table' = money the issuer could have raised had it priced higher.
• Even the retail 10% was gated: Fidelity requires $100k–$500k+ assets; Robinhood's IPO Access (2021) is a lottery among requesters.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eligible requester at all five brokers got ≥1 share (855,424 people at Robinhood alone) — but thin: 17 on a 1,000-share request; 11 of 75 at Schwab.
• The asterisk: flipping penalties hit retail only (Fidelity up to permanent; SoFi bans + $50 fee). One institution flipped a $300M allocation within 5 days.
• Retail orders exceeded $100B — 5×+ oversubscribed.
• Sources: CNBC, Bloomberg, Robinhood, Reuters.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Remember Level 3's '1y Target Est' caveat? Here it is with a $669 spread on the same stock ($131 'no credible model' to $800).
• Not in the S&amp;P 500 — fails the four-quarters-of-profit + seasoning screens (lost $4.28B last quarter; S&amp;P declined to fast-track Jun 4). Index inclusion is rules, not fame.
• Ahead: staggered lockups — first big unlock ~2 days after the expected Aug 6 first earnings; up to ~44% of shares free by early September; Musk's 85.1% voting control (10-vote Class B) locked until June 2027.
• Sources: CNBC, Bloomberg, Vanda, JPMorgan.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All returns priced at the Jul 7 close, $149.47.
• This table is the whole lesson: Level 1 (how you buy), Level 2 (order type), Level 3 (timing/valuation) in one row each.
• Whether to buy it at all is still week 2's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Let the room drive — these are deliberately open.
• Tie answers back to the 3-buyer table and the target-spread slide.
• A good closer before 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figure was fact-checked as of Jul 7, 2026 against primary sources.
• Live quotes, yields, rates, and the SPCX price drift — re-pull the morning of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60960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95325" y="790575"/>
            <a:ext cx="38100" cy="66675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752475"/>
            <a:ext cx="38100" cy="10477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28675" y="704850"/>
            <a:ext cx="381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633413"/>
            <a:ext cx="23172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spc="-1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Money Talk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980930" y="685006"/>
            <a:ext cx="1761617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spc="2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Fact-checked Jul 7, 2026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" y="3953351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— THE HOW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609600" y="4297680"/>
            <a:ext cx="12070080" cy="598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Buy Stocks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09600" y="5010150"/>
            <a:ext cx="5198717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topic at three depths: open an account and buy, understand what your order actually does, then read a stock's whole page like you own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600" y="6200775"/>
            <a:ext cx="914400" cy="47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F46E5">
                  <a:alpha val="100000"/>
                </a:srgbClr>
              </a:gs>
              <a:gs pos="100000">
                <a:srgbClr val="C7D2FE">
                  <a:alpha val="100000"/>
                </a:srgbClr>
              </a:gs>
            </a:gsLst>
            <a:lin ang="0" scaled="0"/>
          </a:gra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139630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OPENER · 10 MIN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with your money?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84997"/>
            <a:ext cx="3556000" cy="3219926"/>
          </a:xfrm>
          <a:prstGeom prst="roundRect">
            <a:avLst>
              <a:gd name="adj" fmla="val 355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1067" y="3009106"/>
            <a:ext cx="342900" cy="342900"/>
          </a:xfrm>
          <a:prstGeom prst="ellipse">
            <a:avLst/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635" y="3015774"/>
            <a:ext cx="405765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21067" y="3504406"/>
            <a:ext cx="302105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Anything new you did with money this week?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18000" y="1884997"/>
            <a:ext cx="3556000" cy="3219926"/>
          </a:xfrm>
          <a:prstGeom prst="roundRect">
            <a:avLst>
              <a:gd name="adj" fmla="val 355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9467" y="2890044"/>
            <a:ext cx="342900" cy="342900"/>
          </a:xfrm>
          <a:prstGeom prst="ellipse">
            <a:avLst/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8035" y="2896711"/>
            <a:ext cx="405765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29467" y="3385344"/>
            <a:ext cx="3021057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interesting you learned about money or finance?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026400" y="1884997"/>
            <a:ext cx="3556000" cy="3219926"/>
          </a:xfrm>
          <a:prstGeom prst="roundRect">
            <a:avLst>
              <a:gd name="adj" fmla="val 355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7868" y="3009106"/>
            <a:ext cx="342900" cy="342900"/>
          </a:xfrm>
          <a:prstGeom prst="ellipse">
            <a:avLst/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6435" y="3015774"/>
            <a:ext cx="405765" cy="36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37868" y="3504406"/>
            <a:ext cx="302105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225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investment you're looking at or like right now?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09600" y="5333524"/>
            <a:ext cx="10972800" cy="570548"/>
          </a:xfrm>
          <a:prstGeom prst="rect">
            <a:avLst/>
          </a:prstGeom>
          <a:solidFill>
            <a:srgbClr val="EEF2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09600" y="5333524"/>
            <a:ext cx="26670" cy="57054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864870" y="5485924"/>
            <a:ext cx="10818114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week: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3730A3"/>
                </a:solidFill>
                <a:highlight>
                  <a:srgbClr val="EEF2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show of hands — who has actually placed a stock trade? Who has an account but never traded? Who has neither?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481786" y="6056471"/>
            <a:ext cx="117681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Buy Stocks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034556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· 40 MINUTES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topic, three levels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68667" y="308102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/>
        </p:spPr>
      </p:sp>
      <p:sp>
        <p:nvSpPr>
          <p:cNvPr id="10" name="Text 8"/>
          <p:cNvSpPr/>
          <p:nvPr/>
        </p:nvSpPr>
        <p:spPr>
          <a:xfrm>
            <a:off x="825817" y="3081020"/>
            <a:ext cx="304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340167" y="3085783"/>
            <a:ext cx="91059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 account &amp; buy your first stock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70745" y="3104833"/>
            <a:ext cx="895826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9885045" y="3161983"/>
            <a:ext cx="74342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here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10742771" y="3098165"/>
            <a:ext cx="680561" cy="270510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63739" y="3161982"/>
            <a:ext cx="51482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768667" y="3703955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5817" y="3703955"/>
            <a:ext cx="304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340167" y="3708718"/>
            <a:ext cx="1017330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you're actually doing when you trade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741025" y="3721100"/>
            <a:ext cx="682307" cy="270510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61992" y="3784918"/>
            <a:ext cx="516572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</a:t>
            </a:r>
            <a:endParaRPr lang="en-US" sz="1125" dirty="0"/>
          </a:p>
        </p:txBody>
      </p:sp>
      <p:sp>
        <p:nvSpPr>
          <p:cNvPr id="21" name="Shape 19"/>
          <p:cNvSpPr/>
          <p:nvPr/>
        </p:nvSpPr>
        <p:spPr>
          <a:xfrm>
            <a:off x="768667" y="4326890"/>
            <a:ext cx="419100" cy="304800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5817" y="4326890"/>
            <a:ext cx="3048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340167" y="4331652"/>
            <a:ext cx="101769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Yahoo Finance page like you own the stock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744358" y="4344035"/>
            <a:ext cx="678974" cy="270510"/>
          </a:xfrm>
          <a:prstGeom prst="roundRect">
            <a:avLst>
              <a:gd name="adj" fmla="val 5000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865326" y="4407852"/>
            <a:ext cx="513239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0481786" y="6056471"/>
            <a:ext cx="117681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Buy Stocks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907381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435066"/>
            <a:ext cx="6842998" cy="1158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 account &amp; buy your first stock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3783806"/>
            <a:ext cx="64365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Audience: $0 invested, no account. The goal — you could do this tonight.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693444"/>
            <a:ext cx="667226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4750594"/>
            <a:ext cx="514826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min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THE WHOLE PROCESS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steps: Open → Fund → Order → Own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771174"/>
            <a:ext cx="2303621" cy="2708434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3917" y="2025491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825817" y="202549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63917" y="2596991"/>
            <a:ext cx="1974485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626"/>
              </a:lnSpc>
              <a:buNone/>
            </a:pPr>
            <a:r>
              <a:rPr lang="en-US" sz="21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863917" y="3158490"/>
            <a:ext cx="18711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brokerage account — about 10 minutes, online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46571" y="2874327"/>
            <a:ext cx="400050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3503771" y="1771174"/>
            <a:ext cx="2303621" cy="2708434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8089" y="2025491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3719989" y="202549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3758089" y="2596991"/>
            <a:ext cx="1974485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626"/>
              </a:lnSpc>
              <a:buNone/>
            </a:pPr>
            <a:r>
              <a:rPr lang="en-US" sz="21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</a:t>
            </a:r>
            <a:endParaRPr lang="en-US" sz="2175" dirty="0"/>
          </a:p>
        </p:txBody>
      </p:sp>
      <p:sp>
        <p:nvSpPr>
          <p:cNvPr id="19" name="Text 17"/>
          <p:cNvSpPr/>
          <p:nvPr/>
        </p:nvSpPr>
        <p:spPr>
          <a:xfrm>
            <a:off x="3758089" y="3158490"/>
            <a:ext cx="1871186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your bank; move money you won't need this month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0743" y="2874327"/>
            <a:ext cx="400050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6397943" y="1771174"/>
            <a:ext cx="2303621" cy="2708434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52260" y="2025491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160" y="2025491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6652260" y="2596991"/>
            <a:ext cx="1974485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626"/>
              </a:lnSpc>
              <a:buNone/>
            </a:pPr>
            <a:r>
              <a:rPr lang="en-US" sz="21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2175" dirty="0"/>
          </a:p>
        </p:txBody>
      </p:sp>
      <p:sp>
        <p:nvSpPr>
          <p:cNvPr id="25" name="Text 23"/>
          <p:cNvSpPr/>
          <p:nvPr/>
        </p:nvSpPr>
        <p:spPr>
          <a:xfrm>
            <a:off x="6652260" y="3158490"/>
            <a:ext cx="187118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ticker, enter dollars, submit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34914" y="2874327"/>
            <a:ext cx="400050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292114" y="1771174"/>
            <a:ext cx="2290286" cy="2708434"/>
          </a:xfrm>
          <a:prstGeom prst="roundRect">
            <a:avLst>
              <a:gd name="adj" fmla="val 6654"/>
            </a:avLst>
          </a:prstGeom>
          <a:solidFill>
            <a:srgbClr val="0B1220"/>
          </a:solidFill>
          <a:ln/>
          <a:effectLst>
            <a:outerShdw sx="100000" sy="100000" kx="0" ky="0" algn="bl" rotWithShape="0" blurRad="228600" dist="76200" dir="5400000">
              <a:srgbClr val="0B122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539764" y="2018824"/>
            <a:ext cx="43815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501664" y="2018824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9539764" y="2590324"/>
            <a:ext cx="1974485" cy="4662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626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9539764" y="3151822"/>
            <a:ext cx="187118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position shows up in your app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09600" y="4841557"/>
            <a:ext cx="3556000" cy="976312"/>
          </a:xfrm>
          <a:prstGeom prst="roundRect">
            <a:avLst>
              <a:gd name="adj" fmla="val 11707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818" y="5019675"/>
            <a:ext cx="3230245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 minutes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to finish</a:t>
            </a:r>
            <a:endParaRPr lang="en-US" sz="1575" dirty="0"/>
          </a:p>
        </p:txBody>
      </p:sp>
      <p:sp>
        <p:nvSpPr>
          <p:cNvPr id="34" name="Shape 32"/>
          <p:cNvSpPr/>
          <p:nvPr/>
        </p:nvSpPr>
        <p:spPr>
          <a:xfrm>
            <a:off x="4318000" y="4841557"/>
            <a:ext cx="3556000" cy="976312"/>
          </a:xfrm>
          <a:prstGeom prst="roundRect">
            <a:avLst>
              <a:gd name="adj" fmla="val 11707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4217" y="5019675"/>
            <a:ext cx="3230245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fractional-share minimum</a:t>
            </a:r>
            <a:endParaRPr lang="en-US" sz="1575" dirty="0"/>
          </a:p>
        </p:txBody>
      </p:sp>
      <p:sp>
        <p:nvSpPr>
          <p:cNvPr id="36" name="Shape 34"/>
          <p:cNvSpPr/>
          <p:nvPr/>
        </p:nvSpPr>
        <p:spPr>
          <a:xfrm>
            <a:off x="8026400" y="4841557"/>
            <a:ext cx="3556000" cy="976312"/>
          </a:xfrm>
          <a:prstGeom prst="roundRect">
            <a:avLst>
              <a:gd name="adj" fmla="val 11707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2618" y="5019675"/>
            <a:ext cx="3230245" cy="6581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commissions, every major broker</a:t>
            </a:r>
            <a:endParaRPr lang="en-US" sz="1575" dirty="0"/>
          </a:p>
        </p:txBody>
      </p:sp>
      <p:sp>
        <p:nvSpPr>
          <p:cNvPr id="38" name="Text 36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L1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121344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CHOOSING A BROKER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vs. Fidelity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423761"/>
          </a:xfrm>
          <a:prstGeom prst="roundRect">
            <a:avLst>
              <a:gd name="adj" fmla="val 3338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107870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starting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1681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zero-to-first-trade; app-first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to open · $1 fractional minimum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cash: 3.35% APY — only with Gold ($5/mo)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buying power up to $1,000 ($5k w/ Gold)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Sells order flow (PFOF); FIFO tax lots only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match on IRA contributions (3% w/ Gold)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423761"/>
          </a:xfrm>
          <a:prstGeom prst="roundRect">
            <a:avLst>
              <a:gd name="adj" fmla="val 3338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7651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staying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1681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Full-service; you'll never outgrow it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 to open · $1 'Stocks by the Slice'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cash: 3.30% automatically (SPAXX sweep)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$25,000 same-day on ACH before 4 p.m. ET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PFOF on stocks; full specific-ID lots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IRA platform; no contribution match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461159"/>
            <a:ext cx="11301984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optimizes for starting, Fidelity for staying — either is fine. Schwab and Vanguard are also excellent, and everything transfers. The expensive choice is opening neither.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L1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461242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OPENING THE ACCOUNT (LIVE DEMO)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5820391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need, and why they ask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2094547"/>
            <a:ext cx="693162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requirements at both apps — the teacher demos the real app on screen.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308419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989897"/>
            <a:ext cx="9303147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need: 18+, an SSN, a US address, and answers to employment / income / net-worth questions.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50234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3408045"/>
            <a:ext cx="11653599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they ask: federal law (USA PATRIOT Act) and FINRA know-your-customer rules — every broker asks; it's not them being nosy.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92049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855720"/>
            <a:ext cx="7578725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account type at signup: 'Individual brokerage' is the default taxable account.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8025" y="4168140"/>
            <a:ext cx="706755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this is retirement money, see the Roth beat next — before you click.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609600" y="4636294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809625" y="4541996"/>
            <a:ext cx="9804670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it: link your bank, transfer what you won't need this month; note the availability difference from the table.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L1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YOUR FIRST ORDER (LIVE DEMO)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ticket, annotated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627981"/>
            <a:ext cx="4095750" cy="4361021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228600" dist="76200" dir="5400000">
              <a:srgbClr val="0B122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3917" y="1882299"/>
            <a:ext cx="991711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19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NVDA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63917" y="2266156"/>
            <a:ext cx="99171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Corp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00914" y="1903730"/>
            <a:ext cx="1026319" cy="392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$196.93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3917" y="2654776"/>
            <a:ext cx="3587115" cy="551498"/>
          </a:xfrm>
          <a:prstGeom prst="roundRect">
            <a:avLst>
              <a:gd name="adj" fmla="val 17271"/>
            </a:avLst>
          </a:prstGeom>
          <a:solidFill>
            <a:srgbClr val="F6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911542" y="2702401"/>
            <a:ext cx="1722120" cy="456248"/>
          </a:xfrm>
          <a:prstGeom prst="roundRect">
            <a:avLst>
              <a:gd name="adj" fmla="val 16701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968692" y="2797651"/>
            <a:ext cx="1607820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738438" y="2797651"/>
            <a:ext cx="1607820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63917" y="3358674"/>
            <a:ext cx="3587115" cy="761047"/>
          </a:xfrm>
          <a:prstGeom prst="roundRect">
            <a:avLst>
              <a:gd name="adj" fmla="val 12516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035" y="3621088"/>
            <a:ext cx="63627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69774" y="3517741"/>
            <a:ext cx="107934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69"/>
              </a:lnSpc>
              <a:buNone/>
            </a:pPr>
            <a:r>
              <a:rPr lang="en-US" sz="2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$50.00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863917" y="4272121"/>
            <a:ext cx="1736408" cy="729139"/>
          </a:xfrm>
          <a:prstGeom prst="roundRect">
            <a:avLst>
              <a:gd name="adj" fmla="val 13063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3935" y="4393089"/>
            <a:ext cx="1602010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type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3935" y="4599781"/>
            <a:ext cx="160201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▾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2714625" y="4272121"/>
            <a:ext cx="1736408" cy="729139"/>
          </a:xfrm>
          <a:prstGeom prst="roundRect">
            <a:avLst>
              <a:gd name="adj" fmla="val 13063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4643" y="4393089"/>
            <a:ext cx="1602010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quantity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854643" y="4599781"/>
            <a:ext cx="160201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0.254 sh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863917" y="5153660"/>
            <a:ext cx="3587115" cy="581025"/>
          </a:xfrm>
          <a:prstGeom prst="roundRect">
            <a:avLst>
              <a:gd name="adj" fmla="val 19672"/>
            </a:avLst>
          </a:prstGeom>
          <a:solidFill>
            <a:srgbClr val="0B1220"/>
          </a:solidFill>
          <a:ln/>
        </p:spPr>
      </p:sp>
      <p:sp>
        <p:nvSpPr>
          <p:cNvPr id="27" name="Text 25"/>
          <p:cNvSpPr/>
          <p:nvPr/>
        </p:nvSpPr>
        <p:spPr>
          <a:xfrm>
            <a:off x="952986" y="5296535"/>
            <a:ext cx="34089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order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86350" y="2283460"/>
            <a:ext cx="323850" cy="3238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29" name="Text 27"/>
          <p:cNvSpPr/>
          <p:nvPr/>
        </p:nvSpPr>
        <p:spPr>
          <a:xfrm>
            <a:off x="5048250" y="22834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562600" y="2283460"/>
            <a:ext cx="3210306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5562600" y="2608262"/>
            <a:ext cx="3210306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symbol — NVDA. Price is live.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5086350" y="3098324"/>
            <a:ext cx="323850" cy="3238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48250" y="3098324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62600" y="3098324"/>
            <a:ext cx="345059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Dollars vs. shares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5562600" y="3423126"/>
            <a:ext cx="345059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$50; the app buys the fraction.</a:t>
            </a:r>
            <a:endParaRPr lang="en-US" sz="1425" dirty="0"/>
          </a:p>
        </p:txBody>
      </p:sp>
      <p:sp>
        <p:nvSpPr>
          <p:cNvPr id="36" name="Shape 34"/>
          <p:cNvSpPr/>
          <p:nvPr/>
        </p:nvSpPr>
        <p:spPr>
          <a:xfrm>
            <a:off x="5086350" y="3913187"/>
            <a:ext cx="323850" cy="3238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7" name="Text 35"/>
          <p:cNvSpPr/>
          <p:nvPr/>
        </p:nvSpPr>
        <p:spPr>
          <a:xfrm>
            <a:off x="5048250" y="3913187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5562600" y="3913187"/>
            <a:ext cx="4205668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type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5562600" y="4237990"/>
            <a:ext cx="4205668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or Limit — that's all you need tonight.</a:t>
            </a:r>
            <a:endParaRPr lang="en-US" sz="1425" dirty="0"/>
          </a:p>
        </p:txBody>
      </p:sp>
      <p:sp>
        <p:nvSpPr>
          <p:cNvPr id="40" name="Shape 38"/>
          <p:cNvSpPr/>
          <p:nvPr/>
        </p:nvSpPr>
        <p:spPr>
          <a:xfrm>
            <a:off x="5086350" y="4728051"/>
            <a:ext cx="323850" cy="3238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48250" y="472805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562600" y="4728051"/>
            <a:ext cx="3835638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5562600" y="5052854"/>
            <a:ext cx="3835638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 at $196.93 = 0.254 shares. Confirm.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L1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35342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· TWO 60-SECOND BEATS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ticket, two smart defaults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234783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an index ETF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'own everything' core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broad S&amp;P 500 fund — VOO, IVV, or SPY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through the exact same order ticket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 of pro stock-pickers trail it over 20 yrs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stocks go on top of this core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35265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money? Use a Roth IRA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apps, different wrapper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 inside are never taxed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 (2026 limit $7,500) withdrawable anytime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tax-free after age 59½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~10–12% bracket buys 'never taxed again' cheaply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 minutes, same order ticket — the wrapper is the only difference. Robinhood adds a 1% match on IRA contributions.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L1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627346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155031"/>
            <a:ext cx="6842998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you're actually doing when you trade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4063841"/>
            <a:ext cx="64365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buy button — but now you can see the machinery behind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973479"/>
            <a:ext cx="668973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5030629"/>
            <a:ext cx="516573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min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ORDER TYPES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order is two independent switches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809750" y="1608931"/>
            <a:ext cx="1933257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264"/>
              </a:lnSpc>
              <a:buNone/>
            </a:pPr>
            <a:r>
              <a:rPr lang="en-US" sz="1200" b="1" spc="96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MARKET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62058" y="1608931"/>
            <a:ext cx="1933258" cy="51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264"/>
              </a:lnSpc>
              <a:buNone/>
            </a:pPr>
            <a:r>
              <a:rPr lang="en-US" sz="1200" b="1" spc="96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BECOMES LIMIT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2214721"/>
            <a:ext cx="1219200" cy="157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b="1" spc="96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ACTS NOW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47850" y="2214721"/>
            <a:ext cx="1857057" cy="1540351"/>
          </a:xfrm>
          <a:prstGeom prst="roundRect">
            <a:avLst>
              <a:gd name="adj" fmla="val 7420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1809750" y="2214721"/>
            <a:ext cx="1933257" cy="157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64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3800158" y="2214721"/>
            <a:ext cx="1857058" cy="1540351"/>
          </a:xfrm>
          <a:prstGeom prst="roundRect">
            <a:avLst>
              <a:gd name="adj" fmla="val 7420"/>
            </a:avLst>
          </a:prstGeom>
          <a:solidFill>
            <a:srgbClr val="0B1220"/>
          </a:solidFill>
          <a:ln/>
        </p:spPr>
      </p:sp>
      <p:sp>
        <p:nvSpPr>
          <p:cNvPr id="15" name="Text 13"/>
          <p:cNvSpPr/>
          <p:nvPr/>
        </p:nvSpPr>
        <p:spPr>
          <a:xfrm>
            <a:off x="3762058" y="2214721"/>
            <a:ext cx="1933258" cy="157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645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609600" y="3850323"/>
            <a:ext cx="1219200" cy="1578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b="1" spc="96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TRIGGER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47850" y="3850323"/>
            <a:ext cx="1857057" cy="1540351"/>
          </a:xfrm>
          <a:prstGeom prst="roundRect">
            <a:avLst>
              <a:gd name="adj" fmla="val 742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6418" y="3856990"/>
            <a:ext cx="1919922" cy="1565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7645"/>
              </a:lnSpc>
              <a:buNone/>
            </a:pPr>
            <a:r>
              <a:rPr lang="en-US" sz="17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3800158" y="3850323"/>
            <a:ext cx="1857058" cy="1540351"/>
          </a:xfrm>
          <a:prstGeom prst="roundRect">
            <a:avLst>
              <a:gd name="adj" fmla="val 7420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8725" y="3856990"/>
            <a:ext cx="1919923" cy="1565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Stop-limit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038056" y="2000091"/>
            <a:ext cx="121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95356" y="2000091"/>
            <a:ext cx="42053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Bite: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price guarantee in a thin or fast market.</a:t>
            </a:r>
            <a:endParaRPr lang="en-US" sz="1425" dirty="0"/>
          </a:p>
        </p:txBody>
      </p:sp>
      <p:sp>
        <p:nvSpPr>
          <p:cNvPr id="23" name="Shape 21"/>
          <p:cNvSpPr/>
          <p:nvPr/>
        </p:nvSpPr>
        <p:spPr>
          <a:xfrm>
            <a:off x="6038056" y="2447766"/>
            <a:ext cx="5544344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4" name="Text 22"/>
          <p:cNvSpPr/>
          <p:nvPr/>
        </p:nvSpPr>
        <p:spPr>
          <a:xfrm>
            <a:off x="6038056" y="2609691"/>
            <a:ext cx="121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95356" y="2609691"/>
            <a:ext cx="43168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Bite: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never fill — the stock runs without you.</a:t>
            </a:r>
            <a:endParaRPr lang="en-US" sz="1425" dirty="0"/>
          </a:p>
        </p:txBody>
      </p:sp>
      <p:sp>
        <p:nvSpPr>
          <p:cNvPr id="26" name="Shape 24"/>
          <p:cNvSpPr/>
          <p:nvPr/>
        </p:nvSpPr>
        <p:spPr>
          <a:xfrm>
            <a:off x="6038056" y="3057366"/>
            <a:ext cx="5544344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7" name="Text 25"/>
          <p:cNvSpPr/>
          <p:nvPr/>
        </p:nvSpPr>
        <p:spPr>
          <a:xfrm>
            <a:off x="6038056" y="3219291"/>
            <a:ext cx="121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95356" y="3219291"/>
            <a:ext cx="356767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an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 price.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Bite: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gaps.</a:t>
            </a:r>
            <a:endParaRPr lang="en-US" sz="1425" dirty="0"/>
          </a:p>
        </p:txBody>
      </p:sp>
      <p:sp>
        <p:nvSpPr>
          <p:cNvPr id="29" name="Shape 27"/>
          <p:cNvSpPr/>
          <p:nvPr/>
        </p:nvSpPr>
        <p:spPr>
          <a:xfrm>
            <a:off x="6038056" y="3666966"/>
            <a:ext cx="5544344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038056" y="3828891"/>
            <a:ext cx="121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Stop-limit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295356" y="3828891"/>
            <a:ext cx="40776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Promises a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an exit.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Bite: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fill at all.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6038056" y="4276566"/>
            <a:ext cx="5544344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3" name="Text 31"/>
          <p:cNvSpPr/>
          <p:nvPr/>
        </p:nvSpPr>
        <p:spPr>
          <a:xfrm>
            <a:off x="6038056" y="4438491"/>
            <a:ext cx="12192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295356" y="4438491"/>
            <a:ext cx="4415655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Ratchets behind a rising price.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Bite: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shakes you out.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609600" y="5638324"/>
            <a:ext cx="12070080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Time-in-force: </a:t>
            </a:r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(dies at 4 p.m.) vs. </a:t>
            </a:r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GTC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good-till-canceled, broker-capped (~180 days).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THE CORE CONTRAST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7772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"$185" intention, three outcomes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532731"/>
            <a:ext cx="10972800" cy="841057"/>
          </a:xfrm>
          <a:prstGeom prst="roundRect">
            <a:avLst>
              <a:gd name="adj" fmla="val 13590"/>
            </a:avLst>
          </a:prstGeom>
          <a:solidFill>
            <a:srgbClr val="FEF2F2"/>
          </a:solidFill>
          <a:ln w="6667">
            <a:solidFill>
              <a:srgbClr val="FECA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767" y="1811814"/>
            <a:ext cx="962025" cy="282893"/>
          </a:xfrm>
          <a:prstGeom prst="roundRect">
            <a:avLst>
              <a:gd name="adj" fmla="val 20202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902017" y="1849914"/>
            <a:ext cx="847725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b="1" spc="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GOTCHA 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02142" y="1672749"/>
            <a:ext cx="9767582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plain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limit at $185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fills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immediately at ~$197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"$185 or better," and $197 is better. A limit order cannot protect your downside.</a:t>
            </a:r>
            <a:endParaRPr lang="en-US" sz="1425" dirty="0"/>
          </a:p>
        </p:txBody>
      </p:sp>
      <p:sp>
        <p:nvSpPr>
          <p:cNvPr id="13" name="Shape 11"/>
          <p:cNvSpPr/>
          <p:nvPr/>
        </p:nvSpPr>
        <p:spPr>
          <a:xfrm>
            <a:off x="609600" y="2564289"/>
            <a:ext cx="4105275" cy="3339783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6767" y="2761456"/>
            <a:ext cx="4082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A · Slow slide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6767" y="3171031"/>
            <a:ext cx="408203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$197 → $186 → $184 over weeks</a:t>
            </a:r>
            <a:endParaRPr lang="en-US" sz="1125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6767" y="3506788"/>
            <a:ext cx="3710940" cy="1143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06767" y="4764088"/>
            <a:ext cx="408203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$185 </a:t>
            </a:r>
            <a:pPr algn="l" indent="0" marL="0">
              <a:lnSpc>
                <a:spcPct val="134439"/>
              </a:lnSpc>
              <a:buNone/>
            </a:pPr>
            <a:r>
              <a:rPr lang="en-US" sz="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fills ~$184.90 </a:t>
            </a:r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18" name="Text 15"/>
          <p:cNvSpPr/>
          <p:nvPr/>
        </p:nvSpPr>
        <p:spPr>
          <a:xfrm>
            <a:off x="806767" y="5091271"/>
            <a:ext cx="408203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Stop-limit $185/$182 </a:t>
            </a:r>
            <a:pPr algn="l" indent="0" marL="0">
              <a:lnSpc>
                <a:spcPct val="134439"/>
              </a:lnSpc>
              <a:buNone/>
            </a:pPr>
            <a:r>
              <a:rPr lang="en-US" sz="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fills ~$184.90 </a:t>
            </a:r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75" dirty="0"/>
          </a:p>
        </p:txBody>
      </p:sp>
      <p:sp>
        <p:nvSpPr>
          <p:cNvPr id="19" name="Shape 16"/>
          <p:cNvSpPr/>
          <p:nvPr/>
        </p:nvSpPr>
        <p:spPr>
          <a:xfrm>
            <a:off x="4905375" y="2564289"/>
            <a:ext cx="4105275" cy="3339783"/>
          </a:xfrm>
          <a:prstGeom prst="roundRect">
            <a:avLst>
              <a:gd name="adj" fmla="val 3993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02543" y="2761456"/>
            <a:ext cx="4082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B · Earnings gap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02543" y="3171031"/>
            <a:ext cx="408203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$195, opens </a:t>
            </a:r>
            <a:pPr algn="l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$168</a:t>
            </a:r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slides to $150</a:t>
            </a:r>
            <a:endParaRPr lang="en-US" sz="1125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2543" y="3506788"/>
            <a:ext cx="3710940" cy="11430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102543" y="4764088"/>
            <a:ext cx="408203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$185 </a:t>
            </a:r>
            <a:pPr algn="l" indent="0" marL="0">
              <a:lnSpc>
                <a:spcPct val="134439"/>
              </a:lnSpc>
              <a:buNone/>
            </a:pPr>
            <a:r>
              <a:rPr lang="en-US" sz="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market at open </a:t>
            </a:r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~$168 </a:t>
            </a:r>
            <a:pPr algn="l" indent="0" marL="0">
              <a:lnSpc>
                <a:spcPct val="134439"/>
              </a:lnSpc>
              <a:buNone/>
            </a:pPr>
            <a:r>
              <a:rPr lang="en-US" sz="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($17 below)</a:t>
            </a:r>
            <a:endParaRPr lang="en-US" sz="1275" dirty="0"/>
          </a:p>
        </p:txBody>
      </p:sp>
      <p:sp>
        <p:nvSpPr>
          <p:cNvPr id="24" name="Text 20"/>
          <p:cNvSpPr/>
          <p:nvPr/>
        </p:nvSpPr>
        <p:spPr>
          <a:xfrm>
            <a:off x="5102543" y="5091271"/>
            <a:ext cx="4082034" cy="28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Stop-limit $185/$182 </a:t>
            </a:r>
            <a:pPr algn="l" indent="0" marL="0">
              <a:lnSpc>
                <a:spcPct val="134439"/>
              </a:lnSpc>
              <a:buNone/>
            </a:pPr>
            <a:r>
              <a:rPr lang="en-US" sz="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fill</a:t>
            </a:r>
            <a:pPr algn="l" indent="0" marL="0">
              <a:lnSpc>
                <a:spcPct val="134439"/>
              </a:lnSpc>
              <a:buNone/>
            </a:pPr>
            <a:r>
              <a:rPr lang="en-US" sz="12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rides to $150</a:t>
            </a:r>
            <a:endParaRPr lang="en-US" sz="1275" dirty="0"/>
          </a:p>
        </p:txBody>
      </p:sp>
      <p:sp>
        <p:nvSpPr>
          <p:cNvPr id="25" name="Shape 21"/>
          <p:cNvSpPr/>
          <p:nvPr/>
        </p:nvSpPr>
        <p:spPr>
          <a:xfrm>
            <a:off x="9201150" y="2564289"/>
            <a:ext cx="2381250" cy="3339783"/>
          </a:xfrm>
          <a:prstGeom prst="roundRect">
            <a:avLst>
              <a:gd name="adj" fmla="val 5600"/>
            </a:avLst>
          </a:prstGeom>
          <a:solidFill>
            <a:srgbClr val="0B1220"/>
          </a:solidFill>
          <a:ln/>
        </p:spPr>
      </p:sp>
      <p:sp>
        <p:nvSpPr>
          <p:cNvPr id="26" name="Text 22"/>
          <p:cNvSpPr/>
          <p:nvPr/>
        </p:nvSpPr>
        <p:spPr>
          <a:xfrm>
            <a:off x="9410700" y="2773839"/>
            <a:ext cx="2158365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</a:t>
            </a:r>
            <a:endParaRPr lang="en-US" sz="1350" dirty="0"/>
          </a:p>
        </p:txBody>
      </p:sp>
      <p:sp>
        <p:nvSpPr>
          <p:cNvPr id="27" name="Text 23"/>
          <p:cNvSpPr/>
          <p:nvPr/>
        </p:nvSpPr>
        <p:spPr>
          <a:xfrm>
            <a:off x="9410700" y="3191986"/>
            <a:ext cx="203835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being stuck in a collapse → </a:t>
            </a:r>
            <a:pPr algn="l" indent="0" marL="0">
              <a:lnSpc>
                <a:spcPct val="12307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</a:t>
            </a:r>
            <a:pPr algn="l" indent="0" marL="0">
              <a:lnSpc>
                <a:spcPct val="123077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(guaranteed exit, unknown price).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9410700" y="4197826"/>
            <a:ext cx="196215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9410700" y="4359751"/>
            <a:ext cx="2038350" cy="89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077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selling a spike-down bottom → </a:t>
            </a:r>
            <a:pPr algn="l" indent="0" marL="0">
              <a:lnSpc>
                <a:spcPct val="123077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Stop-limit </a:t>
            </a:r>
            <a:pPr algn="l" indent="0" marL="0">
              <a:lnSpc>
                <a:spcPct val="123077"/>
              </a:lnSpc>
              <a:buNone/>
            </a:pPr>
            <a:r>
              <a:rPr lang="en-US" sz="120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(guaranteed floor, maybe no exit).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WHERE YOUR ORDER GOES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tap, the spread, and who gets paid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835626"/>
            <a:ext cx="1159034" cy="600075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00100" y="1988026"/>
            <a:ext cx="8542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tap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82934" y="1928971"/>
            <a:ext cx="3429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2263934" y="1835626"/>
            <a:ext cx="994093" cy="600075"/>
          </a:xfrm>
          <a:prstGeom prst="roundRect">
            <a:avLst>
              <a:gd name="adj" fmla="val 19048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2454434" y="1988026"/>
            <a:ext cx="68929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372326" y="1928971"/>
            <a:ext cx="3429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3753326" y="1627981"/>
            <a:ext cx="2990533" cy="469582"/>
          </a:xfrm>
          <a:prstGeom prst="roundRect">
            <a:avLst>
              <a:gd name="adj" fmla="val 20284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12394" y="1729899"/>
            <a:ext cx="2762114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highlight>
                  <a:srgbClr val="EEF2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Wholesaler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(pays for order flow)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753326" y="2173764"/>
            <a:ext cx="2990533" cy="469583"/>
          </a:xfrm>
          <a:prstGeom prst="roundRect">
            <a:avLst>
              <a:gd name="adj" fmla="val 20284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12394" y="2275681"/>
            <a:ext cx="2762114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58159" y="1928971"/>
            <a:ext cx="34290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7239159" y="1835626"/>
            <a:ext cx="647541" cy="600075"/>
          </a:xfrm>
          <a:prstGeom prst="roundRect">
            <a:avLst>
              <a:gd name="adj" fmla="val 19048"/>
            </a:avLst>
          </a:prstGeom>
          <a:solidFill>
            <a:srgbClr val="0B122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9659" y="1988026"/>
            <a:ext cx="342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9600" y="2910046"/>
            <a:ext cx="10972800" cy="1113949"/>
          </a:xfrm>
          <a:prstGeom prst="roundRect">
            <a:avLst>
              <a:gd name="adj" fmla="val 11971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867" y="3107214"/>
            <a:ext cx="1155249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spc="90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LEVEL-1 QUOTE (NVDA, AFTER HOURS)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844867" y="3442970"/>
            <a:ext cx="1863074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196.05 </a:t>
            </a:r>
            <a:pPr algn="l" indent="0" marL="0">
              <a:lnSpc>
                <a:spcPct val="137075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×3000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2690971" y="3587274"/>
            <a:ext cx="6881654" cy="95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0B981">
                  <a:alpha val="100000"/>
                </a:srgbClr>
              </a:gs>
              <a:gs pos="100000">
                <a:srgbClr val="EF4444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26" name="Text 24"/>
          <p:cNvSpPr/>
          <p:nvPr/>
        </p:nvSpPr>
        <p:spPr>
          <a:xfrm>
            <a:off x="5304313" y="3339624"/>
            <a:ext cx="182029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= a cost you pay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9725025" y="3442970"/>
            <a:ext cx="1784318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1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197.29 </a:t>
            </a:r>
            <a:pPr algn="l" indent="0" marL="0">
              <a:lnSpc>
                <a:spcPct val="137075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×200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609600" y="4290695"/>
            <a:ext cx="3556000" cy="1613376"/>
          </a:xfrm>
          <a:prstGeom prst="roundRect">
            <a:avLst>
              <a:gd name="adj" fmla="val 7085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767" y="4468813"/>
            <a:ext cx="3477832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NBBO </a:t>
            </a:r>
            <a:pPr algn="l" indent="0" marL="0">
              <a:lnSpc>
                <a:spcPct val="135714"/>
              </a:lnSpc>
              <a:buNone/>
            </a:pPr>
            <a:r>
              <a:rPr lang="en-US" sz="1125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National Best Bid &amp; Offer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806767" y="4806474"/>
            <a:ext cx="325651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 bid and lowest ask across all exchanges. Brokers must fill you at the NBBO or better (Reg NMS).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4318000" y="4290695"/>
            <a:ext cx="3556000" cy="1613376"/>
          </a:xfrm>
          <a:prstGeom prst="roundRect">
            <a:avLst>
              <a:gd name="adj" fmla="val 7085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15167" y="4468813"/>
            <a:ext cx="3477831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 by liquidity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4515167" y="4806474"/>
            <a:ext cx="325651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caps ≲0.15%; small caps 5%+ — why market orders are fine in megacaps, risky in small names.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026400" y="4290695"/>
            <a:ext cx="3556000" cy="1613376"/>
          </a:xfrm>
          <a:prstGeom prst="roundRect">
            <a:avLst>
              <a:gd name="adj" fmla="val 7085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3568" y="4468813"/>
            <a:ext cx="3477832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for order flow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8223568" y="4806474"/>
            <a:ext cx="3256515" cy="75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Wholesalers pay Robinhood to route orders — that funds $0 commissions. </a:t>
            </a:r>
            <a:pPr algn="l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takes none on stocks.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WHEN YOU CAN TRADE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trading day is being rebuilt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898174"/>
            <a:ext cx="10972800" cy="628650"/>
          </a:xfrm>
          <a:prstGeom prst="roundRect">
            <a:avLst>
              <a:gd name="adj" fmla="val 18182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6267" y="1904841"/>
            <a:ext cx="2410936" cy="615315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578167" y="1904841"/>
            <a:ext cx="2487136" cy="65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Pre-market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027204" y="1904841"/>
            <a:ext cx="3726180" cy="615315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311" y="1904841"/>
            <a:ext cx="3837966" cy="65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· 9:30–4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753384" y="1904841"/>
            <a:ext cx="2410936" cy="615315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6715284" y="1904841"/>
            <a:ext cx="2487136" cy="65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After-hours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64320" y="1904841"/>
            <a:ext cx="2410936" cy="615315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17" name="Text 15"/>
          <p:cNvSpPr/>
          <p:nvPr/>
        </p:nvSpPr>
        <p:spPr>
          <a:xfrm>
            <a:off x="9126220" y="1904841"/>
            <a:ext cx="2487136" cy="6534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Overnight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09600" y="2603024"/>
            <a:ext cx="468471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a.m.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42933" y="2603024"/>
            <a:ext cx="669925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9:30 a.m.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77719" y="2603024"/>
            <a:ext cx="47513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p.m.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417719" y="2603024"/>
            <a:ext cx="471488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p.m.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954227" y="2603024"/>
            <a:ext cx="704374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open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9600" y="3133566"/>
            <a:ext cx="5391150" cy="1240155"/>
          </a:xfrm>
          <a:prstGeom prst="roundRect">
            <a:avLst>
              <a:gd name="adj" fmla="val 9217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5817" y="3311684"/>
            <a:ext cx="54545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5817" y="3664109"/>
            <a:ext cx="5454586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7–9:28 a.m. &amp; 4–8 p.m.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191250" y="3133566"/>
            <a:ext cx="5391150" cy="1240155"/>
          </a:xfrm>
          <a:prstGeom prst="roundRect">
            <a:avLst>
              <a:gd name="adj" fmla="val 9217"/>
            </a:avLst>
          </a:prstGeom>
          <a:ln w="6667">
            <a:solidFill>
              <a:srgbClr val="E5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7468" y="3311684"/>
            <a:ext cx="54545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7468" y="3664109"/>
            <a:ext cx="5107476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4–9:30 a.m. &amp; 4–8 p.m. + a 24-Hour Market (Sun–Fri, whole-share limits only)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09600" y="4697571"/>
            <a:ext cx="10972800" cy="955358"/>
          </a:xfrm>
          <a:prstGeom prst="roundRect">
            <a:avLst>
              <a:gd name="adj" fmla="val 13958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4867" y="5014754"/>
            <a:ext cx="2050256" cy="320992"/>
          </a:xfrm>
          <a:prstGeom prst="roundRect">
            <a:avLst>
              <a:gd name="adj" fmla="val 23739"/>
            </a:avLst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959167" y="5071904"/>
            <a:ext cx="1897856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b="1" spc="63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LAUNCHING DEC 6, 2026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47524" y="4894738"/>
            <a:ext cx="8548597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 approved Nasdaq's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23-hour day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 consolidated tape running </a:t>
            </a:r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9 p.m. → Fri 8 p.m. </a:t>
            </a:r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 itself is changing.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A RULE JUST DIED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 day trader rule: 2001 → 2026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608931"/>
            <a:ext cx="4923473" cy="3515995"/>
          </a:xfrm>
          <a:prstGeom prst="roundRect">
            <a:avLst>
              <a:gd name="adj" fmla="val 4334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3917" y="1863249"/>
            <a:ext cx="485632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23"/>
              </a:lnSpc>
              <a:buNone/>
            </a:pPr>
            <a:r>
              <a:rPr lang="en-US" sz="3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2001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863917" y="2646204"/>
            <a:ext cx="485632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need $25,000 to day-trade."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3917" y="3053874"/>
            <a:ext cx="4547283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FINRA margin rule from the dot-com bust. 4+ day trades in 5 business days → tagged a pattern day trader → hold </a:t>
            </a:r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$25k minimum equity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get frozen out.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912009" y="2836386"/>
            <a:ext cx="457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723573" y="3484086"/>
            <a:ext cx="834231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repealed Jun 4, 2026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2104" y="1608931"/>
            <a:ext cx="4910296" cy="3515995"/>
          </a:xfrm>
          <a:prstGeom prst="roundRect">
            <a:avLst>
              <a:gd name="adj" fmla="val 4334"/>
            </a:avLst>
          </a:prstGeom>
          <a:solidFill>
            <a:srgbClr val="0B1220"/>
          </a:solidFill>
          <a:ln/>
        </p:spPr>
      </p:sp>
      <p:sp>
        <p:nvSpPr>
          <p:cNvPr id="16" name="Text 14"/>
          <p:cNvSpPr/>
          <p:nvPr/>
        </p:nvSpPr>
        <p:spPr>
          <a:xfrm>
            <a:off x="6919754" y="1856581"/>
            <a:ext cx="4856496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223"/>
              </a:lnSpc>
              <a:buNone/>
            </a:pPr>
            <a:r>
              <a:rPr lang="en-US" sz="33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6919754" y="2639536"/>
            <a:ext cx="4547446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85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need margin that matches your intraday risk."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19754" y="3321526"/>
            <a:ext cx="4547446" cy="783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</a:t>
            </a:r>
            <a:pPr algn="l" indent="0" marL="0">
              <a:lnSpc>
                <a:spcPct val="124286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intraday margin standards </a:t>
            </a:r>
            <a:pPr algn="l" indent="0" marL="0">
              <a:lnSpc>
                <a:spcPct val="124286"/>
              </a:lnSpc>
              <a:buNone/>
            </a:pPr>
            <a:r>
              <a:rPr lang="en-US" sz="135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 required equity to your real-time exposure — regulate the leverage, not the person.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09600" y="5372576"/>
            <a:ext cx="5572506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everyone hated it: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$25k never adjusted for inflation in 25 years, and it gated by wealth, not risk.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172200" y="5372576"/>
            <a:ext cx="5572506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caveats: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 phase in through Oct 2027 (your app may still enforce limits); the repeal removed a guardrail, not the odds.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162977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THE PLUMBING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621595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Settlement, cash vs. margin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6499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809625" y="1770697"/>
            <a:ext cx="9502220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T+1: trades settle the next business day (since May 28, 2024). Sell Monday → withdrawable cash Tuesday.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600" y="2283142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09625" y="2218372"/>
            <a:ext cx="4684315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account (the default): you trade settled money.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8025" y="2530793"/>
            <a:ext cx="795115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unsettled proceeds then sell that = a good-faith violation; 3 in 12 months → settled-cash-only for 90 days.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609600" y="2998946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2934176"/>
            <a:ext cx="6901355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account: the broker lends up to 50% (Reg T; $2,000 minimum equity).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8025" y="3246596"/>
            <a:ext cx="645175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this class: know it exists, skip the leverage.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DIVIDEND MECHANICS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dates, one habit: own it before the ex-date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1885950" y="2420303"/>
            <a:ext cx="190500" cy="1905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1411288" y="2706053"/>
            <a:ext cx="1216025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736725" y="3111341"/>
            <a:ext cx="5651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30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0575" y="2420303"/>
            <a:ext cx="247650" cy="247650"/>
          </a:xfrm>
          <a:prstGeom prst="ellipse">
            <a:avLst/>
          </a:prstGeom>
          <a:solidFill>
            <a:srgbClr val="4F46E5"/>
          </a:solidFill>
          <a:ln/>
          <a:effectLst>
            <a:outerShdw sx="100000" sy="100000" kx="0" ky="0" algn="bl" rotWithShape="0" blurRad="101600" dist="50800" dir="16200000">
              <a:srgbClr val="EEF2FF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39272" y="2763203"/>
            <a:ext cx="846455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Ex-date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4493101" y="3168491"/>
            <a:ext cx="53879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0026" y="2020253"/>
            <a:ext cx="1408589" cy="301942"/>
          </a:xfrm>
          <a:prstGeom prst="roundRect">
            <a:avLst>
              <a:gd name="adj" fmla="val 25237"/>
            </a:avLst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4115276" y="2067878"/>
            <a:ext cx="1294289" cy="2447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it BEFORE this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72350" y="2420303"/>
            <a:ext cx="190500" cy="190500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7118032" y="2706053"/>
            <a:ext cx="775335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6647338" y="3111341"/>
            <a:ext cx="1804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15 </a:t>
            </a:r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(same day, T+1)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115550" y="2420303"/>
            <a:ext cx="190500" cy="1905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28555" y="2706053"/>
            <a:ext cx="440531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575" dirty="0"/>
          </a:p>
        </p:txBody>
      </p:sp>
      <p:sp>
        <p:nvSpPr>
          <p:cNvPr id="22" name="Text 20"/>
          <p:cNvSpPr/>
          <p:nvPr/>
        </p:nvSpPr>
        <p:spPr>
          <a:xfrm>
            <a:off x="10051256" y="3111341"/>
            <a:ext cx="395287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90600" y="3538061"/>
            <a:ext cx="10210800" cy="2857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3890486"/>
            <a:ext cx="5391150" cy="1240155"/>
          </a:xfrm>
          <a:prstGeom prst="roundRect">
            <a:avLst>
              <a:gd name="adj" fmla="val 10753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4867" y="4087654"/>
            <a:ext cx="54126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b="1" spc="96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EXAMPLE · KO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4867" y="4400074"/>
            <a:ext cx="50682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$0.53/share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paid Jul 1, 2026 — Coca-Cola's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64th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straight annual raise.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91250" y="3890486"/>
            <a:ext cx="5391150" cy="1240155"/>
          </a:xfrm>
          <a:prstGeom prst="roundRect">
            <a:avLst>
              <a:gd name="adj" fmla="val 10753"/>
            </a:avLst>
          </a:prstGeom>
          <a:solidFill>
            <a:srgbClr val="F6F7FB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6518" y="4087654"/>
            <a:ext cx="54126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b="1" spc="96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26518" y="4400074"/>
            <a:ext cx="506823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toggle auto-reinvests dividends into fractional shares. Still taxable in a taxable account.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· WHAT SELLING COSTS YOU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lanes, and a student superpower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589881"/>
            <a:ext cx="5391150" cy="984885"/>
          </a:xfrm>
          <a:prstGeom prst="roundRect">
            <a:avLst>
              <a:gd name="adj" fmla="val 1160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09600" y="2568099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1589881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1589881"/>
            <a:ext cx="53340" cy="984885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5994083" y="1589881"/>
            <a:ext cx="9525" cy="98488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91540" y="1941989"/>
            <a:ext cx="975519" cy="3186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≤ 1 yr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962309" y="1787049"/>
            <a:ext cx="391726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taxed like </a:t>
            </a:r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wages </a:t>
            </a:r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your ordinary income rate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1250" y="1589881"/>
            <a:ext cx="5391150" cy="984885"/>
          </a:xfrm>
          <a:prstGeom prst="roundRect">
            <a:avLst>
              <a:gd name="adj" fmla="val 1160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1250" y="2568099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191250" y="1589881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1250" y="1589881"/>
            <a:ext cx="53340" cy="98488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75732" y="1589881"/>
            <a:ext cx="9525" cy="98488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190" y="1941989"/>
            <a:ext cx="997426" cy="31861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 &gt; 1 yr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7565866" y="1934686"/>
            <a:ext cx="287205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rates </a:t>
            </a:r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15 / 20%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9600" y="2803366"/>
            <a:ext cx="10972800" cy="1219200"/>
          </a:xfrm>
          <a:prstGeom prst="roundRect">
            <a:avLst>
              <a:gd name="adj" fmla="val 10938"/>
            </a:avLst>
          </a:prstGeom>
          <a:solidFill>
            <a:srgbClr val="0B1220"/>
          </a:solidFill>
          <a:ln/>
        </p:spPr>
      </p:sp>
      <p:sp>
        <p:nvSpPr>
          <p:cNvPr id="24" name="Text 22"/>
          <p:cNvSpPr/>
          <p:nvPr/>
        </p:nvSpPr>
        <p:spPr>
          <a:xfrm>
            <a:off x="857250" y="3302159"/>
            <a:ext cx="252874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spc="90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SUPERPOWER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327559" y="3012916"/>
            <a:ext cx="824740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single filers pay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on long-term gains up to $49,450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taxable (~$65,550 gross after the standard deduction). Many of you can realize long-term gains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tax-free right now.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09600" y="4251166"/>
            <a:ext cx="3556000" cy="1652905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6767" y="4429284"/>
            <a:ext cx="3477832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 sale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806767" y="4766945"/>
            <a:ext cx="3256515" cy="7215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2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at a loss &amp; rebuy within 30 days → loss disallowed. Rebuy in an IRA → loss gone </a:t>
            </a:r>
            <a:pPr algn="l" indent="0" marL="0">
              <a:lnSpc>
                <a:spcPct val="121429"/>
              </a:lnSpc>
              <a:buNone/>
            </a:pPr>
            <a:r>
              <a:rPr lang="en-US" sz="1275" i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permanently.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4318000" y="4251166"/>
            <a:ext cx="3556000" cy="1652905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5167" y="4429284"/>
            <a:ext cx="3477831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your lots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4515167" y="4766945"/>
            <a:ext cx="3256515" cy="71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2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FIFO. Fidelity lets you choose ("Specific Shares"); </a:t>
            </a:r>
            <a:pPr algn="l" indent="0" marL="0">
              <a:lnSpc>
                <a:spcPct val="12142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is FIFO-only.</a:t>
            </a:r>
            <a:endParaRPr lang="en-US" sz="1275" dirty="0"/>
          </a:p>
        </p:txBody>
      </p:sp>
      <p:sp>
        <p:nvSpPr>
          <p:cNvPr id="32" name="Shape 30"/>
          <p:cNvSpPr/>
          <p:nvPr/>
        </p:nvSpPr>
        <p:spPr>
          <a:xfrm>
            <a:off x="8026400" y="4251166"/>
            <a:ext cx="3556000" cy="1652905"/>
          </a:xfrm>
          <a:prstGeom prst="roundRect">
            <a:avLst>
              <a:gd name="adj" fmla="val 6915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3568" y="4429284"/>
            <a:ext cx="3477832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Paperwork does itself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8223568" y="4766945"/>
            <a:ext cx="3256515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2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Consolidated </a:t>
            </a:r>
            <a:pPr algn="l" indent="0" marL="0">
              <a:lnSpc>
                <a:spcPct val="121429"/>
              </a:lnSpc>
              <a:buNone/>
            </a:pPr>
            <a:r>
              <a:rPr lang="en-US" sz="127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1099-B </a:t>
            </a:r>
            <a:pPr algn="l" indent="0" marL="0">
              <a:lnSpc>
                <a:spcPct val="121429"/>
              </a:lnSpc>
              <a:buNone/>
            </a:pPr>
            <a:r>
              <a:rPr lang="en-US" sz="12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~Feb 15, pre-filled. Inside an IRA: none of this exists.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L2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1627346"/>
            <a:ext cx="12070080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42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2155031"/>
            <a:ext cx="6842998" cy="17183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4200" b="1" spc="-8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Yahoo Finance page like you own the stock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09600" y="4063841"/>
            <a:ext cx="643650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walkthrough of finance.yahoo.com/quote/NVDA — everything here is on the free tier.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600" y="4973479"/>
            <a:ext cx="665639" cy="257175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/>
        </p:spPr>
      </p:sp>
      <p:sp>
        <p:nvSpPr>
          <p:cNvPr id="7" name="Text 5"/>
          <p:cNvSpPr/>
          <p:nvPr/>
        </p:nvSpPr>
        <p:spPr>
          <a:xfrm>
            <a:off x="723900" y="5030629"/>
            <a:ext cx="513239" cy="180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125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THE PAGE AT A GLANCE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regions, one tab row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589881"/>
            <a:ext cx="7848600" cy="4314190"/>
          </a:xfrm>
          <a:prstGeom prst="roundRect">
            <a:avLst>
              <a:gd name="adj" fmla="val 3533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6267" y="1596549"/>
            <a:ext cx="7835265" cy="482917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11" name="Shape 9"/>
          <p:cNvSpPr/>
          <p:nvPr/>
        </p:nvSpPr>
        <p:spPr>
          <a:xfrm>
            <a:off x="616267" y="2072799"/>
            <a:ext cx="78352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787717" y="1710849"/>
            <a:ext cx="247650" cy="24765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749617" y="1710849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206817" y="1723866"/>
            <a:ext cx="748506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2050574" y="1723866"/>
            <a:ext cx="45672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2602548" y="1723866"/>
            <a:ext cx="44783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145631" y="1723866"/>
            <a:ext cx="69040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3931285" y="1723866"/>
            <a:ext cx="64039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4666933" y="1723866"/>
            <a:ext cx="60261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Holders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616267" y="3071971"/>
            <a:ext cx="78352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5817" y="2451894"/>
            <a:ext cx="247650" cy="24765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7717" y="2451894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06817" y="2250916"/>
            <a:ext cx="281408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569"/>
              </a:lnSpc>
              <a:buNone/>
            </a:pPr>
            <a:r>
              <a:rPr lang="en-US" sz="22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196.93 </a:t>
            </a:r>
            <a:pPr algn="l" indent="0" marL="0">
              <a:lnSpc>
                <a:spcPct val="135569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+1.38 (+0.71%)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06817" y="2693829"/>
            <a:ext cx="2814082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close · 196.84 (−0.05%) Overnight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00329" y="3078639"/>
            <a:ext cx="9525" cy="281876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787717" y="3231039"/>
            <a:ext cx="247650" cy="24765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749617" y="3231039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0617" y="3244056"/>
            <a:ext cx="116935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panel</a:t>
            </a:r>
            <a:endParaRPr lang="en-US" sz="1125" dirty="0"/>
          </a:p>
        </p:txBody>
      </p:sp>
      <p:sp>
        <p:nvSpPr>
          <p:cNvPr id="29" name="Shape 27"/>
          <p:cNvSpPr/>
          <p:nvPr/>
        </p:nvSpPr>
        <p:spPr>
          <a:xfrm>
            <a:off x="787717" y="3573939"/>
            <a:ext cx="2941161" cy="85725"/>
          </a:xfrm>
          <a:prstGeom prst="roundRect">
            <a:avLst>
              <a:gd name="adj" fmla="val 44444"/>
            </a:avLst>
          </a:prstGeom>
          <a:solidFill>
            <a:srgbClr val="F6F7FB"/>
          </a:solidFill>
          <a:ln/>
        </p:spPr>
      </p:sp>
      <p:sp>
        <p:nvSpPr>
          <p:cNvPr id="30" name="Shape 28"/>
          <p:cNvSpPr/>
          <p:nvPr/>
        </p:nvSpPr>
        <p:spPr>
          <a:xfrm>
            <a:off x="787717" y="3754914"/>
            <a:ext cx="2499836" cy="85725"/>
          </a:xfrm>
          <a:prstGeom prst="roundRect">
            <a:avLst>
              <a:gd name="adj" fmla="val 44444"/>
            </a:avLst>
          </a:prstGeom>
          <a:solidFill>
            <a:srgbClr val="F6F7FB"/>
          </a:solidFill>
          <a:ln/>
        </p:spPr>
      </p:sp>
      <p:sp>
        <p:nvSpPr>
          <p:cNvPr id="31" name="Shape 29"/>
          <p:cNvSpPr/>
          <p:nvPr/>
        </p:nvSpPr>
        <p:spPr>
          <a:xfrm>
            <a:off x="787717" y="3935889"/>
            <a:ext cx="2941161" cy="85725"/>
          </a:xfrm>
          <a:prstGeom prst="roundRect">
            <a:avLst>
              <a:gd name="adj" fmla="val 44444"/>
            </a:avLst>
          </a:prstGeom>
          <a:solidFill>
            <a:srgbClr val="F6F7FB"/>
          </a:solidFill>
          <a:ln/>
        </p:spPr>
      </p:sp>
      <p:sp>
        <p:nvSpPr>
          <p:cNvPr id="32" name="Shape 30"/>
          <p:cNvSpPr/>
          <p:nvPr/>
        </p:nvSpPr>
        <p:spPr>
          <a:xfrm>
            <a:off x="787717" y="4116864"/>
            <a:ext cx="2058670" cy="85725"/>
          </a:xfrm>
          <a:prstGeom prst="roundRect">
            <a:avLst>
              <a:gd name="adj" fmla="val 44444"/>
            </a:avLst>
          </a:prstGeom>
          <a:solidFill>
            <a:srgbClr val="F6F7FB"/>
          </a:solidFill>
          <a:ln/>
        </p:spPr>
      </p:sp>
      <p:sp>
        <p:nvSpPr>
          <p:cNvPr id="33" name="Shape 31"/>
          <p:cNvSpPr/>
          <p:nvPr/>
        </p:nvSpPr>
        <p:spPr>
          <a:xfrm>
            <a:off x="787717" y="4297839"/>
            <a:ext cx="2941161" cy="85725"/>
          </a:xfrm>
          <a:prstGeom prst="roundRect">
            <a:avLst>
              <a:gd name="adj" fmla="val 44444"/>
            </a:avLst>
          </a:prstGeom>
          <a:solidFill>
            <a:srgbClr val="F6F7FB"/>
          </a:solidFill>
          <a:ln/>
        </p:spPr>
      </p:sp>
      <p:sp>
        <p:nvSpPr>
          <p:cNvPr id="34" name="Shape 32"/>
          <p:cNvSpPr/>
          <p:nvPr/>
        </p:nvSpPr>
        <p:spPr>
          <a:xfrm>
            <a:off x="4078446" y="3231039"/>
            <a:ext cx="247650" cy="24765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5" name="Text 33"/>
          <p:cNvSpPr/>
          <p:nvPr/>
        </p:nvSpPr>
        <p:spPr>
          <a:xfrm>
            <a:off x="4040346" y="3231039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29167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21346" y="3244056"/>
            <a:ext cx="4668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</a:t>
            </a:r>
            <a:endParaRPr lang="en-US" sz="1125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8446" y="3573939"/>
            <a:ext cx="4201636" cy="2171065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8724900" y="2521109"/>
            <a:ext cx="285750" cy="2857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39" name="Text 36"/>
          <p:cNvSpPr/>
          <p:nvPr/>
        </p:nvSpPr>
        <p:spPr>
          <a:xfrm>
            <a:off x="8686800" y="2521109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9144000" y="2521109"/>
            <a:ext cx="25146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header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today's move + overnight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8724900" y="3243104"/>
            <a:ext cx="285750" cy="2857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2" name="Text 39"/>
          <p:cNvSpPr/>
          <p:nvPr/>
        </p:nvSpPr>
        <p:spPr>
          <a:xfrm>
            <a:off x="8686800" y="324310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9144000" y="3243104"/>
            <a:ext cx="25146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panel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16 fields, next slide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8724900" y="3965099"/>
            <a:ext cx="285750" cy="2857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5" name="Text 42"/>
          <p:cNvSpPr/>
          <p:nvPr/>
        </p:nvSpPr>
        <p:spPr>
          <a:xfrm>
            <a:off x="8686800" y="3965099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9144000" y="3965099"/>
            <a:ext cx="2514600" cy="5695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range buttons + compare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8724900" y="4687094"/>
            <a:ext cx="285750" cy="285750"/>
          </a:xfrm>
          <a:prstGeom prst="ellipse">
            <a:avLst/>
          </a:prstGeom>
          <a:solidFill>
            <a:srgbClr val="EEF2FF"/>
          </a:solidFill>
          <a:ln/>
        </p:spPr>
      </p:sp>
      <p:sp>
        <p:nvSpPr>
          <p:cNvPr id="48" name="Text 45"/>
          <p:cNvSpPr/>
          <p:nvPr/>
        </p:nvSpPr>
        <p:spPr>
          <a:xfrm>
            <a:off x="8686800" y="468709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49" name="Text 46"/>
          <p:cNvSpPr/>
          <p:nvPr/>
        </p:nvSpPr>
        <p:spPr>
          <a:xfrm>
            <a:off x="9144000" y="4687094"/>
            <a:ext cx="232251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row </a:t>
            </a:r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most of it is free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L3</a:t>
            </a:r>
            <a:endParaRPr lang="en-US" sz="9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THE SUMMARY PANEL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7772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16-field panel, in plain English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2324100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1602264"/>
            <a:ext cx="156359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 CLOSE / OPEN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9600" y="1829435"/>
            <a:ext cx="166208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195.55 / 192.37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24150" y="1576546"/>
            <a:ext cx="337489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below prev close, recovered — gaps are normal.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1250" y="2324100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191250" y="1602264"/>
            <a:ext cx="74580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 / ASK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91250" y="1829435"/>
            <a:ext cx="166208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196.05 / 197.29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1576546"/>
            <a:ext cx="337489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2's spread, live — pennies during the session.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600" y="3217386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9600" y="2495550"/>
            <a:ext cx="15756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/ 52-WK RANGE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9600" y="2721293"/>
            <a:ext cx="18258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191–198 / 158–237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724150" y="2469832"/>
            <a:ext cx="337489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year of context in one line; price sits mid-range.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1250" y="3217386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6191250" y="2495550"/>
            <a:ext cx="111379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/ AVG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1250" y="2722721"/>
            <a:ext cx="178676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122.6M / 158.8M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5800" y="2469832"/>
            <a:ext cx="3568811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~77% of normal = nothing special happened.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600" y="4110672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609600" y="3388836"/>
            <a:ext cx="100647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CAP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600" y="3616007"/>
            <a:ext cx="62531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4.77T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724150" y="3363119"/>
            <a:ext cx="330303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"$197, that's cheap!" is meaningless.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91250" y="4110672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6191250" y="3388836"/>
            <a:ext cx="774700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(5Y)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1250" y="3616007"/>
            <a:ext cx="49641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05800" y="3363119"/>
            <a:ext cx="358644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~2× the market — size positions for it.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9600" y="5003959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609600" y="4282122"/>
            <a:ext cx="1190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/ EPS (TTM)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09600" y="4509294"/>
            <a:ext cx="121808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30.16 / 6.53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724150" y="4256405"/>
            <a:ext cx="337489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÷ trailing earnings — the week-2 multiple.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91250" y="5003959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8" name="Text 36"/>
          <p:cNvSpPr/>
          <p:nvPr/>
        </p:nvSpPr>
        <p:spPr>
          <a:xfrm>
            <a:off x="6191250" y="4282122"/>
            <a:ext cx="121904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DATE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91250" y="4509294"/>
            <a:ext cx="140904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26, 2026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305800" y="4256405"/>
            <a:ext cx="337489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scheduled volatility event — check first.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9600" y="5897245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609600" y="5175409"/>
            <a:ext cx="115220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52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1Y TARGET EST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09600" y="5402580"/>
            <a:ext cx="74247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301.62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2724150" y="5149691"/>
            <a:ext cx="3374898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analyst target — sentiment, not prophecy.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91250" y="5897245"/>
            <a:ext cx="539115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6191250" y="5175409"/>
            <a:ext cx="157162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b="1" spc="52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FWD DIV &amp; EX-DATE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191250" y="5402580"/>
            <a:ext cx="124206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next slide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8305800" y="5149691"/>
            <a:ext cx="317188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dividend fields, decoded in full.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L3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ONE FIELD, DECODED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Dividend &amp; Yield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647031"/>
            <a:ext cx="10972800" cy="1536859"/>
          </a:xfrm>
          <a:prstGeom prst="roundRect">
            <a:avLst>
              <a:gd name="adj" fmla="val 991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5817" y="2053749"/>
            <a:ext cx="1004253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$0.25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825817" y="2555716"/>
            <a:ext cx="100425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2399824" y="2223453"/>
            <a:ext cx="77660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1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4 →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669982" y="2053749"/>
            <a:ext cx="1004253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$1.00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3669982" y="2555716"/>
            <a:ext cx="100425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5243989" y="2223453"/>
            <a:ext cx="1227455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1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price →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935946" y="2053749"/>
            <a:ext cx="1480820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$196.93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6935946" y="2555716"/>
            <a:ext cx="148082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957469" y="2223453"/>
            <a:ext cx="244316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195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733598" y="1901349"/>
            <a:ext cx="1594485" cy="1028224"/>
          </a:xfrm>
          <a:prstGeom prst="roundRect">
            <a:avLst>
              <a:gd name="adj" fmla="val 12969"/>
            </a:avLst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9924098" y="2053749"/>
            <a:ext cx="1213485" cy="540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883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0.51%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924098" y="2555716"/>
            <a:ext cx="1213485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 → ~$5/yr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609600" y="3469640"/>
            <a:ext cx="5397818" cy="2434431"/>
          </a:xfrm>
          <a:prstGeom prst="roundRect">
            <a:avLst>
              <a:gd name="adj" fmla="val 5478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867" y="3704908"/>
            <a:ext cx="5420011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"Forward" means "assumed"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44867" y="4144010"/>
            <a:ext cx="5075101" cy="1087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59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projection that the current rate holds — inferred, not promised. Compare KO: $0.53 × 4 = $2.12 ≈ </a:t>
            </a:r>
            <a:pPr algn="l" indent="0" marL="0">
              <a:lnSpc>
                <a:spcPct val="126959"/>
              </a:lnSpc>
              <a:buNone/>
            </a:pPr>
            <a:r>
              <a:rPr lang="en-US" sz="142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 yield </a:t>
            </a:r>
            <a:pPr algn="l" indent="0" marL="0">
              <a:lnSpc>
                <a:spcPct val="126959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five times NVDA's. KO returns cash via dividends; NVDA mostly via buybacks.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6197918" y="3469640"/>
            <a:ext cx="5384482" cy="2434431"/>
          </a:xfrm>
          <a:prstGeom prst="roundRect">
            <a:avLst>
              <a:gd name="adj" fmla="val 5478"/>
            </a:avLst>
          </a:prstGeom>
          <a:solidFill>
            <a:srgbClr val="0B12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26518" y="3698240"/>
            <a:ext cx="5075101" cy="6877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 sets the dividend; the market sets the yield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426518" y="4462145"/>
            <a:ext cx="5075101" cy="825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959"/>
              </a:lnSpc>
              <a:buNone/>
            </a:pPr>
            <a:r>
              <a:rPr lang="en-US" sz="14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falls 30% with the payout unchanged → yield jumps ~43%. A strikingly </a:t>
            </a:r>
            <a:pPr algn="l" indent="0" marL="0">
              <a:lnSpc>
                <a:spcPct val="126959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yield is often a warning, not a gift </a:t>
            </a:r>
            <a:pPr algn="l" indent="0" marL="0">
              <a:lnSpc>
                <a:spcPct val="126959"/>
              </a:lnSpc>
              <a:buNone/>
            </a:pPr>
            <a:r>
              <a:rPr lang="en-US" sz="14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market pricing in a cut.</a:t>
            </a:r>
            <a:endParaRPr lang="en-US" sz="1425" dirty="0"/>
          </a:p>
        </p:txBody>
      </p:sp>
      <p:sp>
        <p:nvSpPr>
          <p:cNvPr id="28" name="Text 26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L3</a:t>
            </a:r>
            <a:endParaRPr lang="en-US" sz="9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THE CHART TAB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skills in three minutes</a:t>
            </a:r>
            <a:endParaRPr lang="en-US" sz="34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947" y="2670651"/>
            <a:ext cx="1194911" cy="219075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6059" y="2670651"/>
            <a:ext cx="597535" cy="2190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67200" y="3247073"/>
            <a:ext cx="73152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Text 8"/>
          <p:cNvSpPr/>
          <p:nvPr/>
        </p:nvSpPr>
        <p:spPr>
          <a:xfrm>
            <a:off x="4267200" y="2451259"/>
            <a:ext cx="804672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buttons · 1D → 5Y → Max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267200" y="2814161"/>
            <a:ext cx="8046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stock, different stories. Zoom out before you react.</a:t>
            </a:r>
            <a:endParaRPr lang="en-US" sz="1425" dirty="0"/>
          </a:p>
        </p:txBody>
      </p:sp>
      <p:sp>
        <p:nvSpPr>
          <p:cNvPr id="14" name="Shape 10"/>
          <p:cNvSpPr/>
          <p:nvPr/>
        </p:nvSpPr>
        <p:spPr>
          <a:xfrm>
            <a:off x="4267200" y="4240054"/>
            <a:ext cx="73152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5" name="Text 11"/>
          <p:cNvSpPr/>
          <p:nvPr/>
        </p:nvSpPr>
        <p:spPr>
          <a:xfrm>
            <a:off x="4267200" y="3444240"/>
            <a:ext cx="804672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vs. candles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4267200" y="3807143"/>
            <a:ext cx="8046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candle = open, high, low, close. Green closed above open.</a:t>
            </a:r>
            <a:endParaRPr lang="en-US" sz="1425" dirty="0"/>
          </a:p>
        </p:txBody>
      </p:sp>
      <p:sp>
        <p:nvSpPr>
          <p:cNvPr id="17" name="Text 13"/>
          <p:cNvSpPr/>
          <p:nvPr/>
        </p:nvSpPr>
        <p:spPr>
          <a:xfrm>
            <a:off x="4267200" y="4437221"/>
            <a:ext cx="8046720" cy="3629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317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4267200" y="4800124"/>
            <a:ext cx="804672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714"/>
              </a:lnSpc>
              <a:buNone/>
            </a:pPr>
            <a:r>
              <a:rPr lang="en-US" sz="14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Overlay SPY — are you actually beating "just the index"?</a:t>
            </a:r>
            <a:endParaRPr lang="en-US" sz="1425" dirty="0"/>
          </a:p>
        </p:txBody>
      </p:sp>
      <p:sp>
        <p:nvSpPr>
          <p:cNvPr id="19" name="Text 15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L3</a:t>
            </a:r>
            <a:endParaRPr lang="en-US" sz="9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306851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STATISTICS &amp; THE DEEPER TABS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dense tabs, decoded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3505200" cy="3645218"/>
          </a:xfrm>
          <a:prstGeom prst="roundRect">
            <a:avLst>
              <a:gd name="adj" fmla="val 3261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9555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333813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week-2 concepts, auto-computed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3212465" cy="1631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P/E — what you pay per $1 of profit (30.2 vs ~19.8 fwd)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PEG — P/E adjusted for growth; under ~1 is cheap-for-growth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EV/EBITDA — a debt-neutral profit multiple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Price/Sales — works when profits are zero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4343400" y="1808797"/>
            <a:ext cx="3505200" cy="364521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8668" y="2044065"/>
            <a:ext cx="161720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health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8668" y="2415540"/>
            <a:ext cx="333813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477068" y="2789396"/>
            <a:ext cx="3212465" cy="1809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ROE — profit per shareholder dollar (quality marker)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Debt/Equity — the leverage dial (&gt;100% = more borrowed than owned)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Ratio — can it pay this year's bills? (&gt;1 = yes)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Levered FCF — what's left after the business &amp; the bank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8077200" y="1808797"/>
            <a:ext cx="3505200" cy="3645218"/>
          </a:xfrm>
          <a:prstGeom prst="roundRect">
            <a:avLst>
              <a:gd name="adj" fmla="val 3261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12468" y="2044065"/>
            <a:ext cx="10917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12468" y="2415540"/>
            <a:ext cx="333813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it, who's short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210868" y="2789396"/>
            <a:ext cx="3212465" cy="16311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 — what's actually tradable; small float = bigger moves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≈ 69% · Insiders ≈ 4%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% of float 1.29% — nobody's fighting it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Ratio — dividends ÷ profit; 80%+ = cut risk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= the three statements (week-2 red flags). Analysis = estimate revisions + the target's high/low/mean spread. Options = its own future class.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L3</a:t>
            </a:r>
            <a:endParaRPr lang="en-US" sz="9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· THE PAYOFF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10-minute pre-trade check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589881"/>
            <a:ext cx="10972800" cy="4314190"/>
          </a:xfrm>
          <a:prstGeom prst="roundRect">
            <a:avLst>
              <a:gd name="adj" fmla="val 3533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40117" y="1875314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/>
        </p:spPr>
      </p:sp>
      <p:sp>
        <p:nvSpPr>
          <p:cNvPr id="11" name="Text 9"/>
          <p:cNvSpPr/>
          <p:nvPr/>
        </p:nvSpPr>
        <p:spPr>
          <a:xfrm>
            <a:off x="902017" y="1875314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73517" y="1901190"/>
            <a:ext cx="7222141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panel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spread sane? volume normal? earnings imminent?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940117" y="2389664"/>
            <a:ext cx="103117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940117" y="2551589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902017" y="2551589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73517" y="2577465"/>
            <a:ext cx="7147227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Chart, 1Y + 5Y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where in the 52-week range am I buying? vs. SPY?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40117" y="3065939"/>
            <a:ext cx="103117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940117" y="3227864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2017" y="3227864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73517" y="3253740"/>
            <a:ext cx="6697742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multiple vs. its own history; short interest crowded?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940117" y="3742214"/>
            <a:ext cx="103117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2" name="Shape 20"/>
          <p:cNvSpPr/>
          <p:nvPr/>
        </p:nvSpPr>
        <p:spPr>
          <a:xfrm>
            <a:off x="940117" y="3904139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/>
        </p:spPr>
      </p:sp>
      <p:sp>
        <p:nvSpPr>
          <p:cNvPr id="23" name="Text 21"/>
          <p:cNvSpPr/>
          <p:nvPr/>
        </p:nvSpPr>
        <p:spPr>
          <a:xfrm>
            <a:off x="902017" y="3904139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73517" y="3930015"/>
            <a:ext cx="5481129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are estimates being revised up or down?</a:t>
            </a:r>
            <a:endParaRPr lang="en-US" sz="1575" dirty="0"/>
          </a:p>
        </p:txBody>
      </p:sp>
      <p:sp>
        <p:nvSpPr>
          <p:cNvPr id="25" name="Shape 23"/>
          <p:cNvSpPr/>
          <p:nvPr/>
        </p:nvSpPr>
        <p:spPr>
          <a:xfrm>
            <a:off x="940117" y="4418489"/>
            <a:ext cx="103117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117" y="4580414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EEF2FF"/>
          </a:solidFill>
          <a:ln/>
        </p:spPr>
      </p:sp>
      <p:sp>
        <p:nvSpPr>
          <p:cNvPr id="27" name="Text 25"/>
          <p:cNvSpPr/>
          <p:nvPr/>
        </p:nvSpPr>
        <p:spPr>
          <a:xfrm>
            <a:off x="902017" y="4580414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73517" y="4606290"/>
            <a:ext cx="7609284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anything from the last 48 hours I'm about to learn the hard way?</a:t>
            </a:r>
            <a:endParaRPr lang="en-US" sz="1575" dirty="0"/>
          </a:p>
        </p:txBody>
      </p:sp>
      <p:sp>
        <p:nvSpPr>
          <p:cNvPr id="29" name="Shape 27"/>
          <p:cNvSpPr/>
          <p:nvPr/>
        </p:nvSpPr>
        <p:spPr>
          <a:xfrm>
            <a:off x="940117" y="5094763"/>
            <a:ext cx="10311765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940117" y="5256688"/>
            <a:ext cx="361950" cy="361950"/>
          </a:xfrm>
          <a:prstGeom prst="roundRect">
            <a:avLst>
              <a:gd name="adj" fmla="val 26316"/>
            </a:avLst>
          </a:prstGeom>
          <a:solidFill>
            <a:srgbClr val="4F46E5"/>
          </a:solidFill>
          <a:ln/>
        </p:spPr>
      </p:sp>
      <p:sp>
        <p:nvSpPr>
          <p:cNvPr id="31" name="Text 29"/>
          <p:cNvSpPr/>
          <p:nvPr/>
        </p:nvSpPr>
        <p:spPr>
          <a:xfrm>
            <a:off x="902017" y="5256688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73517" y="5282565"/>
            <a:ext cx="7679833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the order </a:t>
            </a:r>
            <a:pPr algn="l" indent="0" marL="0">
              <a:lnSpc>
                <a:spcPct val="132857"/>
              </a:lnSpc>
              <a:buNone/>
            </a:pPr>
            <a:r>
              <a:rPr lang="en-US" sz="1575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limit, sized so beta × position doesn't ruin your week.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10495756" y="6056471"/>
            <a:ext cx="116284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Stocks · L3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2228215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10 MIN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787650" y="609600"/>
            <a:ext cx="9474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12, 2026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609600" y="953929"/>
            <a:ext cx="10972800" cy="4950143"/>
          </a:xfrm>
          <a:prstGeom prst="roundRect">
            <a:avLst>
              <a:gd name="adj" fmla="val 23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122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9600" y="5897404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" y="953929"/>
            <a:ext cx="1097280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600" y="953929"/>
            <a:ext cx="46673" cy="4950143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75732" y="953929"/>
            <a:ext cx="9525" cy="4950143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1113472" y="1774031"/>
            <a:ext cx="6878644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SpaceX IPO: retail's biggest front-row seat ever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113472" y="2878931"/>
            <a:ext cx="742673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IPO ever priced at a fixed $135 and sold directly to retail through five apps — then handed the room a month of Level 2 and 3 in one stock.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13472" y="3774281"/>
            <a:ext cx="10005060" cy="9525"/>
          </a:xfrm>
          <a:prstGeom prst="rect">
            <a:avLst/>
          </a:prstGeom>
          <a:solidFill>
            <a:srgbClr val="E5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3472" y="4009549"/>
            <a:ext cx="2143173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-42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13472" y="4441984"/>
            <a:ext cx="2143173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IPO price (~$75B raise)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366611" y="4009549"/>
            <a:ext cx="2082752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-4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~$15B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366611" y="4441984"/>
            <a:ext cx="208275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retail — ~20% of the deal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564823" y="4009549"/>
            <a:ext cx="173751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spc="-42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+19%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564823" y="4441984"/>
            <a:ext cx="173751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day-one close, $160.95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1113472" y="4892040"/>
            <a:ext cx="11005566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 · Bloomberg · Vanda · Citadel Securities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0660380" y="6056471"/>
            <a:ext cx="9982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9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339451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SETUP 1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vs. institutional — you're in this story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096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EEF2FF"/>
          </a:solidFill>
          <a:ln w="6667">
            <a:solidFill>
              <a:srgbClr val="C7D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867" y="2044065"/>
            <a:ext cx="59705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4867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money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43267" y="2789396"/>
            <a:ext cx="507936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individual investing through a brokerage account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who did Level 1 tonight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~20–25% of US equity volume (spiked ~35% Apr 2025)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in 10 US adults own stock (Gallup)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6210300" y="1808797"/>
            <a:ext cx="5372100" cy="3645218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5568" y="2044065"/>
            <a:ext cx="11839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5568" y="2415540"/>
            <a:ext cx="5391721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people's pooled money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6343968" y="2789396"/>
            <a:ext cx="5079365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Funds, pensions, endowments — trading at scale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Historically first in line for IPO allocations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'accredited investor' gate (~$200k income / $1M net worth)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…kept SpaceX legally off-limits to the public for 24 years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609600" y="5682615"/>
            <a:ext cx="1207008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isn't a sideshow — it's a market force. The IPO was the first day the public could own SpaceX at all.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0660380" y="6056471"/>
            <a:ext cx="9982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9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85800"/>
            <a:ext cx="2366693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SETUP 2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989647"/>
            <a:ext cx="621595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890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normal IPO looks like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9600" y="1618297"/>
            <a:ext cx="693162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Banks underwrite → S-1 filed → ~2-week roadshow → bookbuilding → priced the night before → allocated → first trade at the opening auction.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9600" y="2607945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809625" y="2513647"/>
            <a:ext cx="8346901" cy="3038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Offer-price shares go historically ~90% institutions / 10% retail — and even that 10% is gated.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600" y="3026093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809625" y="2931795"/>
            <a:ext cx="9747567" cy="303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pop: US IPOs average +19% on day one (1980–2025); 2025 averaged +29% and left $13.1B 'on the table.'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09600" y="3444240"/>
            <a:ext cx="85725" cy="85725"/>
          </a:xfrm>
          <a:prstGeom prst="roundRect">
            <a:avLst>
              <a:gd name="adj" fmla="val 33333"/>
            </a:avLst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09625" y="3379470"/>
            <a:ext cx="5818679" cy="24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 buyers pay the offer price; everyone else pays the pop.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08025" y="3691890"/>
            <a:ext cx="622649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priced $31 → closed $83 (+168%); Figma priced $33 → closed $115.50 (+250%).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10660380" y="6056471"/>
            <a:ext cx="9982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9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JUNE 12, 2026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SpaceX did differently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768350" y="2714466"/>
            <a:ext cx="1714500" cy="17145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0" name="Shape 8"/>
          <p:cNvSpPr/>
          <p:nvPr/>
        </p:nvSpPr>
        <p:spPr>
          <a:xfrm>
            <a:off x="1168400" y="3114516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30300" y="3114516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125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IPO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07992" y="4562316"/>
            <a:ext cx="2235375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</a:t>
            </a:r>
            <a:pPr algn="ctr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· </a:t>
            </a:r>
            <a:pPr algn="ctr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</a:t>
            </a:r>
            <a:pPr algn="ctr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54095" y="2714466"/>
            <a:ext cx="1714500" cy="1714500"/>
          </a:xfrm>
          <a:prstGeom prst="ellipse">
            <a:avLst/>
          </a:prstGeom>
          <a:solidFill>
            <a:srgbClr val="0B1220"/>
          </a:solidFill>
          <a:ln/>
        </p:spPr>
      </p:sp>
      <p:sp>
        <p:nvSpPr>
          <p:cNvPr id="14" name="Shape 12"/>
          <p:cNvSpPr/>
          <p:nvPr/>
        </p:nvSpPr>
        <p:spPr>
          <a:xfrm>
            <a:off x="3954145" y="3114516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16045" y="3114516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4439"/>
              </a:lnSpc>
              <a:buNone/>
            </a:pPr>
            <a:r>
              <a:rPr lang="en-US" sz="12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SPCX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2883892" y="4562316"/>
            <a:ext cx="3055064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</a:t>
            </a:r>
            <a:pPr algn="ctr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 · </a:t>
            </a:r>
            <a:pPr algn="ctr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</a:t>
            </a:r>
            <a:pPr algn="ctr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· </a:t>
            </a:r>
            <a:pPr algn="ctr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 </a:t>
            </a:r>
            <a:pPr algn="ctr" indent="0" marL="0">
              <a:lnSpc>
                <a:spcPct val="136264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9190" y="2537301"/>
            <a:ext cx="552410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IPO ever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fixed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$135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(~$75B raise), sold directly to retail through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apps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Robinhood, Fidelity, Schwab, SoFi, E*TRADE.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9190" y="3489801"/>
            <a:ext cx="552410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targeted ~30%, cut to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~20% (≈$15B)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still about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historical norm.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9190" y="4175601"/>
            <a:ext cx="552410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mechanics = Level 1's ticket: a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offer to buy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(activates when the deal prices). Allocation was a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lottery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requesting more didn't improve your odds.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660380" y="6056471"/>
            <a:ext cx="9982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9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SINCE JUNE 12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7772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month of Level 2 and 3 in one stock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551781"/>
            <a:ext cx="10972800" cy="2461578"/>
          </a:xfrm>
          <a:prstGeom prst="roundRect">
            <a:avLst>
              <a:gd name="adj" fmla="val 5417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6767" y="1691799"/>
            <a:ext cx="401602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SPCX · SpaceX </a:t>
            </a:r>
            <a:pPr algn="l" indent="0" marL="0">
              <a:lnSpc>
                <a:spcPct val="136264"/>
              </a:lnSpc>
              <a:buNone/>
            </a:pPr>
            <a:r>
              <a:rPr lang="en-US" sz="12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daily close, Jun 12 – Jul 7,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43253" y="1720691"/>
            <a:ext cx="3456178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Reconstructed from reported figures · not a live quote</a:t>
            </a:r>
            <a:endParaRPr lang="en-US" sz="9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6767" y="1947069"/>
            <a:ext cx="10578465" cy="198342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9600" y="4222909"/>
            <a:ext cx="2632234" cy="1760696"/>
          </a:xfrm>
          <a:prstGeom prst="roundRect">
            <a:avLst>
              <a:gd name="adj" fmla="val 757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6767" y="4401026"/>
            <a:ext cx="246168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spc="68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JUN 12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806767" y="4698682"/>
            <a:ext cx="246168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$160.95 </a:t>
            </a:r>
            <a:pPr algn="l" indent="0" marL="0">
              <a:lnSpc>
                <a:spcPct val="134783"/>
              </a:lnSpc>
              <a:buNone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+19%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806767" y="5188268"/>
            <a:ext cx="2314099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81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the long-run average pop — a record retail net-buying day.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394234" y="4222909"/>
            <a:ext cx="2632234" cy="1760696"/>
          </a:xfrm>
          <a:prstGeom prst="roundRect">
            <a:avLst>
              <a:gd name="adj" fmla="val 757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91401" y="4401026"/>
            <a:ext cx="246168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spc="68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EUPHORIA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3591401" y="4698682"/>
            <a:ext cx="246168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$225.64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3591401" y="5188268"/>
            <a:ext cx="2314099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81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Briefly the 4th most valuable company on Earth — above Amazon and Microsoft.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78868" y="4222909"/>
            <a:ext cx="2632234" cy="1760696"/>
          </a:xfrm>
          <a:prstGeom prst="roundRect">
            <a:avLst>
              <a:gd name="adj" fmla="val 757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76035" y="4401026"/>
            <a:ext cx="246168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spc="68" kern="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</a:t>
            </a:r>
            <a:endParaRPr lang="en-US" sz="1125" dirty="0"/>
          </a:p>
        </p:txBody>
      </p:sp>
      <p:sp>
        <p:nvSpPr>
          <p:cNvPr id="23" name="Text 20"/>
          <p:cNvSpPr/>
          <p:nvPr/>
        </p:nvSpPr>
        <p:spPr>
          <a:xfrm>
            <a:off x="6376035" y="4698682"/>
            <a:ext cx="246168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−$600B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6376035" y="5188268"/>
            <a:ext cx="2314099" cy="655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81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three-day ~23% slide on a $25B bond sale and unlock fears.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63501" y="4222909"/>
            <a:ext cx="2618899" cy="1760696"/>
          </a:xfrm>
          <a:prstGeom prst="roundRect">
            <a:avLst>
              <a:gd name="adj" fmla="val 7574"/>
            </a:avLst>
          </a:prstGeom>
          <a:solidFill>
            <a:srgbClr val="0B1220"/>
          </a:solidFill>
          <a:ln/>
        </p:spPr>
      </p:sp>
      <p:sp>
        <p:nvSpPr>
          <p:cNvPr id="26" name="Text 23"/>
          <p:cNvSpPr/>
          <p:nvPr/>
        </p:nvSpPr>
        <p:spPr>
          <a:xfrm>
            <a:off x="9154001" y="4394359"/>
            <a:ext cx="2461689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125" b="1" spc="68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7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9154001" y="4692015"/>
            <a:ext cx="2461689" cy="4514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$149.47 </a:t>
            </a:r>
            <a:pPr algn="l" indent="0" marL="0">
              <a:lnSpc>
                <a:spcPct val="134783"/>
              </a:lnSpc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−6.8%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9154001" y="5181600"/>
            <a:ext cx="2314099" cy="4495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81"/>
              </a:lnSpc>
              <a:buNone/>
            </a:pPr>
            <a:r>
              <a:rPr lang="en-US" sz="120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Joined the Nasdaq-100 yet still fell as the quiet period expired.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0660380" y="6056471"/>
            <a:ext cx="9982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9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10950" y="609600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453813" y="700088"/>
            <a:ext cx="19050" cy="38100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487150" y="676275"/>
            <a:ext cx="19050" cy="61912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520488" y="652463"/>
            <a:ext cx="19050" cy="857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609600"/>
            <a:ext cx="120700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 · THE LESSON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9600" y="896779"/>
            <a:ext cx="12070080" cy="5026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144"/>
              </a:lnSpc>
              <a:buNone/>
            </a:pPr>
            <a:r>
              <a:rPr lang="en-US" sz="3450" b="1" spc="-69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company, three very different trades</a:t>
            </a:r>
            <a:endParaRPr lang="en-US" sz="3450" dirty="0"/>
          </a:p>
        </p:txBody>
      </p:sp>
      <p:sp>
        <p:nvSpPr>
          <p:cNvPr id="9" name="Shape 7"/>
          <p:cNvSpPr/>
          <p:nvPr/>
        </p:nvSpPr>
        <p:spPr>
          <a:xfrm>
            <a:off x="609600" y="1608931"/>
            <a:ext cx="3530600" cy="313309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3917" y="1863249"/>
            <a:ext cx="3324161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Allocated at the offer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863917" y="2306638"/>
            <a:ext cx="3112624" cy="131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offer through the app, at $135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3917" y="3719989"/>
            <a:ext cx="3324161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3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+10.7%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4330700" y="1608931"/>
            <a:ext cx="3530600" cy="313309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85018" y="1863249"/>
            <a:ext cx="3324161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the open, day one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4585018" y="2306638"/>
            <a:ext cx="3112624" cy="131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order at ~$150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85018" y="3719989"/>
            <a:ext cx="3324161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39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−0.4%</a:t>
            </a:r>
            <a:endParaRPr lang="en-US" sz="3900" dirty="0"/>
          </a:p>
        </p:txBody>
      </p:sp>
      <p:sp>
        <p:nvSpPr>
          <p:cNvPr id="17" name="Shape 15"/>
          <p:cNvSpPr/>
          <p:nvPr/>
        </p:nvSpPr>
        <p:spPr>
          <a:xfrm>
            <a:off x="8051800" y="1608931"/>
            <a:ext cx="3530600" cy="313309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6667">
            <a:solidFill>
              <a:srgbClr val="E5E8F0"/>
            </a:solidFill>
            <a:prstDash val="solid"/>
          </a:ln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06117" y="1863249"/>
            <a:ext cx="3324161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575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Chased the peak, week two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8306117" y="2306638"/>
            <a:ext cx="3112624" cy="13181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order at ~$225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06117" y="3719989"/>
            <a:ext cx="3324161" cy="805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3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−34%</a:t>
            </a:r>
            <a:endParaRPr lang="en-US" sz="3900" dirty="0"/>
          </a:p>
        </p:txBody>
      </p:sp>
      <p:sp>
        <p:nvSpPr>
          <p:cNvPr id="21" name="Shape 19"/>
          <p:cNvSpPr/>
          <p:nvPr/>
        </p:nvSpPr>
        <p:spPr>
          <a:xfrm>
            <a:off x="609600" y="4989671"/>
            <a:ext cx="10972800" cy="914400"/>
          </a:xfrm>
          <a:prstGeom prst="roundRect">
            <a:avLst>
              <a:gd name="adj" fmla="val 14583"/>
            </a:avLst>
          </a:prstGeom>
          <a:solidFill>
            <a:srgbClr val="0B1220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" y="5180171"/>
            <a:ext cx="1080668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0B122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One company, one month — the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0B122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0B122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of the purchase spans a </a:t>
            </a:r>
            <a:pPr algn="l" indent="0" marL="0">
              <a:lnSpc>
                <a:spcPct val="121212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45-point </a:t>
            </a:r>
            <a:pPr algn="l" indent="0" marL="0">
              <a:lnSpc>
                <a:spcPct val="121212"/>
              </a:lnSpc>
              <a:buNone/>
            </a:pPr>
            <a:r>
              <a:rPr lang="en-US" sz="1500" dirty="0">
                <a:solidFill>
                  <a:srgbClr val="FFFFFF"/>
                </a:solidFill>
                <a:highlight>
                  <a:srgbClr val="0B1220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return spread. Access, order type, and timing are not details.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660380" y="6056471"/>
            <a:ext cx="99822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Moment</a:t>
            </a:r>
            <a:endParaRPr lang="en-US" sz="97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85800"/>
            <a:ext cx="744855" cy="18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989647"/>
            <a:ext cx="1207008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it through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88499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8168" y="189166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3000" y="1884997"/>
            <a:ext cx="81533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got at least one share, but 17-of-1,000 was typical. Genuine access, or marketing with a guaranteed audience?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09600" y="285654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8168" y="286321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2856547"/>
            <a:ext cx="861774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anything fair or unfair here? What would you change?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09600" y="354234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168" y="354901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43000" y="3542347"/>
            <a:ext cx="81533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targets on the same stock ran $131 to $800. What does that do to your trust in the '1y Target Est'?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609600" y="4513897"/>
            <a:ext cx="381000" cy="381000"/>
          </a:xfrm>
          <a:prstGeom prst="ellipse">
            <a:avLst/>
          </a:prstGeom>
          <a:ln w="6667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8168" y="4520565"/>
            <a:ext cx="443865" cy="40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2857"/>
              </a:lnSpc>
              <a:buNone/>
            </a:pPr>
            <a:r>
              <a:rPr lang="en-US" sz="135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4513897"/>
            <a:ext cx="8153387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Knowing everything above — would you have requested shares? Would you buy today?</a:t>
            </a:r>
            <a:endParaRPr lang="en-US" sz="2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7FB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609600"/>
            <a:ext cx="1624886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6264"/>
              </a:lnSpc>
              <a:buNone/>
            </a:pPr>
            <a:r>
              <a:rPr lang="en-US" sz="3000" b="1" spc="-60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018587" y="733425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9050" dist="9525" dir="5400000">
              <a:srgbClr val="0B122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04312" y="914400"/>
            <a:ext cx="38100" cy="66675"/>
          </a:xfrm>
          <a:prstGeom prst="roundRect">
            <a:avLst>
              <a:gd name="adj" fmla="val 50000"/>
            </a:avLst>
          </a:prstGeom>
          <a:solidFill>
            <a:srgbClr val="FFFFFF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170987" y="876300"/>
            <a:ext cx="38100" cy="104775"/>
          </a:xfrm>
          <a:prstGeom prst="roundRect">
            <a:avLst>
              <a:gd name="adj" fmla="val 5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7662" y="828675"/>
            <a:ext cx="38100" cy="152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475787" y="757238"/>
            <a:ext cx="231727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99"/>
              </a:lnSpc>
              <a:buNone/>
            </a:pPr>
            <a:r>
              <a:rPr lang="en-US" sz="1500" b="1" spc="-13" kern="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Money Talk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1504950"/>
            <a:ext cx="57835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BROKERS &amp; MECHANICS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08000" y="1773079"/>
            <a:ext cx="54356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Robinhood — fractional shares, cash rates, IPO Access, Rule 606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— accounts, Stocks by the Slice, cash mgmt, cost basis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 — extended hours; PDT repeal (Notice 26-10)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investor.gov / SEC — order types, T+1, stop-orders bulletin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09600" y="2944654"/>
            <a:ext cx="57835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&amp; DIVIDENDS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08000" y="3212782"/>
            <a:ext cx="54356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 — Topic 409, Pub 550, Pub 590-B, Rev. Proc. 2025-32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IRS — Rev. Rul. 2008-5 (wash sale)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DTCC — T+1 dividend processing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Coca-Cola Company — Investor Relations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324600" y="1504950"/>
            <a:ext cx="5783580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b="1" spc="137" kern="0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&amp; THE IPO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223000" y="1773079"/>
            <a:ext cx="543560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Yahoo Finance — live NVDA quote page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Ritter / U. Florida — IPO underpricing dataset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CNBC · Bloomberg · Reuters · Vanda · MEMX · JPMorgan</a:t>
            </a:r>
            <a:endParaRPr lang="en-US" sz="1125" dirty="0"/>
          </a:p>
          <a:p>
            <a:pPr algn="l" indent="0" marL="0">
              <a:lnSpc>
                <a:spcPct val="107143"/>
              </a:lnSpc>
              <a:buNone/>
            </a:pPr>
            <a:r>
              <a:rPr lang="en-US" sz="1125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SIP / Nasdaq — extended-hours SEC approval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0481786" y="6056471"/>
            <a:ext cx="1176814" cy="2300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7075"/>
              </a:lnSpc>
              <a:buNone/>
            </a:pPr>
            <a:r>
              <a:rPr lang="en-US" sz="97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Buy Stocks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2026-07-12T04:28:16Z</dcterms:created>
  <dcterms:modified xsi:type="dcterms:W3CDTF">2026-07-12T04:28:16Z</dcterms:modified>
</cp:coreProperties>
</file>